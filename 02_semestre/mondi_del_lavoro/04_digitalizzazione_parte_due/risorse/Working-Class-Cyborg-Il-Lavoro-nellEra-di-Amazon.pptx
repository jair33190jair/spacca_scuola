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4630400" cy="8229600"/>
  <p:notesSz cx="8229600" cy="14630400"/>
  <p:embeddedFontLst>
    <p:embeddedFont>
      <p:font typeface="Petrona"/>
      <p:regular r:id="rId15"/>
    </p:embeddedFont>
    <p:embeddedFont>
      <p:font typeface="Petrona"/>
      <p:regular r:id="rId16"/>
    </p:embeddedFont>
    <p:embeddedFont>
      <p:font typeface="Petrona"/>
      <p:regular r:id="rId17"/>
    </p:embeddedFont>
    <p:embeddedFont>
      <p:font typeface="Petrona"/>
      <p:regular r:id="rId18"/>
    </p:embeddedFont>
    <p:embeddedFont>
      <p:font typeface="Inter"/>
      <p:regular r:id="rId19"/>
    </p:embeddedFont>
    <p:embeddedFont>
      <p:font typeface="Inter"/>
      <p:regular r:id="rId20"/>
    </p:embeddedFont>
    <p:embeddedFont>
      <p:font typeface="Inter"/>
      <p:regular r:id="rId21"/>
    </p:embeddedFont>
    <p:embeddedFont>
      <p:font typeface="Inter"/>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 Id="rId21" Type="http://schemas.openxmlformats.org/officeDocument/2006/relationships/font" Target="fonts/font7.fntdata"/><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7.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8.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9.xml"/><Relationship Id="rId6"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31505"/>
          </a:xfrm>
          <a:prstGeom prst="rect">
            <a:avLst/>
          </a:prstGeom>
        </p:spPr>
      </p:pic>
      <p:sp>
        <p:nvSpPr>
          <p:cNvPr id="3" name="Text 0"/>
          <p:cNvSpPr/>
          <p:nvPr/>
        </p:nvSpPr>
        <p:spPr>
          <a:xfrm>
            <a:off x="6270069" y="615791"/>
            <a:ext cx="7576661" cy="1469469"/>
          </a:xfrm>
          <a:prstGeom prst="rect">
            <a:avLst/>
          </a:prstGeom>
          <a:noFill/>
          <a:ln/>
        </p:spPr>
        <p:txBody>
          <a:bodyPr wrap="square" lIns="0" tIns="0" rIns="0" bIns="0" rtlCol="0" anchor="t"/>
          <a:lstStyle/>
          <a:p>
            <a:pPr indent="0" marL="0">
              <a:lnSpc>
                <a:spcPts val="5750"/>
              </a:lnSpc>
              <a:buNone/>
            </a:pPr>
            <a:r>
              <a:rPr lang="en-US" sz="4600" b="1" spc="-93" kern="0" dirty="0">
                <a:solidFill>
                  <a:srgbClr val="FF8AAF"/>
                </a:solidFill>
                <a:latin typeface="Petrona Bold" pitchFamily="34" charset="0"/>
                <a:ea typeface="Petrona Bold" pitchFamily="34" charset="-122"/>
                <a:cs typeface="Petrona Bold" pitchFamily="34" charset="-120"/>
              </a:rPr>
              <a:t>Working-Class Cyborg: Il Lavoro nell'Era di Amazon</a:t>
            </a:r>
            <a:endParaRPr lang="en-US" sz="4600" dirty="0"/>
          </a:p>
        </p:txBody>
      </p:sp>
      <p:sp>
        <p:nvSpPr>
          <p:cNvPr id="4" name="Text 1"/>
          <p:cNvSpPr/>
          <p:nvPr/>
        </p:nvSpPr>
        <p:spPr>
          <a:xfrm>
            <a:off x="6270069" y="2421136"/>
            <a:ext cx="7576661" cy="2507813"/>
          </a:xfrm>
          <a:prstGeom prst="rect">
            <a:avLst/>
          </a:prstGeom>
          <a:noFill/>
          <a:ln/>
        </p:spPr>
        <p:txBody>
          <a:bodyPr wrap="square" lIns="0" tIns="0" rIns="0" bIns="0" rtlCol="0" anchor="t"/>
          <a:lstStyle/>
          <a:p>
            <a:pPr indent="0" marL="0">
              <a:lnSpc>
                <a:spcPts val="2800"/>
              </a:lnSpc>
              <a:buNone/>
            </a:pPr>
            <a:r>
              <a:rPr lang="en-US" sz="1750" spc="-35" kern="0" dirty="0">
                <a:solidFill>
                  <a:srgbClr val="E0D6DE"/>
                </a:solidFill>
                <a:latin typeface="Inter" pitchFamily="34" charset="0"/>
                <a:ea typeface="Inter" pitchFamily="34" charset="-122"/>
                <a:cs typeface="Inter" pitchFamily="34" charset="-120"/>
              </a:rPr>
              <a:t>Durante la pandemia Covid-19, Amazon si è affermata come infrastruttura "essenziale", registrando un incremento esponenziale dei profitti e portando alla ribalta le condizioni di lavoro al suo interno. In parallelo al fenomeno delle "grandi dimissioni", si è assistito a una migrazione di massa di forza-lavoro verso Amazon, che pur basandosi su un forte turnover, garantisce standard salariali e condizioni tendenzialmente migliori rispetto ad altri settori analoghi.</a:t>
            </a:r>
            <a:endParaRPr lang="en-US" sz="1750" dirty="0"/>
          </a:p>
        </p:txBody>
      </p:sp>
      <p:sp>
        <p:nvSpPr>
          <p:cNvPr id="5" name="Text 2"/>
          <p:cNvSpPr/>
          <p:nvPr/>
        </p:nvSpPr>
        <p:spPr>
          <a:xfrm>
            <a:off x="6270069" y="5180767"/>
            <a:ext cx="7576661" cy="1791295"/>
          </a:xfrm>
          <a:prstGeom prst="rect">
            <a:avLst/>
          </a:prstGeom>
          <a:noFill/>
          <a:ln/>
        </p:spPr>
        <p:txBody>
          <a:bodyPr wrap="square" lIns="0" tIns="0" rIns="0" bIns="0" rtlCol="0" anchor="t"/>
          <a:lstStyle/>
          <a:p>
            <a:pPr indent="0" marL="0">
              <a:lnSpc>
                <a:spcPts val="2800"/>
              </a:lnSpc>
              <a:buNone/>
            </a:pPr>
            <a:r>
              <a:rPr lang="en-US" sz="1750" spc="-35" kern="0" dirty="0">
                <a:solidFill>
                  <a:srgbClr val="E0D6DE"/>
                </a:solidFill>
                <a:latin typeface="Inter" pitchFamily="34" charset="0"/>
                <a:ea typeface="Inter" pitchFamily="34" charset="-122"/>
                <a:cs typeface="Inter" pitchFamily="34" charset="-120"/>
              </a:rPr>
              <a:t>Amazon rappresenta oggi una frontiera cruciale dello sviluppo capitalistico contemporaneo, un modello "vincente" che sta trasformando non solo il business della logistica dell'ultimo miglio, ma l'intera economia globale attraverso quello che possiamo definire un processo di "amazonizzazione della società".</a:t>
            </a:r>
            <a:endParaRPr lang="en-US" sz="1750" dirty="0"/>
          </a:p>
        </p:txBody>
      </p:sp>
      <p:sp>
        <p:nvSpPr>
          <p:cNvPr id="6" name="Shape 3"/>
          <p:cNvSpPr/>
          <p:nvPr/>
        </p:nvSpPr>
        <p:spPr>
          <a:xfrm>
            <a:off x="6270069" y="7240667"/>
            <a:ext cx="358259" cy="358259"/>
          </a:xfrm>
          <a:prstGeom prst="roundRect">
            <a:avLst>
              <a:gd name="adj" fmla="val 25520882"/>
            </a:avLst>
          </a:prstGeom>
          <a:solidFill>
            <a:srgbClr val="49CE6E"/>
          </a:solidFill>
          <a:ln w="7620">
            <a:solidFill>
              <a:srgbClr val="FFFFFF"/>
            </a:solidFill>
            <a:prstDash val="solid"/>
          </a:ln>
        </p:spPr>
      </p:sp>
      <p:sp>
        <p:nvSpPr>
          <p:cNvPr id="7" name="Text 4"/>
          <p:cNvSpPr/>
          <p:nvPr/>
        </p:nvSpPr>
        <p:spPr>
          <a:xfrm>
            <a:off x="6381036" y="7371040"/>
            <a:ext cx="136327" cy="97512"/>
          </a:xfrm>
          <a:prstGeom prst="rect">
            <a:avLst/>
          </a:prstGeom>
          <a:noFill/>
          <a:ln/>
        </p:spPr>
        <p:txBody>
          <a:bodyPr wrap="none" lIns="0" tIns="0" rIns="0" bIns="0" rtlCol="0" anchor="t"/>
          <a:lstStyle/>
          <a:p>
            <a:pPr algn="ctr" indent="0" marL="0">
              <a:lnSpc>
                <a:spcPts val="750"/>
              </a:lnSpc>
              <a:buNone/>
            </a:pPr>
            <a:r>
              <a:rPr lang="en-US" sz="750" spc="-35" kern="0" dirty="0">
                <a:solidFill>
                  <a:srgbClr val="3C3838"/>
                </a:solidFill>
                <a:latin typeface="Inter Medium" pitchFamily="34" charset="0"/>
                <a:ea typeface="Inter Medium" pitchFamily="34" charset="-122"/>
                <a:cs typeface="Inter Medium" pitchFamily="34" charset="-120"/>
              </a:rPr>
              <a:t>NC</a:t>
            </a:r>
            <a:endParaRPr lang="en-US" sz="750" dirty="0"/>
          </a:p>
        </p:txBody>
      </p:sp>
      <p:sp>
        <p:nvSpPr>
          <p:cNvPr id="8" name="Text 5"/>
          <p:cNvSpPr/>
          <p:nvPr/>
        </p:nvSpPr>
        <p:spPr>
          <a:xfrm>
            <a:off x="6740247" y="7223879"/>
            <a:ext cx="2487930" cy="391835"/>
          </a:xfrm>
          <a:prstGeom prst="rect">
            <a:avLst/>
          </a:prstGeom>
          <a:noFill/>
          <a:ln/>
        </p:spPr>
        <p:txBody>
          <a:bodyPr wrap="none" lIns="0" tIns="0" rIns="0" bIns="0" rtlCol="0" anchor="t"/>
          <a:lstStyle/>
          <a:p>
            <a:pPr algn="l" indent="0" marL="0">
              <a:lnSpc>
                <a:spcPts val="3050"/>
              </a:lnSpc>
              <a:buNone/>
            </a:pPr>
            <a:r>
              <a:rPr lang="en-US" sz="2200" b="1" spc="-35" kern="0" dirty="0">
                <a:solidFill>
                  <a:srgbClr val="E0D6DE"/>
                </a:solidFill>
                <a:latin typeface="Inter Bold" pitchFamily="34" charset="0"/>
                <a:ea typeface="Inter Bold" pitchFamily="34" charset="-122"/>
                <a:cs typeface="Inter Bold" pitchFamily="34" charset="-120"/>
              </a:rPr>
              <a:t>da Niccolo Cuppini</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243132"/>
            <a:ext cx="11222236" cy="744260"/>
          </a:xfrm>
          <a:prstGeom prst="rect">
            <a:avLst/>
          </a:prstGeom>
          <a:noFill/>
          <a:ln/>
        </p:spPr>
        <p:txBody>
          <a:bodyPr wrap="none" lIns="0" tIns="0" rIns="0" bIns="0" rtlCol="0" anchor="t"/>
          <a:lstStyle/>
          <a:p>
            <a:pPr indent="0" marL="0">
              <a:lnSpc>
                <a:spcPts val="5850"/>
              </a:lnSpc>
              <a:buNone/>
            </a:pPr>
            <a:r>
              <a:rPr lang="en-US" sz="4650" b="1" spc="-94" kern="0" dirty="0">
                <a:solidFill>
                  <a:srgbClr val="FF8AAF"/>
                </a:solidFill>
                <a:latin typeface="Petrona Bold" pitchFamily="34" charset="0"/>
                <a:ea typeface="Petrona Bold" pitchFamily="34" charset="-122"/>
                <a:cs typeface="Petrona Bold" pitchFamily="34" charset="-120"/>
              </a:rPr>
              <a:t>La Narrazione vs. La Razionalità di Amazon</a:t>
            </a:r>
            <a:endParaRPr lang="en-US" sz="4650" dirty="0"/>
          </a:p>
        </p:txBody>
      </p:sp>
      <p:sp>
        <p:nvSpPr>
          <p:cNvPr id="3" name="Text 1"/>
          <p:cNvSpPr/>
          <p:nvPr/>
        </p:nvSpPr>
        <p:spPr>
          <a:xfrm>
            <a:off x="793790" y="2554367"/>
            <a:ext cx="2977039" cy="372070"/>
          </a:xfrm>
          <a:prstGeom prst="rect">
            <a:avLst/>
          </a:prstGeom>
          <a:noFill/>
          <a:ln/>
        </p:spPr>
        <p:txBody>
          <a:bodyPr wrap="none" lIns="0" tIns="0" rIns="0" bIns="0" rtlCol="0" anchor="t"/>
          <a:lstStyle/>
          <a:p>
            <a:pPr indent="0" marL="0">
              <a:lnSpc>
                <a:spcPts val="2900"/>
              </a:lnSpc>
              <a:buNone/>
            </a:pPr>
            <a:r>
              <a:rPr lang="en-US" sz="2300" b="1" spc="-47" kern="0" dirty="0">
                <a:solidFill>
                  <a:srgbClr val="FF8AAF"/>
                </a:solidFill>
                <a:latin typeface="Petrona Bold" pitchFamily="34" charset="0"/>
                <a:ea typeface="Petrona Bold" pitchFamily="34" charset="-122"/>
                <a:cs typeface="Petrona Bold" pitchFamily="34" charset="-120"/>
              </a:rPr>
              <a:t>La Realtà del Lavoro</a:t>
            </a:r>
            <a:endParaRPr lang="en-US" sz="2300" dirty="0"/>
          </a:p>
        </p:txBody>
      </p:sp>
      <p:sp>
        <p:nvSpPr>
          <p:cNvPr id="4" name="Text 2"/>
          <p:cNvSpPr/>
          <p:nvPr/>
        </p:nvSpPr>
        <p:spPr>
          <a:xfrm>
            <a:off x="793790" y="3153251"/>
            <a:ext cx="3978116" cy="3266123"/>
          </a:xfrm>
          <a:prstGeom prst="rect">
            <a:avLst/>
          </a:prstGeom>
          <a:noFill/>
          <a:ln/>
        </p:spPr>
        <p:txBody>
          <a:bodyPr wrap="square" lIns="0" tIns="0" rIns="0" bIns="0" rtlCol="0" anchor="t"/>
          <a:lstStyle/>
          <a:p>
            <a:pPr indent="0" marL="0">
              <a:lnSpc>
                <a:spcPts val="2850"/>
              </a:lnSpc>
              <a:buNone/>
            </a:pPr>
            <a:r>
              <a:rPr lang="en-US" sz="1750" spc="-36" kern="0" dirty="0">
                <a:solidFill>
                  <a:srgbClr val="E0D6DE"/>
                </a:solidFill>
                <a:latin typeface="Inter" pitchFamily="34" charset="0"/>
                <a:ea typeface="Inter" pitchFamily="34" charset="-122"/>
                <a:cs typeface="Inter" pitchFamily="34" charset="-120"/>
              </a:rPr>
              <a:t>Le inchieste sul lavoro in Amazon rivelano che il lavoro nei magazzini e nelle strade è difficile da automatizzare completamente. Richiede riflessione, capacità creativa di risoluzione dei problemi e il trasporto di pacchetti di varie dimensioni impossibili da standardizzare per una macchina.</a:t>
            </a:r>
            <a:endParaRPr lang="en-US" sz="1750" dirty="0"/>
          </a:p>
        </p:txBody>
      </p:sp>
      <p:sp>
        <p:nvSpPr>
          <p:cNvPr id="5" name="Text 3"/>
          <p:cNvSpPr/>
          <p:nvPr/>
        </p:nvSpPr>
        <p:spPr>
          <a:xfrm>
            <a:off x="5332928" y="2554367"/>
            <a:ext cx="2977039" cy="372070"/>
          </a:xfrm>
          <a:prstGeom prst="rect">
            <a:avLst/>
          </a:prstGeom>
          <a:noFill/>
          <a:ln/>
        </p:spPr>
        <p:txBody>
          <a:bodyPr wrap="none" lIns="0" tIns="0" rIns="0" bIns="0" rtlCol="0" anchor="t"/>
          <a:lstStyle/>
          <a:p>
            <a:pPr indent="0" marL="0">
              <a:lnSpc>
                <a:spcPts val="2900"/>
              </a:lnSpc>
              <a:buNone/>
            </a:pPr>
            <a:r>
              <a:rPr lang="en-US" sz="2300" b="1" spc="-47" kern="0" dirty="0">
                <a:solidFill>
                  <a:srgbClr val="FF8AAF"/>
                </a:solidFill>
                <a:latin typeface="Petrona Bold" pitchFamily="34" charset="0"/>
                <a:ea typeface="Petrona Bold" pitchFamily="34" charset="-122"/>
                <a:cs typeface="Petrona Bold" pitchFamily="34" charset="-120"/>
              </a:rPr>
              <a:t>Il Cyborg Lavorativo</a:t>
            </a:r>
            <a:endParaRPr lang="en-US" sz="2300" dirty="0"/>
          </a:p>
        </p:txBody>
      </p:sp>
      <p:sp>
        <p:nvSpPr>
          <p:cNvPr id="6" name="Text 4"/>
          <p:cNvSpPr/>
          <p:nvPr/>
        </p:nvSpPr>
        <p:spPr>
          <a:xfrm>
            <a:off x="5332928" y="3153251"/>
            <a:ext cx="3978116" cy="3629025"/>
          </a:xfrm>
          <a:prstGeom prst="rect">
            <a:avLst/>
          </a:prstGeom>
          <a:noFill/>
          <a:ln/>
        </p:spPr>
        <p:txBody>
          <a:bodyPr wrap="square" lIns="0" tIns="0" rIns="0" bIns="0" rtlCol="0" anchor="t"/>
          <a:lstStyle/>
          <a:p>
            <a:pPr indent="0" marL="0">
              <a:lnSpc>
                <a:spcPts val="2850"/>
              </a:lnSpc>
              <a:buNone/>
            </a:pPr>
            <a:r>
              <a:rPr lang="en-US" sz="1750" spc="-36" kern="0" dirty="0">
                <a:solidFill>
                  <a:srgbClr val="E0D6DE"/>
                </a:solidFill>
                <a:latin typeface="Inter" pitchFamily="34" charset="0"/>
                <a:ea typeface="Inter" pitchFamily="34" charset="-122"/>
                <a:cs typeface="Inter" pitchFamily="34" charset="-120"/>
              </a:rPr>
              <a:t>La soluzione di Amazon non è la piena automazione, ma la fusione della tecnologia con il lavoro umano, trasformando essenzialmente i lavoratori in robot industriali. Il cyborg non è più solo un'ipotesi emancipativa, ma una realtà quotidiana dove l'uso di tecnologie digitali si è fatto tutt'uno con lo sfruttamento della forza-lavoro.</a:t>
            </a:r>
            <a:endParaRPr lang="en-US" sz="1750" dirty="0"/>
          </a:p>
        </p:txBody>
      </p:sp>
      <p:sp>
        <p:nvSpPr>
          <p:cNvPr id="7" name="Text 5"/>
          <p:cNvSpPr/>
          <p:nvPr/>
        </p:nvSpPr>
        <p:spPr>
          <a:xfrm>
            <a:off x="9872067" y="2554367"/>
            <a:ext cx="2977039" cy="372070"/>
          </a:xfrm>
          <a:prstGeom prst="rect">
            <a:avLst/>
          </a:prstGeom>
          <a:noFill/>
          <a:ln/>
        </p:spPr>
        <p:txBody>
          <a:bodyPr wrap="none" lIns="0" tIns="0" rIns="0" bIns="0" rtlCol="0" anchor="t"/>
          <a:lstStyle/>
          <a:p>
            <a:pPr indent="0" marL="0">
              <a:lnSpc>
                <a:spcPts val="2900"/>
              </a:lnSpc>
              <a:buNone/>
            </a:pPr>
            <a:r>
              <a:rPr lang="en-US" sz="2300" b="1" spc="-47" kern="0" dirty="0">
                <a:solidFill>
                  <a:srgbClr val="FF8AAF"/>
                </a:solidFill>
                <a:latin typeface="Petrona Bold" pitchFamily="34" charset="0"/>
                <a:ea typeface="Petrona Bold" pitchFamily="34" charset="-122"/>
                <a:cs typeface="Petrona Bold" pitchFamily="34" charset="-120"/>
              </a:rPr>
              <a:t>Tecniche di Controllo</a:t>
            </a:r>
            <a:endParaRPr lang="en-US" sz="2300" dirty="0"/>
          </a:p>
        </p:txBody>
      </p:sp>
      <p:sp>
        <p:nvSpPr>
          <p:cNvPr id="8" name="Text 6"/>
          <p:cNvSpPr/>
          <p:nvPr/>
        </p:nvSpPr>
        <p:spPr>
          <a:xfrm>
            <a:off x="9872067" y="3153251"/>
            <a:ext cx="3978116" cy="3266123"/>
          </a:xfrm>
          <a:prstGeom prst="rect">
            <a:avLst/>
          </a:prstGeom>
          <a:noFill/>
          <a:ln/>
        </p:spPr>
        <p:txBody>
          <a:bodyPr wrap="square" lIns="0" tIns="0" rIns="0" bIns="0" rtlCol="0" anchor="t"/>
          <a:lstStyle/>
          <a:p>
            <a:pPr indent="0" marL="0">
              <a:lnSpc>
                <a:spcPts val="2850"/>
              </a:lnSpc>
              <a:buNone/>
            </a:pPr>
            <a:r>
              <a:rPr lang="en-US" sz="1750" spc="-36" kern="0" dirty="0">
                <a:solidFill>
                  <a:srgbClr val="E0D6DE"/>
                </a:solidFill>
                <a:latin typeface="Inter" pitchFamily="34" charset="0"/>
                <a:ea typeface="Inter" pitchFamily="34" charset="-122"/>
                <a:cs typeface="Inter" pitchFamily="34" charset="-120"/>
              </a:rPr>
              <a:t>Le tecniche sono molteplici: dalla gameification (i magazzini come un enorme Tetris ad alta velocità) all'uso di armature robotiche che guidano e supervisionano chi lavora, fino alla sorveglianza tramite telecamere a intelligenza artificiale e l'uso di big data che finiscono per sostituire il management.</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138238"/>
            <a:ext cx="7678936" cy="744260"/>
          </a:xfrm>
          <a:prstGeom prst="rect">
            <a:avLst/>
          </a:prstGeom>
          <a:noFill/>
          <a:ln/>
        </p:spPr>
        <p:txBody>
          <a:bodyPr wrap="none" lIns="0" tIns="0" rIns="0" bIns="0" rtlCol="0" anchor="t"/>
          <a:lstStyle/>
          <a:p>
            <a:pPr indent="0" marL="0">
              <a:lnSpc>
                <a:spcPts val="5850"/>
              </a:lnSpc>
              <a:buNone/>
            </a:pPr>
            <a:r>
              <a:rPr lang="en-US" sz="4650" b="1" spc="-94" kern="0" dirty="0">
                <a:solidFill>
                  <a:srgbClr val="FF8AAF"/>
                </a:solidFill>
                <a:latin typeface="Petrona Bold" pitchFamily="34" charset="0"/>
                <a:ea typeface="Petrona Bold" pitchFamily="34" charset="-122"/>
                <a:cs typeface="Petrona Bold" pitchFamily="34" charset="-120"/>
              </a:rPr>
              <a:t>L'Amazonizzazione del Lavoro</a:t>
            </a:r>
            <a:endParaRPr lang="en-US" sz="4650" dirty="0"/>
          </a:p>
        </p:txBody>
      </p:sp>
      <p:sp>
        <p:nvSpPr>
          <p:cNvPr id="3" name="Shape 1"/>
          <p:cNvSpPr/>
          <p:nvPr/>
        </p:nvSpPr>
        <p:spPr>
          <a:xfrm>
            <a:off x="793790" y="2591276"/>
            <a:ext cx="510302" cy="510302"/>
          </a:xfrm>
          <a:prstGeom prst="roundRect">
            <a:avLst>
              <a:gd name="adj" fmla="val 18669"/>
            </a:avLst>
          </a:prstGeom>
          <a:solidFill>
            <a:srgbClr val="2F1D63"/>
          </a:solidFill>
          <a:ln w="7620">
            <a:solidFill>
              <a:srgbClr val="48367C"/>
            </a:solidFill>
            <a:prstDash val="solid"/>
          </a:ln>
        </p:spPr>
      </p:sp>
      <p:sp>
        <p:nvSpPr>
          <p:cNvPr id="4" name="Text 2"/>
          <p:cNvSpPr/>
          <p:nvPr/>
        </p:nvSpPr>
        <p:spPr>
          <a:xfrm>
            <a:off x="976074" y="2667714"/>
            <a:ext cx="145733" cy="357307"/>
          </a:xfrm>
          <a:prstGeom prst="rect">
            <a:avLst/>
          </a:prstGeom>
          <a:noFill/>
          <a:ln/>
        </p:spPr>
        <p:txBody>
          <a:bodyPr wrap="none" lIns="0" tIns="0" rIns="0" bIns="0" rtlCol="0" anchor="t"/>
          <a:lstStyle/>
          <a:p>
            <a:pPr algn="ctr" indent="0" marL="0">
              <a:lnSpc>
                <a:spcPts val="2800"/>
              </a:lnSpc>
              <a:buNone/>
            </a:pPr>
            <a:r>
              <a:rPr lang="en-US" sz="2800" b="1" spc="-56" kern="0" dirty="0">
                <a:solidFill>
                  <a:srgbClr val="E0D6DE"/>
                </a:solidFill>
                <a:latin typeface="Petrona Bold" pitchFamily="34" charset="0"/>
                <a:ea typeface="Petrona Bold" pitchFamily="34" charset="-122"/>
                <a:cs typeface="Petrona Bold" pitchFamily="34" charset="-120"/>
              </a:rPr>
              <a:t>1</a:t>
            </a:r>
            <a:endParaRPr lang="en-US" sz="2800" dirty="0"/>
          </a:p>
        </p:txBody>
      </p:sp>
      <p:sp>
        <p:nvSpPr>
          <p:cNvPr id="5" name="Text 3"/>
          <p:cNvSpPr/>
          <p:nvPr/>
        </p:nvSpPr>
        <p:spPr>
          <a:xfrm>
            <a:off x="1530906" y="2591276"/>
            <a:ext cx="2977039" cy="372070"/>
          </a:xfrm>
          <a:prstGeom prst="rect">
            <a:avLst/>
          </a:prstGeom>
          <a:noFill/>
          <a:ln/>
        </p:spPr>
        <p:txBody>
          <a:bodyPr wrap="none" lIns="0" tIns="0" rIns="0" bIns="0" rtlCol="0" anchor="t"/>
          <a:lstStyle/>
          <a:p>
            <a:pPr indent="0" marL="0">
              <a:lnSpc>
                <a:spcPts val="2900"/>
              </a:lnSpc>
              <a:buNone/>
            </a:pPr>
            <a:r>
              <a:rPr lang="en-US" sz="2300" b="1" spc="-47" kern="0" dirty="0">
                <a:solidFill>
                  <a:srgbClr val="E0D6DE"/>
                </a:solidFill>
                <a:latin typeface="Petrona Bold" pitchFamily="34" charset="0"/>
                <a:ea typeface="Petrona Bold" pitchFamily="34" charset="-122"/>
                <a:cs typeface="Petrona Bold" pitchFamily="34" charset="-120"/>
              </a:rPr>
              <a:t>Modello Espansivo</a:t>
            </a:r>
            <a:endParaRPr lang="en-US" sz="2300" dirty="0"/>
          </a:p>
        </p:txBody>
      </p:sp>
      <p:sp>
        <p:nvSpPr>
          <p:cNvPr id="6" name="Text 4"/>
          <p:cNvSpPr/>
          <p:nvPr/>
        </p:nvSpPr>
        <p:spPr>
          <a:xfrm>
            <a:off x="1530906" y="3099435"/>
            <a:ext cx="3459242" cy="3991928"/>
          </a:xfrm>
          <a:prstGeom prst="rect">
            <a:avLst/>
          </a:prstGeom>
          <a:noFill/>
          <a:ln/>
        </p:spPr>
        <p:txBody>
          <a:bodyPr wrap="square" lIns="0" tIns="0" rIns="0" bIns="0" rtlCol="0" anchor="t"/>
          <a:lstStyle/>
          <a:p>
            <a:pPr indent="0" marL="0">
              <a:lnSpc>
                <a:spcPts val="2850"/>
              </a:lnSpc>
              <a:buNone/>
            </a:pPr>
            <a:r>
              <a:rPr lang="en-US" sz="1750" spc="-36" kern="0" dirty="0">
                <a:solidFill>
                  <a:srgbClr val="E0D6DE"/>
                </a:solidFill>
                <a:latin typeface="Inter" pitchFamily="34" charset="0"/>
                <a:ea typeface="Inter" pitchFamily="34" charset="-122"/>
                <a:cs typeface="Inter" pitchFamily="34" charset="-120"/>
              </a:rPr>
              <a:t>Amazon può essere intesa come un vero e proprio spazio politico che integra principi del fordismo-taylorismo, del toyotismo e del just in time. Produce segmentazione della forza-lavoro, genera comando e ordine, raccoglie dati, ma soprattutto crea un nuovo campo di esperienza del lavoro vivo e nuove forme di soggettivazione.</a:t>
            </a:r>
            <a:endParaRPr lang="en-US" sz="1750" dirty="0"/>
          </a:p>
        </p:txBody>
      </p:sp>
      <p:sp>
        <p:nvSpPr>
          <p:cNvPr id="7" name="Shape 5"/>
          <p:cNvSpPr/>
          <p:nvPr/>
        </p:nvSpPr>
        <p:spPr>
          <a:xfrm>
            <a:off x="5216962" y="2591276"/>
            <a:ext cx="510302" cy="510302"/>
          </a:xfrm>
          <a:prstGeom prst="roundRect">
            <a:avLst>
              <a:gd name="adj" fmla="val 18669"/>
            </a:avLst>
          </a:prstGeom>
          <a:solidFill>
            <a:srgbClr val="2F1D63"/>
          </a:solidFill>
          <a:ln w="7620">
            <a:solidFill>
              <a:srgbClr val="48367C"/>
            </a:solidFill>
            <a:prstDash val="solid"/>
          </a:ln>
        </p:spPr>
      </p:sp>
      <p:sp>
        <p:nvSpPr>
          <p:cNvPr id="8" name="Text 6"/>
          <p:cNvSpPr/>
          <p:nvPr/>
        </p:nvSpPr>
        <p:spPr>
          <a:xfrm>
            <a:off x="5374362" y="2667714"/>
            <a:ext cx="195382" cy="357307"/>
          </a:xfrm>
          <a:prstGeom prst="rect">
            <a:avLst/>
          </a:prstGeom>
          <a:noFill/>
          <a:ln/>
        </p:spPr>
        <p:txBody>
          <a:bodyPr wrap="none" lIns="0" tIns="0" rIns="0" bIns="0" rtlCol="0" anchor="t"/>
          <a:lstStyle/>
          <a:p>
            <a:pPr algn="ctr" indent="0" marL="0">
              <a:lnSpc>
                <a:spcPts val="2800"/>
              </a:lnSpc>
              <a:buNone/>
            </a:pPr>
            <a:r>
              <a:rPr lang="en-US" sz="2800" b="1" spc="-56" kern="0" dirty="0">
                <a:solidFill>
                  <a:srgbClr val="E0D6DE"/>
                </a:solidFill>
                <a:latin typeface="Petrona Bold" pitchFamily="34" charset="0"/>
                <a:ea typeface="Petrona Bold" pitchFamily="34" charset="-122"/>
                <a:cs typeface="Petrona Bold" pitchFamily="34" charset="-120"/>
              </a:rPr>
              <a:t>2</a:t>
            </a:r>
            <a:endParaRPr lang="en-US" sz="2800" dirty="0"/>
          </a:p>
        </p:txBody>
      </p:sp>
      <p:sp>
        <p:nvSpPr>
          <p:cNvPr id="9" name="Text 7"/>
          <p:cNvSpPr/>
          <p:nvPr/>
        </p:nvSpPr>
        <p:spPr>
          <a:xfrm>
            <a:off x="5954078" y="2591276"/>
            <a:ext cx="2977039" cy="372070"/>
          </a:xfrm>
          <a:prstGeom prst="rect">
            <a:avLst/>
          </a:prstGeom>
          <a:noFill/>
          <a:ln/>
        </p:spPr>
        <p:txBody>
          <a:bodyPr wrap="none" lIns="0" tIns="0" rIns="0" bIns="0" rtlCol="0" anchor="t"/>
          <a:lstStyle/>
          <a:p>
            <a:pPr indent="0" marL="0">
              <a:lnSpc>
                <a:spcPts val="2900"/>
              </a:lnSpc>
              <a:buNone/>
            </a:pPr>
            <a:r>
              <a:rPr lang="en-US" sz="2300" b="1" spc="-47" kern="0" dirty="0">
                <a:solidFill>
                  <a:srgbClr val="E0D6DE"/>
                </a:solidFill>
                <a:latin typeface="Petrona Bold" pitchFamily="34" charset="0"/>
                <a:ea typeface="Petrona Bold" pitchFamily="34" charset="-122"/>
                <a:cs typeface="Petrona Bold" pitchFamily="34" charset="-120"/>
              </a:rPr>
              <a:t>Narrazione vs Realtà</a:t>
            </a:r>
            <a:endParaRPr lang="en-US" sz="2300" dirty="0"/>
          </a:p>
        </p:txBody>
      </p:sp>
      <p:sp>
        <p:nvSpPr>
          <p:cNvPr id="10" name="Text 8"/>
          <p:cNvSpPr/>
          <p:nvPr/>
        </p:nvSpPr>
        <p:spPr>
          <a:xfrm>
            <a:off x="5954078" y="3099435"/>
            <a:ext cx="3459242" cy="3991928"/>
          </a:xfrm>
          <a:prstGeom prst="rect">
            <a:avLst/>
          </a:prstGeom>
          <a:noFill/>
          <a:ln/>
        </p:spPr>
        <p:txBody>
          <a:bodyPr wrap="square" lIns="0" tIns="0" rIns="0" bIns="0" rtlCol="0" anchor="t"/>
          <a:lstStyle/>
          <a:p>
            <a:pPr indent="0" marL="0">
              <a:lnSpc>
                <a:spcPts val="2850"/>
              </a:lnSpc>
              <a:buNone/>
            </a:pPr>
            <a:r>
              <a:rPr lang="en-US" sz="1750" spc="-36" kern="0" dirty="0">
                <a:solidFill>
                  <a:srgbClr val="E0D6DE"/>
                </a:solidFill>
                <a:latin typeface="Inter" pitchFamily="34" charset="0"/>
                <a:ea typeface="Inter" pitchFamily="34" charset="-122"/>
                <a:cs typeface="Inter" pitchFamily="34" charset="-120"/>
              </a:rPr>
              <a:t>Nella narrazione di Amazon, il lavoro umano tende a scomparire tra piani di automazione e consegne via drone. Nella razionalità amazonica, invece, il lavoro umano resta centrale. Questa dicotomia tra robotizzazione industriale e forza-lavoro all'opera in un ambiente digitalizzato va approfondita.</a:t>
            </a:r>
            <a:endParaRPr lang="en-US" sz="1750" dirty="0"/>
          </a:p>
        </p:txBody>
      </p:sp>
      <p:sp>
        <p:nvSpPr>
          <p:cNvPr id="11" name="Shape 9"/>
          <p:cNvSpPr/>
          <p:nvPr/>
        </p:nvSpPr>
        <p:spPr>
          <a:xfrm>
            <a:off x="9640133" y="2591276"/>
            <a:ext cx="510302" cy="510302"/>
          </a:xfrm>
          <a:prstGeom prst="roundRect">
            <a:avLst>
              <a:gd name="adj" fmla="val 18669"/>
            </a:avLst>
          </a:prstGeom>
          <a:solidFill>
            <a:srgbClr val="2F1D63"/>
          </a:solidFill>
          <a:ln w="7620">
            <a:solidFill>
              <a:srgbClr val="48367C"/>
            </a:solidFill>
            <a:prstDash val="solid"/>
          </a:ln>
        </p:spPr>
      </p:sp>
      <p:sp>
        <p:nvSpPr>
          <p:cNvPr id="12" name="Text 10"/>
          <p:cNvSpPr/>
          <p:nvPr/>
        </p:nvSpPr>
        <p:spPr>
          <a:xfrm>
            <a:off x="9797772" y="2667714"/>
            <a:ext cx="195024" cy="357307"/>
          </a:xfrm>
          <a:prstGeom prst="rect">
            <a:avLst/>
          </a:prstGeom>
          <a:noFill/>
          <a:ln/>
        </p:spPr>
        <p:txBody>
          <a:bodyPr wrap="none" lIns="0" tIns="0" rIns="0" bIns="0" rtlCol="0" anchor="t"/>
          <a:lstStyle/>
          <a:p>
            <a:pPr algn="ctr" indent="0" marL="0">
              <a:lnSpc>
                <a:spcPts val="2800"/>
              </a:lnSpc>
              <a:buNone/>
            </a:pPr>
            <a:r>
              <a:rPr lang="en-US" sz="2800" b="1" spc="-56" kern="0" dirty="0">
                <a:solidFill>
                  <a:srgbClr val="E0D6DE"/>
                </a:solidFill>
                <a:latin typeface="Petrona Bold" pitchFamily="34" charset="0"/>
                <a:ea typeface="Petrona Bold" pitchFamily="34" charset="-122"/>
                <a:cs typeface="Petrona Bold" pitchFamily="34" charset="-120"/>
              </a:rPr>
              <a:t>3</a:t>
            </a:r>
            <a:endParaRPr lang="en-US" sz="2800" dirty="0"/>
          </a:p>
        </p:txBody>
      </p:sp>
      <p:sp>
        <p:nvSpPr>
          <p:cNvPr id="13" name="Text 11"/>
          <p:cNvSpPr/>
          <p:nvPr/>
        </p:nvSpPr>
        <p:spPr>
          <a:xfrm>
            <a:off x="10377249" y="2591276"/>
            <a:ext cx="2977039" cy="372070"/>
          </a:xfrm>
          <a:prstGeom prst="rect">
            <a:avLst/>
          </a:prstGeom>
          <a:noFill/>
          <a:ln/>
        </p:spPr>
        <p:txBody>
          <a:bodyPr wrap="none" lIns="0" tIns="0" rIns="0" bIns="0" rtlCol="0" anchor="t"/>
          <a:lstStyle/>
          <a:p>
            <a:pPr indent="0" marL="0">
              <a:lnSpc>
                <a:spcPts val="2900"/>
              </a:lnSpc>
              <a:buNone/>
            </a:pPr>
            <a:r>
              <a:rPr lang="en-US" sz="2300" b="1" spc="-47" kern="0" dirty="0">
                <a:solidFill>
                  <a:srgbClr val="E0D6DE"/>
                </a:solidFill>
                <a:latin typeface="Petrona Bold" pitchFamily="34" charset="0"/>
                <a:ea typeface="Petrona Bold" pitchFamily="34" charset="-122"/>
                <a:cs typeface="Petrona Bold" pitchFamily="34" charset="-120"/>
              </a:rPr>
              <a:t>Il Corpo Esteso</a:t>
            </a:r>
            <a:endParaRPr lang="en-US" sz="2300" dirty="0"/>
          </a:p>
        </p:txBody>
      </p:sp>
      <p:sp>
        <p:nvSpPr>
          <p:cNvPr id="14" name="Text 12"/>
          <p:cNvSpPr/>
          <p:nvPr/>
        </p:nvSpPr>
        <p:spPr>
          <a:xfrm>
            <a:off x="10377249" y="3099435"/>
            <a:ext cx="3459242" cy="3629025"/>
          </a:xfrm>
          <a:prstGeom prst="rect">
            <a:avLst/>
          </a:prstGeom>
          <a:noFill/>
          <a:ln/>
        </p:spPr>
        <p:txBody>
          <a:bodyPr wrap="square" lIns="0" tIns="0" rIns="0" bIns="0" rtlCol="0" anchor="t"/>
          <a:lstStyle/>
          <a:p>
            <a:pPr indent="0" marL="0">
              <a:lnSpc>
                <a:spcPts val="2850"/>
              </a:lnSpc>
              <a:buNone/>
            </a:pPr>
            <a:r>
              <a:rPr lang="en-US" sz="1750" spc="-36" kern="0" dirty="0">
                <a:solidFill>
                  <a:srgbClr val="E0D6DE"/>
                </a:solidFill>
                <a:latin typeface="Inter" pitchFamily="34" charset="0"/>
                <a:ea typeface="Inter" pitchFamily="34" charset="-122"/>
                <a:cs typeface="Inter" pitchFamily="34" charset="-120"/>
              </a:rPr>
              <a:t>Il corpo di chi lavora non finisce con la pelle. I device espandono il lavoro in una configurazione tecno-mediatica che esiste solo in relazione. Questo diventare-cyborg del lavoro non è solo una pratica economica e politica, ma anche tecnica e mediatica fatta di molteplicità di rapporti tecno/umani.</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208246"/>
            <a:ext cx="8433197" cy="744260"/>
          </a:xfrm>
          <a:prstGeom prst="rect">
            <a:avLst/>
          </a:prstGeom>
          <a:noFill/>
          <a:ln/>
        </p:spPr>
        <p:txBody>
          <a:bodyPr wrap="none" lIns="0" tIns="0" rIns="0" bIns="0" rtlCol="0" anchor="t"/>
          <a:lstStyle/>
          <a:p>
            <a:pPr indent="0" marL="0">
              <a:lnSpc>
                <a:spcPts val="5850"/>
              </a:lnSpc>
              <a:buNone/>
            </a:pPr>
            <a:r>
              <a:rPr lang="en-US" sz="4650" b="1" spc="-94" kern="0" dirty="0">
                <a:solidFill>
                  <a:srgbClr val="FF8AAF"/>
                </a:solidFill>
                <a:latin typeface="Petrona Bold" pitchFamily="34" charset="0"/>
                <a:ea typeface="Petrona Bold" pitchFamily="34" charset="-122"/>
                <a:cs typeface="Petrona Bold" pitchFamily="34" charset="-120"/>
              </a:rPr>
              <a:t>La Parola nel Mondo Amazonico</a:t>
            </a:r>
            <a:endParaRPr lang="en-US" sz="4650" dirty="0"/>
          </a:p>
        </p:txBody>
      </p:sp>
      <p:sp>
        <p:nvSpPr>
          <p:cNvPr id="3" name="Shape 1"/>
          <p:cNvSpPr/>
          <p:nvPr/>
        </p:nvSpPr>
        <p:spPr>
          <a:xfrm>
            <a:off x="793790" y="2406134"/>
            <a:ext cx="4196358" cy="4615220"/>
          </a:xfrm>
          <a:prstGeom prst="roundRect">
            <a:avLst>
              <a:gd name="adj" fmla="val 2270"/>
            </a:avLst>
          </a:prstGeom>
          <a:solidFill>
            <a:srgbClr val="2F1D63"/>
          </a:solidFill>
          <a:ln w="7620">
            <a:solidFill>
              <a:srgbClr val="48367C"/>
            </a:solidFill>
            <a:prstDash val="solid"/>
          </a:ln>
        </p:spPr>
      </p:sp>
      <p:sp>
        <p:nvSpPr>
          <p:cNvPr id="4" name="Text 2"/>
          <p:cNvSpPr/>
          <p:nvPr/>
        </p:nvSpPr>
        <p:spPr>
          <a:xfrm>
            <a:off x="1028224" y="2640568"/>
            <a:ext cx="3727490" cy="744141"/>
          </a:xfrm>
          <a:prstGeom prst="rect">
            <a:avLst/>
          </a:prstGeom>
          <a:noFill/>
          <a:ln/>
        </p:spPr>
        <p:txBody>
          <a:bodyPr wrap="square" lIns="0" tIns="0" rIns="0" bIns="0" rtlCol="0" anchor="t"/>
          <a:lstStyle/>
          <a:p>
            <a:pPr indent="0" marL="0">
              <a:lnSpc>
                <a:spcPts val="2900"/>
              </a:lnSpc>
              <a:buNone/>
            </a:pPr>
            <a:r>
              <a:rPr lang="en-US" sz="2300" b="1" spc="-47" kern="0" dirty="0">
                <a:solidFill>
                  <a:srgbClr val="E0D6DE"/>
                </a:solidFill>
                <a:latin typeface="Petrona Bold" pitchFamily="34" charset="0"/>
                <a:ea typeface="Petrona Bold" pitchFamily="34" charset="-122"/>
                <a:cs typeface="Petrona Bold" pitchFamily="34" charset="-120"/>
              </a:rPr>
              <a:t>Centralità della Comunicazione</a:t>
            </a:r>
            <a:endParaRPr lang="en-US" sz="2300" dirty="0"/>
          </a:p>
        </p:txBody>
      </p:sp>
      <p:sp>
        <p:nvSpPr>
          <p:cNvPr id="5" name="Text 3"/>
          <p:cNvSpPr/>
          <p:nvPr/>
        </p:nvSpPr>
        <p:spPr>
          <a:xfrm>
            <a:off x="1028224" y="3520797"/>
            <a:ext cx="3727490" cy="3266123"/>
          </a:xfrm>
          <a:prstGeom prst="rect">
            <a:avLst/>
          </a:prstGeom>
          <a:noFill/>
          <a:ln/>
        </p:spPr>
        <p:txBody>
          <a:bodyPr wrap="square" lIns="0" tIns="0" rIns="0" bIns="0" rtlCol="0" anchor="t"/>
          <a:lstStyle/>
          <a:p>
            <a:pPr indent="0" marL="0">
              <a:lnSpc>
                <a:spcPts val="2850"/>
              </a:lnSpc>
              <a:buNone/>
            </a:pPr>
            <a:r>
              <a:rPr lang="en-US" sz="1750" spc="-36" kern="0" dirty="0">
                <a:solidFill>
                  <a:srgbClr val="E0D6DE"/>
                </a:solidFill>
                <a:latin typeface="Inter" pitchFamily="34" charset="0"/>
                <a:ea typeface="Inter" pitchFamily="34" charset="-122"/>
                <a:cs typeface="Inter" pitchFamily="34" charset="-120"/>
              </a:rPr>
              <a:t>La questione della "parola" nel mondo del lavoro ha portato in luce la centralità della comunicazione dentro la catena produttiva. La trasmissione di informazioni è una materia prima vitale quanto l'energia elettrica, e Amazon sta sperimentandosi su questa frontiera avanzata.</a:t>
            </a:r>
            <a:endParaRPr lang="en-US" sz="1750" dirty="0"/>
          </a:p>
        </p:txBody>
      </p:sp>
      <p:sp>
        <p:nvSpPr>
          <p:cNvPr id="6" name="Shape 4"/>
          <p:cNvSpPr/>
          <p:nvPr/>
        </p:nvSpPr>
        <p:spPr>
          <a:xfrm>
            <a:off x="5216962" y="2406134"/>
            <a:ext cx="4196358" cy="4615220"/>
          </a:xfrm>
          <a:prstGeom prst="roundRect">
            <a:avLst>
              <a:gd name="adj" fmla="val 2270"/>
            </a:avLst>
          </a:prstGeom>
          <a:solidFill>
            <a:srgbClr val="2F1D63"/>
          </a:solidFill>
          <a:ln w="7620">
            <a:solidFill>
              <a:srgbClr val="48367C"/>
            </a:solidFill>
            <a:prstDash val="solid"/>
          </a:ln>
        </p:spPr>
      </p:sp>
      <p:sp>
        <p:nvSpPr>
          <p:cNvPr id="7" name="Text 5"/>
          <p:cNvSpPr/>
          <p:nvPr/>
        </p:nvSpPr>
        <p:spPr>
          <a:xfrm>
            <a:off x="5451396" y="2640568"/>
            <a:ext cx="3597116" cy="372070"/>
          </a:xfrm>
          <a:prstGeom prst="rect">
            <a:avLst/>
          </a:prstGeom>
          <a:noFill/>
          <a:ln/>
        </p:spPr>
        <p:txBody>
          <a:bodyPr wrap="none" lIns="0" tIns="0" rIns="0" bIns="0" rtlCol="0" anchor="t"/>
          <a:lstStyle/>
          <a:p>
            <a:pPr indent="0" marL="0">
              <a:lnSpc>
                <a:spcPts val="2900"/>
              </a:lnSpc>
              <a:buNone/>
            </a:pPr>
            <a:r>
              <a:rPr lang="en-US" sz="2300" b="1" spc="-47" kern="0" dirty="0">
                <a:solidFill>
                  <a:srgbClr val="E0D6DE"/>
                </a:solidFill>
                <a:latin typeface="Petrona Bold" pitchFamily="34" charset="0"/>
                <a:ea typeface="Petrona Bold" pitchFamily="34" charset="-122"/>
                <a:cs typeface="Petrona Bold" pitchFamily="34" charset="-120"/>
              </a:rPr>
              <a:t>Lavoro Gratuito Linguistico</a:t>
            </a:r>
            <a:endParaRPr lang="en-US" sz="2300" dirty="0"/>
          </a:p>
        </p:txBody>
      </p:sp>
      <p:sp>
        <p:nvSpPr>
          <p:cNvPr id="8" name="Text 6"/>
          <p:cNvSpPr/>
          <p:nvPr/>
        </p:nvSpPr>
        <p:spPr>
          <a:xfrm>
            <a:off x="5451396" y="3148727"/>
            <a:ext cx="3727490" cy="3266123"/>
          </a:xfrm>
          <a:prstGeom prst="rect">
            <a:avLst/>
          </a:prstGeom>
          <a:noFill/>
          <a:ln/>
        </p:spPr>
        <p:txBody>
          <a:bodyPr wrap="square" lIns="0" tIns="0" rIns="0" bIns="0" rtlCol="0" anchor="t"/>
          <a:lstStyle/>
          <a:p>
            <a:pPr indent="0" marL="0">
              <a:lnSpc>
                <a:spcPts val="2850"/>
              </a:lnSpc>
              <a:buNone/>
            </a:pPr>
            <a:r>
              <a:rPr lang="en-US" sz="1750" spc="-36" kern="0" dirty="0">
                <a:solidFill>
                  <a:srgbClr val="E0D6DE"/>
                </a:solidFill>
                <a:latin typeface="Inter" pitchFamily="34" charset="0"/>
                <a:ea typeface="Inter" pitchFamily="34" charset="-122"/>
                <a:cs typeface="Inter" pitchFamily="34" charset="-120"/>
              </a:rPr>
              <a:t>Amazon Web Services ha sviluppato l'app "Say I", un'applicazione di traduzione vocale gratuita che evolve grazie all'uso di centinaia di migliaia di persone. Siamo di fronte a una moltitudine di atti di parola cui non viene corrisposta una retribuzione, una forma di lavoro gratuito.</a:t>
            </a:r>
            <a:endParaRPr lang="en-US" sz="1750" dirty="0"/>
          </a:p>
        </p:txBody>
      </p:sp>
      <p:sp>
        <p:nvSpPr>
          <p:cNvPr id="9" name="Shape 7"/>
          <p:cNvSpPr/>
          <p:nvPr/>
        </p:nvSpPr>
        <p:spPr>
          <a:xfrm>
            <a:off x="9640133" y="2406134"/>
            <a:ext cx="4196358" cy="4615220"/>
          </a:xfrm>
          <a:prstGeom prst="roundRect">
            <a:avLst>
              <a:gd name="adj" fmla="val 2270"/>
            </a:avLst>
          </a:prstGeom>
          <a:solidFill>
            <a:srgbClr val="2F1D63"/>
          </a:solidFill>
          <a:ln w="7620">
            <a:solidFill>
              <a:srgbClr val="48367C"/>
            </a:solidFill>
            <a:prstDash val="solid"/>
          </a:ln>
        </p:spPr>
      </p:sp>
      <p:sp>
        <p:nvSpPr>
          <p:cNvPr id="10" name="Text 8"/>
          <p:cNvSpPr/>
          <p:nvPr/>
        </p:nvSpPr>
        <p:spPr>
          <a:xfrm>
            <a:off x="9874568" y="2640568"/>
            <a:ext cx="3727490" cy="744141"/>
          </a:xfrm>
          <a:prstGeom prst="rect">
            <a:avLst/>
          </a:prstGeom>
          <a:noFill/>
          <a:ln/>
        </p:spPr>
        <p:txBody>
          <a:bodyPr wrap="square" lIns="0" tIns="0" rIns="0" bIns="0" rtlCol="0" anchor="t"/>
          <a:lstStyle/>
          <a:p>
            <a:pPr indent="0" marL="0">
              <a:lnSpc>
                <a:spcPts val="2900"/>
              </a:lnSpc>
              <a:buNone/>
            </a:pPr>
            <a:r>
              <a:rPr lang="en-US" sz="2300" b="1" spc="-47" kern="0" dirty="0">
                <a:solidFill>
                  <a:srgbClr val="E0D6DE"/>
                </a:solidFill>
                <a:latin typeface="Petrona Bold" pitchFamily="34" charset="0"/>
                <a:ea typeface="Petrona Bold" pitchFamily="34" charset="-122"/>
                <a:cs typeface="Petrona Bold" pitchFamily="34" charset="-120"/>
              </a:rPr>
              <a:t>Alexa e l'Industrializzazione della Parola</a:t>
            </a:r>
            <a:endParaRPr lang="en-US" sz="2300" dirty="0"/>
          </a:p>
        </p:txBody>
      </p:sp>
      <p:sp>
        <p:nvSpPr>
          <p:cNvPr id="11" name="Text 9"/>
          <p:cNvSpPr/>
          <p:nvPr/>
        </p:nvSpPr>
        <p:spPr>
          <a:xfrm>
            <a:off x="9874568" y="3520797"/>
            <a:ext cx="3727490" cy="3266123"/>
          </a:xfrm>
          <a:prstGeom prst="rect">
            <a:avLst/>
          </a:prstGeom>
          <a:noFill/>
          <a:ln/>
        </p:spPr>
        <p:txBody>
          <a:bodyPr wrap="square" lIns="0" tIns="0" rIns="0" bIns="0" rtlCol="0" anchor="t"/>
          <a:lstStyle/>
          <a:p>
            <a:pPr indent="0" marL="0">
              <a:lnSpc>
                <a:spcPts val="2850"/>
              </a:lnSpc>
              <a:buNone/>
            </a:pPr>
            <a:r>
              <a:rPr lang="en-US" sz="1750" spc="-36" kern="0" dirty="0">
                <a:solidFill>
                  <a:srgbClr val="E0D6DE"/>
                </a:solidFill>
                <a:latin typeface="Inter" pitchFamily="34" charset="0"/>
                <a:ea typeface="Inter" pitchFamily="34" charset="-122"/>
                <a:cs typeface="Inter" pitchFamily="34" charset="-120"/>
              </a:rPr>
              <a:t>Alexa, il sistema di intelligenza artificiale di Amazon, contribuisce alla riduzione del parlato a un insieme di codici, "industrializza" la parola e diffonde un agire tecnicizzato che segue l'esigenza di chiarezza e brevità, impoverendo il linguaggio ma producendo anche un piano di "universalizzazione".</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29615" y="575191"/>
            <a:ext cx="5854660" cy="684014"/>
          </a:xfrm>
          <a:prstGeom prst="rect">
            <a:avLst/>
          </a:prstGeom>
          <a:noFill/>
          <a:ln/>
        </p:spPr>
        <p:txBody>
          <a:bodyPr wrap="none" lIns="0" tIns="0" rIns="0" bIns="0" rtlCol="0" anchor="t"/>
          <a:lstStyle/>
          <a:p>
            <a:pPr indent="0" marL="0">
              <a:lnSpc>
                <a:spcPts val="5350"/>
              </a:lnSpc>
              <a:buNone/>
            </a:pPr>
            <a:r>
              <a:rPr lang="en-US" sz="4300" b="1" spc="-86" kern="0" dirty="0">
                <a:solidFill>
                  <a:srgbClr val="FF8AAF"/>
                </a:solidFill>
                <a:latin typeface="Petrona Bold" pitchFamily="34" charset="0"/>
                <a:ea typeface="Petrona Bold" pitchFamily="34" charset="-122"/>
                <a:cs typeface="Petrona Bold" pitchFamily="34" charset="-120"/>
              </a:rPr>
              <a:t>La Fabbrica Senza Pareti</a:t>
            </a:r>
            <a:endParaRPr lang="en-US" sz="4300" dirty="0"/>
          </a:p>
        </p:txBody>
      </p:sp>
      <p:sp>
        <p:nvSpPr>
          <p:cNvPr id="3" name="Shape 1"/>
          <p:cNvSpPr/>
          <p:nvPr/>
        </p:nvSpPr>
        <p:spPr>
          <a:xfrm>
            <a:off x="7303770" y="1676162"/>
            <a:ext cx="22860" cy="5978247"/>
          </a:xfrm>
          <a:prstGeom prst="roundRect">
            <a:avLst>
              <a:gd name="adj" fmla="val 383041"/>
            </a:avLst>
          </a:prstGeom>
          <a:solidFill>
            <a:srgbClr val="48367C"/>
          </a:solidFill>
          <a:ln/>
        </p:spPr>
      </p:sp>
      <p:sp>
        <p:nvSpPr>
          <p:cNvPr id="4" name="Shape 2"/>
          <p:cNvSpPr/>
          <p:nvPr/>
        </p:nvSpPr>
        <p:spPr>
          <a:xfrm>
            <a:off x="6373951" y="2133600"/>
            <a:ext cx="729615" cy="22860"/>
          </a:xfrm>
          <a:prstGeom prst="roundRect">
            <a:avLst>
              <a:gd name="adj" fmla="val 383041"/>
            </a:avLst>
          </a:prstGeom>
          <a:solidFill>
            <a:srgbClr val="48367C"/>
          </a:solidFill>
          <a:ln/>
        </p:spPr>
      </p:sp>
      <p:sp>
        <p:nvSpPr>
          <p:cNvPr id="5" name="Shape 3"/>
          <p:cNvSpPr/>
          <p:nvPr/>
        </p:nvSpPr>
        <p:spPr>
          <a:xfrm>
            <a:off x="7080706" y="1910596"/>
            <a:ext cx="468987" cy="468987"/>
          </a:xfrm>
          <a:prstGeom prst="roundRect">
            <a:avLst>
              <a:gd name="adj" fmla="val 18671"/>
            </a:avLst>
          </a:prstGeom>
          <a:solidFill>
            <a:srgbClr val="2F1D63"/>
          </a:solidFill>
          <a:ln w="7620">
            <a:solidFill>
              <a:srgbClr val="48367C"/>
            </a:solidFill>
            <a:prstDash val="solid"/>
          </a:ln>
        </p:spPr>
      </p:sp>
      <p:sp>
        <p:nvSpPr>
          <p:cNvPr id="6" name="Text 4"/>
          <p:cNvSpPr/>
          <p:nvPr/>
        </p:nvSpPr>
        <p:spPr>
          <a:xfrm>
            <a:off x="7248227" y="1980843"/>
            <a:ext cx="133945" cy="328374"/>
          </a:xfrm>
          <a:prstGeom prst="rect">
            <a:avLst/>
          </a:prstGeom>
          <a:noFill/>
          <a:ln/>
        </p:spPr>
        <p:txBody>
          <a:bodyPr wrap="none" lIns="0" tIns="0" rIns="0" bIns="0" rtlCol="0" anchor="t"/>
          <a:lstStyle/>
          <a:p>
            <a:pPr algn="ctr" indent="0" marL="0">
              <a:lnSpc>
                <a:spcPts val="2550"/>
              </a:lnSpc>
              <a:buNone/>
            </a:pPr>
            <a:r>
              <a:rPr lang="en-US" sz="2550" b="1" spc="-52" kern="0" dirty="0">
                <a:solidFill>
                  <a:srgbClr val="E0D6DE"/>
                </a:solidFill>
                <a:latin typeface="Petrona Bold" pitchFamily="34" charset="0"/>
                <a:ea typeface="Petrona Bold" pitchFamily="34" charset="-122"/>
                <a:cs typeface="Petrona Bold" pitchFamily="34" charset="-120"/>
              </a:rPr>
              <a:t>1</a:t>
            </a:r>
            <a:endParaRPr lang="en-US" sz="2550" dirty="0"/>
          </a:p>
        </p:txBody>
      </p:sp>
      <p:sp>
        <p:nvSpPr>
          <p:cNvPr id="7" name="Text 5"/>
          <p:cNvSpPr/>
          <p:nvPr/>
        </p:nvSpPr>
        <p:spPr>
          <a:xfrm>
            <a:off x="3174802" y="1884640"/>
            <a:ext cx="2993827" cy="341948"/>
          </a:xfrm>
          <a:prstGeom prst="rect">
            <a:avLst/>
          </a:prstGeom>
          <a:noFill/>
          <a:ln/>
        </p:spPr>
        <p:txBody>
          <a:bodyPr wrap="none" lIns="0" tIns="0" rIns="0" bIns="0" rtlCol="0" anchor="t"/>
          <a:lstStyle/>
          <a:p>
            <a:pPr algn="r" indent="0" marL="0">
              <a:lnSpc>
                <a:spcPts val="2650"/>
              </a:lnSpc>
              <a:buNone/>
            </a:pPr>
            <a:r>
              <a:rPr lang="en-US" sz="2150" b="1" spc="-43" kern="0" dirty="0">
                <a:solidFill>
                  <a:srgbClr val="E0D6DE"/>
                </a:solidFill>
                <a:latin typeface="Petrona Bold" pitchFamily="34" charset="0"/>
                <a:ea typeface="Petrona Bold" pitchFamily="34" charset="-122"/>
                <a:cs typeface="Petrona Bold" pitchFamily="34" charset="-120"/>
              </a:rPr>
              <a:t>Nuovo Fordismo Digitale</a:t>
            </a:r>
            <a:endParaRPr lang="en-US" sz="2150" dirty="0"/>
          </a:p>
        </p:txBody>
      </p:sp>
      <p:sp>
        <p:nvSpPr>
          <p:cNvPr id="8" name="Text 6"/>
          <p:cNvSpPr/>
          <p:nvPr/>
        </p:nvSpPr>
        <p:spPr>
          <a:xfrm>
            <a:off x="729615" y="2351603"/>
            <a:ext cx="5439013" cy="2000964"/>
          </a:xfrm>
          <a:prstGeom prst="rect">
            <a:avLst/>
          </a:prstGeom>
          <a:noFill/>
          <a:ln/>
        </p:spPr>
        <p:txBody>
          <a:bodyPr wrap="square" lIns="0" tIns="0" rIns="0" bIns="0" rtlCol="0" anchor="t"/>
          <a:lstStyle/>
          <a:p>
            <a:pPr algn="r" indent="0" marL="0">
              <a:lnSpc>
                <a:spcPts val="2600"/>
              </a:lnSpc>
              <a:buNone/>
            </a:pPr>
            <a:r>
              <a:rPr lang="en-US" sz="1600" spc="-33" kern="0" dirty="0">
                <a:solidFill>
                  <a:srgbClr val="E0D6DE"/>
                </a:solidFill>
                <a:latin typeface="Inter" pitchFamily="34" charset="0"/>
                <a:ea typeface="Inter" pitchFamily="34" charset="-122"/>
                <a:cs typeface="Inter" pitchFamily="34" charset="-120"/>
              </a:rPr>
              <a:t>Il ciclo avviato con la crisi del 2007-2008 e accelerato dalla pandemia appare come un salto d'epoca che ricorda la riflessione gramsciana sulla formazione di una nuova umanità capitalista. Nel dibattito scientifico si stanno affermando letture che preludono al "nuovo fordismo" e a una neo-industrializzazione.</a:t>
            </a:r>
            <a:endParaRPr lang="en-US" sz="1600" dirty="0"/>
          </a:p>
        </p:txBody>
      </p:sp>
      <p:sp>
        <p:nvSpPr>
          <p:cNvPr id="9" name="Shape 7"/>
          <p:cNvSpPr/>
          <p:nvPr/>
        </p:nvSpPr>
        <p:spPr>
          <a:xfrm>
            <a:off x="7526834" y="3175992"/>
            <a:ext cx="729615" cy="22860"/>
          </a:xfrm>
          <a:prstGeom prst="roundRect">
            <a:avLst>
              <a:gd name="adj" fmla="val 383041"/>
            </a:avLst>
          </a:prstGeom>
          <a:solidFill>
            <a:srgbClr val="48367C"/>
          </a:solidFill>
          <a:ln/>
        </p:spPr>
      </p:sp>
      <p:sp>
        <p:nvSpPr>
          <p:cNvPr id="10" name="Shape 8"/>
          <p:cNvSpPr/>
          <p:nvPr/>
        </p:nvSpPr>
        <p:spPr>
          <a:xfrm>
            <a:off x="7080706" y="2952988"/>
            <a:ext cx="468987" cy="468987"/>
          </a:xfrm>
          <a:prstGeom prst="roundRect">
            <a:avLst>
              <a:gd name="adj" fmla="val 18671"/>
            </a:avLst>
          </a:prstGeom>
          <a:solidFill>
            <a:srgbClr val="2F1D63"/>
          </a:solidFill>
          <a:ln w="7620">
            <a:solidFill>
              <a:srgbClr val="48367C"/>
            </a:solidFill>
            <a:prstDash val="solid"/>
          </a:ln>
        </p:spPr>
      </p:sp>
      <p:sp>
        <p:nvSpPr>
          <p:cNvPr id="11" name="Text 9"/>
          <p:cNvSpPr/>
          <p:nvPr/>
        </p:nvSpPr>
        <p:spPr>
          <a:xfrm>
            <a:off x="7225367" y="3023235"/>
            <a:ext cx="179665" cy="328374"/>
          </a:xfrm>
          <a:prstGeom prst="rect">
            <a:avLst/>
          </a:prstGeom>
          <a:noFill/>
          <a:ln/>
        </p:spPr>
        <p:txBody>
          <a:bodyPr wrap="none" lIns="0" tIns="0" rIns="0" bIns="0" rtlCol="0" anchor="t"/>
          <a:lstStyle/>
          <a:p>
            <a:pPr algn="ctr" indent="0" marL="0">
              <a:lnSpc>
                <a:spcPts val="2550"/>
              </a:lnSpc>
              <a:buNone/>
            </a:pPr>
            <a:r>
              <a:rPr lang="en-US" sz="2550" b="1" spc="-52" kern="0" dirty="0">
                <a:solidFill>
                  <a:srgbClr val="E0D6DE"/>
                </a:solidFill>
                <a:latin typeface="Petrona Bold" pitchFamily="34" charset="0"/>
                <a:ea typeface="Petrona Bold" pitchFamily="34" charset="-122"/>
                <a:cs typeface="Petrona Bold" pitchFamily="34" charset="-120"/>
              </a:rPr>
              <a:t>2</a:t>
            </a:r>
            <a:endParaRPr lang="en-US" sz="2550" dirty="0"/>
          </a:p>
        </p:txBody>
      </p:sp>
      <p:sp>
        <p:nvSpPr>
          <p:cNvPr id="12" name="Text 10"/>
          <p:cNvSpPr/>
          <p:nvPr/>
        </p:nvSpPr>
        <p:spPr>
          <a:xfrm>
            <a:off x="8461772" y="2927032"/>
            <a:ext cx="2736294" cy="341948"/>
          </a:xfrm>
          <a:prstGeom prst="rect">
            <a:avLst/>
          </a:prstGeom>
          <a:noFill/>
          <a:ln/>
        </p:spPr>
        <p:txBody>
          <a:bodyPr wrap="none" lIns="0" tIns="0" rIns="0" bIns="0" rtlCol="0" anchor="t"/>
          <a:lstStyle/>
          <a:p>
            <a:pPr algn="l" indent="0" marL="0">
              <a:lnSpc>
                <a:spcPts val="2650"/>
              </a:lnSpc>
              <a:buNone/>
            </a:pPr>
            <a:r>
              <a:rPr lang="en-US" sz="2150" b="1" spc="-43" kern="0" dirty="0">
                <a:solidFill>
                  <a:srgbClr val="E0D6DE"/>
                </a:solidFill>
                <a:latin typeface="Petrona Bold" pitchFamily="34" charset="0"/>
                <a:ea typeface="Petrona Bold" pitchFamily="34" charset="-122"/>
                <a:cs typeface="Petrona Bold" pitchFamily="34" charset="-120"/>
              </a:rPr>
              <a:t>Fabbrica Trasfigurata</a:t>
            </a:r>
            <a:endParaRPr lang="en-US" sz="2150" dirty="0"/>
          </a:p>
        </p:txBody>
      </p:sp>
      <p:sp>
        <p:nvSpPr>
          <p:cNvPr id="13" name="Text 11"/>
          <p:cNvSpPr/>
          <p:nvPr/>
        </p:nvSpPr>
        <p:spPr>
          <a:xfrm>
            <a:off x="8461772" y="3393996"/>
            <a:ext cx="5439013" cy="1667470"/>
          </a:xfrm>
          <a:prstGeom prst="rect">
            <a:avLst/>
          </a:prstGeom>
          <a:noFill/>
          <a:ln/>
        </p:spPr>
        <p:txBody>
          <a:bodyPr wrap="square" lIns="0" tIns="0" rIns="0" bIns="0" rtlCol="0" anchor="t"/>
          <a:lstStyle/>
          <a:p>
            <a:pPr algn="l" indent="0" marL="0">
              <a:lnSpc>
                <a:spcPts val="2600"/>
              </a:lnSpc>
              <a:buNone/>
            </a:pPr>
            <a:r>
              <a:rPr lang="en-US" sz="1600" spc="-33" kern="0" dirty="0">
                <a:solidFill>
                  <a:srgbClr val="E0D6DE"/>
                </a:solidFill>
                <a:latin typeface="Inter" pitchFamily="34" charset="0"/>
                <a:ea typeface="Inter" pitchFamily="34" charset="-122"/>
                <a:cs typeface="Inter" pitchFamily="34" charset="-120"/>
              </a:rPr>
              <a:t>È tornata in auge l'immagine della Fabbrica, ma trasfigurata: una fabbrica senza pareti, una fabbrica digitale, una fabbrica 4.0, una fabbrica globale che produce nuovi regimi di disciplina del lavoro, che comanda e sfrutta il lavoro vivo in forme vecchie e nuove.</a:t>
            </a:r>
            <a:endParaRPr lang="en-US" sz="1600" dirty="0"/>
          </a:p>
        </p:txBody>
      </p:sp>
      <p:sp>
        <p:nvSpPr>
          <p:cNvPr id="14" name="Shape 12"/>
          <p:cNvSpPr/>
          <p:nvPr/>
        </p:nvSpPr>
        <p:spPr>
          <a:xfrm>
            <a:off x="6373951" y="5226963"/>
            <a:ext cx="729615" cy="22860"/>
          </a:xfrm>
          <a:prstGeom prst="roundRect">
            <a:avLst>
              <a:gd name="adj" fmla="val 383041"/>
            </a:avLst>
          </a:prstGeom>
          <a:solidFill>
            <a:srgbClr val="48367C"/>
          </a:solidFill>
          <a:ln/>
        </p:spPr>
      </p:sp>
      <p:sp>
        <p:nvSpPr>
          <p:cNvPr id="15" name="Shape 13"/>
          <p:cNvSpPr/>
          <p:nvPr/>
        </p:nvSpPr>
        <p:spPr>
          <a:xfrm>
            <a:off x="7080706" y="5003959"/>
            <a:ext cx="468987" cy="468987"/>
          </a:xfrm>
          <a:prstGeom prst="roundRect">
            <a:avLst>
              <a:gd name="adj" fmla="val 18671"/>
            </a:avLst>
          </a:prstGeom>
          <a:solidFill>
            <a:srgbClr val="2F1D63"/>
          </a:solidFill>
          <a:ln w="7620">
            <a:solidFill>
              <a:srgbClr val="48367C"/>
            </a:solidFill>
            <a:prstDash val="solid"/>
          </a:ln>
        </p:spPr>
      </p:sp>
      <p:sp>
        <p:nvSpPr>
          <p:cNvPr id="16" name="Text 14"/>
          <p:cNvSpPr/>
          <p:nvPr/>
        </p:nvSpPr>
        <p:spPr>
          <a:xfrm>
            <a:off x="7225486" y="5074206"/>
            <a:ext cx="179308" cy="328374"/>
          </a:xfrm>
          <a:prstGeom prst="rect">
            <a:avLst/>
          </a:prstGeom>
          <a:noFill/>
          <a:ln/>
        </p:spPr>
        <p:txBody>
          <a:bodyPr wrap="none" lIns="0" tIns="0" rIns="0" bIns="0" rtlCol="0" anchor="t"/>
          <a:lstStyle/>
          <a:p>
            <a:pPr algn="ctr" indent="0" marL="0">
              <a:lnSpc>
                <a:spcPts val="2550"/>
              </a:lnSpc>
              <a:buNone/>
            </a:pPr>
            <a:r>
              <a:rPr lang="en-US" sz="2550" b="1" spc="-52" kern="0" dirty="0">
                <a:solidFill>
                  <a:srgbClr val="E0D6DE"/>
                </a:solidFill>
                <a:latin typeface="Petrona Bold" pitchFamily="34" charset="0"/>
                <a:ea typeface="Petrona Bold" pitchFamily="34" charset="-122"/>
                <a:cs typeface="Petrona Bold" pitchFamily="34" charset="-120"/>
              </a:rPr>
              <a:t>3</a:t>
            </a:r>
            <a:endParaRPr lang="en-US" sz="2550" dirty="0"/>
          </a:p>
        </p:txBody>
      </p:sp>
      <p:sp>
        <p:nvSpPr>
          <p:cNvPr id="17" name="Text 15"/>
          <p:cNvSpPr/>
          <p:nvPr/>
        </p:nvSpPr>
        <p:spPr>
          <a:xfrm>
            <a:off x="3276600" y="4978003"/>
            <a:ext cx="2892028" cy="341948"/>
          </a:xfrm>
          <a:prstGeom prst="rect">
            <a:avLst/>
          </a:prstGeom>
          <a:noFill/>
          <a:ln/>
        </p:spPr>
        <p:txBody>
          <a:bodyPr wrap="none" lIns="0" tIns="0" rIns="0" bIns="0" rtlCol="0" anchor="t"/>
          <a:lstStyle/>
          <a:p>
            <a:pPr algn="r" indent="0" marL="0">
              <a:lnSpc>
                <a:spcPts val="2650"/>
              </a:lnSpc>
              <a:buNone/>
            </a:pPr>
            <a:r>
              <a:rPr lang="en-US" sz="2150" b="1" spc="-43" kern="0" dirty="0">
                <a:solidFill>
                  <a:srgbClr val="E0D6DE"/>
                </a:solidFill>
                <a:latin typeface="Petrona Bold" pitchFamily="34" charset="0"/>
                <a:ea typeface="Petrona Bold" pitchFamily="34" charset="-122"/>
                <a:cs typeface="Petrona Bold" pitchFamily="34" charset="-120"/>
              </a:rPr>
              <a:t>Limiti dell'Immaginario</a:t>
            </a:r>
            <a:endParaRPr lang="en-US" sz="2150" dirty="0"/>
          </a:p>
        </p:txBody>
      </p:sp>
      <p:sp>
        <p:nvSpPr>
          <p:cNvPr id="18" name="Text 16"/>
          <p:cNvSpPr/>
          <p:nvPr/>
        </p:nvSpPr>
        <p:spPr>
          <a:xfrm>
            <a:off x="729615" y="5444966"/>
            <a:ext cx="5439013" cy="2000964"/>
          </a:xfrm>
          <a:prstGeom prst="rect">
            <a:avLst/>
          </a:prstGeom>
          <a:noFill/>
          <a:ln/>
        </p:spPr>
        <p:txBody>
          <a:bodyPr wrap="square" lIns="0" tIns="0" rIns="0" bIns="0" rtlCol="0" anchor="t"/>
          <a:lstStyle/>
          <a:p>
            <a:pPr algn="r" indent="0" marL="0">
              <a:lnSpc>
                <a:spcPts val="2600"/>
              </a:lnSpc>
              <a:buNone/>
            </a:pPr>
            <a:r>
              <a:rPr lang="en-US" sz="1600" spc="-33" kern="0" dirty="0">
                <a:solidFill>
                  <a:srgbClr val="E0D6DE"/>
                </a:solidFill>
                <a:latin typeface="Inter" pitchFamily="34" charset="0"/>
                <a:ea typeface="Inter" pitchFamily="34" charset="-122"/>
                <a:cs typeface="Inter" pitchFamily="34" charset="-120"/>
              </a:rPr>
              <a:t>L'impostazione interpretativa sulla "fabbrica" rischia di riprodurre un'immaginazione politica agganciata al passato e di enfatizzare solo il lato capitalistico dell'attuale sviluppo, lasciando fuori la dinamica antagonista e il conflitto tra autonomia del lavoro vivo e sua espropriazione.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00921" y="904399"/>
            <a:ext cx="7766090" cy="657225"/>
          </a:xfrm>
          <a:prstGeom prst="rect">
            <a:avLst/>
          </a:prstGeom>
          <a:noFill/>
          <a:ln/>
        </p:spPr>
        <p:txBody>
          <a:bodyPr wrap="none" lIns="0" tIns="0" rIns="0" bIns="0" rtlCol="0" anchor="t"/>
          <a:lstStyle/>
          <a:p>
            <a:pPr indent="0" marL="0">
              <a:lnSpc>
                <a:spcPts val="5150"/>
              </a:lnSpc>
              <a:buNone/>
            </a:pPr>
            <a:r>
              <a:rPr lang="en-US" sz="4100" b="1" spc="-83" kern="0" dirty="0">
                <a:solidFill>
                  <a:srgbClr val="FF8AAF"/>
                </a:solidFill>
                <a:latin typeface="Petrona Bold" pitchFamily="34" charset="0"/>
                <a:ea typeface="Petrona Bold" pitchFamily="34" charset="-122"/>
                <a:cs typeface="Petrona Bold" pitchFamily="34" charset="-120"/>
              </a:rPr>
              <a:t>Potenze del Lavoro di Piattaforma</a:t>
            </a:r>
            <a:endParaRPr lang="en-US" sz="4100" dirty="0"/>
          </a:p>
        </p:txBody>
      </p:sp>
      <p:sp>
        <p:nvSpPr>
          <p:cNvPr id="3" name="Text 1"/>
          <p:cNvSpPr/>
          <p:nvPr/>
        </p:nvSpPr>
        <p:spPr>
          <a:xfrm>
            <a:off x="2138839" y="3297912"/>
            <a:ext cx="2731770" cy="328613"/>
          </a:xfrm>
          <a:prstGeom prst="rect">
            <a:avLst/>
          </a:prstGeom>
          <a:noFill/>
          <a:ln/>
        </p:spPr>
        <p:txBody>
          <a:bodyPr wrap="none" lIns="0" tIns="0" rIns="0" bIns="0" rtlCol="0" anchor="t"/>
          <a:lstStyle/>
          <a:p>
            <a:pPr algn="r" indent="0" marL="0">
              <a:lnSpc>
                <a:spcPts val="2550"/>
              </a:lnSpc>
              <a:buNone/>
            </a:pPr>
            <a:r>
              <a:rPr lang="en-US" sz="2050" b="1" spc="-41" kern="0" dirty="0">
                <a:solidFill>
                  <a:srgbClr val="E0D6DE"/>
                </a:solidFill>
                <a:latin typeface="Petrona Bold" pitchFamily="34" charset="0"/>
                <a:ea typeface="Petrona Bold" pitchFamily="34" charset="-122"/>
                <a:cs typeface="Petrona Bold" pitchFamily="34" charset="-120"/>
              </a:rPr>
              <a:t>Tecnologie Ambivalenti</a:t>
            </a:r>
            <a:endParaRPr lang="en-US" sz="2050" dirty="0"/>
          </a:p>
        </p:txBody>
      </p:sp>
      <p:sp>
        <p:nvSpPr>
          <p:cNvPr id="4" name="Text 2"/>
          <p:cNvSpPr/>
          <p:nvPr/>
        </p:nvSpPr>
        <p:spPr>
          <a:xfrm>
            <a:off x="700921" y="3746659"/>
            <a:ext cx="4169688" cy="2242780"/>
          </a:xfrm>
          <a:prstGeom prst="rect">
            <a:avLst/>
          </a:prstGeom>
          <a:noFill/>
          <a:ln/>
        </p:spPr>
        <p:txBody>
          <a:bodyPr wrap="square" lIns="0" tIns="0" rIns="0" bIns="0" rtlCol="0" anchor="t"/>
          <a:lstStyle/>
          <a:p>
            <a:pPr algn="r" indent="0" marL="0">
              <a:lnSpc>
                <a:spcPts val="2500"/>
              </a:lnSpc>
              <a:buNone/>
            </a:pPr>
            <a:r>
              <a:rPr lang="en-US" sz="1550" spc="-32" kern="0" dirty="0">
                <a:solidFill>
                  <a:srgbClr val="E0D6DE"/>
                </a:solidFill>
                <a:latin typeface="Inter" pitchFamily="34" charset="0"/>
                <a:ea typeface="Inter" pitchFamily="34" charset="-122"/>
                <a:cs typeface="Inter" pitchFamily="34" charset="-120"/>
              </a:rPr>
              <a:t>Le tecnologie funzionano come strumenti di oppressione nel loro uso capitalistico ma contengono anche un potenziale di liberazione per possibili contro-utilizzi. È utile domandarsi quale potrebbe essere il potenziale di un uso della macchina-Amazon non orientata al profitto.</a:t>
            </a:r>
            <a:endParaRPr lang="en-US" sz="1550" dirty="0"/>
          </a:p>
        </p:txBody>
      </p:sp>
      <p:pic>
        <p:nvPicPr>
          <p:cNvPr id="5" name="Image 0" descr="preencoded.png">    </p:cNvPr>
          <p:cNvPicPr>
            <a:picLocks noChangeAspect="1"/>
          </p:cNvPicPr>
          <p:nvPr/>
        </p:nvPicPr>
        <p:blipFill>
          <a:blip r:embed="rId1"/>
          <a:stretch>
            <a:fillRect/>
          </a:stretch>
        </p:blipFill>
        <p:spPr>
          <a:xfrm>
            <a:off x="5271135" y="2599611"/>
            <a:ext cx="4088011" cy="4088011"/>
          </a:xfrm>
          <a:prstGeom prst="rect">
            <a:avLst/>
          </a:prstGeom>
        </p:spPr>
      </p:pic>
      <p:sp>
        <p:nvSpPr>
          <p:cNvPr id="6" name="Text 3"/>
          <p:cNvSpPr/>
          <p:nvPr/>
        </p:nvSpPr>
        <p:spPr>
          <a:xfrm>
            <a:off x="5854482" y="4197251"/>
            <a:ext cx="102156" cy="400526"/>
          </a:xfrm>
          <a:prstGeom prst="rect">
            <a:avLst/>
          </a:prstGeom>
          <a:noFill/>
          <a:ln/>
        </p:spPr>
        <p:txBody>
          <a:bodyPr wrap="none" lIns="0" tIns="0" rIns="0" bIns="0" rtlCol="0" anchor="t"/>
          <a:lstStyle/>
          <a:p>
            <a:pPr indent="0" marL="0">
              <a:lnSpc>
                <a:spcPts val="3150"/>
              </a:lnSpc>
              <a:buNone/>
            </a:pPr>
            <a:r>
              <a:rPr lang="en-US" sz="1950" b="1" spc="-39" kern="0" dirty="0">
                <a:solidFill>
                  <a:srgbClr val="E0D6DE"/>
                </a:solidFill>
                <a:latin typeface="Petrona Bold" pitchFamily="34" charset="0"/>
                <a:ea typeface="Petrona Bold" pitchFamily="34" charset="-122"/>
                <a:cs typeface="Petrona Bold" pitchFamily="34" charset="-120"/>
              </a:rPr>
              <a:t>1</a:t>
            </a:r>
            <a:endParaRPr lang="en-US" sz="1950" dirty="0"/>
          </a:p>
        </p:txBody>
      </p:sp>
      <p:sp>
        <p:nvSpPr>
          <p:cNvPr id="7" name="Text 4"/>
          <p:cNvSpPr/>
          <p:nvPr/>
        </p:nvSpPr>
        <p:spPr>
          <a:xfrm>
            <a:off x="9659541" y="1962150"/>
            <a:ext cx="2628543" cy="328613"/>
          </a:xfrm>
          <a:prstGeom prst="rect">
            <a:avLst/>
          </a:prstGeom>
          <a:noFill/>
          <a:ln/>
        </p:spPr>
        <p:txBody>
          <a:bodyPr wrap="none" lIns="0" tIns="0" rIns="0" bIns="0" rtlCol="0" anchor="t"/>
          <a:lstStyle/>
          <a:p>
            <a:pPr algn="l" indent="0" marL="0">
              <a:lnSpc>
                <a:spcPts val="2550"/>
              </a:lnSpc>
              <a:buNone/>
            </a:pPr>
            <a:r>
              <a:rPr lang="en-US" sz="2050" b="1" spc="-41" kern="0" dirty="0">
                <a:solidFill>
                  <a:srgbClr val="E0D6DE"/>
                </a:solidFill>
                <a:latin typeface="Petrona Bold" pitchFamily="34" charset="0"/>
                <a:ea typeface="Petrona Bold" pitchFamily="34" charset="-122"/>
                <a:cs typeface="Petrona Bold" pitchFamily="34" charset="-120"/>
              </a:rPr>
              <a:t>Ecologia Complessa</a:t>
            </a:r>
            <a:endParaRPr lang="en-US" sz="2050" dirty="0"/>
          </a:p>
        </p:txBody>
      </p:sp>
      <p:sp>
        <p:nvSpPr>
          <p:cNvPr id="8" name="Text 5"/>
          <p:cNvSpPr/>
          <p:nvPr/>
        </p:nvSpPr>
        <p:spPr>
          <a:xfrm>
            <a:off x="9659541" y="2410897"/>
            <a:ext cx="4269938" cy="2242780"/>
          </a:xfrm>
          <a:prstGeom prst="rect">
            <a:avLst/>
          </a:prstGeom>
          <a:noFill/>
          <a:ln/>
        </p:spPr>
        <p:txBody>
          <a:bodyPr wrap="square" lIns="0" tIns="0" rIns="0" bIns="0" rtlCol="0" anchor="t"/>
          <a:lstStyle/>
          <a:p>
            <a:pPr algn="l" indent="0" marL="0">
              <a:lnSpc>
                <a:spcPts val="2500"/>
              </a:lnSpc>
              <a:buNone/>
            </a:pPr>
            <a:r>
              <a:rPr lang="en-US" sz="1550" spc="-32" kern="0" dirty="0">
                <a:solidFill>
                  <a:srgbClr val="E0D6DE"/>
                </a:solidFill>
                <a:latin typeface="Inter" pitchFamily="34" charset="0"/>
                <a:ea typeface="Inter" pitchFamily="34" charset="-122"/>
                <a:cs typeface="Inter" pitchFamily="34" charset="-120"/>
              </a:rPr>
              <a:t>Il rapporto con l'oggetto tecnico non si dà più con le modalità del mondo industriale, ma va definendo un'ecologia complessa. Bisogna imparare a conoscere le macchine nella loro realtà reticolare non pensandoci come possibili padroni delle macchine stesse ma come co-agenti di un mondo che co-evolve.</a:t>
            </a:r>
            <a:endParaRPr lang="en-US" sz="1550" dirty="0"/>
          </a:p>
        </p:txBody>
      </p:sp>
      <p:pic>
        <p:nvPicPr>
          <p:cNvPr id="9" name="Image 1" descr="preencoded.png">    </p:cNvPr>
          <p:cNvPicPr>
            <a:picLocks noChangeAspect="1"/>
          </p:cNvPicPr>
          <p:nvPr/>
        </p:nvPicPr>
        <p:blipFill>
          <a:blip r:embed="rId2"/>
          <a:stretch>
            <a:fillRect/>
          </a:stretch>
        </p:blipFill>
        <p:spPr>
          <a:xfrm>
            <a:off x="5271135" y="2599611"/>
            <a:ext cx="4088011" cy="4088011"/>
          </a:xfrm>
          <a:prstGeom prst="rect">
            <a:avLst/>
          </a:prstGeom>
        </p:spPr>
      </p:pic>
      <p:sp>
        <p:nvSpPr>
          <p:cNvPr id="10" name="Text 6"/>
          <p:cNvSpPr/>
          <p:nvPr/>
        </p:nvSpPr>
        <p:spPr>
          <a:xfrm>
            <a:off x="8164294" y="3345597"/>
            <a:ext cx="136922" cy="400526"/>
          </a:xfrm>
          <a:prstGeom prst="rect">
            <a:avLst/>
          </a:prstGeom>
          <a:noFill/>
          <a:ln/>
        </p:spPr>
        <p:txBody>
          <a:bodyPr wrap="none" lIns="0" tIns="0" rIns="0" bIns="0" rtlCol="0" anchor="t"/>
          <a:lstStyle/>
          <a:p>
            <a:pPr indent="0" marL="0">
              <a:lnSpc>
                <a:spcPts val="3150"/>
              </a:lnSpc>
              <a:buNone/>
            </a:pPr>
            <a:r>
              <a:rPr lang="en-US" sz="1950" b="1" spc="-39" kern="0" dirty="0">
                <a:solidFill>
                  <a:srgbClr val="E0D6DE"/>
                </a:solidFill>
                <a:latin typeface="Petrona Bold" pitchFamily="34" charset="0"/>
                <a:ea typeface="Petrona Bold" pitchFamily="34" charset="-122"/>
                <a:cs typeface="Petrona Bold" pitchFamily="34" charset="-120"/>
              </a:rPr>
              <a:t>2</a:t>
            </a:r>
            <a:endParaRPr lang="en-US" sz="1950" dirty="0"/>
          </a:p>
        </p:txBody>
      </p:sp>
      <p:sp>
        <p:nvSpPr>
          <p:cNvPr id="11" name="Text 7"/>
          <p:cNvSpPr/>
          <p:nvPr/>
        </p:nvSpPr>
        <p:spPr>
          <a:xfrm>
            <a:off x="9659541" y="4954072"/>
            <a:ext cx="3504367" cy="328613"/>
          </a:xfrm>
          <a:prstGeom prst="rect">
            <a:avLst/>
          </a:prstGeom>
          <a:noFill/>
          <a:ln/>
        </p:spPr>
        <p:txBody>
          <a:bodyPr wrap="none" lIns="0" tIns="0" rIns="0" bIns="0" rtlCol="0" anchor="t"/>
          <a:lstStyle/>
          <a:p>
            <a:pPr algn="l" indent="0" marL="0">
              <a:lnSpc>
                <a:spcPts val="2550"/>
              </a:lnSpc>
              <a:buNone/>
            </a:pPr>
            <a:r>
              <a:rPr lang="en-US" sz="2050" b="1" spc="-41" kern="0" dirty="0">
                <a:solidFill>
                  <a:srgbClr val="E0D6DE"/>
                </a:solidFill>
                <a:latin typeface="Petrona Bold" pitchFamily="34" charset="0"/>
                <a:ea typeface="Petrona Bold" pitchFamily="34" charset="-122"/>
                <a:cs typeface="Petrona Bold" pitchFamily="34" charset="-120"/>
              </a:rPr>
              <a:t>Riappropriazione e Abolizione</a:t>
            </a:r>
            <a:endParaRPr lang="en-US" sz="2050" dirty="0"/>
          </a:p>
        </p:txBody>
      </p:sp>
      <p:sp>
        <p:nvSpPr>
          <p:cNvPr id="12" name="Text 8"/>
          <p:cNvSpPr/>
          <p:nvPr/>
        </p:nvSpPr>
        <p:spPr>
          <a:xfrm>
            <a:off x="9659541" y="5402818"/>
            <a:ext cx="4269938" cy="1922383"/>
          </a:xfrm>
          <a:prstGeom prst="rect">
            <a:avLst/>
          </a:prstGeom>
          <a:noFill/>
          <a:ln/>
        </p:spPr>
        <p:txBody>
          <a:bodyPr wrap="square" lIns="0" tIns="0" rIns="0" bIns="0" rtlCol="0" anchor="t"/>
          <a:lstStyle/>
          <a:p>
            <a:pPr algn="l" indent="0" marL="0">
              <a:lnSpc>
                <a:spcPts val="2500"/>
              </a:lnSpc>
              <a:buNone/>
            </a:pPr>
            <a:r>
              <a:rPr lang="en-US" sz="1550" spc="-32" kern="0" dirty="0">
                <a:solidFill>
                  <a:srgbClr val="E0D6DE"/>
                </a:solidFill>
                <a:latin typeface="Inter" pitchFamily="34" charset="0"/>
                <a:ea typeface="Inter" pitchFamily="34" charset="-122"/>
                <a:cs typeface="Inter" pitchFamily="34" charset="-120"/>
              </a:rPr>
              <a:t>Il cyborg worker rivoluzionario deve organizzarsi nell'ottica di produrre agglomerazioni di contro-forza per incidere sui processi, muovendosi su un continuum tra riappropriazione e abolizione strutturale di un modo di vivere e produrre.</a:t>
            </a:r>
            <a:endParaRPr lang="en-US" sz="1550" dirty="0"/>
          </a:p>
        </p:txBody>
      </p:sp>
      <p:pic>
        <p:nvPicPr>
          <p:cNvPr id="13" name="Image 2" descr="preencoded.png">    </p:cNvPr>
          <p:cNvPicPr>
            <a:picLocks noChangeAspect="1"/>
          </p:cNvPicPr>
          <p:nvPr/>
        </p:nvPicPr>
        <p:blipFill>
          <a:blip r:embed="rId3"/>
          <a:stretch>
            <a:fillRect/>
          </a:stretch>
        </p:blipFill>
        <p:spPr>
          <a:xfrm>
            <a:off x="5271135" y="2599611"/>
            <a:ext cx="4088011" cy="4088011"/>
          </a:xfrm>
          <a:prstGeom prst="rect">
            <a:avLst/>
          </a:prstGeom>
        </p:spPr>
      </p:pic>
      <p:sp>
        <p:nvSpPr>
          <p:cNvPr id="14" name="Text 9"/>
          <p:cNvSpPr/>
          <p:nvPr/>
        </p:nvSpPr>
        <p:spPr>
          <a:xfrm>
            <a:off x="7738408" y="5786854"/>
            <a:ext cx="136684" cy="400526"/>
          </a:xfrm>
          <a:prstGeom prst="rect">
            <a:avLst/>
          </a:prstGeom>
          <a:noFill/>
          <a:ln/>
        </p:spPr>
        <p:txBody>
          <a:bodyPr wrap="none" lIns="0" tIns="0" rIns="0" bIns="0" rtlCol="0" anchor="t"/>
          <a:lstStyle/>
          <a:p>
            <a:pPr indent="0" marL="0">
              <a:lnSpc>
                <a:spcPts val="3150"/>
              </a:lnSpc>
              <a:buNone/>
            </a:pPr>
            <a:r>
              <a:rPr lang="en-US" sz="1950" b="1" spc="-39" kern="0" dirty="0">
                <a:solidFill>
                  <a:srgbClr val="E0D6DE"/>
                </a:solidFill>
                <a:latin typeface="Petrona Bold" pitchFamily="34" charset="0"/>
                <a:ea typeface="Petrona Bold" pitchFamily="34" charset="-122"/>
                <a:cs typeface="Petrona Bold" pitchFamily="34" charset="-120"/>
              </a:rPr>
              <a:t>3</a:t>
            </a:r>
            <a:endParaRPr lang="en-US" sz="1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35437" y="788075"/>
            <a:ext cx="5325666" cy="595670"/>
          </a:xfrm>
          <a:prstGeom prst="rect">
            <a:avLst/>
          </a:prstGeom>
          <a:noFill/>
          <a:ln/>
        </p:spPr>
        <p:txBody>
          <a:bodyPr wrap="none" lIns="0" tIns="0" rIns="0" bIns="0" rtlCol="0" anchor="t"/>
          <a:lstStyle/>
          <a:p>
            <a:pPr indent="0" marL="0">
              <a:lnSpc>
                <a:spcPts val="4650"/>
              </a:lnSpc>
              <a:buNone/>
            </a:pPr>
            <a:r>
              <a:rPr lang="en-US" sz="3750" b="1" spc="-75" kern="0" dirty="0">
                <a:solidFill>
                  <a:srgbClr val="FF8AAF"/>
                </a:solidFill>
                <a:latin typeface="Petrona Bold" pitchFamily="34" charset="0"/>
                <a:ea typeface="Petrona Bold" pitchFamily="34" charset="-122"/>
                <a:cs typeface="Petrona Bold" pitchFamily="34" charset="-120"/>
              </a:rPr>
              <a:t>Soggettività Algoritmiche</a:t>
            </a:r>
            <a:endParaRPr lang="en-US" sz="3750" dirty="0"/>
          </a:p>
        </p:txBody>
      </p:sp>
      <p:pic>
        <p:nvPicPr>
          <p:cNvPr id="3" name="Image 0" descr="preencoded.png">    </p:cNvPr>
          <p:cNvPicPr>
            <a:picLocks noChangeAspect="1"/>
          </p:cNvPicPr>
          <p:nvPr/>
        </p:nvPicPr>
        <p:blipFill>
          <a:blip r:embed="rId1"/>
          <a:stretch>
            <a:fillRect/>
          </a:stretch>
        </p:blipFill>
        <p:spPr>
          <a:xfrm>
            <a:off x="635437" y="1746885"/>
            <a:ext cx="907852" cy="1351002"/>
          </a:xfrm>
          <a:prstGeom prst="rect">
            <a:avLst/>
          </a:prstGeom>
        </p:spPr>
      </p:pic>
      <p:sp>
        <p:nvSpPr>
          <p:cNvPr id="4" name="Text 1"/>
          <p:cNvSpPr/>
          <p:nvPr/>
        </p:nvSpPr>
        <p:spPr>
          <a:xfrm>
            <a:off x="1815584" y="1928455"/>
            <a:ext cx="2383274" cy="297894"/>
          </a:xfrm>
          <a:prstGeom prst="rect">
            <a:avLst/>
          </a:prstGeom>
          <a:noFill/>
          <a:ln/>
        </p:spPr>
        <p:txBody>
          <a:bodyPr wrap="none" lIns="0" tIns="0" rIns="0" bIns="0" rtlCol="0" anchor="t"/>
          <a:lstStyle/>
          <a:p>
            <a:pPr algn="l" indent="0" marL="0">
              <a:lnSpc>
                <a:spcPts val="2300"/>
              </a:lnSpc>
              <a:buNone/>
            </a:pPr>
            <a:r>
              <a:rPr lang="en-US" sz="1850" b="1" spc="-38" kern="0" dirty="0">
                <a:solidFill>
                  <a:srgbClr val="E0D6DE"/>
                </a:solidFill>
                <a:latin typeface="Petrona Bold" pitchFamily="34" charset="0"/>
                <a:ea typeface="Petrona Bold" pitchFamily="34" charset="-122"/>
                <a:cs typeface="Petrona Bold" pitchFamily="34" charset="-120"/>
              </a:rPr>
              <a:t>Soggettività Circolante</a:t>
            </a:r>
            <a:endParaRPr lang="en-US" sz="1850" dirty="0"/>
          </a:p>
        </p:txBody>
      </p:sp>
      <p:sp>
        <p:nvSpPr>
          <p:cNvPr id="5" name="Text 2"/>
          <p:cNvSpPr/>
          <p:nvPr/>
        </p:nvSpPr>
        <p:spPr>
          <a:xfrm>
            <a:off x="1815584" y="2335292"/>
            <a:ext cx="12179379" cy="581025"/>
          </a:xfrm>
          <a:prstGeom prst="rect">
            <a:avLst/>
          </a:prstGeom>
          <a:noFill/>
          <a:ln/>
        </p:spPr>
        <p:txBody>
          <a:bodyPr wrap="square" lIns="0" tIns="0" rIns="0" bIns="0" rtlCol="0" anchor="t"/>
          <a:lstStyle/>
          <a:p>
            <a:pPr algn="l" indent="0" marL="0">
              <a:lnSpc>
                <a:spcPts val="2250"/>
              </a:lnSpc>
              <a:buNone/>
            </a:pPr>
            <a:r>
              <a:rPr lang="en-US" sz="1400" spc="-29" kern="0" dirty="0">
                <a:solidFill>
                  <a:srgbClr val="E0D6DE"/>
                </a:solidFill>
                <a:latin typeface="Inter" pitchFamily="34" charset="0"/>
                <a:ea typeface="Inter" pitchFamily="34" charset="-122"/>
                <a:cs typeface="Inter" pitchFamily="34" charset="-120"/>
              </a:rPr>
              <a:t>L'ipotesi che avanziamo è quella della progressiva emersione di una soggettività circolante. Questo rimanda alla continua circolazione dei soggetti e del lavoro, alla costitutiva mobilità della forza lavoro contemporanea, ma estende ed espande questa immagine oltre la sola "soggettività migrante".</a:t>
            </a:r>
            <a:endParaRPr lang="en-US" sz="1400" dirty="0"/>
          </a:p>
        </p:txBody>
      </p:sp>
      <p:pic>
        <p:nvPicPr>
          <p:cNvPr id="6" name="Image 1" descr="preencoded.png">    </p:cNvPr>
          <p:cNvPicPr>
            <a:picLocks noChangeAspect="1"/>
          </p:cNvPicPr>
          <p:nvPr/>
        </p:nvPicPr>
        <p:blipFill>
          <a:blip r:embed="rId2"/>
          <a:stretch>
            <a:fillRect/>
          </a:stretch>
        </p:blipFill>
        <p:spPr>
          <a:xfrm>
            <a:off x="635437" y="3097887"/>
            <a:ext cx="907852" cy="1351002"/>
          </a:xfrm>
          <a:prstGeom prst="rect">
            <a:avLst/>
          </a:prstGeom>
        </p:spPr>
      </p:pic>
      <p:sp>
        <p:nvSpPr>
          <p:cNvPr id="7" name="Text 3"/>
          <p:cNvSpPr/>
          <p:nvPr/>
        </p:nvSpPr>
        <p:spPr>
          <a:xfrm>
            <a:off x="1815584" y="3279458"/>
            <a:ext cx="2383274" cy="297894"/>
          </a:xfrm>
          <a:prstGeom prst="rect">
            <a:avLst/>
          </a:prstGeom>
          <a:noFill/>
          <a:ln/>
        </p:spPr>
        <p:txBody>
          <a:bodyPr wrap="none" lIns="0" tIns="0" rIns="0" bIns="0" rtlCol="0" anchor="t"/>
          <a:lstStyle/>
          <a:p>
            <a:pPr algn="l" indent="0" marL="0">
              <a:lnSpc>
                <a:spcPts val="2300"/>
              </a:lnSpc>
              <a:buNone/>
            </a:pPr>
            <a:r>
              <a:rPr lang="en-US" sz="1850" b="1" spc="-38" kern="0" dirty="0">
                <a:solidFill>
                  <a:srgbClr val="E0D6DE"/>
                </a:solidFill>
                <a:latin typeface="Petrona Bold" pitchFamily="34" charset="0"/>
                <a:ea typeface="Petrona Bold" pitchFamily="34" charset="-122"/>
                <a:cs typeface="Petrona Bold" pitchFamily="34" charset="-120"/>
              </a:rPr>
              <a:t>Lotte di Circolazione</a:t>
            </a:r>
            <a:endParaRPr lang="en-US" sz="1850" dirty="0"/>
          </a:p>
        </p:txBody>
      </p:sp>
      <p:sp>
        <p:nvSpPr>
          <p:cNvPr id="8" name="Text 4"/>
          <p:cNvSpPr/>
          <p:nvPr/>
        </p:nvSpPr>
        <p:spPr>
          <a:xfrm>
            <a:off x="1815584" y="3686294"/>
            <a:ext cx="12179379" cy="581025"/>
          </a:xfrm>
          <a:prstGeom prst="rect">
            <a:avLst/>
          </a:prstGeom>
          <a:noFill/>
          <a:ln/>
        </p:spPr>
        <p:txBody>
          <a:bodyPr wrap="square" lIns="0" tIns="0" rIns="0" bIns="0" rtlCol="0" anchor="t"/>
          <a:lstStyle/>
          <a:p>
            <a:pPr algn="l" indent="0" marL="0">
              <a:lnSpc>
                <a:spcPts val="2250"/>
              </a:lnSpc>
              <a:buNone/>
            </a:pPr>
            <a:r>
              <a:rPr lang="en-US" sz="1400" spc="-29" kern="0" dirty="0">
                <a:solidFill>
                  <a:srgbClr val="E0D6DE"/>
                </a:solidFill>
                <a:latin typeface="Inter" pitchFamily="34" charset="0"/>
                <a:ea typeface="Inter" pitchFamily="34" charset="-122"/>
                <a:cs typeface="Inter" pitchFamily="34" charset="-120"/>
              </a:rPr>
              <a:t>È opportuno non relegare l'idea delle "lotte di circolazione" unicamente al terreno del blocco metropolitano o delle infrastrutture, ma puntare a una continua risonanza tra queste forme del conflitto e quelle che si riproducono all'interno dei settori logistici, di Amazon e delle piattaforme digitali.</a:t>
            </a:r>
            <a:endParaRPr lang="en-US" sz="1400" dirty="0"/>
          </a:p>
        </p:txBody>
      </p:sp>
      <p:pic>
        <p:nvPicPr>
          <p:cNvPr id="9" name="Image 2" descr="preencoded.png">    </p:cNvPr>
          <p:cNvPicPr>
            <a:picLocks noChangeAspect="1"/>
          </p:cNvPicPr>
          <p:nvPr/>
        </p:nvPicPr>
        <p:blipFill>
          <a:blip r:embed="rId3"/>
          <a:stretch>
            <a:fillRect/>
          </a:stretch>
        </p:blipFill>
        <p:spPr>
          <a:xfrm>
            <a:off x="635437" y="4448889"/>
            <a:ext cx="907852" cy="1351002"/>
          </a:xfrm>
          <a:prstGeom prst="rect">
            <a:avLst/>
          </a:prstGeom>
        </p:spPr>
      </p:pic>
      <p:sp>
        <p:nvSpPr>
          <p:cNvPr id="10" name="Text 5"/>
          <p:cNvSpPr/>
          <p:nvPr/>
        </p:nvSpPr>
        <p:spPr>
          <a:xfrm>
            <a:off x="1815584" y="4630460"/>
            <a:ext cx="2678311" cy="297894"/>
          </a:xfrm>
          <a:prstGeom prst="rect">
            <a:avLst/>
          </a:prstGeom>
          <a:noFill/>
          <a:ln/>
        </p:spPr>
        <p:txBody>
          <a:bodyPr wrap="none" lIns="0" tIns="0" rIns="0" bIns="0" rtlCol="0" anchor="t"/>
          <a:lstStyle/>
          <a:p>
            <a:pPr algn="l" indent="0" marL="0">
              <a:lnSpc>
                <a:spcPts val="2300"/>
              </a:lnSpc>
              <a:buNone/>
            </a:pPr>
            <a:r>
              <a:rPr lang="en-US" sz="1850" b="1" spc="-38" kern="0" dirty="0">
                <a:solidFill>
                  <a:srgbClr val="E0D6DE"/>
                </a:solidFill>
                <a:latin typeface="Petrona Bold" pitchFamily="34" charset="0"/>
                <a:ea typeface="Petrona Bold" pitchFamily="34" charset="-122"/>
                <a:cs typeface="Petrona Bold" pitchFamily="34" charset="-120"/>
              </a:rPr>
              <a:t>Organizzazione Sistemica</a:t>
            </a:r>
            <a:endParaRPr lang="en-US" sz="1850" dirty="0"/>
          </a:p>
        </p:txBody>
      </p:sp>
      <p:sp>
        <p:nvSpPr>
          <p:cNvPr id="11" name="Text 6"/>
          <p:cNvSpPr/>
          <p:nvPr/>
        </p:nvSpPr>
        <p:spPr>
          <a:xfrm>
            <a:off x="1815584" y="5037296"/>
            <a:ext cx="12179379" cy="581025"/>
          </a:xfrm>
          <a:prstGeom prst="rect">
            <a:avLst/>
          </a:prstGeom>
          <a:noFill/>
          <a:ln/>
        </p:spPr>
        <p:txBody>
          <a:bodyPr wrap="square" lIns="0" tIns="0" rIns="0" bIns="0" rtlCol="0" anchor="t"/>
          <a:lstStyle/>
          <a:p>
            <a:pPr algn="l" indent="0" marL="0">
              <a:lnSpc>
                <a:spcPts val="2250"/>
              </a:lnSpc>
              <a:buNone/>
            </a:pPr>
            <a:r>
              <a:rPr lang="en-US" sz="1400" spc="-29" kern="0" dirty="0">
                <a:solidFill>
                  <a:srgbClr val="E0D6DE"/>
                </a:solidFill>
                <a:latin typeface="Inter" pitchFamily="34" charset="0"/>
                <a:ea typeface="Inter" pitchFamily="34" charset="-122"/>
                <a:cs typeface="Inter" pitchFamily="34" charset="-120"/>
              </a:rPr>
              <a:t>Per quanto attiene al capitalismo delle piattaforme siamo di fronte a un modello fattosi ecosistema in cui il "cervello" è la finanza, la "superficie" è quella dello scambio delle merci, il "sotto" è quello del codice, degli algoritmi, del web, e della produzione di dati.</a:t>
            </a:r>
            <a:endParaRPr lang="en-US" sz="1400" dirty="0"/>
          </a:p>
        </p:txBody>
      </p:sp>
      <p:pic>
        <p:nvPicPr>
          <p:cNvPr id="12" name="Image 3" descr="preencoded.png">    </p:cNvPr>
          <p:cNvPicPr>
            <a:picLocks noChangeAspect="1"/>
          </p:cNvPicPr>
          <p:nvPr/>
        </p:nvPicPr>
        <p:blipFill>
          <a:blip r:embed="rId4"/>
          <a:stretch>
            <a:fillRect/>
          </a:stretch>
        </p:blipFill>
        <p:spPr>
          <a:xfrm>
            <a:off x="635437" y="5799892"/>
            <a:ext cx="907852" cy="1641515"/>
          </a:xfrm>
          <a:prstGeom prst="rect">
            <a:avLst/>
          </a:prstGeom>
        </p:spPr>
      </p:pic>
      <p:sp>
        <p:nvSpPr>
          <p:cNvPr id="13" name="Text 7"/>
          <p:cNvSpPr/>
          <p:nvPr/>
        </p:nvSpPr>
        <p:spPr>
          <a:xfrm>
            <a:off x="1815584" y="5981462"/>
            <a:ext cx="2383274" cy="297894"/>
          </a:xfrm>
          <a:prstGeom prst="rect">
            <a:avLst/>
          </a:prstGeom>
          <a:noFill/>
          <a:ln/>
        </p:spPr>
        <p:txBody>
          <a:bodyPr wrap="none" lIns="0" tIns="0" rIns="0" bIns="0" rtlCol="0" anchor="t"/>
          <a:lstStyle/>
          <a:p>
            <a:pPr algn="l" indent="0" marL="0">
              <a:lnSpc>
                <a:spcPts val="2300"/>
              </a:lnSpc>
              <a:buNone/>
            </a:pPr>
            <a:r>
              <a:rPr lang="en-US" sz="1850" b="1" spc="-38" kern="0" dirty="0">
                <a:solidFill>
                  <a:srgbClr val="E0D6DE"/>
                </a:solidFill>
                <a:latin typeface="Petrona Bold" pitchFamily="34" charset="0"/>
                <a:ea typeface="Petrona Bold" pitchFamily="34" charset="-122"/>
                <a:cs typeface="Petrona Bold" pitchFamily="34" charset="-120"/>
              </a:rPr>
              <a:t>Dati come Relazione</a:t>
            </a:r>
            <a:endParaRPr lang="en-US" sz="1850" dirty="0"/>
          </a:p>
        </p:txBody>
      </p:sp>
      <p:sp>
        <p:nvSpPr>
          <p:cNvPr id="14" name="Text 8"/>
          <p:cNvSpPr/>
          <p:nvPr/>
        </p:nvSpPr>
        <p:spPr>
          <a:xfrm>
            <a:off x="1815584" y="6388298"/>
            <a:ext cx="12179379" cy="871538"/>
          </a:xfrm>
          <a:prstGeom prst="rect">
            <a:avLst/>
          </a:prstGeom>
          <a:noFill/>
          <a:ln/>
        </p:spPr>
        <p:txBody>
          <a:bodyPr wrap="square" lIns="0" tIns="0" rIns="0" bIns="0" rtlCol="0" anchor="t"/>
          <a:lstStyle/>
          <a:p>
            <a:pPr algn="l" indent="0" marL="0">
              <a:lnSpc>
                <a:spcPts val="2250"/>
              </a:lnSpc>
              <a:buNone/>
            </a:pPr>
            <a:r>
              <a:rPr lang="en-US" sz="1400" spc="-29" kern="0" dirty="0">
                <a:solidFill>
                  <a:srgbClr val="E0D6DE"/>
                </a:solidFill>
                <a:latin typeface="Inter" pitchFamily="34" charset="0"/>
                <a:ea typeface="Inter" pitchFamily="34" charset="-122"/>
                <a:cs typeface="Inter" pitchFamily="34" charset="-120"/>
              </a:rPr>
              <a:t>I dati non esistono senza interazione, sono una relazione e non una proprietà. La manipolazione dei dati produce schemi di cooperazione che organizzano le relazioni sociali. Amazon fa società, ma deve continuamente indirizzare, confinare e verticalizzare la produzione/circolazione dei dati.</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38175" y="501372"/>
            <a:ext cx="7502009" cy="598289"/>
          </a:xfrm>
          <a:prstGeom prst="rect">
            <a:avLst/>
          </a:prstGeom>
          <a:noFill/>
          <a:ln/>
        </p:spPr>
        <p:txBody>
          <a:bodyPr wrap="none" lIns="0" tIns="0" rIns="0" bIns="0" rtlCol="0" anchor="t"/>
          <a:lstStyle/>
          <a:p>
            <a:pPr indent="0" marL="0">
              <a:lnSpc>
                <a:spcPts val="4700"/>
              </a:lnSpc>
              <a:buNone/>
            </a:pPr>
            <a:r>
              <a:rPr lang="en-US" sz="3750" b="1" spc="-75" kern="0" dirty="0">
                <a:solidFill>
                  <a:srgbClr val="FF8AAF"/>
                </a:solidFill>
                <a:latin typeface="Petrona Bold" pitchFamily="34" charset="0"/>
                <a:ea typeface="Petrona Bold" pitchFamily="34" charset="-122"/>
                <a:cs typeface="Petrona Bold" pitchFamily="34" charset="-120"/>
              </a:rPr>
              <a:t>Verso una Nuova Politica del Lavoro</a:t>
            </a:r>
            <a:endParaRPr lang="en-US" sz="3750" dirty="0"/>
          </a:p>
        </p:txBody>
      </p:sp>
      <p:pic>
        <p:nvPicPr>
          <p:cNvPr id="3" name="Image 0" descr="preencoded.png">    </p:cNvPr>
          <p:cNvPicPr>
            <a:picLocks noChangeAspect="1"/>
          </p:cNvPicPr>
          <p:nvPr/>
        </p:nvPicPr>
        <p:blipFill>
          <a:blip r:embed="rId1"/>
          <a:stretch>
            <a:fillRect/>
          </a:stretch>
        </p:blipFill>
        <p:spPr>
          <a:xfrm>
            <a:off x="3150394" y="1464350"/>
            <a:ext cx="1652468" cy="1064776"/>
          </a:xfrm>
          <a:prstGeom prst="rect">
            <a:avLst/>
          </a:prstGeom>
        </p:spPr>
      </p:pic>
      <p:sp>
        <p:nvSpPr>
          <p:cNvPr id="4" name="Text 1"/>
          <p:cNvSpPr/>
          <p:nvPr/>
        </p:nvSpPr>
        <p:spPr>
          <a:xfrm>
            <a:off x="3930134" y="1946672"/>
            <a:ext cx="92988" cy="364569"/>
          </a:xfrm>
          <a:prstGeom prst="rect">
            <a:avLst/>
          </a:prstGeom>
          <a:noFill/>
          <a:ln/>
        </p:spPr>
        <p:txBody>
          <a:bodyPr wrap="none" lIns="0" tIns="0" rIns="0" bIns="0" rtlCol="0" anchor="t"/>
          <a:lstStyle/>
          <a:p>
            <a:pPr algn="ctr" indent="0" marL="0">
              <a:lnSpc>
                <a:spcPts val="2850"/>
              </a:lnSpc>
              <a:buNone/>
            </a:pPr>
            <a:r>
              <a:rPr lang="en-US" sz="1750" b="1" spc="-36" kern="0" dirty="0">
                <a:solidFill>
                  <a:srgbClr val="E0D6DE"/>
                </a:solidFill>
                <a:latin typeface="Petrona Bold" pitchFamily="34" charset="0"/>
                <a:ea typeface="Petrona Bold" pitchFamily="34" charset="-122"/>
                <a:cs typeface="Petrona Bold" pitchFamily="34" charset="-120"/>
              </a:rPr>
              <a:t>1</a:t>
            </a:r>
            <a:endParaRPr lang="en-US" sz="1750" dirty="0"/>
          </a:p>
        </p:txBody>
      </p:sp>
      <p:sp>
        <p:nvSpPr>
          <p:cNvPr id="5" name="Text 2"/>
          <p:cNvSpPr/>
          <p:nvPr/>
        </p:nvSpPr>
        <p:spPr>
          <a:xfrm>
            <a:off x="4985147" y="1646634"/>
            <a:ext cx="3153013" cy="299085"/>
          </a:xfrm>
          <a:prstGeom prst="rect">
            <a:avLst/>
          </a:prstGeom>
          <a:noFill/>
          <a:ln/>
        </p:spPr>
        <p:txBody>
          <a:bodyPr wrap="none" lIns="0" tIns="0" rIns="0" bIns="0" rtlCol="0" anchor="t"/>
          <a:lstStyle/>
          <a:p>
            <a:pPr algn="l" indent="0" marL="0">
              <a:lnSpc>
                <a:spcPts val="2350"/>
              </a:lnSpc>
              <a:buNone/>
            </a:pPr>
            <a:r>
              <a:rPr lang="en-US" sz="1850" b="1" spc="-38" kern="0" dirty="0">
                <a:solidFill>
                  <a:srgbClr val="E0D6DE"/>
                </a:solidFill>
                <a:latin typeface="Petrona Bold" pitchFamily="34" charset="0"/>
                <a:ea typeface="Petrona Bold" pitchFamily="34" charset="-122"/>
                <a:cs typeface="Petrona Bold" pitchFamily="34" charset="-120"/>
              </a:rPr>
              <a:t>Riappropriazione Tecnologica</a:t>
            </a:r>
            <a:endParaRPr lang="en-US" sz="1850" dirty="0"/>
          </a:p>
        </p:txBody>
      </p:sp>
      <p:sp>
        <p:nvSpPr>
          <p:cNvPr id="6" name="Text 3"/>
          <p:cNvSpPr/>
          <p:nvPr/>
        </p:nvSpPr>
        <p:spPr>
          <a:xfrm>
            <a:off x="4985147" y="2055019"/>
            <a:ext cx="3618428" cy="291822"/>
          </a:xfrm>
          <a:prstGeom prst="rect">
            <a:avLst/>
          </a:prstGeom>
          <a:noFill/>
          <a:ln/>
        </p:spPr>
        <p:txBody>
          <a:bodyPr wrap="none" lIns="0" tIns="0" rIns="0" bIns="0" rtlCol="0" anchor="t"/>
          <a:lstStyle/>
          <a:p>
            <a:pPr algn="l" indent="0" marL="0">
              <a:lnSpc>
                <a:spcPts val="2250"/>
              </a:lnSpc>
              <a:buNone/>
            </a:pPr>
            <a:r>
              <a:rPr lang="en-US" sz="1400" spc="-29" kern="0" dirty="0">
                <a:solidFill>
                  <a:srgbClr val="E0D6DE"/>
                </a:solidFill>
                <a:latin typeface="Inter" pitchFamily="34" charset="0"/>
                <a:ea typeface="Inter" pitchFamily="34" charset="-122"/>
                <a:cs typeface="Inter" pitchFamily="34" charset="-120"/>
              </a:rPr>
              <a:t>Possibilità di contro-utilizzo delle tecnologie</a:t>
            </a:r>
            <a:endParaRPr lang="en-US" sz="1400" dirty="0"/>
          </a:p>
        </p:txBody>
      </p:sp>
      <p:sp>
        <p:nvSpPr>
          <p:cNvPr id="7" name="Shape 4"/>
          <p:cNvSpPr/>
          <p:nvPr/>
        </p:nvSpPr>
        <p:spPr>
          <a:xfrm>
            <a:off x="4848344" y="2542342"/>
            <a:ext cx="9098399" cy="11430"/>
          </a:xfrm>
          <a:prstGeom prst="roundRect">
            <a:avLst>
              <a:gd name="adj" fmla="val 670046"/>
            </a:avLst>
          </a:prstGeom>
          <a:solidFill>
            <a:srgbClr val="48367C"/>
          </a:solidFill>
          <a:ln/>
        </p:spPr>
      </p:sp>
      <p:pic>
        <p:nvPicPr>
          <p:cNvPr id="8" name="Image 1" descr="preencoded.png">    </p:cNvPr>
          <p:cNvPicPr>
            <a:picLocks noChangeAspect="1"/>
          </p:cNvPicPr>
          <p:nvPr/>
        </p:nvPicPr>
        <p:blipFill>
          <a:blip r:embed="rId2"/>
          <a:stretch>
            <a:fillRect/>
          </a:stretch>
        </p:blipFill>
        <p:spPr>
          <a:xfrm>
            <a:off x="2324100" y="2574608"/>
            <a:ext cx="3305056" cy="1064776"/>
          </a:xfrm>
          <a:prstGeom prst="rect">
            <a:avLst/>
          </a:prstGeom>
        </p:spPr>
      </p:pic>
      <p:sp>
        <p:nvSpPr>
          <p:cNvPr id="9" name="Text 5"/>
          <p:cNvSpPr/>
          <p:nvPr/>
        </p:nvSpPr>
        <p:spPr>
          <a:xfrm>
            <a:off x="3914299" y="2924651"/>
            <a:ext cx="124658" cy="364569"/>
          </a:xfrm>
          <a:prstGeom prst="rect">
            <a:avLst/>
          </a:prstGeom>
          <a:noFill/>
          <a:ln/>
        </p:spPr>
        <p:txBody>
          <a:bodyPr wrap="none" lIns="0" tIns="0" rIns="0" bIns="0" rtlCol="0" anchor="t"/>
          <a:lstStyle/>
          <a:p>
            <a:pPr algn="ctr" indent="0" marL="0">
              <a:lnSpc>
                <a:spcPts val="2850"/>
              </a:lnSpc>
              <a:buNone/>
            </a:pPr>
            <a:r>
              <a:rPr lang="en-US" sz="1750" b="1" spc="-36" kern="0" dirty="0">
                <a:solidFill>
                  <a:srgbClr val="E0D6DE"/>
                </a:solidFill>
                <a:latin typeface="Petrona Bold" pitchFamily="34" charset="0"/>
                <a:ea typeface="Petrona Bold" pitchFamily="34" charset="-122"/>
                <a:cs typeface="Petrona Bold" pitchFamily="34" charset="-120"/>
              </a:rPr>
              <a:t>2</a:t>
            </a:r>
            <a:endParaRPr lang="en-US" sz="1750" dirty="0"/>
          </a:p>
        </p:txBody>
      </p:sp>
      <p:sp>
        <p:nvSpPr>
          <p:cNvPr id="10" name="Text 6"/>
          <p:cNvSpPr/>
          <p:nvPr/>
        </p:nvSpPr>
        <p:spPr>
          <a:xfrm>
            <a:off x="5811441" y="2756892"/>
            <a:ext cx="2393275" cy="299085"/>
          </a:xfrm>
          <a:prstGeom prst="rect">
            <a:avLst/>
          </a:prstGeom>
          <a:noFill/>
          <a:ln/>
        </p:spPr>
        <p:txBody>
          <a:bodyPr wrap="none" lIns="0" tIns="0" rIns="0" bIns="0" rtlCol="0" anchor="t"/>
          <a:lstStyle/>
          <a:p>
            <a:pPr algn="l" indent="0" marL="0">
              <a:lnSpc>
                <a:spcPts val="2350"/>
              </a:lnSpc>
              <a:buNone/>
            </a:pPr>
            <a:r>
              <a:rPr lang="en-US" sz="1850" b="1" spc="-38" kern="0" dirty="0">
                <a:solidFill>
                  <a:srgbClr val="E0D6DE"/>
                </a:solidFill>
                <a:latin typeface="Petrona Bold" pitchFamily="34" charset="0"/>
                <a:ea typeface="Petrona Bold" pitchFamily="34" charset="-122"/>
                <a:cs typeface="Petrona Bold" pitchFamily="34" charset="-120"/>
              </a:rPr>
              <a:t>Soggettività Circolante</a:t>
            </a:r>
            <a:endParaRPr lang="en-US" sz="1850" dirty="0"/>
          </a:p>
        </p:txBody>
      </p:sp>
      <p:sp>
        <p:nvSpPr>
          <p:cNvPr id="11" name="Text 7"/>
          <p:cNvSpPr/>
          <p:nvPr/>
        </p:nvSpPr>
        <p:spPr>
          <a:xfrm>
            <a:off x="5811441" y="3165277"/>
            <a:ext cx="3182303" cy="291822"/>
          </a:xfrm>
          <a:prstGeom prst="rect">
            <a:avLst/>
          </a:prstGeom>
          <a:noFill/>
          <a:ln/>
        </p:spPr>
        <p:txBody>
          <a:bodyPr wrap="none" lIns="0" tIns="0" rIns="0" bIns="0" rtlCol="0" anchor="t"/>
          <a:lstStyle/>
          <a:p>
            <a:pPr algn="l" indent="0" marL="0">
              <a:lnSpc>
                <a:spcPts val="2250"/>
              </a:lnSpc>
              <a:buNone/>
            </a:pPr>
            <a:r>
              <a:rPr lang="en-US" sz="1400" spc="-29" kern="0" dirty="0">
                <a:solidFill>
                  <a:srgbClr val="E0D6DE"/>
                </a:solidFill>
                <a:latin typeface="Inter" pitchFamily="34" charset="0"/>
                <a:ea typeface="Inter" pitchFamily="34" charset="-122"/>
                <a:cs typeface="Inter" pitchFamily="34" charset="-120"/>
              </a:rPr>
              <a:t>Nuove forme di organizzazione mobile</a:t>
            </a:r>
            <a:endParaRPr lang="en-US" sz="1400" dirty="0"/>
          </a:p>
        </p:txBody>
      </p:sp>
      <p:sp>
        <p:nvSpPr>
          <p:cNvPr id="12" name="Shape 8"/>
          <p:cNvSpPr/>
          <p:nvPr/>
        </p:nvSpPr>
        <p:spPr>
          <a:xfrm>
            <a:off x="5674638" y="3652599"/>
            <a:ext cx="8272105" cy="11430"/>
          </a:xfrm>
          <a:prstGeom prst="roundRect">
            <a:avLst>
              <a:gd name="adj" fmla="val 670046"/>
            </a:avLst>
          </a:prstGeom>
          <a:solidFill>
            <a:srgbClr val="48367C"/>
          </a:solidFill>
          <a:ln/>
        </p:spPr>
      </p:sp>
      <p:pic>
        <p:nvPicPr>
          <p:cNvPr id="13" name="Image 2" descr="preencoded.png">    </p:cNvPr>
          <p:cNvPicPr>
            <a:picLocks noChangeAspect="1"/>
          </p:cNvPicPr>
          <p:nvPr/>
        </p:nvPicPr>
        <p:blipFill>
          <a:blip r:embed="rId3"/>
          <a:stretch>
            <a:fillRect/>
          </a:stretch>
        </p:blipFill>
        <p:spPr>
          <a:xfrm>
            <a:off x="1497806" y="3684865"/>
            <a:ext cx="4957643" cy="1064776"/>
          </a:xfrm>
          <a:prstGeom prst="rect">
            <a:avLst/>
          </a:prstGeom>
        </p:spPr>
      </p:pic>
      <p:sp>
        <p:nvSpPr>
          <p:cNvPr id="14" name="Text 9"/>
          <p:cNvSpPr/>
          <p:nvPr/>
        </p:nvSpPr>
        <p:spPr>
          <a:xfrm>
            <a:off x="3914299" y="4034909"/>
            <a:ext cx="124539" cy="364569"/>
          </a:xfrm>
          <a:prstGeom prst="rect">
            <a:avLst/>
          </a:prstGeom>
          <a:noFill/>
          <a:ln/>
        </p:spPr>
        <p:txBody>
          <a:bodyPr wrap="none" lIns="0" tIns="0" rIns="0" bIns="0" rtlCol="0" anchor="t"/>
          <a:lstStyle/>
          <a:p>
            <a:pPr algn="ctr" indent="0" marL="0">
              <a:lnSpc>
                <a:spcPts val="2850"/>
              </a:lnSpc>
              <a:buNone/>
            </a:pPr>
            <a:r>
              <a:rPr lang="en-US" sz="1750" b="1" spc="-36" kern="0" dirty="0">
                <a:solidFill>
                  <a:srgbClr val="E0D6DE"/>
                </a:solidFill>
                <a:latin typeface="Petrona Bold" pitchFamily="34" charset="0"/>
                <a:ea typeface="Petrona Bold" pitchFamily="34" charset="-122"/>
                <a:cs typeface="Petrona Bold" pitchFamily="34" charset="-120"/>
              </a:rPr>
              <a:t>3</a:t>
            </a:r>
            <a:endParaRPr lang="en-US" sz="1750" dirty="0"/>
          </a:p>
        </p:txBody>
      </p:sp>
      <p:sp>
        <p:nvSpPr>
          <p:cNvPr id="15" name="Text 10"/>
          <p:cNvSpPr/>
          <p:nvPr/>
        </p:nvSpPr>
        <p:spPr>
          <a:xfrm>
            <a:off x="6637734" y="3867150"/>
            <a:ext cx="2393275" cy="299085"/>
          </a:xfrm>
          <a:prstGeom prst="rect">
            <a:avLst/>
          </a:prstGeom>
          <a:noFill/>
          <a:ln/>
        </p:spPr>
        <p:txBody>
          <a:bodyPr wrap="none" lIns="0" tIns="0" rIns="0" bIns="0" rtlCol="0" anchor="t"/>
          <a:lstStyle/>
          <a:p>
            <a:pPr algn="l" indent="0" marL="0">
              <a:lnSpc>
                <a:spcPts val="2350"/>
              </a:lnSpc>
              <a:buNone/>
            </a:pPr>
            <a:r>
              <a:rPr lang="en-US" sz="1850" b="1" spc="-38" kern="0" dirty="0">
                <a:solidFill>
                  <a:srgbClr val="E0D6DE"/>
                </a:solidFill>
                <a:latin typeface="Petrona Bold" pitchFamily="34" charset="0"/>
                <a:ea typeface="Petrona Bold" pitchFamily="34" charset="-122"/>
                <a:cs typeface="Petrona Bold" pitchFamily="34" charset="-120"/>
              </a:rPr>
              <a:t>Lotte di Circolazione</a:t>
            </a:r>
            <a:endParaRPr lang="en-US" sz="1850" dirty="0"/>
          </a:p>
        </p:txBody>
      </p:sp>
      <p:sp>
        <p:nvSpPr>
          <p:cNvPr id="16" name="Text 11"/>
          <p:cNvSpPr/>
          <p:nvPr/>
        </p:nvSpPr>
        <p:spPr>
          <a:xfrm>
            <a:off x="6637734" y="4275534"/>
            <a:ext cx="2703909" cy="291822"/>
          </a:xfrm>
          <a:prstGeom prst="rect">
            <a:avLst/>
          </a:prstGeom>
          <a:noFill/>
          <a:ln/>
        </p:spPr>
        <p:txBody>
          <a:bodyPr wrap="none" lIns="0" tIns="0" rIns="0" bIns="0" rtlCol="0" anchor="t"/>
          <a:lstStyle/>
          <a:p>
            <a:pPr algn="l" indent="0" marL="0">
              <a:lnSpc>
                <a:spcPts val="2250"/>
              </a:lnSpc>
              <a:buNone/>
            </a:pPr>
            <a:r>
              <a:rPr lang="en-US" sz="1400" spc="-29" kern="0" dirty="0">
                <a:solidFill>
                  <a:srgbClr val="E0D6DE"/>
                </a:solidFill>
                <a:latin typeface="Inter" pitchFamily="34" charset="0"/>
                <a:ea typeface="Inter" pitchFamily="34" charset="-122"/>
                <a:cs typeface="Inter" pitchFamily="34" charset="-120"/>
              </a:rPr>
              <a:t>Blocchi e interruzioni strategiche</a:t>
            </a:r>
            <a:endParaRPr lang="en-US" sz="1400" dirty="0"/>
          </a:p>
        </p:txBody>
      </p:sp>
      <p:sp>
        <p:nvSpPr>
          <p:cNvPr id="17" name="Shape 12"/>
          <p:cNvSpPr/>
          <p:nvPr/>
        </p:nvSpPr>
        <p:spPr>
          <a:xfrm>
            <a:off x="6500932" y="4762857"/>
            <a:ext cx="7445812" cy="11430"/>
          </a:xfrm>
          <a:prstGeom prst="roundRect">
            <a:avLst>
              <a:gd name="adj" fmla="val 670046"/>
            </a:avLst>
          </a:prstGeom>
          <a:solidFill>
            <a:srgbClr val="48367C"/>
          </a:solidFill>
          <a:ln/>
        </p:spPr>
      </p:sp>
      <p:pic>
        <p:nvPicPr>
          <p:cNvPr id="18" name="Image 3" descr="preencoded.png">    </p:cNvPr>
          <p:cNvPicPr>
            <a:picLocks noChangeAspect="1"/>
          </p:cNvPicPr>
          <p:nvPr/>
        </p:nvPicPr>
        <p:blipFill>
          <a:blip r:embed="rId4"/>
          <a:stretch>
            <a:fillRect/>
          </a:stretch>
        </p:blipFill>
        <p:spPr>
          <a:xfrm>
            <a:off x="671513" y="4795123"/>
            <a:ext cx="6610231" cy="1064776"/>
          </a:xfrm>
          <a:prstGeom prst="rect">
            <a:avLst/>
          </a:prstGeom>
        </p:spPr>
      </p:pic>
      <p:sp>
        <p:nvSpPr>
          <p:cNvPr id="19" name="Text 13"/>
          <p:cNvSpPr/>
          <p:nvPr/>
        </p:nvSpPr>
        <p:spPr>
          <a:xfrm>
            <a:off x="3917394" y="5145167"/>
            <a:ext cx="118348" cy="364569"/>
          </a:xfrm>
          <a:prstGeom prst="rect">
            <a:avLst/>
          </a:prstGeom>
          <a:noFill/>
          <a:ln/>
        </p:spPr>
        <p:txBody>
          <a:bodyPr wrap="none" lIns="0" tIns="0" rIns="0" bIns="0" rtlCol="0" anchor="t"/>
          <a:lstStyle/>
          <a:p>
            <a:pPr algn="ctr" indent="0" marL="0">
              <a:lnSpc>
                <a:spcPts val="2850"/>
              </a:lnSpc>
              <a:buNone/>
            </a:pPr>
            <a:r>
              <a:rPr lang="en-US" sz="1750" b="1" spc="-36" kern="0" dirty="0">
                <a:solidFill>
                  <a:srgbClr val="E0D6DE"/>
                </a:solidFill>
                <a:latin typeface="Petrona Bold" pitchFamily="34" charset="0"/>
                <a:ea typeface="Petrona Bold" pitchFamily="34" charset="-122"/>
                <a:cs typeface="Petrona Bold" pitchFamily="34" charset="-120"/>
              </a:rPr>
              <a:t>4</a:t>
            </a:r>
            <a:endParaRPr lang="en-US" sz="1750" dirty="0"/>
          </a:p>
        </p:txBody>
      </p:sp>
      <p:sp>
        <p:nvSpPr>
          <p:cNvPr id="20" name="Text 14"/>
          <p:cNvSpPr/>
          <p:nvPr/>
        </p:nvSpPr>
        <p:spPr>
          <a:xfrm>
            <a:off x="7464028" y="4977408"/>
            <a:ext cx="2393275" cy="299085"/>
          </a:xfrm>
          <a:prstGeom prst="rect">
            <a:avLst/>
          </a:prstGeom>
          <a:noFill/>
          <a:ln/>
        </p:spPr>
        <p:txBody>
          <a:bodyPr wrap="none" lIns="0" tIns="0" rIns="0" bIns="0" rtlCol="0" anchor="t"/>
          <a:lstStyle/>
          <a:p>
            <a:pPr algn="l" indent="0" marL="0">
              <a:lnSpc>
                <a:spcPts val="2350"/>
              </a:lnSpc>
              <a:buNone/>
            </a:pPr>
            <a:r>
              <a:rPr lang="en-US" sz="1850" b="1" spc="-38" kern="0" dirty="0">
                <a:solidFill>
                  <a:srgbClr val="E0D6DE"/>
                </a:solidFill>
                <a:latin typeface="Petrona Bold" pitchFamily="34" charset="0"/>
                <a:ea typeface="Petrona Bold" pitchFamily="34" charset="-122"/>
                <a:cs typeface="Petrona Bold" pitchFamily="34" charset="-120"/>
              </a:rPr>
              <a:t>Cyborg Working Class</a:t>
            </a:r>
            <a:endParaRPr lang="en-US" sz="1850" dirty="0"/>
          </a:p>
        </p:txBody>
      </p:sp>
      <p:sp>
        <p:nvSpPr>
          <p:cNvPr id="21" name="Text 15"/>
          <p:cNvSpPr/>
          <p:nvPr/>
        </p:nvSpPr>
        <p:spPr>
          <a:xfrm>
            <a:off x="7464028" y="5385792"/>
            <a:ext cx="3487817" cy="291822"/>
          </a:xfrm>
          <a:prstGeom prst="rect">
            <a:avLst/>
          </a:prstGeom>
          <a:noFill/>
          <a:ln/>
        </p:spPr>
        <p:txBody>
          <a:bodyPr wrap="none" lIns="0" tIns="0" rIns="0" bIns="0" rtlCol="0" anchor="t"/>
          <a:lstStyle/>
          <a:p>
            <a:pPr algn="l" indent="0" marL="0">
              <a:lnSpc>
                <a:spcPts val="2250"/>
              </a:lnSpc>
              <a:buNone/>
            </a:pPr>
            <a:r>
              <a:rPr lang="en-US" sz="1400" spc="-29" kern="0" dirty="0">
                <a:solidFill>
                  <a:srgbClr val="E0D6DE"/>
                </a:solidFill>
                <a:latin typeface="Inter" pitchFamily="34" charset="0"/>
                <a:ea typeface="Inter" pitchFamily="34" charset="-122"/>
                <a:cs typeface="Inter" pitchFamily="34" charset="-120"/>
              </a:rPr>
              <a:t>Base per una nuova composizione politica</a:t>
            </a:r>
            <a:endParaRPr lang="en-US" sz="1400" dirty="0"/>
          </a:p>
        </p:txBody>
      </p:sp>
      <p:sp>
        <p:nvSpPr>
          <p:cNvPr id="22" name="Text 16"/>
          <p:cNvSpPr/>
          <p:nvPr/>
        </p:nvSpPr>
        <p:spPr>
          <a:xfrm>
            <a:off x="638175" y="6064925"/>
            <a:ext cx="13354050" cy="875467"/>
          </a:xfrm>
          <a:prstGeom prst="rect">
            <a:avLst/>
          </a:prstGeom>
          <a:noFill/>
          <a:ln/>
        </p:spPr>
        <p:txBody>
          <a:bodyPr wrap="square" lIns="0" tIns="0" rIns="0" bIns="0" rtlCol="0" anchor="t"/>
          <a:lstStyle/>
          <a:p>
            <a:pPr indent="0" marL="0">
              <a:lnSpc>
                <a:spcPts val="2250"/>
              </a:lnSpc>
              <a:buNone/>
            </a:pPr>
            <a:r>
              <a:rPr lang="en-US" sz="1400" spc="-29" kern="0" dirty="0">
                <a:solidFill>
                  <a:srgbClr val="E0D6DE"/>
                </a:solidFill>
                <a:latin typeface="Inter" pitchFamily="34" charset="0"/>
                <a:ea typeface="Inter" pitchFamily="34" charset="-122"/>
                <a:cs typeface="Inter" pitchFamily="34" charset="-120"/>
              </a:rPr>
              <a:t>Il tema della tecnica è decisivo nel nostro ragionamento. Se ipotizziamo che oggi gli elementi della macchina che "schiaccia" l'operaio non si diano più in questi termini, possiamo rivolgerci all'idea di un processo di "riappropriazione del capitale fisso"? Il fatto che la forza lavoro sia sempre più cyborg, innervata di tecnologia, può indicare anche un desiderio e una pratica di riappropriazione diffusa?</a:t>
            </a:r>
            <a:endParaRPr lang="en-US" sz="1400" dirty="0"/>
          </a:p>
        </p:txBody>
      </p:sp>
      <p:sp>
        <p:nvSpPr>
          <p:cNvPr id="23" name="Text 17"/>
          <p:cNvSpPr/>
          <p:nvPr/>
        </p:nvSpPr>
        <p:spPr>
          <a:xfrm>
            <a:off x="638175" y="7145417"/>
            <a:ext cx="13354050" cy="583644"/>
          </a:xfrm>
          <a:prstGeom prst="rect">
            <a:avLst/>
          </a:prstGeom>
          <a:noFill/>
          <a:ln/>
        </p:spPr>
        <p:txBody>
          <a:bodyPr wrap="square" lIns="0" tIns="0" rIns="0" bIns="0" rtlCol="0" anchor="t"/>
          <a:lstStyle/>
          <a:p>
            <a:pPr indent="0" marL="0">
              <a:lnSpc>
                <a:spcPts val="2250"/>
              </a:lnSpc>
              <a:buNone/>
            </a:pPr>
            <a:r>
              <a:rPr lang="en-US" sz="1400" spc="-29" kern="0" dirty="0">
                <a:solidFill>
                  <a:srgbClr val="E0D6DE"/>
                </a:solidFill>
                <a:latin typeface="Inter" pitchFamily="34" charset="0"/>
                <a:ea typeface="Inter" pitchFamily="34" charset="-122"/>
                <a:cs typeface="Inter" pitchFamily="34" charset="-120"/>
              </a:rPr>
              <a:t>Si tratta di strutturare una ricerca politica che nelle trasformazioni attuali miri a individuare i punti deboli sistemici ricostruendo le catene del valore, ma al contempo anche i punti di forza soggettivi inscritti nella composizione tecnica attuale e nelle sue possibili traiettorie di soggettivazione politica.</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2025-02-28T14:09:30Z</dcterms:created>
  <dcterms:modified xsi:type="dcterms:W3CDTF">2025-02-28T14:09:30Z</dcterms:modified>
</cp:coreProperties>
</file>