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 id="2147483921" r:id="rId2"/>
  </p:sldMasterIdLst>
  <p:notesMasterIdLst>
    <p:notesMasterId r:id="rId24"/>
  </p:notesMasterIdLst>
  <p:handoutMasterIdLst>
    <p:handoutMasterId r:id="rId25"/>
  </p:handoutMasterIdLst>
  <p:sldIdLst>
    <p:sldId id="258" r:id="rId3"/>
    <p:sldId id="327" r:id="rId4"/>
    <p:sldId id="326" r:id="rId5"/>
    <p:sldId id="286" r:id="rId6"/>
    <p:sldId id="322" r:id="rId7"/>
    <p:sldId id="323" r:id="rId8"/>
    <p:sldId id="324" r:id="rId9"/>
    <p:sldId id="325" r:id="rId10"/>
    <p:sldId id="328" r:id="rId11"/>
    <p:sldId id="283" r:id="rId12"/>
    <p:sldId id="284" r:id="rId13"/>
    <p:sldId id="287" r:id="rId14"/>
    <p:sldId id="293" r:id="rId15"/>
    <p:sldId id="291" r:id="rId16"/>
    <p:sldId id="294" r:id="rId17"/>
    <p:sldId id="300" r:id="rId18"/>
    <p:sldId id="301" r:id="rId19"/>
    <p:sldId id="304" r:id="rId20"/>
    <p:sldId id="307" r:id="rId21"/>
    <p:sldId id="329" r:id="rId22"/>
    <p:sldId id="330" r:id="rId23"/>
  </p:sldIdLst>
  <p:sldSz cx="9144000" cy="6858000" type="screen4x3"/>
  <p:notesSz cx="6797675" cy="9926638"/>
  <p:defaultTextStyle>
    <a:defPPr>
      <a:defRPr lang="it-IT"/>
    </a:defPPr>
    <a:lvl1pPr algn="l" rtl="0" fontAlgn="base">
      <a:spcBef>
        <a:spcPct val="0"/>
      </a:spcBef>
      <a:spcAft>
        <a:spcPct val="0"/>
      </a:spcAft>
      <a:defRPr kern="1200">
        <a:solidFill>
          <a:schemeClr val="tx1"/>
        </a:solidFill>
        <a:latin typeface="Arial" charset="0"/>
        <a:ea typeface="ＭＳ Ｐゴシック"/>
        <a:cs typeface="ＭＳ Ｐゴシック"/>
      </a:defRPr>
    </a:lvl1pPr>
    <a:lvl2pPr marL="457200" algn="l" rtl="0" fontAlgn="base">
      <a:spcBef>
        <a:spcPct val="0"/>
      </a:spcBef>
      <a:spcAft>
        <a:spcPct val="0"/>
      </a:spcAft>
      <a:defRPr kern="1200">
        <a:solidFill>
          <a:schemeClr val="tx1"/>
        </a:solidFill>
        <a:latin typeface="Arial" charset="0"/>
        <a:ea typeface="ＭＳ Ｐゴシック"/>
        <a:cs typeface="ＭＳ Ｐゴシック"/>
      </a:defRPr>
    </a:lvl2pPr>
    <a:lvl3pPr marL="914400" algn="l" rtl="0" fontAlgn="base">
      <a:spcBef>
        <a:spcPct val="0"/>
      </a:spcBef>
      <a:spcAft>
        <a:spcPct val="0"/>
      </a:spcAft>
      <a:defRPr kern="1200">
        <a:solidFill>
          <a:schemeClr val="tx1"/>
        </a:solidFill>
        <a:latin typeface="Arial" charset="0"/>
        <a:ea typeface="ＭＳ Ｐゴシック"/>
        <a:cs typeface="ＭＳ Ｐゴシック"/>
      </a:defRPr>
    </a:lvl3pPr>
    <a:lvl4pPr marL="1371600" algn="l" rtl="0" fontAlgn="base">
      <a:spcBef>
        <a:spcPct val="0"/>
      </a:spcBef>
      <a:spcAft>
        <a:spcPct val="0"/>
      </a:spcAft>
      <a:defRPr kern="1200">
        <a:solidFill>
          <a:schemeClr val="tx1"/>
        </a:solidFill>
        <a:latin typeface="Arial" charset="0"/>
        <a:ea typeface="ＭＳ Ｐゴシック"/>
        <a:cs typeface="ＭＳ Ｐゴシック"/>
      </a:defRPr>
    </a:lvl4pPr>
    <a:lvl5pPr marL="1828800" algn="l" rtl="0" fontAlgn="base">
      <a:spcBef>
        <a:spcPct val="0"/>
      </a:spcBef>
      <a:spcAft>
        <a:spcPct val="0"/>
      </a:spcAft>
      <a:defRPr kern="1200">
        <a:solidFill>
          <a:schemeClr val="tx1"/>
        </a:solidFill>
        <a:latin typeface="Arial" charset="0"/>
        <a:ea typeface="ＭＳ Ｐゴシック"/>
        <a:cs typeface="ＭＳ Ｐゴシック"/>
      </a:defRPr>
    </a:lvl5pPr>
    <a:lvl6pPr marL="2286000" algn="l" defTabSz="914400" rtl="0" eaLnBrk="1" latinLnBrk="0" hangingPunct="1">
      <a:defRPr kern="1200">
        <a:solidFill>
          <a:schemeClr val="tx1"/>
        </a:solidFill>
        <a:latin typeface="Arial" charset="0"/>
        <a:ea typeface="ＭＳ Ｐゴシック"/>
        <a:cs typeface="ＭＳ Ｐゴシック"/>
      </a:defRPr>
    </a:lvl6pPr>
    <a:lvl7pPr marL="2743200" algn="l" defTabSz="914400" rtl="0" eaLnBrk="1" latinLnBrk="0" hangingPunct="1">
      <a:defRPr kern="1200">
        <a:solidFill>
          <a:schemeClr val="tx1"/>
        </a:solidFill>
        <a:latin typeface="Arial" charset="0"/>
        <a:ea typeface="ＭＳ Ｐゴシック"/>
        <a:cs typeface="ＭＳ Ｐゴシック"/>
      </a:defRPr>
    </a:lvl7pPr>
    <a:lvl8pPr marL="3200400" algn="l" defTabSz="914400" rtl="0" eaLnBrk="1" latinLnBrk="0" hangingPunct="1">
      <a:defRPr kern="1200">
        <a:solidFill>
          <a:schemeClr val="tx1"/>
        </a:solidFill>
        <a:latin typeface="Arial" charset="0"/>
        <a:ea typeface="ＭＳ Ｐゴシック"/>
        <a:cs typeface="ＭＳ Ｐゴシック"/>
      </a:defRPr>
    </a:lvl8pPr>
    <a:lvl9pPr marL="3657600" algn="l" defTabSz="914400" rtl="0" eaLnBrk="1" latinLnBrk="0" hangingPunct="1">
      <a:defRPr kern="1200">
        <a:solidFill>
          <a:schemeClr val="tx1"/>
        </a:solidFill>
        <a:latin typeface="Arial" charset="0"/>
        <a:ea typeface="ＭＳ Ｐゴシック"/>
        <a:cs typeface="ＭＳ Ｐゴシック"/>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21" autoAdjust="0"/>
    <p:restoredTop sz="70157" autoAdjust="0"/>
  </p:normalViewPr>
  <p:slideViewPr>
    <p:cSldViewPr>
      <p:cViewPr varScale="1">
        <p:scale>
          <a:sx n="52" d="100"/>
          <a:sy n="52" d="100"/>
        </p:scale>
        <p:origin x="1476" y="44"/>
      </p:cViewPr>
      <p:guideLst>
        <p:guide orient="horz" pos="2160"/>
        <p:guide pos="2880"/>
      </p:guideLst>
    </p:cSldViewPr>
  </p:slideViewPr>
  <p:outlineViewPr>
    <p:cViewPr>
      <p:scale>
        <a:sx n="33" d="100"/>
        <a:sy n="33" d="100"/>
      </p:scale>
      <p:origin x="0" y="-2604"/>
    </p:cViewPr>
  </p:outlineViewPr>
  <p:notesTextViewPr>
    <p:cViewPr>
      <p:scale>
        <a:sx n="100" d="100"/>
        <a:sy n="100" d="100"/>
      </p:scale>
      <p:origin x="0" y="0"/>
    </p:cViewPr>
  </p:notesTextViewPr>
  <p:notesViewPr>
    <p:cSldViewPr>
      <p:cViewPr varScale="1">
        <p:scale>
          <a:sx n="48" d="100"/>
          <a:sy n="48" d="100"/>
        </p:scale>
        <p:origin x="2764" y="44"/>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1" y="2"/>
            <a:ext cx="2945553" cy="496332"/>
          </a:xfrm>
          <a:prstGeom prst="rect">
            <a:avLst/>
          </a:prstGeom>
        </p:spPr>
        <p:txBody>
          <a:bodyPr vert="horz" wrap="square" lIns="91582" tIns="45791" rIns="91582" bIns="45791" numCol="1" anchor="t" anchorCtr="0" compatLnSpc="1">
            <a:prstTxWarp prst="textNoShape">
              <a:avLst/>
            </a:prstTxWarp>
          </a:bodyPr>
          <a:lstStyle>
            <a:lvl1pPr>
              <a:defRPr sz="1200">
                <a:ea typeface="+mn-ea"/>
                <a:cs typeface="+mn-cs"/>
              </a:defRPr>
            </a:lvl1pPr>
          </a:lstStyle>
          <a:p>
            <a:pPr>
              <a:defRPr/>
            </a:pPr>
            <a:endParaRPr lang="it-IT"/>
          </a:p>
        </p:txBody>
      </p:sp>
      <p:sp>
        <p:nvSpPr>
          <p:cNvPr id="3" name="Segnaposto data 2"/>
          <p:cNvSpPr>
            <a:spLocks noGrp="1"/>
          </p:cNvSpPr>
          <p:nvPr>
            <p:ph type="dt" sz="quarter" idx="1"/>
          </p:nvPr>
        </p:nvSpPr>
        <p:spPr>
          <a:xfrm>
            <a:off x="3850533" y="2"/>
            <a:ext cx="2945553" cy="496332"/>
          </a:xfrm>
          <a:prstGeom prst="rect">
            <a:avLst/>
          </a:prstGeom>
        </p:spPr>
        <p:txBody>
          <a:bodyPr vert="horz" wrap="square" lIns="91582" tIns="45791" rIns="91582" bIns="45791" numCol="1" anchor="t" anchorCtr="0" compatLnSpc="1">
            <a:prstTxWarp prst="textNoShape">
              <a:avLst/>
            </a:prstTxWarp>
          </a:bodyPr>
          <a:lstStyle>
            <a:lvl1pPr algn="r">
              <a:defRPr sz="1200">
                <a:ea typeface="ＭＳ Ｐゴシック" charset="0"/>
                <a:cs typeface="ＭＳ Ｐゴシック" charset="0"/>
              </a:defRPr>
            </a:lvl1pPr>
          </a:lstStyle>
          <a:p>
            <a:pPr>
              <a:defRPr/>
            </a:pPr>
            <a:fld id="{8866BC46-6957-4E5E-8165-451A237ED9FC}" type="datetime1">
              <a:rPr lang="it-IT"/>
              <a:pPr>
                <a:defRPr/>
              </a:pPr>
              <a:t>02/02/2026</a:t>
            </a:fld>
            <a:endParaRPr lang="it-IT"/>
          </a:p>
        </p:txBody>
      </p:sp>
      <p:sp>
        <p:nvSpPr>
          <p:cNvPr id="4" name="Segnaposto piè di pagina 3"/>
          <p:cNvSpPr>
            <a:spLocks noGrp="1"/>
          </p:cNvSpPr>
          <p:nvPr>
            <p:ph type="ftr" sz="quarter" idx="2"/>
          </p:nvPr>
        </p:nvSpPr>
        <p:spPr>
          <a:xfrm>
            <a:off x="1" y="9428718"/>
            <a:ext cx="2945553" cy="496332"/>
          </a:xfrm>
          <a:prstGeom prst="rect">
            <a:avLst/>
          </a:prstGeom>
        </p:spPr>
        <p:txBody>
          <a:bodyPr vert="horz" wrap="square" lIns="91582" tIns="45791" rIns="91582" bIns="45791" numCol="1" anchor="b" anchorCtr="0" compatLnSpc="1">
            <a:prstTxWarp prst="textNoShape">
              <a:avLst/>
            </a:prstTxWarp>
          </a:bodyPr>
          <a:lstStyle>
            <a:lvl1pPr>
              <a:defRPr sz="1200">
                <a:ea typeface="+mn-ea"/>
                <a:cs typeface="+mn-cs"/>
              </a:defRPr>
            </a:lvl1pPr>
          </a:lstStyle>
          <a:p>
            <a:pPr>
              <a:defRPr/>
            </a:pPr>
            <a:endParaRPr lang="it-IT"/>
          </a:p>
        </p:txBody>
      </p:sp>
      <p:sp>
        <p:nvSpPr>
          <p:cNvPr id="5" name="Segnaposto numero diapositiva 4"/>
          <p:cNvSpPr>
            <a:spLocks noGrp="1"/>
          </p:cNvSpPr>
          <p:nvPr>
            <p:ph type="sldNum" sz="quarter" idx="3"/>
          </p:nvPr>
        </p:nvSpPr>
        <p:spPr>
          <a:xfrm>
            <a:off x="3850533" y="9428718"/>
            <a:ext cx="2945553" cy="496332"/>
          </a:xfrm>
          <a:prstGeom prst="rect">
            <a:avLst/>
          </a:prstGeom>
        </p:spPr>
        <p:txBody>
          <a:bodyPr vert="horz" wrap="square" lIns="91582" tIns="45791" rIns="91582" bIns="45791" numCol="1" anchor="b" anchorCtr="0" compatLnSpc="1">
            <a:prstTxWarp prst="textNoShape">
              <a:avLst/>
            </a:prstTxWarp>
          </a:bodyPr>
          <a:lstStyle>
            <a:lvl1pPr algn="r">
              <a:defRPr sz="1200">
                <a:ea typeface="ＭＳ Ｐゴシック" charset="0"/>
                <a:cs typeface="ＭＳ Ｐゴシック" charset="0"/>
              </a:defRPr>
            </a:lvl1pPr>
          </a:lstStyle>
          <a:p>
            <a:pPr>
              <a:defRPr/>
            </a:pPr>
            <a:fld id="{CD4508A4-7651-4A10-958D-203157D9EEB9}" type="slidenum">
              <a:rPr lang="it-IT"/>
              <a:pPr>
                <a:defRPr/>
              </a:pPr>
              <a:t>‹N›</a:t>
            </a:fld>
            <a:endParaRPr lang="it-IT"/>
          </a:p>
        </p:txBody>
      </p:sp>
    </p:spTree>
    <p:extLst>
      <p:ext uri="{BB962C8B-B14F-4D97-AF65-F5344CB8AC3E}">
        <p14:creationId xmlns:p14="http://schemas.microsoft.com/office/powerpoint/2010/main" val="271333038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1" y="2"/>
            <a:ext cx="2945553" cy="496332"/>
          </a:xfrm>
          <a:prstGeom prst="rect">
            <a:avLst/>
          </a:prstGeom>
          <a:noFill/>
          <a:ln w="9525">
            <a:noFill/>
            <a:miter lim="800000"/>
            <a:headEnd/>
            <a:tailEnd/>
          </a:ln>
          <a:effectLst/>
        </p:spPr>
        <p:txBody>
          <a:bodyPr vert="horz" wrap="square" lIns="91582" tIns="45791" rIns="91582" bIns="45791" numCol="1" anchor="t" anchorCtr="0" compatLnSpc="1">
            <a:prstTxWarp prst="textNoShape">
              <a:avLst/>
            </a:prstTxWarp>
          </a:bodyPr>
          <a:lstStyle>
            <a:lvl1pPr>
              <a:defRPr sz="1200">
                <a:ea typeface="+mn-ea"/>
                <a:cs typeface="+mn-cs"/>
              </a:defRPr>
            </a:lvl1pPr>
          </a:lstStyle>
          <a:p>
            <a:pPr>
              <a:defRPr/>
            </a:pPr>
            <a:endParaRPr lang="it-IT"/>
          </a:p>
        </p:txBody>
      </p:sp>
      <p:sp>
        <p:nvSpPr>
          <p:cNvPr id="7171" name="Rectangle 3"/>
          <p:cNvSpPr>
            <a:spLocks noGrp="1" noChangeArrowheads="1"/>
          </p:cNvSpPr>
          <p:nvPr>
            <p:ph type="dt" idx="1"/>
          </p:nvPr>
        </p:nvSpPr>
        <p:spPr bwMode="auto">
          <a:xfrm>
            <a:off x="3850533" y="2"/>
            <a:ext cx="2945553" cy="496332"/>
          </a:xfrm>
          <a:prstGeom prst="rect">
            <a:avLst/>
          </a:prstGeom>
          <a:noFill/>
          <a:ln w="9525">
            <a:noFill/>
            <a:miter lim="800000"/>
            <a:headEnd/>
            <a:tailEnd/>
          </a:ln>
          <a:effectLst/>
        </p:spPr>
        <p:txBody>
          <a:bodyPr vert="horz" wrap="square" lIns="91582" tIns="45791" rIns="91582" bIns="45791" numCol="1" anchor="t" anchorCtr="0" compatLnSpc="1">
            <a:prstTxWarp prst="textNoShape">
              <a:avLst/>
            </a:prstTxWarp>
          </a:bodyPr>
          <a:lstStyle>
            <a:lvl1pPr algn="r">
              <a:defRPr sz="1200">
                <a:ea typeface="+mn-ea"/>
                <a:cs typeface="+mn-cs"/>
              </a:defRPr>
            </a:lvl1pPr>
          </a:lstStyle>
          <a:p>
            <a:pPr>
              <a:defRPr/>
            </a:pPr>
            <a:endParaRPr lang="it-IT"/>
          </a:p>
        </p:txBody>
      </p:sp>
      <p:sp>
        <p:nvSpPr>
          <p:cNvPr id="15364"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p:spPr>
      </p:sp>
      <p:sp>
        <p:nvSpPr>
          <p:cNvPr id="7173" name="Rectangle 5"/>
          <p:cNvSpPr>
            <a:spLocks noGrp="1" noChangeArrowheads="1"/>
          </p:cNvSpPr>
          <p:nvPr>
            <p:ph type="body" sz="quarter" idx="3"/>
          </p:nvPr>
        </p:nvSpPr>
        <p:spPr bwMode="auto">
          <a:xfrm>
            <a:off x="679133" y="4715153"/>
            <a:ext cx="5439412" cy="4466987"/>
          </a:xfrm>
          <a:prstGeom prst="rect">
            <a:avLst/>
          </a:prstGeom>
          <a:noFill/>
          <a:ln w="9525">
            <a:noFill/>
            <a:miter lim="800000"/>
            <a:headEnd/>
            <a:tailEnd/>
          </a:ln>
          <a:effectLst/>
        </p:spPr>
        <p:txBody>
          <a:bodyPr vert="horz" wrap="square" lIns="91582" tIns="45791" rIns="91582" bIns="45791" numCol="1" anchor="t" anchorCtr="0" compatLnSpc="1">
            <a:prstTxWarp prst="textNoShape">
              <a:avLst/>
            </a:prstTxWarp>
          </a:bodyPr>
          <a:lstStyle/>
          <a:p>
            <a:pPr lvl="0"/>
            <a:r>
              <a:rPr lang="it-IT" noProof="0"/>
              <a:t>Click to edit Master text styles</a:t>
            </a:r>
          </a:p>
          <a:p>
            <a:pPr lvl="1"/>
            <a:r>
              <a:rPr lang="it-IT" noProof="0"/>
              <a:t>Second level</a:t>
            </a:r>
          </a:p>
          <a:p>
            <a:pPr lvl="2"/>
            <a:r>
              <a:rPr lang="it-IT" noProof="0"/>
              <a:t>Third level</a:t>
            </a:r>
          </a:p>
          <a:p>
            <a:pPr lvl="3"/>
            <a:r>
              <a:rPr lang="it-IT" noProof="0"/>
              <a:t>Fourth level</a:t>
            </a:r>
          </a:p>
          <a:p>
            <a:pPr lvl="4"/>
            <a:r>
              <a:rPr lang="it-IT" noProof="0"/>
              <a:t>Fifth level</a:t>
            </a:r>
          </a:p>
        </p:txBody>
      </p:sp>
      <p:sp>
        <p:nvSpPr>
          <p:cNvPr id="7174" name="Rectangle 6"/>
          <p:cNvSpPr>
            <a:spLocks noGrp="1" noChangeArrowheads="1"/>
          </p:cNvSpPr>
          <p:nvPr>
            <p:ph type="ftr" sz="quarter" idx="4"/>
          </p:nvPr>
        </p:nvSpPr>
        <p:spPr bwMode="auto">
          <a:xfrm>
            <a:off x="1" y="9428718"/>
            <a:ext cx="2945553" cy="496332"/>
          </a:xfrm>
          <a:prstGeom prst="rect">
            <a:avLst/>
          </a:prstGeom>
          <a:noFill/>
          <a:ln w="9525">
            <a:noFill/>
            <a:miter lim="800000"/>
            <a:headEnd/>
            <a:tailEnd/>
          </a:ln>
          <a:effectLst/>
        </p:spPr>
        <p:txBody>
          <a:bodyPr vert="horz" wrap="square" lIns="91582" tIns="45791" rIns="91582" bIns="45791" numCol="1" anchor="b" anchorCtr="0" compatLnSpc="1">
            <a:prstTxWarp prst="textNoShape">
              <a:avLst/>
            </a:prstTxWarp>
          </a:bodyPr>
          <a:lstStyle>
            <a:lvl1pPr>
              <a:defRPr sz="1200">
                <a:ea typeface="+mn-ea"/>
                <a:cs typeface="+mn-cs"/>
              </a:defRPr>
            </a:lvl1pPr>
          </a:lstStyle>
          <a:p>
            <a:pPr>
              <a:defRPr/>
            </a:pPr>
            <a:endParaRPr lang="it-IT"/>
          </a:p>
        </p:txBody>
      </p:sp>
      <p:sp>
        <p:nvSpPr>
          <p:cNvPr id="7175" name="Rectangle 7"/>
          <p:cNvSpPr>
            <a:spLocks noGrp="1" noChangeArrowheads="1"/>
          </p:cNvSpPr>
          <p:nvPr>
            <p:ph type="sldNum" sz="quarter" idx="5"/>
          </p:nvPr>
        </p:nvSpPr>
        <p:spPr bwMode="auto">
          <a:xfrm>
            <a:off x="3850533" y="9428718"/>
            <a:ext cx="2945553" cy="496332"/>
          </a:xfrm>
          <a:prstGeom prst="rect">
            <a:avLst/>
          </a:prstGeom>
          <a:noFill/>
          <a:ln w="9525">
            <a:noFill/>
            <a:miter lim="800000"/>
            <a:headEnd/>
            <a:tailEnd/>
          </a:ln>
          <a:effectLst/>
        </p:spPr>
        <p:txBody>
          <a:bodyPr vert="horz" wrap="square" lIns="91582" tIns="45791" rIns="91582" bIns="45791" numCol="1" anchor="b" anchorCtr="0" compatLnSpc="1">
            <a:prstTxWarp prst="textNoShape">
              <a:avLst/>
            </a:prstTxWarp>
          </a:bodyPr>
          <a:lstStyle>
            <a:lvl1pPr algn="r">
              <a:defRPr sz="1200">
                <a:ea typeface="ＭＳ Ｐゴシック" charset="0"/>
                <a:cs typeface="ＭＳ Ｐゴシック" charset="0"/>
              </a:defRPr>
            </a:lvl1pPr>
          </a:lstStyle>
          <a:p>
            <a:pPr>
              <a:defRPr/>
            </a:pPr>
            <a:fld id="{BD338426-0B02-4295-A469-0999ABA54567}" type="slidenum">
              <a:rPr lang="it-IT"/>
              <a:pPr>
                <a:defRPr/>
              </a:pPr>
              <a:t>‹N›</a:t>
            </a:fld>
            <a:endParaRPr lang="it-IT"/>
          </a:p>
        </p:txBody>
      </p:sp>
    </p:spTree>
    <p:extLst>
      <p:ext uri="{BB962C8B-B14F-4D97-AF65-F5344CB8AC3E}">
        <p14:creationId xmlns:p14="http://schemas.microsoft.com/office/powerpoint/2010/main" val="269273976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ＭＳ Ｐゴシック" pitchFamily="-112" charset="-128"/>
      </a:defRPr>
    </a:lvl1pPr>
    <a:lvl2pPr marL="4572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ＭＳ Ｐゴシック"/>
      </a:defRPr>
    </a:lvl2pPr>
    <a:lvl3pPr marL="9144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ＭＳ Ｐゴシック"/>
      </a:defRPr>
    </a:lvl3pPr>
    <a:lvl4pPr marL="13716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ＭＳ Ｐゴシック"/>
      </a:defRPr>
    </a:lvl4pPr>
    <a:lvl5pPr marL="18288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egnaposto immagine diapositiva 1"/>
          <p:cNvSpPr>
            <a:spLocks noGrp="1" noRot="1" noChangeAspect="1"/>
          </p:cNvSpPr>
          <p:nvPr>
            <p:ph type="sldImg"/>
          </p:nvPr>
        </p:nvSpPr>
        <p:spPr>
          <a:ln/>
        </p:spPr>
      </p:sp>
      <p:sp>
        <p:nvSpPr>
          <p:cNvPr id="18434" name="Segnaposto note 2"/>
          <p:cNvSpPr>
            <a:spLocks noGrp="1"/>
          </p:cNvSpPr>
          <p:nvPr>
            <p:ph type="body" idx="1"/>
          </p:nvPr>
        </p:nvSpPr>
        <p:spPr>
          <a:noFill/>
          <a:ln/>
        </p:spPr>
        <p:txBody>
          <a:bodyPr/>
          <a:lstStyle/>
          <a:p>
            <a:endParaRPr lang="it-CH" sz="1400" dirty="0">
              <a:latin typeface="Arial" charset="0"/>
              <a:ea typeface="ＭＳ Ｐゴシック"/>
              <a:cs typeface="ＭＳ Ｐゴシック"/>
            </a:endParaRPr>
          </a:p>
        </p:txBody>
      </p:sp>
      <p:sp>
        <p:nvSpPr>
          <p:cNvPr id="18435" name="Segnaposto numero diapositiva 3"/>
          <p:cNvSpPr>
            <a:spLocks noGrp="1"/>
          </p:cNvSpPr>
          <p:nvPr>
            <p:ph type="sldNum" sz="quarter" idx="5"/>
          </p:nvPr>
        </p:nvSpPr>
        <p:spPr>
          <a:noFill/>
        </p:spPr>
        <p:txBody>
          <a:bodyPr/>
          <a:lstStyle/>
          <a:p>
            <a:fld id="{AF290E21-25BB-4736-9D7A-E6D6FF5CAB1B}" type="slidenum">
              <a:rPr lang="it-IT" smtClean="0">
                <a:ea typeface="ＭＳ Ｐゴシック"/>
                <a:cs typeface="ＭＳ Ｐゴシック"/>
              </a:rPr>
              <a:pPr/>
              <a:t>1</a:t>
            </a:fld>
            <a:endParaRPr lang="it-IT">
              <a:ea typeface="ＭＳ Ｐゴシック"/>
              <a:cs typeface="ＭＳ Ｐゴシック"/>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p:spPr>
      </p:sp>
      <p:sp>
        <p:nvSpPr>
          <p:cNvPr id="104451" name="Rectangle 3"/>
          <p:cNvSpPr>
            <a:spLocks noGrp="1" noChangeArrowheads="1"/>
          </p:cNvSpPr>
          <p:nvPr>
            <p:ph type="body" idx="1"/>
          </p:nvPr>
        </p:nvSpPr>
        <p:spPr>
          <a:noFill/>
          <a:extLst>
            <a:ext uri="{91240B29-F687-4F45-9708-019B960494DF}">
              <a14:hiddenLine xmlns:a14="http://schemas.microsoft.com/office/drawing/2010/main" w="9525">
                <a:solidFill>
                  <a:srgbClr val="808080"/>
                </a:solidFill>
                <a:miter lim="800000"/>
                <a:headEnd/>
                <a:tailEnd/>
              </a14:hiddenLine>
            </a:ext>
          </a:extLst>
        </p:spPr>
        <p:txBody>
          <a:bodyPr/>
          <a:lstStyle/>
          <a:p>
            <a:endParaRPr lang="it-CH" altLang="it-CH" dirty="0">
              <a:latin typeface="Arial" panose="020B0604020202020204" pitchFamily="34" charset="0"/>
            </a:endParaRPr>
          </a:p>
        </p:txBody>
      </p:sp>
    </p:spTree>
    <p:extLst>
      <p:ext uri="{BB962C8B-B14F-4D97-AF65-F5344CB8AC3E}">
        <p14:creationId xmlns:p14="http://schemas.microsoft.com/office/powerpoint/2010/main" val="1396029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egnaposto immagine diapositiva 1"/>
          <p:cNvSpPr>
            <a:spLocks noGrp="1" noRot="1" noChangeAspect="1"/>
          </p:cNvSpPr>
          <p:nvPr>
            <p:ph type="sldImg"/>
          </p:nvPr>
        </p:nvSpPr>
        <p:spPr>
          <a:ln/>
        </p:spPr>
      </p:sp>
      <p:sp>
        <p:nvSpPr>
          <p:cNvPr id="24578" name="Segnaposto note 2"/>
          <p:cNvSpPr>
            <a:spLocks noGrp="1"/>
          </p:cNvSpPr>
          <p:nvPr>
            <p:ph type="body" idx="1"/>
          </p:nvPr>
        </p:nvSpPr>
        <p:spPr>
          <a:noFill/>
          <a:ln/>
        </p:spPr>
        <p:txBody>
          <a:bodyPr/>
          <a:lstStyle/>
          <a:p>
            <a:endParaRPr lang="it-CH" dirty="0">
              <a:latin typeface="Arial" charset="0"/>
              <a:ea typeface="ＭＳ Ｐゴシック"/>
              <a:cs typeface="ＭＳ Ｐゴシック"/>
            </a:endParaRPr>
          </a:p>
        </p:txBody>
      </p:sp>
      <p:sp>
        <p:nvSpPr>
          <p:cNvPr id="24579" name="Segnaposto numero diapositiva 3"/>
          <p:cNvSpPr>
            <a:spLocks noGrp="1"/>
          </p:cNvSpPr>
          <p:nvPr>
            <p:ph type="sldNum" sz="quarter" idx="5"/>
          </p:nvPr>
        </p:nvSpPr>
        <p:spPr>
          <a:noFill/>
        </p:spPr>
        <p:txBody>
          <a:bodyPr/>
          <a:lstStyle/>
          <a:p>
            <a:fld id="{3866B1CA-427B-4F45-9AAE-436AB529A78C}" type="slidenum">
              <a:rPr lang="it-IT" smtClean="0">
                <a:ea typeface="ＭＳ Ｐゴシック"/>
                <a:cs typeface="ＭＳ Ｐゴシック"/>
              </a:rPr>
              <a:pPr/>
              <a:t>3</a:t>
            </a:fld>
            <a:endParaRPr lang="it-IT">
              <a:ea typeface="ＭＳ Ｐゴシック"/>
              <a:cs typeface="ＭＳ Ｐゴシック"/>
            </a:endParaRPr>
          </a:p>
        </p:txBody>
      </p:sp>
    </p:spTree>
    <p:extLst>
      <p:ext uri="{BB962C8B-B14F-4D97-AF65-F5344CB8AC3E}">
        <p14:creationId xmlns:p14="http://schemas.microsoft.com/office/powerpoint/2010/main" val="1834343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egnaposto immagine diapositiva 1"/>
          <p:cNvSpPr>
            <a:spLocks noGrp="1" noRot="1" noChangeAspect="1"/>
          </p:cNvSpPr>
          <p:nvPr>
            <p:ph type="sldImg"/>
          </p:nvPr>
        </p:nvSpPr>
        <p:spPr>
          <a:ln/>
        </p:spPr>
      </p:sp>
      <p:sp>
        <p:nvSpPr>
          <p:cNvPr id="32770" name="Segnaposto note 2"/>
          <p:cNvSpPr>
            <a:spLocks noGrp="1"/>
          </p:cNvSpPr>
          <p:nvPr>
            <p:ph type="body" idx="1"/>
          </p:nvPr>
        </p:nvSpPr>
        <p:spPr>
          <a:noFill/>
        </p:spPr>
        <p:txBody>
          <a:bodyPr/>
          <a:lstStyle/>
          <a:p>
            <a:pPr marL="715387" lvl="1" indent="-275149" algn="just" eaLnBrk="1" hangingPunct="1"/>
            <a:r>
              <a:rPr lang="it-CH" sz="900" dirty="0">
                <a:latin typeface="Arial" charset="0"/>
                <a:ea typeface="ＭＳ Ｐゴシック"/>
              </a:rPr>
              <a:t>Il lavoro scientifico (la scienza in generale) si distanzia da altre pratiche in quanto cerca di spiegare con rigore ed oggettività i fenomeni</a:t>
            </a:r>
          </a:p>
          <a:p>
            <a:pPr marL="715387" lvl="1" indent="-275149" algn="just" eaLnBrk="1" hangingPunct="1"/>
            <a:r>
              <a:rPr lang="it-CH" sz="900" dirty="0">
                <a:latin typeface="Arial" charset="0"/>
                <a:ea typeface="ＭＳ Ｐゴシック"/>
              </a:rPr>
              <a:t>Ad esempio:</a:t>
            </a:r>
          </a:p>
          <a:p>
            <a:pPr marL="1100595" lvl="2" indent="-220119" algn="just" eaLnBrk="1" hangingPunct="1"/>
            <a:r>
              <a:rPr lang="it-CH" sz="900" dirty="0">
                <a:latin typeface="Arial" charset="0"/>
                <a:ea typeface="ＭＳ Ｐゴシック"/>
              </a:rPr>
              <a:t>La politica (e alcune forme di giornalismo) indagano ed espongono i fatti nel modo più congeniale alla veicolazione di un determinato messaggio</a:t>
            </a:r>
          </a:p>
          <a:p>
            <a:pPr marL="1100595" lvl="2" indent="-220119" algn="just" eaLnBrk="1" hangingPunct="1">
              <a:spcAft>
                <a:spcPts val="578"/>
              </a:spcAft>
            </a:pPr>
            <a:r>
              <a:rPr lang="it-CH" sz="900" dirty="0">
                <a:latin typeface="Arial" charset="0"/>
                <a:ea typeface="ＭＳ Ｐゴシック"/>
              </a:rPr>
              <a:t>Un’azienda promuove il proprio prodotto mettendone in luce le qualità positive piuttosto che quelle negative</a:t>
            </a:r>
          </a:p>
          <a:p>
            <a:pPr marL="715387" lvl="1" indent="-275149" algn="just" eaLnBrk="1" hangingPunct="1"/>
            <a:r>
              <a:rPr lang="it-CH" sz="900" dirty="0">
                <a:latin typeface="Arial" charset="0"/>
                <a:ea typeface="ＭＳ Ｐゴシック"/>
              </a:rPr>
              <a:t>Non tutti sono esperti (altrimenti il premio Nobel non esisterebbe)</a:t>
            </a:r>
          </a:p>
          <a:p>
            <a:pPr marL="715387" lvl="1" indent="-275149" algn="just" eaLnBrk="1" hangingPunct="1">
              <a:spcAft>
                <a:spcPts val="578"/>
              </a:spcAft>
            </a:pPr>
            <a:r>
              <a:rPr lang="it-CH" sz="900" dirty="0">
                <a:latin typeface="Arial" charset="0"/>
                <a:ea typeface="ＭＳ Ｐゴシック"/>
              </a:rPr>
              <a:t>Se un lavoro supera la </a:t>
            </a:r>
            <a:r>
              <a:rPr lang="it-CH" sz="900" i="1" dirty="0" err="1">
                <a:latin typeface="Arial" charset="0"/>
                <a:ea typeface="ＭＳ Ｐゴシック"/>
              </a:rPr>
              <a:t>peer-review</a:t>
            </a:r>
            <a:r>
              <a:rPr lang="it-CH" sz="900" dirty="0">
                <a:latin typeface="Arial" charset="0"/>
                <a:ea typeface="ＭＳ Ｐゴシック"/>
              </a:rPr>
              <a:t>, sappiamo con un certo grado di sicurezza che si tratta di un contributo utile alla conoscenza</a:t>
            </a:r>
          </a:p>
          <a:p>
            <a:pPr marL="715387" lvl="1" indent="-275149" algn="just" eaLnBrk="1" hangingPunct="1">
              <a:spcAft>
                <a:spcPts val="578"/>
              </a:spcAft>
            </a:pPr>
            <a:endParaRPr lang="it-CH" sz="900" dirty="0">
              <a:latin typeface="Arial" charset="0"/>
              <a:ea typeface="ＭＳ Ｐゴシック"/>
            </a:endParaRPr>
          </a:p>
          <a:p>
            <a:pPr marL="715387" lvl="1" indent="-275149" algn="just" eaLnBrk="1" hangingPunct="1"/>
            <a:r>
              <a:rPr lang="it-CH" sz="900" dirty="0">
                <a:latin typeface="Arial" charset="0"/>
                <a:ea typeface="ＭＳ Ｐゴシック"/>
              </a:rPr>
              <a:t>Un contributo del 1920 poteva essere molto attuale e moderno nel 1920</a:t>
            </a:r>
          </a:p>
          <a:p>
            <a:pPr marL="715387" lvl="1" indent="-275149" algn="just" eaLnBrk="1" hangingPunct="1"/>
            <a:r>
              <a:rPr lang="it-CH" sz="900" dirty="0">
                <a:latin typeface="Arial" charset="0"/>
                <a:ea typeface="ＭＳ Ｐゴシック"/>
              </a:rPr>
              <a:t>Oggi lo stesso contributo rischia di essere sorpassato…</a:t>
            </a:r>
          </a:p>
          <a:p>
            <a:pPr marL="715387" lvl="1" indent="-275149" algn="just" eaLnBrk="1" hangingPunct="1"/>
            <a:r>
              <a:rPr lang="it-CH" sz="900" dirty="0">
                <a:latin typeface="Arial" charset="0"/>
                <a:ea typeface="ＭＳ Ｐゴシック"/>
              </a:rPr>
              <a:t>È bene riferirsi sempre alle più recenti opere inerenti al tema di interesse</a:t>
            </a:r>
            <a:endParaRPr lang="it-CH" sz="1000" dirty="0">
              <a:latin typeface="Arial" charset="0"/>
              <a:ea typeface="ＭＳ Ｐゴシック"/>
            </a:endParaRPr>
          </a:p>
          <a:p>
            <a:pPr marL="715387" lvl="1" indent="-275149" algn="just" eaLnBrk="1" hangingPunct="1">
              <a:spcAft>
                <a:spcPts val="578"/>
              </a:spcAft>
            </a:pPr>
            <a:endParaRPr lang="it-CH" sz="900" dirty="0">
              <a:latin typeface="Arial" charset="0"/>
              <a:ea typeface="ＭＳ Ｐゴシック"/>
            </a:endParaRPr>
          </a:p>
          <a:p>
            <a:endParaRPr lang="it-CH" dirty="0">
              <a:latin typeface="Arial" charset="0"/>
              <a:ea typeface="ＭＳ Ｐゴシック"/>
              <a:cs typeface="ＭＳ Ｐゴシック"/>
            </a:endParaRPr>
          </a:p>
        </p:txBody>
      </p:sp>
      <p:sp>
        <p:nvSpPr>
          <p:cNvPr id="32771" name="Segnaposto numero diapositiva 3"/>
          <p:cNvSpPr>
            <a:spLocks noGrp="1"/>
          </p:cNvSpPr>
          <p:nvPr>
            <p:ph type="sldNum" sz="quarter" idx="5"/>
          </p:nvPr>
        </p:nvSpPr>
        <p:spPr>
          <a:noFill/>
        </p:spPr>
        <p:txBody>
          <a:bodyPr/>
          <a:lstStyle/>
          <a:p>
            <a:fld id="{92351A96-D427-4E3B-8B56-6A648A5B102C}" type="slidenum">
              <a:rPr lang="it-IT"/>
              <a:pPr/>
              <a:t>4</a:t>
            </a:fld>
            <a:endParaRPr lang="it-IT"/>
          </a:p>
        </p:txBody>
      </p:sp>
    </p:spTree>
    <p:extLst>
      <p:ext uri="{BB962C8B-B14F-4D97-AF65-F5344CB8AC3E}">
        <p14:creationId xmlns:p14="http://schemas.microsoft.com/office/powerpoint/2010/main" val="4217619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endParaRPr lang="it-CH" dirty="0"/>
          </a:p>
        </p:txBody>
      </p:sp>
      <p:sp>
        <p:nvSpPr>
          <p:cNvPr id="4" name="Segnaposto numero diapositiva 3"/>
          <p:cNvSpPr>
            <a:spLocks noGrp="1"/>
          </p:cNvSpPr>
          <p:nvPr>
            <p:ph type="sldNum" sz="quarter" idx="10"/>
          </p:nvPr>
        </p:nvSpPr>
        <p:spPr/>
        <p:txBody>
          <a:bodyPr/>
          <a:lstStyle/>
          <a:p>
            <a:pPr>
              <a:defRPr/>
            </a:pPr>
            <a:fld id="{47E918F6-80E6-C148-91A1-13444F887289}" type="slidenum">
              <a:rPr lang="it-IT" smtClean="0"/>
              <a:pPr>
                <a:defRPr/>
              </a:pPr>
              <a:t>5</a:t>
            </a:fld>
            <a:endParaRPr lang="it-IT"/>
          </a:p>
        </p:txBody>
      </p:sp>
    </p:spTree>
    <p:extLst>
      <p:ext uri="{BB962C8B-B14F-4D97-AF65-F5344CB8AC3E}">
        <p14:creationId xmlns:p14="http://schemas.microsoft.com/office/powerpoint/2010/main" val="17189850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just"/>
            <a:r>
              <a:rPr lang="it-CH" sz="1200" dirty="0">
                <a:latin typeface="Arial" charset="0"/>
                <a:ea typeface="ＭＳ Ｐゴシック" charset="0"/>
                <a:cs typeface="ＭＳ Ｐゴシック" charset="0"/>
              </a:rPr>
              <a:t>Giornali e settimanali, online o cartacei (es. Corriere del Ticino, Corriere della Sera, The </a:t>
            </a:r>
            <a:r>
              <a:rPr lang="it-CH" sz="1200" dirty="0" err="1">
                <a:latin typeface="Arial" charset="0"/>
                <a:ea typeface="ＭＳ Ｐゴシック" charset="0"/>
                <a:cs typeface="ＭＳ Ｐゴシック" charset="0"/>
              </a:rPr>
              <a:t>Economist</a:t>
            </a:r>
            <a:r>
              <a:rPr lang="it-CH" sz="1200" dirty="0">
                <a:latin typeface="Arial" charset="0"/>
                <a:ea typeface="ＭＳ Ｐゴシック" charset="0"/>
                <a:cs typeface="ＭＳ Ｐゴシック" charset="0"/>
              </a:rPr>
              <a:t>, </a:t>
            </a:r>
            <a:r>
              <a:rPr lang="it-CH" sz="1200" dirty="0" err="1">
                <a:latin typeface="Arial" charset="0"/>
                <a:ea typeface="ＭＳ Ｐゴシック" charset="0"/>
                <a:cs typeface="ＭＳ Ｐゴシック" charset="0"/>
              </a:rPr>
              <a:t>Wall</a:t>
            </a:r>
            <a:r>
              <a:rPr lang="it-CH" sz="1200" dirty="0">
                <a:latin typeface="Arial" charset="0"/>
                <a:ea typeface="ＭＳ Ｐゴシック" charset="0"/>
                <a:cs typeface="ＭＳ Ｐゴシック" charset="0"/>
              </a:rPr>
              <a:t> Street Journal, Time, Focus, </a:t>
            </a:r>
            <a:r>
              <a:rPr lang="it-CH" sz="1200" dirty="0" err="1">
                <a:latin typeface="Arial" charset="0"/>
                <a:ea typeface="ＭＳ Ｐゴシック" charset="0"/>
                <a:cs typeface="ＭＳ Ｐゴシック" charset="0"/>
              </a:rPr>
              <a:t>Men’s</a:t>
            </a:r>
            <a:r>
              <a:rPr lang="it-CH" sz="1200" dirty="0">
                <a:latin typeface="Arial" charset="0"/>
                <a:ea typeface="ＭＳ Ｐゴシック" charset="0"/>
                <a:cs typeface="ＭＳ Ｐゴシック" charset="0"/>
              </a:rPr>
              <a:t> </a:t>
            </a:r>
            <a:r>
              <a:rPr lang="it-CH" sz="1200" dirty="0" err="1">
                <a:latin typeface="Arial" charset="0"/>
                <a:ea typeface="ＭＳ Ｐゴシック" charset="0"/>
                <a:cs typeface="ＭＳ Ｐゴシック" charset="0"/>
              </a:rPr>
              <a:t>Health</a:t>
            </a:r>
            <a:r>
              <a:rPr lang="it-CH" sz="1200" dirty="0">
                <a:latin typeface="Arial" charset="0"/>
                <a:ea typeface="ＭＳ Ｐゴシック" charset="0"/>
                <a:cs typeface="ＭＳ Ｐゴシック" charset="0"/>
              </a:rPr>
              <a:t>, Vogue, </a:t>
            </a:r>
            <a:r>
              <a:rPr lang="it-CH" sz="1200" dirty="0" err="1">
                <a:latin typeface="Arial" charset="0"/>
                <a:ea typeface="ＭＳ Ｐゴシック" charset="0"/>
                <a:cs typeface="ＭＳ Ｐゴシック" charset="0"/>
              </a:rPr>
              <a:t>Huffington</a:t>
            </a:r>
            <a:r>
              <a:rPr lang="it-CH" sz="1200" dirty="0">
                <a:latin typeface="Arial" charset="0"/>
                <a:ea typeface="ＭＳ Ｐゴシック" charset="0"/>
                <a:cs typeface="ＭＳ Ｐゴシック" charset="0"/>
              </a:rPr>
              <a:t> Post…). Sono attendibili?</a:t>
            </a:r>
          </a:p>
          <a:p>
            <a:pPr algn="just">
              <a:buNone/>
            </a:pPr>
            <a:r>
              <a:rPr lang="it-CH" sz="1200" dirty="0">
                <a:latin typeface="Arial" charset="0"/>
                <a:ea typeface="ＭＳ Ｐゴシック" charset="0"/>
                <a:cs typeface="ＭＳ Ｐゴシック" charset="0"/>
              </a:rPr>
              <a:t>	</a:t>
            </a:r>
            <a:r>
              <a:rPr lang="it-CH" sz="1200" b="1" i="1" dirty="0">
                <a:latin typeface="Arial" charset="0"/>
                <a:ea typeface="ＭＳ Ｐゴシック" charset="0"/>
                <a:cs typeface="ＭＳ Ｐゴシック" charset="0"/>
              </a:rPr>
              <a:t>Sì e no</a:t>
            </a:r>
            <a:r>
              <a:rPr lang="it-CH" sz="1200" i="1" dirty="0">
                <a:latin typeface="Arial" charset="0"/>
                <a:ea typeface="ＭＳ Ｐゴシック" charset="0"/>
                <a:cs typeface="ＭＳ Ｐゴシック" charset="0"/>
              </a:rPr>
              <a:t>. I giornalisti rispondono di ciò che scrivono e seguono </a:t>
            </a:r>
            <a:r>
              <a:rPr lang="it-CH" sz="1200" b="1" i="1" dirty="0">
                <a:latin typeface="Arial" charset="0"/>
                <a:ea typeface="ＭＳ Ｐゴシック" charset="0"/>
                <a:cs typeface="ＭＳ Ｐゴシック" charset="0"/>
              </a:rPr>
              <a:t>di regola </a:t>
            </a:r>
            <a:r>
              <a:rPr lang="it-CH" sz="1200" i="1" dirty="0">
                <a:latin typeface="Arial" charset="0"/>
                <a:ea typeface="ＭＳ Ｐゴシック" charset="0"/>
                <a:cs typeface="ＭＳ Ｐゴシック" charset="0"/>
              </a:rPr>
              <a:t>dei codici deontologici, ma ciò che scrivono non è il risultato di un processo di ricerca scientifica. Possiamo informarci, ma non basarci su queste fonti per trarre delle conclusioni fondate su un fenomeno. In conclusione, in un lavoro scientifico queste fonti </a:t>
            </a:r>
            <a:r>
              <a:rPr lang="it-CH" sz="1200" b="1" i="1" dirty="0">
                <a:latin typeface="Arial" charset="0"/>
                <a:ea typeface="ＭＳ Ｐゴシック" charset="0"/>
                <a:cs typeface="ＭＳ Ｐゴシック" charset="0"/>
              </a:rPr>
              <a:t>NON</a:t>
            </a:r>
            <a:r>
              <a:rPr lang="it-CH" sz="1200" i="1" dirty="0">
                <a:latin typeface="Arial" charset="0"/>
                <a:ea typeface="ＭＳ Ｐゴシック" charset="0"/>
                <a:cs typeface="ＭＳ Ｐゴシック" charset="0"/>
              </a:rPr>
              <a:t> possono essere utilizzate.</a:t>
            </a:r>
          </a:p>
          <a:p>
            <a:pPr algn="just">
              <a:buNone/>
            </a:pPr>
            <a:endParaRPr lang="it-CH" sz="200" i="1" dirty="0">
              <a:latin typeface="Arial" charset="0"/>
              <a:ea typeface="ＭＳ Ｐゴシック" charset="0"/>
              <a:cs typeface="ＭＳ Ｐゴシック" charset="0"/>
            </a:endParaRPr>
          </a:p>
          <a:p>
            <a:pPr algn="just"/>
            <a:r>
              <a:rPr lang="it-CH" sz="1200" dirty="0">
                <a:latin typeface="Arial" charset="0"/>
                <a:ea typeface="ＭＳ Ｐゴシック" charset="0"/>
                <a:cs typeface="ＭＳ Ｐゴシック" charset="0"/>
              </a:rPr>
              <a:t>Siti web non ufficiali, blog, aggregatori di notizie online (</a:t>
            </a:r>
            <a:r>
              <a:rPr lang="it-CH" sz="1200" dirty="0" err="1">
                <a:latin typeface="Arial" charset="0"/>
                <a:ea typeface="ＭＳ Ｐゴシック" charset="0"/>
                <a:cs typeface="ＭＳ Ｐゴシック" charset="0"/>
              </a:rPr>
              <a:t>Ticinonline</a:t>
            </a:r>
            <a:r>
              <a:rPr lang="it-CH" sz="1200" dirty="0">
                <a:latin typeface="Arial" charset="0"/>
                <a:ea typeface="ＭＳ Ｐゴシック" charset="0"/>
                <a:cs typeface="ＭＳ Ｐゴシック" charset="0"/>
              </a:rPr>
              <a:t>, </a:t>
            </a:r>
            <a:r>
              <a:rPr lang="it-CH" sz="1200" dirty="0" err="1">
                <a:latin typeface="Arial" charset="0"/>
                <a:ea typeface="ＭＳ Ｐゴシック" charset="0"/>
                <a:cs typeface="ＭＳ Ｐゴシック" charset="0"/>
              </a:rPr>
              <a:t>Ticinonews</a:t>
            </a:r>
            <a:r>
              <a:rPr lang="it-CH" sz="1200" dirty="0">
                <a:latin typeface="Arial" charset="0"/>
                <a:ea typeface="ＭＳ Ｐゴシック" charset="0"/>
                <a:cs typeface="ＭＳ Ｐゴシック" charset="0"/>
              </a:rPr>
              <a:t>,…), Forum, Wikipedia, </a:t>
            </a:r>
            <a:r>
              <a:rPr lang="it-CH" sz="1200" dirty="0" err="1">
                <a:latin typeface="Arial" charset="0"/>
                <a:ea typeface="ＭＳ Ｐゴシック" charset="0"/>
                <a:cs typeface="ＭＳ Ｐゴシック" charset="0"/>
              </a:rPr>
              <a:t>Wikileaks</a:t>
            </a:r>
            <a:r>
              <a:rPr lang="it-CH" sz="1200" dirty="0">
                <a:latin typeface="Arial" charset="0"/>
                <a:ea typeface="ＭＳ Ｐゴシック" charset="0"/>
                <a:cs typeface="ＭＳ Ｐゴシック" charset="0"/>
              </a:rPr>
              <a:t>. Sono attendibili?</a:t>
            </a:r>
          </a:p>
          <a:p>
            <a:pPr algn="just">
              <a:buNone/>
            </a:pPr>
            <a:r>
              <a:rPr lang="it-CH" sz="1200" i="1" dirty="0">
                <a:latin typeface="Arial" charset="0"/>
                <a:ea typeface="ＭＳ Ｐゴシック" charset="0"/>
                <a:cs typeface="ＭＳ Ｐゴシック" charset="0"/>
              </a:rPr>
              <a:t>	</a:t>
            </a:r>
            <a:r>
              <a:rPr lang="it-CH" sz="1200" b="1" i="1" dirty="0">
                <a:latin typeface="Arial" charset="0"/>
                <a:ea typeface="ＭＳ Ｐゴシック" charset="0"/>
                <a:cs typeface="ＭＳ Ｐゴシック" charset="0"/>
              </a:rPr>
              <a:t>No.</a:t>
            </a:r>
            <a:r>
              <a:rPr lang="it-CH" sz="1200" i="1" dirty="0">
                <a:latin typeface="Arial" charset="0"/>
                <a:ea typeface="ＭＳ Ｐゴシック" charset="0"/>
                <a:cs typeface="ＭＳ Ｐゴシック" charset="0"/>
              </a:rPr>
              <a:t> Le informazioni pubblicate su questi media di regola non sono verificate. Ad esempio, sebbene Wikipedia abbia una comunità che controlla ogni contributo, non si può essere certi della fondatezza delle informazioni che vi troviamo e non sappiamo se chi controlla un contributo è qualificato per farlo. In un lavoro scientifico NON possiamo utilizzare questo tipo di fonti.</a:t>
            </a:r>
          </a:p>
          <a:p>
            <a:endParaRPr lang="it-CH" dirty="0"/>
          </a:p>
          <a:p>
            <a:pPr algn="just"/>
            <a:r>
              <a:rPr lang="it-CH" sz="1200" dirty="0">
                <a:latin typeface="Arial" charset="0"/>
                <a:ea typeface="ＭＳ Ｐゴシック" charset="0"/>
                <a:cs typeface="ＭＳ Ｐゴシック" charset="0"/>
              </a:rPr>
              <a:t>Riviste scientifiche specializzate (AER, AEJ, Harvard Business </a:t>
            </a:r>
            <a:r>
              <a:rPr lang="it-CH" sz="1200" dirty="0" err="1">
                <a:latin typeface="Arial" charset="0"/>
                <a:ea typeface="ＭＳ Ｐゴシック" charset="0"/>
                <a:cs typeface="ＭＳ Ｐゴシック" charset="0"/>
              </a:rPr>
              <a:t>Review</a:t>
            </a:r>
            <a:r>
              <a:rPr lang="it-CH" sz="1200" dirty="0">
                <a:latin typeface="Arial" charset="0"/>
                <a:ea typeface="ＭＳ Ｐゴシック" charset="0"/>
                <a:cs typeface="ＭＳ Ｐゴシック" charset="0"/>
              </a:rPr>
              <a:t>, KYKLOS, …), Annuari (Annuario Statistico Ticinese, …), Enciclopedie (Treccani, New </a:t>
            </a:r>
            <a:r>
              <a:rPr lang="it-CH" sz="1200" dirty="0" err="1">
                <a:latin typeface="Arial" charset="0"/>
                <a:ea typeface="ＭＳ Ｐゴシック" charset="0"/>
                <a:cs typeface="ＭＳ Ｐゴシック" charset="0"/>
              </a:rPr>
              <a:t>Palgrave</a:t>
            </a:r>
            <a:r>
              <a:rPr lang="it-CH" sz="1200" dirty="0">
                <a:latin typeface="Arial" charset="0"/>
                <a:ea typeface="ＭＳ Ｐゴシック" charset="0"/>
                <a:cs typeface="ＭＳ Ｐゴシック" charset="0"/>
              </a:rPr>
              <a:t>, …), Libri e manuali (Macroeconomia di </a:t>
            </a:r>
            <a:r>
              <a:rPr lang="it-CH" sz="1200" dirty="0" err="1">
                <a:latin typeface="Arial" charset="0"/>
                <a:ea typeface="ＭＳ Ｐゴシック" charset="0"/>
                <a:cs typeface="ＭＳ Ｐゴシック" charset="0"/>
              </a:rPr>
              <a:t>Blanchard</a:t>
            </a:r>
            <a:r>
              <a:rPr lang="it-CH" sz="1200" dirty="0">
                <a:latin typeface="Arial" charset="0"/>
                <a:ea typeface="ＭＳ Ｐゴシック" charset="0"/>
                <a:cs typeface="ＭＳ Ｐゴシック" charset="0"/>
              </a:rPr>
              <a:t>, Microeconomia di </a:t>
            </a:r>
            <a:r>
              <a:rPr lang="it-CH" sz="1200" dirty="0" err="1">
                <a:latin typeface="Arial" charset="0"/>
                <a:ea typeface="ＭＳ Ｐゴシック" charset="0"/>
                <a:cs typeface="ＭＳ Ｐゴシック" charset="0"/>
              </a:rPr>
              <a:t>Krugman</a:t>
            </a:r>
            <a:r>
              <a:rPr lang="it-CH" sz="1200" dirty="0">
                <a:latin typeface="Arial" charset="0"/>
                <a:ea typeface="ＭＳ Ｐゴシック" charset="0"/>
                <a:cs typeface="ＭＳ Ｐゴシック" charset="0"/>
              </a:rPr>
              <a:t>). Sono attendibili?</a:t>
            </a:r>
          </a:p>
          <a:p>
            <a:pPr algn="just">
              <a:buNone/>
            </a:pPr>
            <a:r>
              <a:rPr lang="it-CH" sz="1200" dirty="0">
                <a:latin typeface="Arial" charset="0"/>
                <a:ea typeface="ＭＳ Ｐゴシック" charset="0"/>
                <a:cs typeface="ＭＳ Ｐゴシック" charset="0"/>
              </a:rPr>
              <a:t>	</a:t>
            </a:r>
            <a:r>
              <a:rPr lang="it-CH" sz="1200" b="1" i="1" dirty="0">
                <a:latin typeface="Arial" charset="0"/>
                <a:ea typeface="ＭＳ Ｐゴシック" charset="0"/>
                <a:cs typeface="ＭＳ Ｐゴシック" charset="0"/>
              </a:rPr>
              <a:t>Sì</a:t>
            </a:r>
            <a:r>
              <a:rPr lang="it-CH" sz="1200" i="1" dirty="0">
                <a:latin typeface="Arial" charset="0"/>
                <a:ea typeface="ＭＳ Ｐゴシック" charset="0"/>
                <a:cs typeface="ＭＳ Ｐゴシック" charset="0"/>
              </a:rPr>
              <a:t>. Questo tipo di fonti garantiscono un accurato processo di verifica delle informazioni pubblicate (vedi slide successiva, </a:t>
            </a:r>
            <a:r>
              <a:rPr lang="it-CH" sz="1200" i="1" dirty="0" err="1">
                <a:latin typeface="Arial" charset="0"/>
                <a:ea typeface="ＭＳ Ｐゴシック" charset="0"/>
                <a:cs typeface="ＭＳ Ｐゴシック" charset="0"/>
              </a:rPr>
              <a:t>peer-review</a:t>
            </a:r>
            <a:r>
              <a:rPr lang="it-CH" sz="1200" i="1" dirty="0">
                <a:latin typeface="Arial" charset="0"/>
                <a:ea typeface="ＭＳ Ｐゴシック" charset="0"/>
                <a:cs typeface="ＭＳ Ｐゴシック" charset="0"/>
              </a:rPr>
              <a:t>), tale per cui la qualità e la veridicità delle stesse è assicurata. I contributi sono prodotti da esperti riconosciuti in materia e verificati da esperti di pari rango.</a:t>
            </a:r>
            <a:endParaRPr lang="it-CH" sz="1200" b="1" i="1" dirty="0">
              <a:latin typeface="Arial" charset="0"/>
              <a:ea typeface="ＭＳ Ｐゴシック" charset="0"/>
              <a:cs typeface="ＭＳ Ｐゴシック" charset="0"/>
            </a:endParaRPr>
          </a:p>
          <a:p>
            <a:pPr algn="just">
              <a:buNone/>
            </a:pPr>
            <a:endParaRPr lang="it-CH" sz="100" i="1" dirty="0">
              <a:latin typeface="Arial" charset="0"/>
              <a:ea typeface="ＭＳ Ｐゴシック" charset="0"/>
              <a:cs typeface="ＭＳ Ｐゴシック" charset="0"/>
            </a:endParaRPr>
          </a:p>
          <a:p>
            <a:pPr algn="just">
              <a:buNone/>
            </a:pPr>
            <a:endParaRPr lang="it-CH" sz="200" i="1" dirty="0">
              <a:latin typeface="Arial" charset="0"/>
              <a:ea typeface="ＭＳ Ｐゴシック" charset="0"/>
              <a:cs typeface="ＭＳ Ｐゴシック" charset="0"/>
            </a:endParaRPr>
          </a:p>
          <a:p>
            <a:pPr algn="just"/>
            <a:r>
              <a:rPr lang="it-CH" sz="1200" dirty="0">
                <a:latin typeface="Arial" charset="0"/>
                <a:ea typeface="ＭＳ Ｐゴシック" charset="0"/>
                <a:cs typeface="ＭＳ Ｐゴシック" charset="0"/>
              </a:rPr>
              <a:t>Siti web ufficiali (di aziende, persone, enti), tutte le fonti citate sopra in forma elettronica, siti ufficiali di enti governativi (Comune, Cantone, Confederazione, Uff. Federale di Statistica, UE, OCSE, ONU, IMF, …). Sono attendibili?</a:t>
            </a:r>
          </a:p>
          <a:p>
            <a:pPr algn="just">
              <a:buNone/>
            </a:pPr>
            <a:r>
              <a:rPr lang="it-CH" sz="1200" i="1" dirty="0">
                <a:latin typeface="Arial" charset="0"/>
                <a:ea typeface="ＭＳ Ｐゴシック" charset="0"/>
                <a:cs typeface="ＭＳ Ｐゴシック" charset="0"/>
              </a:rPr>
              <a:t>	</a:t>
            </a:r>
            <a:r>
              <a:rPr lang="it-CH" sz="1200" b="1" i="1" dirty="0">
                <a:latin typeface="Arial" charset="0"/>
                <a:ea typeface="ＭＳ Ｐゴシック" charset="0"/>
                <a:cs typeface="ＭＳ Ｐゴシック" charset="0"/>
              </a:rPr>
              <a:t>Sì.</a:t>
            </a:r>
            <a:r>
              <a:rPr lang="it-CH" sz="1200" i="1" dirty="0">
                <a:latin typeface="Arial" charset="0"/>
                <a:ea typeface="ＭＳ Ｐゴシック" charset="0"/>
                <a:cs typeface="ＭＳ Ｐゴシック" charset="0"/>
              </a:rPr>
              <a:t> Siti ufficiali possono essere ritenuti attendibili, sebbene non sempre rechino informazioni interessanti (es. siti aziendali/personali) per un lavoro scientifico. Le pagine web di enti/uffici governativi possono essere considerate attendibili, in quanto essi sono tenuti alla trasparenza ed alla veridicità delle informazioni disseminate. La versione elettronica (sito web) delle fonti citate sopra naturalmente è parimenti attendibile.</a:t>
            </a:r>
          </a:p>
          <a:p>
            <a:endParaRPr lang="it-CH" dirty="0"/>
          </a:p>
        </p:txBody>
      </p:sp>
      <p:sp>
        <p:nvSpPr>
          <p:cNvPr id="4" name="Segnaposto numero diapositiva 3"/>
          <p:cNvSpPr>
            <a:spLocks noGrp="1"/>
          </p:cNvSpPr>
          <p:nvPr>
            <p:ph type="sldNum" sz="quarter" idx="10"/>
          </p:nvPr>
        </p:nvSpPr>
        <p:spPr/>
        <p:txBody>
          <a:bodyPr/>
          <a:lstStyle/>
          <a:p>
            <a:fld id="{5F00B9CF-1460-42E6-9398-D2EF91C14909}" type="slidenum">
              <a:rPr lang="it-IT" altLang="it-CH" smtClean="0"/>
              <a:pPr/>
              <a:t>6</a:t>
            </a:fld>
            <a:endParaRPr lang="it-IT" altLang="it-CH"/>
          </a:p>
        </p:txBody>
      </p:sp>
    </p:spTree>
    <p:extLst>
      <p:ext uri="{BB962C8B-B14F-4D97-AF65-F5344CB8AC3E}">
        <p14:creationId xmlns:p14="http://schemas.microsoft.com/office/powerpoint/2010/main" val="3732538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just"/>
            <a:r>
              <a:rPr lang="it-CH" sz="1200" dirty="0">
                <a:latin typeface="Arial" charset="0"/>
                <a:ea typeface="ＭＳ Ｐゴシック" charset="0"/>
                <a:cs typeface="ＭＳ Ｐゴシック" charset="0"/>
              </a:rPr>
              <a:t>Giornali e settimanali, online o cartacei (es. Corriere del Ticino, Corriere della Sera, The </a:t>
            </a:r>
            <a:r>
              <a:rPr lang="it-CH" sz="1200" dirty="0" err="1">
                <a:latin typeface="Arial" charset="0"/>
                <a:ea typeface="ＭＳ Ｐゴシック" charset="0"/>
                <a:cs typeface="ＭＳ Ｐゴシック" charset="0"/>
              </a:rPr>
              <a:t>Economist</a:t>
            </a:r>
            <a:r>
              <a:rPr lang="it-CH" sz="1200" dirty="0">
                <a:latin typeface="Arial" charset="0"/>
                <a:ea typeface="ＭＳ Ｐゴシック" charset="0"/>
                <a:cs typeface="ＭＳ Ｐゴシック" charset="0"/>
              </a:rPr>
              <a:t>, </a:t>
            </a:r>
            <a:r>
              <a:rPr lang="it-CH" sz="1200" dirty="0" err="1">
                <a:latin typeface="Arial" charset="0"/>
                <a:ea typeface="ＭＳ Ｐゴシック" charset="0"/>
                <a:cs typeface="ＭＳ Ｐゴシック" charset="0"/>
              </a:rPr>
              <a:t>Wall</a:t>
            </a:r>
            <a:r>
              <a:rPr lang="it-CH" sz="1200" dirty="0">
                <a:latin typeface="Arial" charset="0"/>
                <a:ea typeface="ＭＳ Ｐゴシック" charset="0"/>
                <a:cs typeface="ＭＳ Ｐゴシック" charset="0"/>
              </a:rPr>
              <a:t> Street Journal, Time, Focus, </a:t>
            </a:r>
            <a:r>
              <a:rPr lang="it-CH" sz="1200" dirty="0" err="1">
                <a:latin typeface="Arial" charset="0"/>
                <a:ea typeface="ＭＳ Ｐゴシック" charset="0"/>
                <a:cs typeface="ＭＳ Ｐゴシック" charset="0"/>
              </a:rPr>
              <a:t>Men’s</a:t>
            </a:r>
            <a:r>
              <a:rPr lang="it-CH" sz="1200" dirty="0">
                <a:latin typeface="Arial" charset="0"/>
                <a:ea typeface="ＭＳ Ｐゴシック" charset="0"/>
                <a:cs typeface="ＭＳ Ｐゴシック" charset="0"/>
              </a:rPr>
              <a:t> </a:t>
            </a:r>
            <a:r>
              <a:rPr lang="it-CH" sz="1200" dirty="0" err="1">
                <a:latin typeface="Arial" charset="0"/>
                <a:ea typeface="ＭＳ Ｐゴシック" charset="0"/>
                <a:cs typeface="ＭＳ Ｐゴシック" charset="0"/>
              </a:rPr>
              <a:t>Health</a:t>
            </a:r>
            <a:r>
              <a:rPr lang="it-CH" sz="1200" dirty="0">
                <a:latin typeface="Arial" charset="0"/>
                <a:ea typeface="ＭＳ Ｐゴシック" charset="0"/>
                <a:cs typeface="ＭＳ Ｐゴシック" charset="0"/>
              </a:rPr>
              <a:t>, Vogue, </a:t>
            </a:r>
            <a:r>
              <a:rPr lang="it-CH" sz="1200" dirty="0" err="1">
                <a:latin typeface="Arial" charset="0"/>
                <a:ea typeface="ＭＳ Ｐゴシック" charset="0"/>
                <a:cs typeface="ＭＳ Ｐゴシック" charset="0"/>
              </a:rPr>
              <a:t>Huffington</a:t>
            </a:r>
            <a:r>
              <a:rPr lang="it-CH" sz="1200" dirty="0">
                <a:latin typeface="Arial" charset="0"/>
                <a:ea typeface="ＭＳ Ｐゴシック" charset="0"/>
                <a:cs typeface="ＭＳ Ｐゴシック" charset="0"/>
              </a:rPr>
              <a:t> Post…). Sono attendibili?</a:t>
            </a:r>
          </a:p>
          <a:p>
            <a:pPr algn="just">
              <a:buNone/>
            </a:pPr>
            <a:r>
              <a:rPr lang="it-CH" sz="1200" dirty="0">
                <a:latin typeface="Arial" charset="0"/>
                <a:ea typeface="ＭＳ Ｐゴシック" charset="0"/>
                <a:cs typeface="ＭＳ Ｐゴシック" charset="0"/>
              </a:rPr>
              <a:t>	</a:t>
            </a:r>
            <a:r>
              <a:rPr lang="it-CH" sz="1200" b="1" i="1" dirty="0">
                <a:latin typeface="Arial" charset="0"/>
                <a:ea typeface="ＭＳ Ｐゴシック" charset="0"/>
                <a:cs typeface="ＭＳ Ｐゴシック" charset="0"/>
              </a:rPr>
              <a:t>Sì e no</a:t>
            </a:r>
            <a:r>
              <a:rPr lang="it-CH" sz="1200" i="1" dirty="0">
                <a:latin typeface="Arial" charset="0"/>
                <a:ea typeface="ＭＳ Ｐゴシック" charset="0"/>
                <a:cs typeface="ＭＳ Ｐゴシック" charset="0"/>
              </a:rPr>
              <a:t>. I giornalisti rispondono di ciò che scrivono e seguono </a:t>
            </a:r>
            <a:r>
              <a:rPr lang="it-CH" sz="1200" b="1" i="1" dirty="0">
                <a:latin typeface="Arial" charset="0"/>
                <a:ea typeface="ＭＳ Ｐゴシック" charset="0"/>
                <a:cs typeface="ＭＳ Ｐゴシック" charset="0"/>
              </a:rPr>
              <a:t>di regola </a:t>
            </a:r>
            <a:r>
              <a:rPr lang="it-CH" sz="1200" i="1" dirty="0">
                <a:latin typeface="Arial" charset="0"/>
                <a:ea typeface="ＭＳ Ｐゴシック" charset="0"/>
                <a:cs typeface="ＭＳ Ｐゴシック" charset="0"/>
              </a:rPr>
              <a:t>dei codici deontologici, ma ciò che scrivono non è il risultato di un processo di ricerca scientifica. Possiamo informarci, ma non basarci su queste fonti per trarre delle conclusioni fondate su un fenomeno. In conclusione, in un lavoro scientifico queste fonti </a:t>
            </a:r>
            <a:r>
              <a:rPr lang="it-CH" sz="1200" b="1" i="1" dirty="0">
                <a:latin typeface="Arial" charset="0"/>
                <a:ea typeface="ＭＳ Ｐゴシック" charset="0"/>
                <a:cs typeface="ＭＳ Ｐゴシック" charset="0"/>
              </a:rPr>
              <a:t>NON</a:t>
            </a:r>
            <a:r>
              <a:rPr lang="it-CH" sz="1200" i="1" dirty="0">
                <a:latin typeface="Arial" charset="0"/>
                <a:ea typeface="ＭＳ Ｐゴシック" charset="0"/>
                <a:cs typeface="ＭＳ Ｐゴシック" charset="0"/>
              </a:rPr>
              <a:t> possono essere utilizzate.</a:t>
            </a:r>
          </a:p>
          <a:p>
            <a:pPr algn="just">
              <a:buNone/>
            </a:pPr>
            <a:endParaRPr lang="it-CH" sz="200" i="1" dirty="0">
              <a:latin typeface="Arial" charset="0"/>
              <a:ea typeface="ＭＳ Ｐゴシック" charset="0"/>
              <a:cs typeface="ＭＳ Ｐゴシック" charset="0"/>
            </a:endParaRPr>
          </a:p>
          <a:p>
            <a:pPr algn="just"/>
            <a:r>
              <a:rPr lang="it-CH" sz="1200" dirty="0">
                <a:latin typeface="Arial" charset="0"/>
                <a:ea typeface="ＭＳ Ｐゴシック" charset="0"/>
                <a:cs typeface="ＭＳ Ｐゴシック" charset="0"/>
              </a:rPr>
              <a:t>Siti web non ufficiali, blog, aggregatori di notizie online (</a:t>
            </a:r>
            <a:r>
              <a:rPr lang="it-CH" sz="1200" dirty="0" err="1">
                <a:latin typeface="Arial" charset="0"/>
                <a:ea typeface="ＭＳ Ｐゴシック" charset="0"/>
                <a:cs typeface="ＭＳ Ｐゴシック" charset="0"/>
              </a:rPr>
              <a:t>Ticinonline</a:t>
            </a:r>
            <a:r>
              <a:rPr lang="it-CH" sz="1200" dirty="0">
                <a:latin typeface="Arial" charset="0"/>
                <a:ea typeface="ＭＳ Ｐゴシック" charset="0"/>
                <a:cs typeface="ＭＳ Ｐゴシック" charset="0"/>
              </a:rPr>
              <a:t>, </a:t>
            </a:r>
            <a:r>
              <a:rPr lang="it-CH" sz="1200" dirty="0" err="1">
                <a:latin typeface="Arial" charset="0"/>
                <a:ea typeface="ＭＳ Ｐゴシック" charset="0"/>
                <a:cs typeface="ＭＳ Ｐゴシック" charset="0"/>
              </a:rPr>
              <a:t>Ticinonews</a:t>
            </a:r>
            <a:r>
              <a:rPr lang="it-CH" sz="1200" dirty="0">
                <a:latin typeface="Arial" charset="0"/>
                <a:ea typeface="ＭＳ Ｐゴシック" charset="0"/>
                <a:cs typeface="ＭＳ Ｐゴシック" charset="0"/>
              </a:rPr>
              <a:t>,…), Forum, Wikipedia, </a:t>
            </a:r>
            <a:r>
              <a:rPr lang="it-CH" sz="1200" dirty="0" err="1">
                <a:latin typeface="Arial" charset="0"/>
                <a:ea typeface="ＭＳ Ｐゴシック" charset="0"/>
                <a:cs typeface="ＭＳ Ｐゴシック" charset="0"/>
              </a:rPr>
              <a:t>Wikileaks</a:t>
            </a:r>
            <a:r>
              <a:rPr lang="it-CH" sz="1200" dirty="0">
                <a:latin typeface="Arial" charset="0"/>
                <a:ea typeface="ＭＳ Ｐゴシック" charset="0"/>
                <a:cs typeface="ＭＳ Ｐゴシック" charset="0"/>
              </a:rPr>
              <a:t>. Sono attendibili?</a:t>
            </a:r>
          </a:p>
          <a:p>
            <a:pPr algn="just">
              <a:buNone/>
            </a:pPr>
            <a:r>
              <a:rPr lang="it-CH" sz="1200" i="1" dirty="0">
                <a:latin typeface="Arial" charset="0"/>
                <a:ea typeface="ＭＳ Ｐゴシック" charset="0"/>
                <a:cs typeface="ＭＳ Ｐゴシック" charset="0"/>
              </a:rPr>
              <a:t>	</a:t>
            </a:r>
            <a:r>
              <a:rPr lang="it-CH" sz="1200" b="1" i="1" dirty="0">
                <a:latin typeface="Arial" charset="0"/>
                <a:ea typeface="ＭＳ Ｐゴシック" charset="0"/>
                <a:cs typeface="ＭＳ Ｐゴシック" charset="0"/>
              </a:rPr>
              <a:t>No.</a:t>
            </a:r>
            <a:r>
              <a:rPr lang="it-CH" sz="1200" i="1" dirty="0">
                <a:latin typeface="Arial" charset="0"/>
                <a:ea typeface="ＭＳ Ｐゴシック" charset="0"/>
                <a:cs typeface="ＭＳ Ｐゴシック" charset="0"/>
              </a:rPr>
              <a:t> Le informazioni pubblicate su questi media di regola non sono verificate. Ad esempio, sebbene Wikipedia abbia una comunità che controlla ogni contributo, non si può essere certi della fondatezza delle informazioni che vi troviamo e non sappiamo se chi controlla un contributo è qualificato per farlo. In un lavoro scientifico NON possiamo utilizzare questo tipo di fonti.</a:t>
            </a:r>
          </a:p>
          <a:p>
            <a:endParaRPr lang="it-CH" dirty="0"/>
          </a:p>
          <a:p>
            <a:pPr algn="just"/>
            <a:r>
              <a:rPr lang="it-CH" sz="1200" dirty="0">
                <a:latin typeface="Arial" charset="0"/>
                <a:ea typeface="ＭＳ Ｐゴシック" charset="0"/>
                <a:cs typeface="ＭＳ Ｐゴシック" charset="0"/>
              </a:rPr>
              <a:t>Riviste scientifiche specializzate (AER, AEJ, Harvard Business </a:t>
            </a:r>
            <a:r>
              <a:rPr lang="it-CH" sz="1200" dirty="0" err="1">
                <a:latin typeface="Arial" charset="0"/>
                <a:ea typeface="ＭＳ Ｐゴシック" charset="0"/>
                <a:cs typeface="ＭＳ Ｐゴシック" charset="0"/>
              </a:rPr>
              <a:t>Review</a:t>
            </a:r>
            <a:r>
              <a:rPr lang="it-CH" sz="1200" dirty="0">
                <a:latin typeface="Arial" charset="0"/>
                <a:ea typeface="ＭＳ Ｐゴシック" charset="0"/>
                <a:cs typeface="ＭＳ Ｐゴシック" charset="0"/>
              </a:rPr>
              <a:t>, KYKLOS, …), Annuari (Annuario Statistico Ticinese, …), Enciclopedie (Treccani, New </a:t>
            </a:r>
            <a:r>
              <a:rPr lang="it-CH" sz="1200" dirty="0" err="1">
                <a:latin typeface="Arial" charset="0"/>
                <a:ea typeface="ＭＳ Ｐゴシック" charset="0"/>
                <a:cs typeface="ＭＳ Ｐゴシック" charset="0"/>
              </a:rPr>
              <a:t>Palgrave</a:t>
            </a:r>
            <a:r>
              <a:rPr lang="it-CH" sz="1200" dirty="0">
                <a:latin typeface="Arial" charset="0"/>
                <a:ea typeface="ＭＳ Ｐゴシック" charset="0"/>
                <a:cs typeface="ＭＳ Ｐゴシック" charset="0"/>
              </a:rPr>
              <a:t>, …), Libri e manuali (Macroeconomia di </a:t>
            </a:r>
            <a:r>
              <a:rPr lang="it-CH" sz="1200" dirty="0" err="1">
                <a:latin typeface="Arial" charset="0"/>
                <a:ea typeface="ＭＳ Ｐゴシック" charset="0"/>
                <a:cs typeface="ＭＳ Ｐゴシック" charset="0"/>
              </a:rPr>
              <a:t>Blanchard</a:t>
            </a:r>
            <a:r>
              <a:rPr lang="it-CH" sz="1200" dirty="0">
                <a:latin typeface="Arial" charset="0"/>
                <a:ea typeface="ＭＳ Ｐゴシック" charset="0"/>
                <a:cs typeface="ＭＳ Ｐゴシック" charset="0"/>
              </a:rPr>
              <a:t>, Microeconomia di </a:t>
            </a:r>
            <a:r>
              <a:rPr lang="it-CH" sz="1200" dirty="0" err="1">
                <a:latin typeface="Arial" charset="0"/>
                <a:ea typeface="ＭＳ Ｐゴシック" charset="0"/>
                <a:cs typeface="ＭＳ Ｐゴシック" charset="0"/>
              </a:rPr>
              <a:t>Krugman</a:t>
            </a:r>
            <a:r>
              <a:rPr lang="it-CH" sz="1200" dirty="0">
                <a:latin typeface="Arial" charset="0"/>
                <a:ea typeface="ＭＳ Ｐゴシック" charset="0"/>
                <a:cs typeface="ＭＳ Ｐゴシック" charset="0"/>
              </a:rPr>
              <a:t>). Sono attendibili?</a:t>
            </a:r>
          </a:p>
          <a:p>
            <a:pPr algn="just">
              <a:buNone/>
            </a:pPr>
            <a:r>
              <a:rPr lang="it-CH" sz="1200" dirty="0">
                <a:latin typeface="Arial" charset="0"/>
                <a:ea typeface="ＭＳ Ｐゴシック" charset="0"/>
                <a:cs typeface="ＭＳ Ｐゴシック" charset="0"/>
              </a:rPr>
              <a:t>	</a:t>
            </a:r>
            <a:r>
              <a:rPr lang="it-CH" sz="1200" b="1" i="1" dirty="0">
                <a:latin typeface="Arial" charset="0"/>
                <a:ea typeface="ＭＳ Ｐゴシック" charset="0"/>
                <a:cs typeface="ＭＳ Ｐゴシック" charset="0"/>
              </a:rPr>
              <a:t>Sì</a:t>
            </a:r>
            <a:r>
              <a:rPr lang="it-CH" sz="1200" i="1" dirty="0">
                <a:latin typeface="Arial" charset="0"/>
                <a:ea typeface="ＭＳ Ｐゴシック" charset="0"/>
                <a:cs typeface="ＭＳ Ｐゴシック" charset="0"/>
              </a:rPr>
              <a:t>. Questo tipo di fonti garantiscono un accurato processo di verifica delle informazioni pubblicate (vedi slide successiva, </a:t>
            </a:r>
            <a:r>
              <a:rPr lang="it-CH" sz="1200" i="1" dirty="0" err="1">
                <a:latin typeface="Arial" charset="0"/>
                <a:ea typeface="ＭＳ Ｐゴシック" charset="0"/>
                <a:cs typeface="ＭＳ Ｐゴシック" charset="0"/>
              </a:rPr>
              <a:t>peer-review</a:t>
            </a:r>
            <a:r>
              <a:rPr lang="it-CH" sz="1200" i="1" dirty="0">
                <a:latin typeface="Arial" charset="0"/>
                <a:ea typeface="ＭＳ Ｐゴシック" charset="0"/>
                <a:cs typeface="ＭＳ Ｐゴシック" charset="0"/>
              </a:rPr>
              <a:t>), tale per cui la qualità e la veridicità delle stesse è assicurata. I contributi sono prodotti da esperti riconosciuti in materia e verificati da esperti di pari rango.</a:t>
            </a:r>
            <a:endParaRPr lang="it-CH" sz="1200" b="1" i="1" dirty="0">
              <a:latin typeface="Arial" charset="0"/>
              <a:ea typeface="ＭＳ Ｐゴシック" charset="0"/>
              <a:cs typeface="ＭＳ Ｐゴシック" charset="0"/>
            </a:endParaRPr>
          </a:p>
          <a:p>
            <a:pPr algn="just">
              <a:buNone/>
            </a:pPr>
            <a:endParaRPr lang="it-CH" sz="100" i="1" dirty="0">
              <a:latin typeface="Arial" charset="0"/>
              <a:ea typeface="ＭＳ Ｐゴシック" charset="0"/>
              <a:cs typeface="ＭＳ Ｐゴシック" charset="0"/>
            </a:endParaRPr>
          </a:p>
          <a:p>
            <a:pPr algn="just">
              <a:buNone/>
            </a:pPr>
            <a:endParaRPr lang="it-CH" sz="200" i="1" dirty="0">
              <a:latin typeface="Arial" charset="0"/>
              <a:ea typeface="ＭＳ Ｐゴシック" charset="0"/>
              <a:cs typeface="ＭＳ Ｐゴシック" charset="0"/>
            </a:endParaRPr>
          </a:p>
          <a:p>
            <a:pPr algn="just"/>
            <a:r>
              <a:rPr lang="it-CH" sz="1200" dirty="0">
                <a:latin typeface="Arial" charset="0"/>
                <a:ea typeface="ＭＳ Ｐゴシック" charset="0"/>
                <a:cs typeface="ＭＳ Ｐゴシック" charset="0"/>
              </a:rPr>
              <a:t>Siti web ufficiali (di aziende, persone, enti), tutte le fonti citate sopra in forma elettronica, siti ufficiali di enti governativi (Comune, Cantone, Confederazione, Uff. Federale di Statistica, UE, OCSE, ONU, IMF, …). Sono attendibili?</a:t>
            </a:r>
          </a:p>
          <a:p>
            <a:pPr algn="just">
              <a:buNone/>
            </a:pPr>
            <a:r>
              <a:rPr lang="it-CH" sz="1200" i="1" dirty="0">
                <a:latin typeface="Arial" charset="0"/>
                <a:ea typeface="ＭＳ Ｐゴシック" charset="0"/>
                <a:cs typeface="ＭＳ Ｐゴシック" charset="0"/>
              </a:rPr>
              <a:t>	</a:t>
            </a:r>
            <a:r>
              <a:rPr lang="it-CH" sz="1200" b="1" i="1" dirty="0">
                <a:latin typeface="Arial" charset="0"/>
                <a:ea typeface="ＭＳ Ｐゴシック" charset="0"/>
                <a:cs typeface="ＭＳ Ｐゴシック" charset="0"/>
              </a:rPr>
              <a:t>Sì.</a:t>
            </a:r>
            <a:r>
              <a:rPr lang="it-CH" sz="1200" i="1" dirty="0">
                <a:latin typeface="Arial" charset="0"/>
                <a:ea typeface="ＭＳ Ｐゴシック" charset="0"/>
                <a:cs typeface="ＭＳ Ｐゴシック" charset="0"/>
              </a:rPr>
              <a:t> Siti ufficiali possono essere ritenuti attendibili, sebbene non sempre rechino informazioni interessanti (es. siti aziendali/personali) per un lavoro scientifico. Le pagine web di enti/uffici governativi possono essere considerate attendibili, in quanto essi sono tenuti alla trasparenza ed alla veridicità delle informazioni disseminate. La versione elettronica (sito web) delle fonti citate sopra naturalmente è parimenti attendibile.</a:t>
            </a:r>
          </a:p>
          <a:p>
            <a:endParaRPr lang="it-CH" dirty="0"/>
          </a:p>
        </p:txBody>
      </p:sp>
      <p:sp>
        <p:nvSpPr>
          <p:cNvPr id="4" name="Segnaposto numero diapositiva 3"/>
          <p:cNvSpPr>
            <a:spLocks noGrp="1"/>
          </p:cNvSpPr>
          <p:nvPr>
            <p:ph type="sldNum" sz="quarter" idx="10"/>
          </p:nvPr>
        </p:nvSpPr>
        <p:spPr/>
        <p:txBody>
          <a:bodyPr/>
          <a:lstStyle/>
          <a:p>
            <a:fld id="{5F00B9CF-1460-42E6-9398-D2EF91C14909}" type="slidenum">
              <a:rPr lang="it-IT" altLang="it-CH" smtClean="0"/>
              <a:pPr/>
              <a:t>7</a:t>
            </a:fld>
            <a:endParaRPr lang="it-IT" altLang="it-CH"/>
          </a:p>
        </p:txBody>
      </p:sp>
    </p:spTree>
    <p:extLst>
      <p:ext uri="{BB962C8B-B14F-4D97-AF65-F5344CB8AC3E}">
        <p14:creationId xmlns:p14="http://schemas.microsoft.com/office/powerpoint/2010/main" val="21203243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algn="just"/>
            <a:r>
              <a:rPr lang="it-CH" sz="1200" dirty="0">
                <a:latin typeface="Arial" charset="0"/>
                <a:ea typeface="ＭＳ Ｐゴシック" charset="0"/>
                <a:cs typeface="ＭＳ Ｐゴシック" charset="0"/>
              </a:rPr>
              <a:t>Giornali e settimanali, online o cartacei (es. Corriere del Ticino, Corriere della Sera, The </a:t>
            </a:r>
            <a:r>
              <a:rPr lang="it-CH" sz="1200" dirty="0" err="1">
                <a:latin typeface="Arial" charset="0"/>
                <a:ea typeface="ＭＳ Ｐゴシック" charset="0"/>
                <a:cs typeface="ＭＳ Ｐゴシック" charset="0"/>
              </a:rPr>
              <a:t>Economist</a:t>
            </a:r>
            <a:r>
              <a:rPr lang="it-CH" sz="1200" dirty="0">
                <a:latin typeface="Arial" charset="0"/>
                <a:ea typeface="ＭＳ Ｐゴシック" charset="0"/>
                <a:cs typeface="ＭＳ Ｐゴシック" charset="0"/>
              </a:rPr>
              <a:t>, </a:t>
            </a:r>
            <a:r>
              <a:rPr lang="it-CH" sz="1200" dirty="0" err="1">
                <a:latin typeface="Arial" charset="0"/>
                <a:ea typeface="ＭＳ Ｐゴシック" charset="0"/>
                <a:cs typeface="ＭＳ Ｐゴシック" charset="0"/>
              </a:rPr>
              <a:t>Wall</a:t>
            </a:r>
            <a:r>
              <a:rPr lang="it-CH" sz="1200" dirty="0">
                <a:latin typeface="Arial" charset="0"/>
                <a:ea typeface="ＭＳ Ｐゴシック" charset="0"/>
                <a:cs typeface="ＭＳ Ｐゴシック" charset="0"/>
              </a:rPr>
              <a:t> Street Journal, Time, Focus, </a:t>
            </a:r>
            <a:r>
              <a:rPr lang="it-CH" sz="1200" dirty="0" err="1">
                <a:latin typeface="Arial" charset="0"/>
                <a:ea typeface="ＭＳ Ｐゴシック" charset="0"/>
                <a:cs typeface="ＭＳ Ｐゴシック" charset="0"/>
              </a:rPr>
              <a:t>Men’s</a:t>
            </a:r>
            <a:r>
              <a:rPr lang="it-CH" sz="1200" dirty="0">
                <a:latin typeface="Arial" charset="0"/>
                <a:ea typeface="ＭＳ Ｐゴシック" charset="0"/>
                <a:cs typeface="ＭＳ Ｐゴシック" charset="0"/>
              </a:rPr>
              <a:t> </a:t>
            </a:r>
            <a:r>
              <a:rPr lang="it-CH" sz="1200" dirty="0" err="1">
                <a:latin typeface="Arial" charset="0"/>
                <a:ea typeface="ＭＳ Ｐゴシック" charset="0"/>
                <a:cs typeface="ＭＳ Ｐゴシック" charset="0"/>
              </a:rPr>
              <a:t>Health</a:t>
            </a:r>
            <a:r>
              <a:rPr lang="it-CH" sz="1200" dirty="0">
                <a:latin typeface="Arial" charset="0"/>
                <a:ea typeface="ＭＳ Ｐゴシック" charset="0"/>
                <a:cs typeface="ＭＳ Ｐゴシック" charset="0"/>
              </a:rPr>
              <a:t>, Vogue, </a:t>
            </a:r>
            <a:r>
              <a:rPr lang="it-CH" sz="1200" dirty="0" err="1">
                <a:latin typeface="Arial" charset="0"/>
                <a:ea typeface="ＭＳ Ｐゴシック" charset="0"/>
                <a:cs typeface="ＭＳ Ｐゴシック" charset="0"/>
              </a:rPr>
              <a:t>Huffington</a:t>
            </a:r>
            <a:r>
              <a:rPr lang="it-CH" sz="1200" dirty="0">
                <a:latin typeface="Arial" charset="0"/>
                <a:ea typeface="ＭＳ Ｐゴシック" charset="0"/>
                <a:cs typeface="ＭＳ Ｐゴシック" charset="0"/>
              </a:rPr>
              <a:t> Post…). Sono attendibili?</a:t>
            </a:r>
          </a:p>
          <a:p>
            <a:pPr algn="just">
              <a:buNone/>
            </a:pPr>
            <a:r>
              <a:rPr lang="it-CH" sz="1200" dirty="0">
                <a:latin typeface="Arial" charset="0"/>
                <a:ea typeface="ＭＳ Ｐゴシック" charset="0"/>
                <a:cs typeface="ＭＳ Ｐゴシック" charset="0"/>
              </a:rPr>
              <a:t>	</a:t>
            </a:r>
            <a:r>
              <a:rPr lang="it-CH" sz="1200" b="1" i="1" dirty="0">
                <a:latin typeface="Arial" charset="0"/>
                <a:ea typeface="ＭＳ Ｐゴシック" charset="0"/>
                <a:cs typeface="ＭＳ Ｐゴシック" charset="0"/>
              </a:rPr>
              <a:t>Sì e no</a:t>
            </a:r>
            <a:r>
              <a:rPr lang="it-CH" sz="1200" i="1" dirty="0">
                <a:latin typeface="Arial" charset="0"/>
                <a:ea typeface="ＭＳ Ｐゴシック" charset="0"/>
                <a:cs typeface="ＭＳ Ｐゴシック" charset="0"/>
              </a:rPr>
              <a:t>. I giornalisti rispondono di ciò che scrivono e seguono </a:t>
            </a:r>
            <a:r>
              <a:rPr lang="it-CH" sz="1200" b="1" i="1" dirty="0">
                <a:latin typeface="Arial" charset="0"/>
                <a:ea typeface="ＭＳ Ｐゴシック" charset="0"/>
                <a:cs typeface="ＭＳ Ｐゴシック" charset="0"/>
              </a:rPr>
              <a:t>di regola </a:t>
            </a:r>
            <a:r>
              <a:rPr lang="it-CH" sz="1200" i="1" dirty="0">
                <a:latin typeface="Arial" charset="0"/>
                <a:ea typeface="ＭＳ Ｐゴシック" charset="0"/>
                <a:cs typeface="ＭＳ Ｐゴシック" charset="0"/>
              </a:rPr>
              <a:t>dei codici deontologici, ma ciò che scrivono non è il risultato di un processo di ricerca scientifica. Possiamo informarci, ma non basarci su queste fonti per trarre delle conclusioni fondate su un fenomeno. In conclusione, in un lavoro scientifico queste fonti </a:t>
            </a:r>
            <a:r>
              <a:rPr lang="it-CH" sz="1200" b="1" i="1" dirty="0">
                <a:latin typeface="Arial" charset="0"/>
                <a:ea typeface="ＭＳ Ｐゴシック" charset="0"/>
                <a:cs typeface="ＭＳ Ｐゴシック" charset="0"/>
              </a:rPr>
              <a:t>NON</a:t>
            </a:r>
            <a:r>
              <a:rPr lang="it-CH" sz="1200" i="1" dirty="0">
                <a:latin typeface="Arial" charset="0"/>
                <a:ea typeface="ＭＳ Ｐゴシック" charset="0"/>
                <a:cs typeface="ＭＳ Ｐゴシック" charset="0"/>
              </a:rPr>
              <a:t> possono essere utilizzate.</a:t>
            </a:r>
          </a:p>
          <a:p>
            <a:pPr algn="just">
              <a:buNone/>
            </a:pPr>
            <a:endParaRPr lang="it-CH" sz="200" i="1" dirty="0">
              <a:latin typeface="Arial" charset="0"/>
              <a:ea typeface="ＭＳ Ｐゴシック" charset="0"/>
              <a:cs typeface="ＭＳ Ｐゴシック" charset="0"/>
            </a:endParaRPr>
          </a:p>
          <a:p>
            <a:pPr algn="just"/>
            <a:r>
              <a:rPr lang="it-CH" sz="1200" dirty="0">
                <a:latin typeface="Arial" charset="0"/>
                <a:ea typeface="ＭＳ Ｐゴシック" charset="0"/>
                <a:cs typeface="ＭＳ Ｐゴシック" charset="0"/>
              </a:rPr>
              <a:t>Siti web non ufficiali, blog, aggregatori di notizie online (</a:t>
            </a:r>
            <a:r>
              <a:rPr lang="it-CH" sz="1200" dirty="0" err="1">
                <a:latin typeface="Arial" charset="0"/>
                <a:ea typeface="ＭＳ Ｐゴシック" charset="0"/>
                <a:cs typeface="ＭＳ Ｐゴシック" charset="0"/>
              </a:rPr>
              <a:t>Ticinonline</a:t>
            </a:r>
            <a:r>
              <a:rPr lang="it-CH" sz="1200" dirty="0">
                <a:latin typeface="Arial" charset="0"/>
                <a:ea typeface="ＭＳ Ｐゴシック" charset="0"/>
                <a:cs typeface="ＭＳ Ｐゴシック" charset="0"/>
              </a:rPr>
              <a:t>, </a:t>
            </a:r>
            <a:r>
              <a:rPr lang="it-CH" sz="1200" dirty="0" err="1">
                <a:latin typeface="Arial" charset="0"/>
                <a:ea typeface="ＭＳ Ｐゴシック" charset="0"/>
                <a:cs typeface="ＭＳ Ｐゴシック" charset="0"/>
              </a:rPr>
              <a:t>Ticinonews</a:t>
            </a:r>
            <a:r>
              <a:rPr lang="it-CH" sz="1200" dirty="0">
                <a:latin typeface="Arial" charset="0"/>
                <a:ea typeface="ＭＳ Ｐゴシック" charset="0"/>
                <a:cs typeface="ＭＳ Ｐゴシック" charset="0"/>
              </a:rPr>
              <a:t>,…), Forum, Wikipedia, </a:t>
            </a:r>
            <a:r>
              <a:rPr lang="it-CH" sz="1200" dirty="0" err="1">
                <a:latin typeface="Arial" charset="0"/>
                <a:ea typeface="ＭＳ Ｐゴシック" charset="0"/>
                <a:cs typeface="ＭＳ Ｐゴシック" charset="0"/>
              </a:rPr>
              <a:t>Wikileaks</a:t>
            </a:r>
            <a:r>
              <a:rPr lang="it-CH" sz="1200" dirty="0">
                <a:latin typeface="Arial" charset="0"/>
                <a:ea typeface="ＭＳ Ｐゴシック" charset="0"/>
                <a:cs typeface="ＭＳ Ｐゴシック" charset="0"/>
              </a:rPr>
              <a:t>. Sono attendibili?</a:t>
            </a:r>
          </a:p>
          <a:p>
            <a:pPr algn="just">
              <a:buNone/>
            </a:pPr>
            <a:r>
              <a:rPr lang="it-CH" sz="1200" i="1" dirty="0">
                <a:latin typeface="Arial" charset="0"/>
                <a:ea typeface="ＭＳ Ｐゴシック" charset="0"/>
                <a:cs typeface="ＭＳ Ｐゴシック" charset="0"/>
              </a:rPr>
              <a:t>	</a:t>
            </a:r>
            <a:r>
              <a:rPr lang="it-CH" sz="1200" b="1" i="1" dirty="0">
                <a:latin typeface="Arial" charset="0"/>
                <a:ea typeface="ＭＳ Ｐゴシック" charset="0"/>
                <a:cs typeface="ＭＳ Ｐゴシック" charset="0"/>
              </a:rPr>
              <a:t>No.</a:t>
            </a:r>
            <a:r>
              <a:rPr lang="it-CH" sz="1200" i="1" dirty="0">
                <a:latin typeface="Arial" charset="0"/>
                <a:ea typeface="ＭＳ Ｐゴシック" charset="0"/>
                <a:cs typeface="ＭＳ Ｐゴシック" charset="0"/>
              </a:rPr>
              <a:t> Le informazioni pubblicate su questi media di regola non sono verificate. Ad esempio, sebbene Wikipedia abbia una comunità che controlla ogni contributo, non si può essere certi della fondatezza delle informazioni che vi troviamo e non sappiamo se chi controlla un contributo è qualificato per farlo. In un lavoro scientifico NON possiamo utilizzare questo tipo di fonti.</a:t>
            </a:r>
          </a:p>
          <a:p>
            <a:endParaRPr lang="it-CH" dirty="0"/>
          </a:p>
          <a:p>
            <a:pPr algn="just"/>
            <a:r>
              <a:rPr lang="it-CH" sz="1200" dirty="0">
                <a:latin typeface="Arial" charset="0"/>
                <a:ea typeface="ＭＳ Ｐゴシック" charset="0"/>
                <a:cs typeface="ＭＳ Ｐゴシック" charset="0"/>
              </a:rPr>
              <a:t>Riviste scientifiche specializzate (AER, AEJ, Harvard Business </a:t>
            </a:r>
            <a:r>
              <a:rPr lang="it-CH" sz="1200" dirty="0" err="1">
                <a:latin typeface="Arial" charset="0"/>
                <a:ea typeface="ＭＳ Ｐゴシック" charset="0"/>
                <a:cs typeface="ＭＳ Ｐゴシック" charset="0"/>
              </a:rPr>
              <a:t>Review</a:t>
            </a:r>
            <a:r>
              <a:rPr lang="it-CH" sz="1200" dirty="0">
                <a:latin typeface="Arial" charset="0"/>
                <a:ea typeface="ＭＳ Ｐゴシック" charset="0"/>
                <a:cs typeface="ＭＳ Ｐゴシック" charset="0"/>
              </a:rPr>
              <a:t>, KYKLOS, …), Annuari (Annuario Statistico Ticinese, …), Enciclopedie (Treccani, New </a:t>
            </a:r>
            <a:r>
              <a:rPr lang="it-CH" sz="1200" dirty="0" err="1">
                <a:latin typeface="Arial" charset="0"/>
                <a:ea typeface="ＭＳ Ｐゴシック" charset="0"/>
                <a:cs typeface="ＭＳ Ｐゴシック" charset="0"/>
              </a:rPr>
              <a:t>Palgrave</a:t>
            </a:r>
            <a:r>
              <a:rPr lang="it-CH" sz="1200" dirty="0">
                <a:latin typeface="Arial" charset="0"/>
                <a:ea typeface="ＭＳ Ｐゴシック" charset="0"/>
                <a:cs typeface="ＭＳ Ｐゴシック" charset="0"/>
              </a:rPr>
              <a:t>, …), Libri e manuali (Macroeconomia di </a:t>
            </a:r>
            <a:r>
              <a:rPr lang="it-CH" sz="1200" dirty="0" err="1">
                <a:latin typeface="Arial" charset="0"/>
                <a:ea typeface="ＭＳ Ｐゴシック" charset="0"/>
                <a:cs typeface="ＭＳ Ｐゴシック" charset="0"/>
              </a:rPr>
              <a:t>Blanchard</a:t>
            </a:r>
            <a:r>
              <a:rPr lang="it-CH" sz="1200" dirty="0">
                <a:latin typeface="Arial" charset="0"/>
                <a:ea typeface="ＭＳ Ｐゴシック" charset="0"/>
                <a:cs typeface="ＭＳ Ｐゴシック" charset="0"/>
              </a:rPr>
              <a:t>, Microeconomia di </a:t>
            </a:r>
            <a:r>
              <a:rPr lang="it-CH" sz="1200" dirty="0" err="1">
                <a:latin typeface="Arial" charset="0"/>
                <a:ea typeface="ＭＳ Ｐゴシック" charset="0"/>
                <a:cs typeface="ＭＳ Ｐゴシック" charset="0"/>
              </a:rPr>
              <a:t>Krugman</a:t>
            </a:r>
            <a:r>
              <a:rPr lang="it-CH" sz="1200" dirty="0">
                <a:latin typeface="Arial" charset="0"/>
                <a:ea typeface="ＭＳ Ｐゴシック" charset="0"/>
                <a:cs typeface="ＭＳ Ｐゴシック" charset="0"/>
              </a:rPr>
              <a:t>). Sono attendibili?</a:t>
            </a:r>
          </a:p>
          <a:p>
            <a:pPr algn="just">
              <a:buNone/>
            </a:pPr>
            <a:r>
              <a:rPr lang="it-CH" sz="1200" dirty="0">
                <a:latin typeface="Arial" charset="0"/>
                <a:ea typeface="ＭＳ Ｐゴシック" charset="0"/>
                <a:cs typeface="ＭＳ Ｐゴシック" charset="0"/>
              </a:rPr>
              <a:t>	</a:t>
            </a:r>
            <a:r>
              <a:rPr lang="it-CH" sz="1200" b="1" i="1" dirty="0">
                <a:latin typeface="Arial" charset="0"/>
                <a:ea typeface="ＭＳ Ｐゴシック" charset="0"/>
                <a:cs typeface="ＭＳ Ｐゴシック" charset="0"/>
              </a:rPr>
              <a:t>Sì</a:t>
            </a:r>
            <a:r>
              <a:rPr lang="it-CH" sz="1200" i="1" dirty="0">
                <a:latin typeface="Arial" charset="0"/>
                <a:ea typeface="ＭＳ Ｐゴシック" charset="0"/>
                <a:cs typeface="ＭＳ Ｐゴシック" charset="0"/>
              </a:rPr>
              <a:t>. Questo tipo di fonti garantiscono un accurato processo di verifica delle informazioni pubblicate (vedi slide successiva, </a:t>
            </a:r>
            <a:r>
              <a:rPr lang="it-CH" sz="1200" i="1" dirty="0" err="1">
                <a:latin typeface="Arial" charset="0"/>
                <a:ea typeface="ＭＳ Ｐゴシック" charset="0"/>
                <a:cs typeface="ＭＳ Ｐゴシック" charset="0"/>
              </a:rPr>
              <a:t>peer-review</a:t>
            </a:r>
            <a:r>
              <a:rPr lang="it-CH" sz="1200" i="1" dirty="0">
                <a:latin typeface="Arial" charset="0"/>
                <a:ea typeface="ＭＳ Ｐゴシック" charset="0"/>
                <a:cs typeface="ＭＳ Ｐゴシック" charset="0"/>
              </a:rPr>
              <a:t>), tale per cui la qualità e la veridicità delle stesse è assicurata. I contributi sono prodotti da esperti riconosciuti in materia e verificati da esperti di pari rango.</a:t>
            </a:r>
            <a:endParaRPr lang="it-CH" sz="1200" b="1" i="1" dirty="0">
              <a:latin typeface="Arial" charset="0"/>
              <a:ea typeface="ＭＳ Ｐゴシック" charset="0"/>
              <a:cs typeface="ＭＳ Ｐゴシック" charset="0"/>
            </a:endParaRPr>
          </a:p>
          <a:p>
            <a:pPr algn="just">
              <a:buNone/>
            </a:pPr>
            <a:endParaRPr lang="it-CH" sz="100" i="1" dirty="0">
              <a:latin typeface="Arial" charset="0"/>
              <a:ea typeface="ＭＳ Ｐゴシック" charset="0"/>
              <a:cs typeface="ＭＳ Ｐゴシック" charset="0"/>
            </a:endParaRPr>
          </a:p>
          <a:p>
            <a:pPr algn="just">
              <a:buNone/>
            </a:pPr>
            <a:endParaRPr lang="it-CH" sz="200" i="1" dirty="0">
              <a:latin typeface="Arial" charset="0"/>
              <a:ea typeface="ＭＳ Ｐゴシック" charset="0"/>
              <a:cs typeface="ＭＳ Ｐゴシック" charset="0"/>
            </a:endParaRPr>
          </a:p>
          <a:p>
            <a:pPr algn="just"/>
            <a:r>
              <a:rPr lang="it-CH" sz="1200" dirty="0">
                <a:latin typeface="Arial" charset="0"/>
                <a:ea typeface="ＭＳ Ｐゴシック" charset="0"/>
                <a:cs typeface="ＭＳ Ｐゴシック" charset="0"/>
              </a:rPr>
              <a:t>Siti web ufficiali (di aziende, persone, enti), tutte le fonti citate sopra in forma elettronica, siti ufficiali di enti governativi (Comune, Cantone, Confederazione, Uff. Federale di Statistica, UE, OCSE, ONU, IMF, …). Sono attendibili?</a:t>
            </a:r>
          </a:p>
          <a:p>
            <a:pPr algn="just">
              <a:buNone/>
            </a:pPr>
            <a:r>
              <a:rPr lang="it-CH" sz="1200" i="1" dirty="0">
                <a:latin typeface="Arial" charset="0"/>
                <a:ea typeface="ＭＳ Ｐゴシック" charset="0"/>
                <a:cs typeface="ＭＳ Ｐゴシック" charset="0"/>
              </a:rPr>
              <a:t>	</a:t>
            </a:r>
            <a:r>
              <a:rPr lang="it-CH" sz="1200" b="1" i="1" dirty="0">
                <a:latin typeface="Arial" charset="0"/>
                <a:ea typeface="ＭＳ Ｐゴシック" charset="0"/>
                <a:cs typeface="ＭＳ Ｐゴシック" charset="0"/>
              </a:rPr>
              <a:t>Sì.</a:t>
            </a:r>
            <a:r>
              <a:rPr lang="it-CH" sz="1200" i="1" dirty="0">
                <a:latin typeface="Arial" charset="0"/>
                <a:ea typeface="ＭＳ Ｐゴシック" charset="0"/>
                <a:cs typeface="ＭＳ Ｐゴシック" charset="0"/>
              </a:rPr>
              <a:t> Siti ufficiali possono essere ritenuti attendibili, sebbene non sempre rechino informazioni interessanti (es. siti aziendali/personali) per un lavoro scientifico. Le pagine web di enti/uffici governativi possono essere considerate attendibili, in quanto essi sono tenuti alla trasparenza ed alla veridicità delle informazioni disseminate. La versione elettronica (sito web) delle fonti citate sopra naturalmente è parimenti attendibile.</a:t>
            </a:r>
          </a:p>
          <a:p>
            <a:endParaRPr lang="it-CH" dirty="0"/>
          </a:p>
        </p:txBody>
      </p:sp>
      <p:sp>
        <p:nvSpPr>
          <p:cNvPr id="4" name="Segnaposto numero diapositiva 3"/>
          <p:cNvSpPr>
            <a:spLocks noGrp="1"/>
          </p:cNvSpPr>
          <p:nvPr>
            <p:ph type="sldNum" sz="quarter" idx="10"/>
          </p:nvPr>
        </p:nvSpPr>
        <p:spPr/>
        <p:txBody>
          <a:bodyPr/>
          <a:lstStyle/>
          <a:p>
            <a:fld id="{5F00B9CF-1460-42E6-9398-D2EF91C14909}" type="slidenum">
              <a:rPr lang="it-IT" altLang="it-CH" smtClean="0"/>
              <a:pPr/>
              <a:t>8</a:t>
            </a:fld>
            <a:endParaRPr lang="it-IT" altLang="it-CH"/>
          </a:p>
        </p:txBody>
      </p:sp>
    </p:spTree>
    <p:extLst>
      <p:ext uri="{BB962C8B-B14F-4D97-AF65-F5344CB8AC3E}">
        <p14:creationId xmlns:p14="http://schemas.microsoft.com/office/powerpoint/2010/main" val="14871805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egnaposto immagine diapositiva 1"/>
          <p:cNvSpPr>
            <a:spLocks noGrp="1" noRot="1" noChangeAspect="1"/>
          </p:cNvSpPr>
          <p:nvPr>
            <p:ph type="sldImg"/>
          </p:nvPr>
        </p:nvSpPr>
        <p:spPr>
          <a:ln/>
        </p:spPr>
      </p:sp>
      <p:sp>
        <p:nvSpPr>
          <p:cNvPr id="24578" name="Segnaposto note 2"/>
          <p:cNvSpPr>
            <a:spLocks noGrp="1"/>
          </p:cNvSpPr>
          <p:nvPr>
            <p:ph type="body" idx="1"/>
          </p:nvPr>
        </p:nvSpPr>
        <p:spPr>
          <a:noFill/>
          <a:ln/>
        </p:spPr>
        <p:txBody>
          <a:bodyPr/>
          <a:lstStyle/>
          <a:p>
            <a:endParaRPr lang="it-CH" dirty="0">
              <a:latin typeface="Arial" charset="0"/>
              <a:ea typeface="ＭＳ Ｐゴシック"/>
              <a:cs typeface="ＭＳ Ｐゴシック"/>
            </a:endParaRPr>
          </a:p>
        </p:txBody>
      </p:sp>
      <p:sp>
        <p:nvSpPr>
          <p:cNvPr id="24579" name="Segnaposto numero diapositiva 3"/>
          <p:cNvSpPr>
            <a:spLocks noGrp="1"/>
          </p:cNvSpPr>
          <p:nvPr>
            <p:ph type="sldNum" sz="quarter" idx="5"/>
          </p:nvPr>
        </p:nvSpPr>
        <p:spPr>
          <a:noFill/>
        </p:spPr>
        <p:txBody>
          <a:bodyPr/>
          <a:lstStyle/>
          <a:p>
            <a:fld id="{3866B1CA-427B-4F45-9AAE-436AB529A78C}" type="slidenum">
              <a:rPr lang="it-IT" smtClean="0">
                <a:ea typeface="ＭＳ Ｐゴシック"/>
                <a:cs typeface="ＭＳ Ｐゴシック"/>
              </a:rPr>
              <a:pPr/>
              <a:t>9</a:t>
            </a:fld>
            <a:endParaRPr lang="it-IT">
              <a:ea typeface="ＭＳ Ｐゴシック"/>
              <a:cs typeface="ＭＳ Ｐゴシック"/>
            </a:endParaRPr>
          </a:p>
        </p:txBody>
      </p:sp>
    </p:spTree>
    <p:extLst>
      <p:ext uri="{BB962C8B-B14F-4D97-AF65-F5344CB8AC3E}">
        <p14:creationId xmlns:p14="http://schemas.microsoft.com/office/powerpoint/2010/main" val="2510168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egnaposto immagine diapositiva 1"/>
          <p:cNvSpPr>
            <a:spLocks noGrp="1" noRot="1" noChangeAspect="1"/>
          </p:cNvSpPr>
          <p:nvPr>
            <p:ph type="sldImg"/>
          </p:nvPr>
        </p:nvSpPr>
        <p:spPr>
          <a:ln/>
        </p:spPr>
      </p:sp>
      <p:sp>
        <p:nvSpPr>
          <p:cNvPr id="26626" name="Segnaposto note 2"/>
          <p:cNvSpPr>
            <a:spLocks noGrp="1"/>
          </p:cNvSpPr>
          <p:nvPr>
            <p:ph type="body" idx="1"/>
          </p:nvPr>
        </p:nvSpPr>
        <p:spPr>
          <a:noFill/>
          <a:ln/>
        </p:spPr>
        <p:txBody>
          <a:bodyPr/>
          <a:lstStyle/>
          <a:p>
            <a:r>
              <a:rPr lang="it-CH">
                <a:latin typeface="Arial" charset="0"/>
                <a:ea typeface="ＭＳ Ｐゴシック"/>
                <a:cs typeface="ＭＳ Ｐゴシック"/>
              </a:rPr>
              <a:t>Vedi </a:t>
            </a:r>
            <a:r>
              <a:rPr lang="it-CH" i="1">
                <a:latin typeface="Arial" charset="0"/>
                <a:ea typeface="ＭＳ Ｐゴシック"/>
                <a:cs typeface="ＭＳ Ｐゴシック"/>
              </a:rPr>
              <a:t>Guida alle citazioni bibliografiche</a:t>
            </a:r>
          </a:p>
          <a:p>
            <a:pPr marL="769993" lvl="1" indent="-296151"/>
            <a:r>
              <a:rPr lang="it-CH" sz="1000" u="sng">
                <a:latin typeface="Arial" charset="0"/>
                <a:ea typeface="ＭＳ Ｐゴシック"/>
              </a:rPr>
              <a:t>Un libro</a:t>
            </a:r>
            <a:r>
              <a:rPr lang="it-CH" sz="1000">
                <a:latin typeface="Arial" charset="0"/>
                <a:ea typeface="ＭＳ Ｐゴシック"/>
              </a:rPr>
              <a:t>: è stampato, facile da definire, facile da reperire (entro ragionevoli limiti), immutabile nel tempo</a:t>
            </a:r>
          </a:p>
          <a:p>
            <a:pPr marL="769993" lvl="1" indent="-296151"/>
            <a:r>
              <a:rPr lang="it-CH" sz="1000" u="sng">
                <a:latin typeface="Arial" charset="0"/>
                <a:ea typeface="ＭＳ Ｐゴシック"/>
              </a:rPr>
              <a:t>Un e-book</a:t>
            </a:r>
            <a:r>
              <a:rPr lang="it-CH" sz="1000">
                <a:latin typeface="Arial" charset="0"/>
                <a:ea typeface="ＭＳ Ｐゴシック"/>
              </a:rPr>
              <a:t>: oggi è piuttosto facile da definire e identificarne la versione, sono spesso protetti perciò difficilmente modificabili nel tempo, piuttosto facili anche da reperire</a:t>
            </a:r>
          </a:p>
          <a:p>
            <a:pPr marL="769993" lvl="1" indent="-296151"/>
            <a:r>
              <a:rPr lang="it-CH" sz="1000" u="sng">
                <a:latin typeface="Arial" charset="0"/>
                <a:ea typeface="ＭＳ Ｐゴシック"/>
              </a:rPr>
              <a:t>Un rapporto di ricerca in PDF</a:t>
            </a:r>
            <a:r>
              <a:rPr lang="it-CH" sz="1000">
                <a:latin typeface="Arial" charset="0"/>
                <a:ea typeface="ＭＳ Ｐゴシック"/>
              </a:rPr>
              <a:t>: può essere piuttosto difficile da definire, può essere cambiato a piacimento e ripubblicato (es. sul proprio sito) dagli autori, può facilmente scomparire dal web ed essere difficile da reperire</a:t>
            </a:r>
          </a:p>
          <a:p>
            <a:pPr marL="769993" lvl="1" indent="-296151"/>
            <a:r>
              <a:rPr lang="it-CH" sz="1000" u="sng">
                <a:latin typeface="Arial" charset="0"/>
                <a:ea typeface="ＭＳ Ｐゴシック"/>
              </a:rPr>
              <a:t>Un sito internet</a:t>
            </a:r>
            <a:r>
              <a:rPr lang="it-CH" sz="1000">
                <a:latin typeface="Arial" charset="0"/>
                <a:ea typeface="ＭＳ Ｐゴシック"/>
              </a:rPr>
              <a:t>?</a:t>
            </a:r>
          </a:p>
          <a:p>
            <a:pPr marL="769993" lvl="1" indent="-296151"/>
            <a:r>
              <a:rPr lang="it-CH" sz="1000" u="sng">
                <a:latin typeface="Arial" charset="0"/>
                <a:ea typeface="ＭＳ Ｐゴシック"/>
              </a:rPr>
              <a:t>Un articolo scientifico in formato PDF</a:t>
            </a:r>
            <a:r>
              <a:rPr lang="it-CH" sz="1000">
                <a:latin typeface="Arial" charset="0"/>
                <a:ea typeface="ＭＳ Ｐゴシック"/>
              </a:rPr>
              <a:t>?</a:t>
            </a:r>
          </a:p>
          <a:p>
            <a:endParaRPr lang="it-CH" i="1">
              <a:latin typeface="Arial" charset="0"/>
              <a:ea typeface="ＭＳ Ｐゴシック"/>
              <a:cs typeface="ＭＳ Ｐゴシック"/>
            </a:endParaRPr>
          </a:p>
        </p:txBody>
      </p:sp>
      <p:sp>
        <p:nvSpPr>
          <p:cNvPr id="26627" name="Segnaposto numero diapositiva 3"/>
          <p:cNvSpPr>
            <a:spLocks noGrp="1"/>
          </p:cNvSpPr>
          <p:nvPr>
            <p:ph type="sldNum" sz="quarter" idx="5"/>
          </p:nvPr>
        </p:nvSpPr>
        <p:spPr>
          <a:noFill/>
        </p:spPr>
        <p:txBody>
          <a:bodyPr/>
          <a:lstStyle/>
          <a:p>
            <a:fld id="{AA65ACFE-61FD-413B-A282-A0F4E87FA151}" type="slidenum">
              <a:rPr lang="it-IT" smtClean="0">
                <a:ea typeface="ＭＳ Ｐゴシック"/>
                <a:cs typeface="ＭＳ Ｐゴシック"/>
              </a:rPr>
              <a:pPr/>
              <a:t>10</a:t>
            </a:fld>
            <a:endParaRPr lang="it-IT">
              <a:ea typeface="ＭＳ Ｐゴシック"/>
              <a:cs typeface="ＭＳ Ｐゴシック"/>
            </a:endParaRPr>
          </a:p>
        </p:txBody>
      </p:sp>
    </p:spTree>
    <p:extLst>
      <p:ext uri="{BB962C8B-B14F-4D97-AF65-F5344CB8AC3E}">
        <p14:creationId xmlns:p14="http://schemas.microsoft.com/office/powerpoint/2010/main" val="3588244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egnaposto immagine diapositiva 1"/>
          <p:cNvSpPr>
            <a:spLocks noGrp="1" noRot="1" noChangeAspect="1"/>
          </p:cNvSpPr>
          <p:nvPr>
            <p:ph type="sldImg"/>
          </p:nvPr>
        </p:nvSpPr>
        <p:spPr>
          <a:ln/>
        </p:spPr>
      </p:sp>
      <p:sp>
        <p:nvSpPr>
          <p:cNvPr id="23554" name="Segnaposto note 2"/>
          <p:cNvSpPr>
            <a:spLocks noGrp="1"/>
          </p:cNvSpPr>
          <p:nvPr>
            <p:ph type="body" idx="1"/>
          </p:nvPr>
        </p:nvSpPr>
        <p:spPr>
          <a:noFill/>
          <a:ln/>
        </p:spPr>
        <p:txBody>
          <a:bodyPr/>
          <a:lstStyle/>
          <a:p>
            <a:endParaRPr lang="it-CH" dirty="0">
              <a:latin typeface="Arial" charset="0"/>
              <a:ea typeface="ＭＳ Ｐゴシック"/>
              <a:cs typeface="ＭＳ Ｐゴシック"/>
            </a:endParaRPr>
          </a:p>
        </p:txBody>
      </p:sp>
      <p:sp>
        <p:nvSpPr>
          <p:cNvPr id="23555" name="Segnaposto numero diapositiva 3"/>
          <p:cNvSpPr>
            <a:spLocks noGrp="1"/>
          </p:cNvSpPr>
          <p:nvPr>
            <p:ph type="sldNum" sz="quarter" idx="5"/>
          </p:nvPr>
        </p:nvSpPr>
        <p:spPr>
          <a:noFill/>
        </p:spPr>
        <p:txBody>
          <a:bodyPr/>
          <a:lstStyle/>
          <a:p>
            <a:fld id="{9342EB47-2AFD-4C1A-A308-AF54B6CAD6C2}" type="slidenum">
              <a:rPr lang="it-IT" smtClean="0">
                <a:ea typeface="ＭＳ Ｐゴシック"/>
                <a:cs typeface="ＭＳ Ｐゴシック"/>
              </a:rPr>
              <a:pPr/>
              <a:t>11</a:t>
            </a:fld>
            <a:endParaRPr lang="it-IT">
              <a:ea typeface="ＭＳ Ｐゴシック"/>
              <a:cs typeface="ＭＳ Ｐゴシック"/>
            </a:endParaRPr>
          </a:p>
        </p:txBody>
      </p:sp>
    </p:spTree>
    <p:extLst>
      <p:ext uri="{BB962C8B-B14F-4D97-AF65-F5344CB8AC3E}">
        <p14:creationId xmlns:p14="http://schemas.microsoft.com/office/powerpoint/2010/main" val="3693677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egnaposto immagine diapositiva 1"/>
          <p:cNvSpPr>
            <a:spLocks noGrp="1" noRot="1" noChangeAspect="1"/>
          </p:cNvSpPr>
          <p:nvPr>
            <p:ph type="sldImg"/>
          </p:nvPr>
        </p:nvSpPr>
        <p:spPr>
          <a:ln/>
        </p:spPr>
      </p:sp>
      <p:sp>
        <p:nvSpPr>
          <p:cNvPr id="31746" name="Segnaposto note 2"/>
          <p:cNvSpPr>
            <a:spLocks noGrp="1"/>
          </p:cNvSpPr>
          <p:nvPr>
            <p:ph type="body" idx="1"/>
          </p:nvPr>
        </p:nvSpPr>
        <p:spPr>
          <a:noFill/>
          <a:ln/>
        </p:spPr>
        <p:txBody>
          <a:bodyPr/>
          <a:lstStyle/>
          <a:p>
            <a:endParaRPr lang="it-CH">
              <a:latin typeface="Arial" charset="0"/>
              <a:ea typeface="ＭＳ Ｐゴシック"/>
              <a:cs typeface="ＭＳ Ｐゴシック"/>
            </a:endParaRPr>
          </a:p>
        </p:txBody>
      </p:sp>
      <p:sp>
        <p:nvSpPr>
          <p:cNvPr id="31747" name="Segnaposto numero diapositiva 3"/>
          <p:cNvSpPr>
            <a:spLocks noGrp="1"/>
          </p:cNvSpPr>
          <p:nvPr>
            <p:ph type="sldNum" sz="quarter" idx="5"/>
          </p:nvPr>
        </p:nvSpPr>
        <p:spPr>
          <a:noFill/>
        </p:spPr>
        <p:txBody>
          <a:bodyPr/>
          <a:lstStyle/>
          <a:p>
            <a:fld id="{BF9AE5A6-5092-4E56-8EDC-F5265BD2495B}" type="slidenum">
              <a:rPr lang="it-IT" smtClean="0">
                <a:ea typeface="ＭＳ Ｐゴシック"/>
                <a:cs typeface="ＭＳ Ｐゴシック"/>
              </a:rPr>
              <a:pPr/>
              <a:t>12</a:t>
            </a:fld>
            <a:endParaRPr lang="it-IT">
              <a:ea typeface="ＭＳ Ｐゴシック"/>
              <a:cs typeface="ＭＳ Ｐゴシック"/>
            </a:endParaRPr>
          </a:p>
        </p:txBody>
      </p:sp>
    </p:spTree>
    <p:extLst>
      <p:ext uri="{BB962C8B-B14F-4D97-AF65-F5344CB8AC3E}">
        <p14:creationId xmlns:p14="http://schemas.microsoft.com/office/powerpoint/2010/main" val="14010621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olienbildplatzhalter 1"/>
          <p:cNvSpPr>
            <a:spLocks noGrp="1" noRot="1" noChangeAspect="1" noTextEdit="1"/>
          </p:cNvSpPr>
          <p:nvPr>
            <p:ph type="sldImg"/>
          </p:nvPr>
        </p:nvSpPr>
        <p:spPr>
          <a:xfrm>
            <a:off x="992188" y="769938"/>
            <a:ext cx="5114925" cy="3836987"/>
          </a:xfrm>
          <a:ln/>
        </p:spPr>
      </p:sp>
      <p:sp>
        <p:nvSpPr>
          <p:cNvPr id="57347" name="Notizenplatzhalter 2"/>
          <p:cNvSpPr>
            <a:spLocks noGrp="1"/>
          </p:cNvSpPr>
          <p:nvPr>
            <p:ph type="body" idx="1"/>
          </p:nvPr>
        </p:nvSpPr>
        <p:spPr>
          <a:xfrm>
            <a:off x="709762" y="4860379"/>
            <a:ext cx="5679778" cy="4605085"/>
          </a:xfrm>
          <a:noFill/>
          <a:ln/>
        </p:spPr>
        <p:txBody>
          <a:bodyPr lIns="98277" tIns="49139" rIns="98277" bIns="49139"/>
          <a:lstStyle/>
          <a:p>
            <a:pPr>
              <a:buFont typeface="Wingdings" pitchFamily="2" charset="2"/>
              <a:buNone/>
            </a:pPr>
            <a:endParaRPr lang="de-DE" dirty="0">
              <a:latin typeface="Arial" charset="0"/>
              <a:ea typeface="ＭＳ Ｐゴシック"/>
              <a:cs typeface="ＭＳ Ｐゴシック"/>
              <a:sym typeface="Wingdings" pitchFamily="2" charset="2"/>
            </a:endParaRPr>
          </a:p>
          <a:p>
            <a:pPr>
              <a:buFont typeface="Wingdings" pitchFamily="2" charset="2"/>
              <a:buNone/>
            </a:pPr>
            <a:endParaRPr lang="de-DE" dirty="0">
              <a:latin typeface="Arial" charset="0"/>
              <a:ea typeface="ＭＳ Ｐゴシック"/>
              <a:cs typeface="ＭＳ Ｐゴシック"/>
              <a:sym typeface="Wingdings" pitchFamily="2" charset="2"/>
            </a:endParaRPr>
          </a:p>
          <a:p>
            <a:endParaRPr lang="de-DE" dirty="0">
              <a:latin typeface="Arial" charset="0"/>
              <a:ea typeface="ＭＳ Ｐゴシック"/>
              <a:cs typeface="ＭＳ Ｐゴシック"/>
            </a:endParaRPr>
          </a:p>
        </p:txBody>
      </p:sp>
      <p:sp>
        <p:nvSpPr>
          <p:cNvPr id="57348" name="Foliennummernplatzhalter 3"/>
          <p:cNvSpPr txBox="1">
            <a:spLocks noGrp="1"/>
          </p:cNvSpPr>
          <p:nvPr/>
        </p:nvSpPr>
        <p:spPr bwMode="auto">
          <a:xfrm>
            <a:off x="4021978" y="9722392"/>
            <a:ext cx="3075631" cy="510585"/>
          </a:xfrm>
          <a:prstGeom prst="rect">
            <a:avLst/>
          </a:prstGeom>
          <a:noFill/>
          <a:ln w="9525">
            <a:noFill/>
            <a:miter lim="800000"/>
            <a:headEnd/>
            <a:tailEnd/>
          </a:ln>
        </p:spPr>
        <p:txBody>
          <a:bodyPr lIns="98277" tIns="49139" rIns="98277" bIns="49139" anchor="b"/>
          <a:lstStyle/>
          <a:p>
            <a:pPr algn="r" defTabSz="908197"/>
            <a:fld id="{4042E1E3-F32B-456A-A872-E0A5AD2C005C}" type="slidenum">
              <a:rPr lang="it-IT" sz="1200"/>
              <a:pPr algn="r" defTabSz="908197"/>
              <a:t>13</a:t>
            </a:fld>
            <a:endParaRPr lang="it-IT" sz="1200"/>
          </a:p>
        </p:txBody>
      </p:sp>
    </p:spTree>
    <p:extLst>
      <p:ext uri="{BB962C8B-B14F-4D97-AF65-F5344CB8AC3E}">
        <p14:creationId xmlns:p14="http://schemas.microsoft.com/office/powerpoint/2010/main" val="10994647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egnaposto immagine diapositiva 1"/>
          <p:cNvSpPr>
            <a:spLocks noGrp="1" noRot="1" noChangeAspect="1"/>
          </p:cNvSpPr>
          <p:nvPr>
            <p:ph type="sldImg"/>
          </p:nvPr>
        </p:nvSpPr>
        <p:spPr>
          <a:ln/>
        </p:spPr>
      </p:sp>
      <p:sp>
        <p:nvSpPr>
          <p:cNvPr id="33794" name="Segnaposto note 2"/>
          <p:cNvSpPr>
            <a:spLocks noGrp="1"/>
          </p:cNvSpPr>
          <p:nvPr>
            <p:ph type="body" idx="1"/>
          </p:nvPr>
        </p:nvSpPr>
        <p:spPr>
          <a:noFill/>
          <a:ln/>
        </p:spPr>
        <p:txBody>
          <a:bodyPr/>
          <a:lstStyle/>
          <a:p>
            <a:endParaRPr lang="it-CH">
              <a:latin typeface="Arial" charset="0"/>
              <a:ea typeface="ＭＳ Ｐゴシック"/>
              <a:cs typeface="ＭＳ Ｐゴシック"/>
            </a:endParaRPr>
          </a:p>
        </p:txBody>
      </p:sp>
      <p:sp>
        <p:nvSpPr>
          <p:cNvPr id="33795" name="Segnaposto numero diapositiva 3"/>
          <p:cNvSpPr>
            <a:spLocks noGrp="1"/>
          </p:cNvSpPr>
          <p:nvPr>
            <p:ph type="sldNum" sz="quarter" idx="5"/>
          </p:nvPr>
        </p:nvSpPr>
        <p:spPr>
          <a:noFill/>
        </p:spPr>
        <p:txBody>
          <a:bodyPr/>
          <a:lstStyle/>
          <a:p>
            <a:fld id="{B1338153-9E58-472A-AF2D-2F8096B32296}" type="slidenum">
              <a:rPr lang="it-IT" smtClean="0">
                <a:ea typeface="ＭＳ Ｐゴシック"/>
                <a:cs typeface="ＭＳ Ｐゴシック"/>
              </a:rPr>
              <a:pPr/>
              <a:t>14</a:t>
            </a:fld>
            <a:endParaRPr lang="it-IT">
              <a:ea typeface="ＭＳ Ｐゴシック"/>
              <a:cs typeface="ＭＳ Ｐゴシック"/>
            </a:endParaRPr>
          </a:p>
        </p:txBody>
      </p:sp>
    </p:spTree>
    <p:extLst>
      <p:ext uri="{BB962C8B-B14F-4D97-AF65-F5344CB8AC3E}">
        <p14:creationId xmlns:p14="http://schemas.microsoft.com/office/powerpoint/2010/main" val="251063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pPr marL="238389" indent="-238389"/>
            <a:r>
              <a:rPr lang="it-IT" dirty="0"/>
              <a:t>Se dovete ancora raffinare un po’ la ricerca fatta settimana scorsa, potete</a:t>
            </a:r>
            <a:r>
              <a:rPr lang="it-IT" baseline="0" dirty="0"/>
              <a:t> utilizzare questi motori di ricerca che sono meno generici rispetto al motore google tradizionale.</a:t>
            </a:r>
          </a:p>
        </p:txBody>
      </p:sp>
      <p:sp>
        <p:nvSpPr>
          <p:cNvPr id="4" name="Segnaposto numero diapositiva 3"/>
          <p:cNvSpPr>
            <a:spLocks noGrp="1"/>
          </p:cNvSpPr>
          <p:nvPr>
            <p:ph type="sldNum" sz="quarter" idx="10"/>
          </p:nvPr>
        </p:nvSpPr>
        <p:spPr/>
        <p:txBody>
          <a:bodyPr/>
          <a:lstStyle/>
          <a:p>
            <a:pPr>
              <a:defRPr/>
            </a:pPr>
            <a:fld id="{47E918F6-80E6-C148-91A1-13444F887289}" type="slidenum">
              <a:rPr lang="it-IT" smtClean="0"/>
              <a:pPr>
                <a:defRPr/>
              </a:pPr>
              <a:t>15</a:t>
            </a:fld>
            <a:endParaRPr lang="it-IT"/>
          </a:p>
        </p:txBody>
      </p:sp>
    </p:spTree>
    <p:extLst>
      <p:ext uri="{BB962C8B-B14F-4D97-AF65-F5344CB8AC3E}">
        <p14:creationId xmlns:p14="http://schemas.microsoft.com/office/powerpoint/2010/main" val="16076844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egnaposto immagine diapositiva 1"/>
          <p:cNvSpPr>
            <a:spLocks noGrp="1" noRot="1" noChangeAspect="1"/>
          </p:cNvSpPr>
          <p:nvPr>
            <p:ph type="sldImg"/>
          </p:nvPr>
        </p:nvSpPr>
        <p:spPr>
          <a:ln/>
        </p:spPr>
      </p:sp>
      <p:sp>
        <p:nvSpPr>
          <p:cNvPr id="35842" name="Segnaposto note 2"/>
          <p:cNvSpPr>
            <a:spLocks noGrp="1"/>
          </p:cNvSpPr>
          <p:nvPr>
            <p:ph type="body" idx="1"/>
          </p:nvPr>
        </p:nvSpPr>
        <p:spPr>
          <a:noFill/>
          <a:ln/>
        </p:spPr>
        <p:txBody>
          <a:bodyPr/>
          <a:lstStyle/>
          <a:p>
            <a:endParaRPr lang="it-CH">
              <a:latin typeface="Arial" charset="0"/>
              <a:ea typeface="ＭＳ Ｐゴシック"/>
              <a:cs typeface="ＭＳ Ｐゴシック"/>
            </a:endParaRPr>
          </a:p>
        </p:txBody>
      </p:sp>
      <p:sp>
        <p:nvSpPr>
          <p:cNvPr id="35843" name="Segnaposto numero diapositiva 3"/>
          <p:cNvSpPr>
            <a:spLocks noGrp="1"/>
          </p:cNvSpPr>
          <p:nvPr>
            <p:ph type="sldNum" sz="quarter" idx="5"/>
          </p:nvPr>
        </p:nvSpPr>
        <p:spPr>
          <a:noFill/>
        </p:spPr>
        <p:txBody>
          <a:bodyPr/>
          <a:lstStyle/>
          <a:p>
            <a:fld id="{72AC7AE7-7C55-4729-8045-5C892CE34A37}" type="slidenum">
              <a:rPr lang="it-IT" smtClean="0">
                <a:ea typeface="ＭＳ Ｐゴシック"/>
                <a:cs typeface="ＭＳ Ｐゴシック"/>
              </a:rPr>
              <a:pPr/>
              <a:t>16</a:t>
            </a:fld>
            <a:endParaRPr lang="it-IT">
              <a:ea typeface="ＭＳ Ｐゴシック"/>
              <a:cs typeface="ＭＳ Ｐゴシック"/>
            </a:endParaRPr>
          </a:p>
        </p:txBody>
      </p:sp>
    </p:spTree>
    <p:extLst>
      <p:ext uri="{BB962C8B-B14F-4D97-AF65-F5344CB8AC3E}">
        <p14:creationId xmlns:p14="http://schemas.microsoft.com/office/powerpoint/2010/main" val="31595186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CH"/>
          </a:p>
        </p:txBody>
      </p:sp>
      <p:sp>
        <p:nvSpPr>
          <p:cNvPr id="4" name="Segnaposto numero diapositiva 3"/>
          <p:cNvSpPr>
            <a:spLocks noGrp="1"/>
          </p:cNvSpPr>
          <p:nvPr>
            <p:ph type="sldNum" sz="quarter" idx="10"/>
          </p:nvPr>
        </p:nvSpPr>
        <p:spPr/>
        <p:txBody>
          <a:bodyPr/>
          <a:lstStyle/>
          <a:p>
            <a:pPr>
              <a:defRPr/>
            </a:pPr>
            <a:fld id="{47E918F6-80E6-C148-91A1-13444F887289}" type="slidenum">
              <a:rPr lang="it-IT" smtClean="0"/>
              <a:pPr>
                <a:defRPr/>
              </a:pPr>
              <a:t>17</a:t>
            </a:fld>
            <a:endParaRPr lang="it-IT"/>
          </a:p>
        </p:txBody>
      </p:sp>
    </p:spTree>
    <p:extLst>
      <p:ext uri="{BB962C8B-B14F-4D97-AF65-F5344CB8AC3E}">
        <p14:creationId xmlns:p14="http://schemas.microsoft.com/office/powerpoint/2010/main" val="11092567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egnaposto immagine diapositiva 1"/>
          <p:cNvSpPr>
            <a:spLocks noGrp="1" noRot="1" noChangeAspect="1"/>
          </p:cNvSpPr>
          <p:nvPr>
            <p:ph type="sldImg"/>
          </p:nvPr>
        </p:nvSpPr>
        <p:spPr>
          <a:ln/>
        </p:spPr>
      </p:sp>
      <p:sp>
        <p:nvSpPr>
          <p:cNvPr id="44034" name="Segnaposto note 2"/>
          <p:cNvSpPr>
            <a:spLocks noGrp="1"/>
          </p:cNvSpPr>
          <p:nvPr>
            <p:ph type="body" idx="1"/>
          </p:nvPr>
        </p:nvSpPr>
        <p:spPr>
          <a:noFill/>
          <a:ln/>
        </p:spPr>
        <p:txBody>
          <a:bodyPr/>
          <a:lstStyle/>
          <a:p>
            <a:pPr marL="245148" indent="-245148"/>
            <a:endParaRPr lang="it-CH">
              <a:latin typeface="Arial" charset="0"/>
              <a:ea typeface="ＭＳ Ｐゴシック"/>
              <a:cs typeface="ＭＳ Ｐゴシック"/>
            </a:endParaRPr>
          </a:p>
        </p:txBody>
      </p:sp>
      <p:sp>
        <p:nvSpPr>
          <p:cNvPr id="44035" name="Segnaposto numero diapositiva 3"/>
          <p:cNvSpPr>
            <a:spLocks noGrp="1"/>
          </p:cNvSpPr>
          <p:nvPr>
            <p:ph type="sldNum" sz="quarter" idx="5"/>
          </p:nvPr>
        </p:nvSpPr>
        <p:spPr>
          <a:noFill/>
        </p:spPr>
        <p:txBody>
          <a:bodyPr/>
          <a:lstStyle/>
          <a:p>
            <a:fld id="{B2AD2D4F-71F4-4C00-8DB9-0DD17FF3D38A}" type="slidenum">
              <a:rPr lang="it-IT" smtClean="0">
                <a:ea typeface="ＭＳ Ｐゴシック"/>
                <a:cs typeface="ＭＳ Ｐゴシック"/>
              </a:rPr>
              <a:pPr/>
              <a:t>18</a:t>
            </a:fld>
            <a:endParaRPr lang="it-IT">
              <a:ea typeface="ＭＳ Ｐゴシック"/>
              <a:cs typeface="ＭＳ Ｐゴシック"/>
            </a:endParaRPr>
          </a:p>
        </p:txBody>
      </p:sp>
    </p:spTree>
    <p:extLst>
      <p:ext uri="{BB962C8B-B14F-4D97-AF65-F5344CB8AC3E}">
        <p14:creationId xmlns:p14="http://schemas.microsoft.com/office/powerpoint/2010/main" val="24997077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Folienbildplatzhalter 1"/>
          <p:cNvSpPr>
            <a:spLocks noGrp="1" noRot="1" noChangeAspect="1"/>
          </p:cNvSpPr>
          <p:nvPr>
            <p:ph type="sldImg"/>
          </p:nvPr>
        </p:nvSpPr>
        <p:spPr>
          <a:ln/>
        </p:spPr>
      </p:sp>
      <p:sp>
        <p:nvSpPr>
          <p:cNvPr id="18434" name="Notizenplatzhalter 2"/>
          <p:cNvSpPr>
            <a:spLocks noGrp="1"/>
          </p:cNvSpPr>
          <p:nvPr>
            <p:ph type="body" idx="1"/>
          </p:nvPr>
        </p:nvSpPr>
        <p:spPr>
          <a:noFill/>
          <a:ln/>
        </p:spPr>
        <p:txBody>
          <a:bodyPr/>
          <a:lstStyle/>
          <a:p>
            <a:pPr>
              <a:buFont typeface="Wingdings" pitchFamily="2" charset="2"/>
              <a:buNone/>
            </a:pPr>
            <a:endParaRPr lang="de-DE">
              <a:latin typeface="Arial" charset="0"/>
              <a:ea typeface="ＭＳ Ｐゴシック"/>
              <a:cs typeface="ＭＳ Ｐゴシック"/>
              <a:sym typeface="Wingdings" pitchFamily="2" charset="2"/>
            </a:endParaRPr>
          </a:p>
          <a:p>
            <a:pPr>
              <a:buFont typeface="Wingdings" pitchFamily="2" charset="2"/>
              <a:buNone/>
            </a:pPr>
            <a:endParaRPr lang="de-DE">
              <a:latin typeface="Arial" charset="0"/>
              <a:ea typeface="ＭＳ Ｐゴシック"/>
              <a:cs typeface="ＭＳ Ｐゴシック"/>
              <a:sym typeface="Wingdings" pitchFamily="2" charset="2"/>
            </a:endParaRPr>
          </a:p>
          <a:p>
            <a:endParaRPr lang="de-DE">
              <a:latin typeface="Arial" charset="0"/>
              <a:ea typeface="ＭＳ Ｐゴシック"/>
              <a:cs typeface="ＭＳ Ｐゴシック"/>
            </a:endParaRPr>
          </a:p>
        </p:txBody>
      </p:sp>
      <p:sp>
        <p:nvSpPr>
          <p:cNvPr id="18435" name="Foliennummernplatzhalter 3"/>
          <p:cNvSpPr>
            <a:spLocks noGrp="1"/>
          </p:cNvSpPr>
          <p:nvPr>
            <p:ph type="sldNum" sz="quarter" idx="5"/>
          </p:nvPr>
        </p:nvSpPr>
        <p:spPr>
          <a:noFill/>
        </p:spPr>
        <p:txBody>
          <a:bodyPr/>
          <a:lstStyle/>
          <a:p>
            <a:fld id="{FCD0B09F-32CB-451F-970F-B36FE7139C01}" type="slidenum">
              <a:rPr lang="it-IT" smtClean="0">
                <a:ea typeface="ＭＳ Ｐゴシック"/>
                <a:cs typeface="ＭＳ Ｐゴシック"/>
              </a:rPr>
              <a:pPr/>
              <a:t>19</a:t>
            </a:fld>
            <a:endParaRPr lang="it-IT">
              <a:ea typeface="ＭＳ Ｐゴシック"/>
              <a:cs typeface="ＭＳ Ｐゴシック"/>
            </a:endParaRPr>
          </a:p>
        </p:txBody>
      </p:sp>
    </p:spTree>
    <p:extLst>
      <p:ext uri="{BB962C8B-B14F-4D97-AF65-F5344CB8AC3E}">
        <p14:creationId xmlns:p14="http://schemas.microsoft.com/office/powerpoint/2010/main" val="38522400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egnaposto immagine diapositiva 1"/>
          <p:cNvSpPr>
            <a:spLocks noGrp="1" noRot="1" noChangeAspect="1"/>
          </p:cNvSpPr>
          <p:nvPr>
            <p:ph type="sldImg"/>
          </p:nvPr>
        </p:nvSpPr>
        <p:spPr>
          <a:ln/>
        </p:spPr>
      </p:sp>
      <p:sp>
        <p:nvSpPr>
          <p:cNvPr id="24578" name="Segnaposto note 2"/>
          <p:cNvSpPr>
            <a:spLocks noGrp="1"/>
          </p:cNvSpPr>
          <p:nvPr>
            <p:ph type="body" idx="1"/>
          </p:nvPr>
        </p:nvSpPr>
        <p:spPr>
          <a:noFill/>
          <a:ln/>
        </p:spPr>
        <p:txBody>
          <a:bodyPr/>
          <a:lstStyle/>
          <a:p>
            <a:endParaRPr lang="it-CH" dirty="0">
              <a:latin typeface="Arial" charset="0"/>
              <a:ea typeface="ＭＳ Ｐゴシック"/>
              <a:cs typeface="ＭＳ Ｐゴシック"/>
            </a:endParaRPr>
          </a:p>
        </p:txBody>
      </p:sp>
      <p:sp>
        <p:nvSpPr>
          <p:cNvPr id="24579" name="Segnaposto numero diapositiva 3"/>
          <p:cNvSpPr>
            <a:spLocks noGrp="1"/>
          </p:cNvSpPr>
          <p:nvPr>
            <p:ph type="sldNum" sz="quarter" idx="5"/>
          </p:nvPr>
        </p:nvSpPr>
        <p:spPr>
          <a:noFill/>
        </p:spPr>
        <p:txBody>
          <a:bodyPr/>
          <a:lstStyle/>
          <a:p>
            <a:fld id="{3866B1CA-427B-4F45-9AAE-436AB529A78C}" type="slidenum">
              <a:rPr lang="it-IT" smtClean="0">
                <a:ea typeface="ＭＳ Ｐゴシック"/>
                <a:cs typeface="ＭＳ Ｐゴシック"/>
              </a:rPr>
              <a:pPr/>
              <a:t>20</a:t>
            </a:fld>
            <a:endParaRPr lang="it-IT">
              <a:ea typeface="ＭＳ Ｐゴシック"/>
              <a:cs typeface="ＭＳ Ｐゴシック"/>
            </a:endParaRPr>
          </a:p>
        </p:txBody>
      </p:sp>
    </p:spTree>
    <p:extLst>
      <p:ext uri="{BB962C8B-B14F-4D97-AF65-F5344CB8AC3E}">
        <p14:creationId xmlns:p14="http://schemas.microsoft.com/office/powerpoint/2010/main" val="2195374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1CA1A-157B-CE46-F28D-E2B302987C0F}"/>
            </a:ext>
          </a:extLst>
        </p:cNvPr>
        <p:cNvGrpSpPr/>
        <p:nvPr/>
      </p:nvGrpSpPr>
      <p:grpSpPr>
        <a:xfrm>
          <a:off x="0" y="0"/>
          <a:ext cx="0" cy="0"/>
          <a:chOff x="0" y="0"/>
          <a:chExt cx="0" cy="0"/>
        </a:xfrm>
      </p:grpSpPr>
      <p:sp>
        <p:nvSpPr>
          <p:cNvPr id="24577" name="Segnaposto immagine diapositiva 1">
            <a:extLst>
              <a:ext uri="{FF2B5EF4-FFF2-40B4-BE49-F238E27FC236}">
                <a16:creationId xmlns:a16="http://schemas.microsoft.com/office/drawing/2014/main" id="{3E8765A9-BA71-FD73-9DF8-4CDAED057D9D}"/>
              </a:ext>
            </a:extLst>
          </p:cNvPr>
          <p:cNvSpPr>
            <a:spLocks noGrp="1" noRot="1" noChangeAspect="1"/>
          </p:cNvSpPr>
          <p:nvPr>
            <p:ph type="sldImg"/>
          </p:nvPr>
        </p:nvSpPr>
        <p:spPr>
          <a:ln/>
        </p:spPr>
      </p:sp>
      <p:sp>
        <p:nvSpPr>
          <p:cNvPr id="24578" name="Segnaposto note 2">
            <a:extLst>
              <a:ext uri="{FF2B5EF4-FFF2-40B4-BE49-F238E27FC236}">
                <a16:creationId xmlns:a16="http://schemas.microsoft.com/office/drawing/2014/main" id="{F8F44B69-10EC-897B-094B-B9DB5D110284}"/>
              </a:ext>
            </a:extLst>
          </p:cNvPr>
          <p:cNvSpPr>
            <a:spLocks noGrp="1"/>
          </p:cNvSpPr>
          <p:nvPr>
            <p:ph type="body" idx="1"/>
          </p:nvPr>
        </p:nvSpPr>
        <p:spPr>
          <a:noFill/>
          <a:ln/>
        </p:spPr>
        <p:txBody>
          <a:bodyPr/>
          <a:lstStyle/>
          <a:p>
            <a:endParaRPr lang="it-CH" dirty="0">
              <a:latin typeface="Arial" charset="0"/>
              <a:ea typeface="ＭＳ Ｐゴシック"/>
              <a:cs typeface="ＭＳ Ｐゴシック"/>
            </a:endParaRPr>
          </a:p>
        </p:txBody>
      </p:sp>
      <p:sp>
        <p:nvSpPr>
          <p:cNvPr id="24579" name="Segnaposto numero diapositiva 3">
            <a:extLst>
              <a:ext uri="{FF2B5EF4-FFF2-40B4-BE49-F238E27FC236}">
                <a16:creationId xmlns:a16="http://schemas.microsoft.com/office/drawing/2014/main" id="{1B99DFBA-EFEA-4F11-4DAF-4EEFADBA3B26}"/>
              </a:ext>
            </a:extLst>
          </p:cNvPr>
          <p:cNvSpPr>
            <a:spLocks noGrp="1"/>
          </p:cNvSpPr>
          <p:nvPr>
            <p:ph type="sldNum" sz="quarter" idx="5"/>
          </p:nvPr>
        </p:nvSpPr>
        <p:spPr>
          <a:noFill/>
        </p:spPr>
        <p:txBody>
          <a:bodyPr/>
          <a:lstStyle/>
          <a:p>
            <a:fld id="{3866B1CA-427B-4F45-9AAE-436AB529A78C}" type="slidenum">
              <a:rPr lang="it-IT" smtClean="0">
                <a:ea typeface="ＭＳ Ｐゴシック"/>
                <a:cs typeface="ＭＳ Ｐゴシック"/>
              </a:rPr>
              <a:pPr/>
              <a:t>21</a:t>
            </a:fld>
            <a:endParaRPr lang="it-IT">
              <a:ea typeface="ＭＳ Ｐゴシック"/>
              <a:cs typeface="ＭＳ Ｐゴシック"/>
            </a:endParaRPr>
          </a:p>
        </p:txBody>
      </p:sp>
    </p:spTree>
    <p:extLst>
      <p:ext uri="{BB962C8B-B14F-4D97-AF65-F5344CB8AC3E}">
        <p14:creationId xmlns:p14="http://schemas.microsoft.com/office/powerpoint/2010/main" val="40174674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a titolo">
    <p:spTree>
      <p:nvGrpSpPr>
        <p:cNvPr id="1" name=""/>
        <p:cNvGrpSpPr/>
        <p:nvPr/>
      </p:nvGrpSpPr>
      <p:grpSpPr>
        <a:xfrm>
          <a:off x="0" y="0"/>
          <a:ext cx="0" cy="0"/>
          <a:chOff x="0" y="0"/>
          <a:chExt cx="0" cy="0"/>
        </a:xfrm>
      </p:grpSpPr>
      <p:sp>
        <p:nvSpPr>
          <p:cNvPr id="5" name="Rectangle 3"/>
          <p:cNvSpPr>
            <a:spLocks noGrp="1" noChangeArrowheads="1"/>
          </p:cNvSpPr>
          <p:nvPr/>
        </p:nvSpPr>
        <p:spPr bwMode="auto">
          <a:xfrm>
            <a:off x="1117600" y="185738"/>
            <a:ext cx="6807200" cy="476250"/>
          </a:xfrm>
          <a:prstGeom prst="rect">
            <a:avLst/>
          </a:prstGeom>
          <a:noFill/>
          <a:ln>
            <a:noFill/>
          </a:ln>
        </p:spPr>
        <p:txBody>
          <a:bodyPr lIns="0" tIns="0" rIns="0" bIns="0"/>
          <a:lstStyle/>
          <a:p>
            <a:pPr>
              <a:defRPr/>
            </a:pPr>
            <a:r>
              <a:rPr lang="it-IT" sz="1200">
                <a:ea typeface="ＭＳ Ｐゴシック" charset="0"/>
                <a:cs typeface="ＭＳ Ｐゴシック" charset="0"/>
              </a:rPr>
              <a:t>DSAS / Titolo principale della presentazione</a:t>
            </a:r>
          </a:p>
          <a:p>
            <a:pPr eaLnBrk="0" hangingPunct="0">
              <a:defRPr/>
            </a:pPr>
            <a:endParaRPr lang="it-IT" sz="1200">
              <a:ea typeface="ＭＳ Ｐゴシック" charset="0"/>
              <a:cs typeface="ＭＳ Ｐゴシック" charset="0"/>
            </a:endParaRPr>
          </a:p>
          <a:p>
            <a:pPr eaLnBrk="0" hangingPunct="0">
              <a:defRPr/>
            </a:pPr>
            <a:endParaRPr lang="it-IT" sz="1200">
              <a:ea typeface="ＭＳ Ｐゴシック" charset="0"/>
              <a:cs typeface="ＭＳ Ｐゴシック" charset="0"/>
            </a:endParaRPr>
          </a:p>
        </p:txBody>
      </p:sp>
      <p:pic>
        <p:nvPicPr>
          <p:cNvPr id="6" name="Immagine 6" descr="logo_SUPSI_acr.gif"/>
          <p:cNvPicPr>
            <a:picLocks noChangeAspect="1"/>
          </p:cNvPicPr>
          <p:nvPr/>
        </p:nvPicPr>
        <p:blipFill>
          <a:blip r:embed="rId2"/>
          <a:srcRect/>
          <a:stretch>
            <a:fillRect/>
          </a:stretch>
        </p:blipFill>
        <p:spPr bwMode="auto">
          <a:xfrm>
            <a:off x="346075" y="209550"/>
            <a:ext cx="469900" cy="131763"/>
          </a:xfrm>
          <a:prstGeom prst="rect">
            <a:avLst/>
          </a:prstGeom>
          <a:noFill/>
          <a:ln w="9525">
            <a:noFill/>
            <a:miter lim="800000"/>
            <a:headEnd/>
            <a:tailEnd/>
          </a:ln>
        </p:spPr>
      </p:pic>
      <p:sp>
        <p:nvSpPr>
          <p:cNvPr id="7" name="Rettangolo 8"/>
          <p:cNvSpPr/>
          <p:nvPr/>
        </p:nvSpPr>
        <p:spPr>
          <a:xfrm>
            <a:off x="0" y="0"/>
            <a:ext cx="9144000" cy="17526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it-IT">
              <a:solidFill>
                <a:srgbClr val="FFFFFF"/>
              </a:solidFill>
            </a:endParaRPr>
          </a:p>
        </p:txBody>
      </p:sp>
      <p:pic>
        <p:nvPicPr>
          <p:cNvPr id="8" name="Immagine 11" descr="140925 DEASS_PowerPoint_Pagina_1.bmp"/>
          <p:cNvPicPr>
            <a:picLocks noChangeAspect="1"/>
          </p:cNvPicPr>
          <p:nvPr userDrawn="1"/>
        </p:nvPicPr>
        <p:blipFill>
          <a:blip r:embed="rId3"/>
          <a:srcRect/>
          <a:stretch>
            <a:fillRect/>
          </a:stretch>
        </p:blipFill>
        <p:spPr bwMode="auto">
          <a:xfrm>
            <a:off x="288925" y="185738"/>
            <a:ext cx="6565900" cy="1587500"/>
          </a:xfrm>
          <a:prstGeom prst="rect">
            <a:avLst/>
          </a:prstGeom>
          <a:noFill/>
          <a:ln w="9525">
            <a:noFill/>
            <a:miter lim="800000"/>
            <a:headEnd/>
            <a:tailEnd/>
          </a:ln>
        </p:spPr>
      </p:pic>
      <p:sp>
        <p:nvSpPr>
          <p:cNvPr id="5122" name="Rectangle 2"/>
          <p:cNvSpPr>
            <a:spLocks noGrp="1" noChangeArrowheads="1"/>
          </p:cNvSpPr>
          <p:nvPr>
            <p:ph type="ctrTitle"/>
          </p:nvPr>
        </p:nvSpPr>
        <p:spPr>
          <a:xfrm>
            <a:off x="323850" y="1773238"/>
            <a:ext cx="8496300" cy="1584325"/>
          </a:xfrm>
        </p:spPr>
        <p:txBody>
          <a:bodyPr/>
          <a:lstStyle>
            <a:lvl1pPr>
              <a:defRPr sz="4800"/>
            </a:lvl1pPr>
          </a:lstStyle>
          <a:p>
            <a:r>
              <a:rPr lang="de-CH" dirty="0"/>
              <a:t>Mastertitelformat bearbeiten</a:t>
            </a:r>
            <a:endParaRPr lang="it-IT" dirty="0"/>
          </a:p>
        </p:txBody>
      </p:sp>
      <p:sp>
        <p:nvSpPr>
          <p:cNvPr id="5123" name="Rectangle 3"/>
          <p:cNvSpPr>
            <a:spLocks noGrp="1" noChangeArrowheads="1"/>
          </p:cNvSpPr>
          <p:nvPr>
            <p:ph type="subTitle" idx="1"/>
          </p:nvPr>
        </p:nvSpPr>
        <p:spPr>
          <a:xfrm>
            <a:off x="323850" y="3357563"/>
            <a:ext cx="8496300" cy="1900237"/>
          </a:xfrm>
        </p:spPr>
        <p:txBody>
          <a:bodyPr/>
          <a:lstStyle>
            <a:lvl1pPr marL="0" indent="0">
              <a:buFontTx/>
              <a:buNone/>
              <a:defRPr/>
            </a:lvl1pPr>
          </a:lstStyle>
          <a:p>
            <a:r>
              <a:rPr lang="de-CH"/>
              <a:t>Master-Untertitelformat bearbeiten</a:t>
            </a:r>
            <a:endParaRPr lang="it-IT" dirty="0"/>
          </a:p>
        </p:txBody>
      </p:sp>
      <p:sp>
        <p:nvSpPr>
          <p:cNvPr id="13" name="Segnaposto testo 12"/>
          <p:cNvSpPr>
            <a:spLocks noGrp="1"/>
          </p:cNvSpPr>
          <p:nvPr>
            <p:ph type="body" sz="quarter" idx="13"/>
          </p:nvPr>
        </p:nvSpPr>
        <p:spPr>
          <a:xfrm>
            <a:off x="326931" y="5371908"/>
            <a:ext cx="8497183" cy="952691"/>
          </a:xfrm>
        </p:spPr>
        <p:txBody>
          <a:bodyPr/>
          <a:lstStyle>
            <a:lvl1pPr algn="l">
              <a:buNone/>
              <a:defRPr sz="1800"/>
            </a:lvl1pPr>
          </a:lstStyle>
          <a:p>
            <a:pPr lvl="0"/>
            <a:r>
              <a:rPr lang="de-CH"/>
              <a:t>Mastertextformat bearbeiten</a:t>
            </a:r>
          </a:p>
        </p:txBody>
      </p:sp>
      <p:sp>
        <p:nvSpPr>
          <p:cNvPr id="9" name="Rectangle 4"/>
          <p:cNvSpPr>
            <a:spLocks noGrp="1" noChangeArrowheads="1"/>
          </p:cNvSpPr>
          <p:nvPr>
            <p:ph type="dt" sz="half" idx="14"/>
          </p:nvPr>
        </p:nvSpPr>
        <p:spPr>
          <a:xfrm>
            <a:off x="323850" y="6454775"/>
            <a:ext cx="2133600" cy="403225"/>
          </a:xfrm>
        </p:spPr>
        <p:txBody>
          <a:bodyPr/>
          <a:lstStyle>
            <a:lvl1pPr>
              <a:defRPr/>
            </a:lvl1pPr>
          </a:lstStyle>
          <a:p>
            <a:pPr>
              <a:defRPr/>
            </a:pPr>
            <a:fld id="{C786C592-BDF2-409A-B6A2-7C6891158AB8}" type="datetime1">
              <a:rPr lang="it-IT"/>
              <a:pPr>
                <a:defRPr/>
              </a:pPr>
              <a:t>02/02/2026</a:t>
            </a:fld>
            <a:endParaRPr lang="it-IT"/>
          </a:p>
        </p:txBody>
      </p:sp>
      <p:sp>
        <p:nvSpPr>
          <p:cNvPr id="10" name="Rectangle 5"/>
          <p:cNvSpPr>
            <a:spLocks noGrp="1" noChangeArrowheads="1"/>
          </p:cNvSpPr>
          <p:nvPr>
            <p:ph type="ftr" sz="quarter" idx="15"/>
          </p:nvPr>
        </p:nvSpPr>
        <p:spPr>
          <a:xfrm>
            <a:off x="2484438" y="6454775"/>
            <a:ext cx="6335712" cy="403225"/>
          </a:xfrm>
        </p:spPr>
        <p:txBody>
          <a:bodyPr/>
          <a:lstStyle>
            <a:lvl1pPr>
              <a:defRPr/>
            </a:lvl1pPr>
          </a:lstStyle>
          <a:p>
            <a:pPr>
              <a:defRPr/>
            </a:pPr>
            <a:endParaRPr lang="it-IT"/>
          </a:p>
        </p:txBody>
      </p:sp>
      <p:sp>
        <p:nvSpPr>
          <p:cNvPr id="11" name="Rectangle 6"/>
          <p:cNvSpPr>
            <a:spLocks noGrp="1" noChangeArrowheads="1"/>
          </p:cNvSpPr>
          <p:nvPr>
            <p:ph type="sldNum" sz="quarter" idx="16"/>
          </p:nvPr>
        </p:nvSpPr>
        <p:spPr/>
        <p:txBody>
          <a:bodyPr/>
          <a:lstStyle>
            <a:lvl1pPr>
              <a:defRPr/>
            </a:lvl1pPr>
          </a:lstStyle>
          <a:p>
            <a:pPr>
              <a:defRPr/>
            </a:pPr>
            <a:fld id="{93F37835-95B3-41F6-92C6-851CF441448B}" type="slidenum">
              <a:rPr lang="it-IT"/>
              <a:pPr>
                <a:defRPr/>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sz="2400"/>
            </a:lvl1pPr>
          </a:lstStyle>
          <a:p>
            <a:r>
              <a:rPr lang="de-CH"/>
              <a:t>Mastertitelformat bearbeiten</a:t>
            </a:r>
            <a:endParaRPr lang="it-IT" dirty="0"/>
          </a:p>
        </p:txBody>
      </p:sp>
      <p:sp>
        <p:nvSpPr>
          <p:cNvPr id="3" name="Segnaposto contenuto 2"/>
          <p:cNvSpPr>
            <a:spLocks noGrp="1"/>
          </p:cNvSpPr>
          <p:nvPr>
            <p:ph idx="1"/>
          </p:nvPr>
        </p:nvSpPr>
        <p:spPr/>
        <p:txBody>
          <a:bodyPr/>
          <a:lstStyle>
            <a:lvl1pPr>
              <a:defRPr sz="1800"/>
            </a:lvl1pPr>
            <a:lvl2pPr>
              <a:defRPr sz="1800"/>
            </a:lvl2pPr>
            <a:lvl3pPr>
              <a:defRPr sz="1800"/>
            </a:lvl3pPr>
            <a:lvl4pPr>
              <a:defRPr sz="1800"/>
            </a:lvl4pPr>
            <a:lvl5pPr>
              <a:defRPr sz="1800"/>
            </a:lvl5pPr>
          </a:lstStyle>
          <a:p>
            <a:pPr lvl="0"/>
            <a:r>
              <a:rPr lang="de-CH"/>
              <a:t>Mastertextformat bearbeiten</a:t>
            </a:r>
          </a:p>
          <a:p>
            <a:pPr lvl="1"/>
            <a:r>
              <a:rPr lang="de-CH"/>
              <a:t>Zweite Ebene</a:t>
            </a:r>
          </a:p>
          <a:p>
            <a:pPr lvl="2"/>
            <a:r>
              <a:rPr lang="de-CH"/>
              <a:t>Dritte Ebene</a:t>
            </a:r>
          </a:p>
          <a:p>
            <a:pPr lvl="3"/>
            <a:r>
              <a:rPr lang="de-CH"/>
              <a:t>Vierte Ebene</a:t>
            </a:r>
          </a:p>
          <a:p>
            <a:pPr lvl="4"/>
            <a:r>
              <a:rPr lang="de-CH"/>
              <a:t>Fünfte Ebene</a:t>
            </a:r>
            <a:endParaRPr lang="it-IT" dirty="0"/>
          </a:p>
        </p:txBody>
      </p:sp>
      <p:sp>
        <p:nvSpPr>
          <p:cNvPr id="4" name="Rectangle 4"/>
          <p:cNvSpPr>
            <a:spLocks noGrp="1" noChangeArrowheads="1"/>
          </p:cNvSpPr>
          <p:nvPr>
            <p:ph type="dt" sz="half" idx="10"/>
          </p:nvPr>
        </p:nvSpPr>
        <p:spPr>
          <a:ln/>
        </p:spPr>
        <p:txBody>
          <a:bodyPr/>
          <a:lstStyle>
            <a:lvl1pPr>
              <a:defRPr/>
            </a:lvl1pPr>
          </a:lstStyle>
          <a:p>
            <a:pPr>
              <a:defRPr/>
            </a:pPr>
            <a:fld id="{8BC6CE0D-5233-437E-85D8-493B5891D91A}" type="datetime1">
              <a:rPr lang="it-IT"/>
              <a:pPr>
                <a:defRPr/>
              </a:pPr>
              <a:t>02/02/2026</a:t>
            </a:fld>
            <a:endParaRPr lang="it-IT"/>
          </a:p>
        </p:txBody>
      </p:sp>
      <p:sp>
        <p:nvSpPr>
          <p:cNvPr id="5" name="Rectangle 5"/>
          <p:cNvSpPr>
            <a:spLocks noGrp="1" noChangeArrowheads="1"/>
          </p:cNvSpPr>
          <p:nvPr>
            <p:ph type="ftr" sz="quarter" idx="11"/>
          </p:nvPr>
        </p:nvSpPr>
        <p:spPr>
          <a:ln/>
        </p:spPr>
        <p:txBody>
          <a:bodyPr/>
          <a:lstStyle>
            <a:lvl1pPr>
              <a:defRPr/>
            </a:lvl1pPr>
          </a:lstStyle>
          <a:p>
            <a:pPr>
              <a:defRPr/>
            </a:pPr>
            <a:endParaRPr lang="it-IT"/>
          </a:p>
        </p:txBody>
      </p:sp>
      <p:sp>
        <p:nvSpPr>
          <p:cNvPr id="6" name="Rectangle 6"/>
          <p:cNvSpPr>
            <a:spLocks noGrp="1" noChangeArrowheads="1"/>
          </p:cNvSpPr>
          <p:nvPr>
            <p:ph type="sldNum" sz="quarter" idx="12"/>
          </p:nvPr>
        </p:nvSpPr>
        <p:spPr>
          <a:ln/>
        </p:spPr>
        <p:txBody>
          <a:bodyPr/>
          <a:lstStyle>
            <a:lvl1pPr>
              <a:defRPr/>
            </a:lvl1pPr>
          </a:lstStyle>
          <a:p>
            <a:pPr>
              <a:defRPr/>
            </a:pPr>
            <a:fld id="{99BBB806-564E-42E6-AC7C-EE06F18A63E0}" type="slidenum">
              <a:rPr lang="it-IT"/>
              <a:pPr>
                <a:defRPr/>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uto 2">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sz="2400"/>
            </a:lvl1pPr>
          </a:lstStyle>
          <a:p>
            <a:r>
              <a:rPr lang="de-CH"/>
              <a:t>Mastertitelformat bearbeiten</a:t>
            </a:r>
            <a:endParaRPr lang="it-IT" dirty="0"/>
          </a:p>
        </p:txBody>
      </p:sp>
      <p:sp>
        <p:nvSpPr>
          <p:cNvPr id="3" name="Segnaposto contenuto 2"/>
          <p:cNvSpPr>
            <a:spLocks noGrp="1"/>
          </p:cNvSpPr>
          <p:nvPr>
            <p:ph sz="half" idx="1"/>
          </p:nvPr>
        </p:nvSpPr>
        <p:spPr>
          <a:xfrm>
            <a:off x="323850" y="1916113"/>
            <a:ext cx="4171950" cy="4321175"/>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de-CH"/>
              <a:t>Mastertextformat bearbeiten</a:t>
            </a:r>
          </a:p>
          <a:p>
            <a:pPr lvl="1"/>
            <a:r>
              <a:rPr lang="de-CH"/>
              <a:t>Zweite Ebene</a:t>
            </a:r>
          </a:p>
          <a:p>
            <a:pPr lvl="2"/>
            <a:r>
              <a:rPr lang="de-CH"/>
              <a:t>Dritte Ebene</a:t>
            </a:r>
          </a:p>
          <a:p>
            <a:pPr lvl="3"/>
            <a:r>
              <a:rPr lang="de-CH"/>
              <a:t>Vierte Ebene</a:t>
            </a:r>
          </a:p>
          <a:p>
            <a:pPr lvl="4"/>
            <a:r>
              <a:rPr lang="de-CH"/>
              <a:t>Fünfte Ebene</a:t>
            </a:r>
            <a:endParaRPr lang="it-IT" dirty="0"/>
          </a:p>
        </p:txBody>
      </p:sp>
      <p:sp>
        <p:nvSpPr>
          <p:cNvPr id="4" name="Segnaposto contenuto 3"/>
          <p:cNvSpPr>
            <a:spLocks noGrp="1"/>
          </p:cNvSpPr>
          <p:nvPr>
            <p:ph sz="half" idx="2"/>
          </p:nvPr>
        </p:nvSpPr>
        <p:spPr>
          <a:xfrm>
            <a:off x="4648200" y="1916113"/>
            <a:ext cx="4171950" cy="4321175"/>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de-CH"/>
              <a:t>Mastertextformat bearbeiten</a:t>
            </a:r>
          </a:p>
          <a:p>
            <a:pPr lvl="1"/>
            <a:r>
              <a:rPr lang="de-CH"/>
              <a:t>Zweite Ebene</a:t>
            </a:r>
          </a:p>
          <a:p>
            <a:pPr lvl="2"/>
            <a:r>
              <a:rPr lang="de-CH"/>
              <a:t>Dritte Ebene</a:t>
            </a:r>
          </a:p>
          <a:p>
            <a:pPr lvl="3"/>
            <a:r>
              <a:rPr lang="de-CH"/>
              <a:t>Vierte Ebene</a:t>
            </a:r>
          </a:p>
          <a:p>
            <a:pPr lvl="4"/>
            <a:r>
              <a:rPr lang="de-CH"/>
              <a:t>Fünfte Ebene</a:t>
            </a:r>
            <a:endParaRPr lang="it-IT" dirty="0"/>
          </a:p>
        </p:txBody>
      </p:sp>
      <p:sp>
        <p:nvSpPr>
          <p:cNvPr id="5" name="Rectangle 4"/>
          <p:cNvSpPr>
            <a:spLocks noGrp="1" noChangeArrowheads="1"/>
          </p:cNvSpPr>
          <p:nvPr>
            <p:ph type="dt" sz="half" idx="10"/>
          </p:nvPr>
        </p:nvSpPr>
        <p:spPr>
          <a:ln/>
        </p:spPr>
        <p:txBody>
          <a:bodyPr/>
          <a:lstStyle>
            <a:lvl1pPr>
              <a:defRPr/>
            </a:lvl1pPr>
          </a:lstStyle>
          <a:p>
            <a:pPr>
              <a:defRPr/>
            </a:pPr>
            <a:fld id="{CD7A1962-9A1F-4F87-A294-5FDEB136D720}" type="datetime1">
              <a:rPr lang="it-IT"/>
              <a:pPr>
                <a:defRPr/>
              </a:pPr>
              <a:t>02/02/2026</a:t>
            </a:fld>
            <a:endParaRPr lang="it-IT"/>
          </a:p>
        </p:txBody>
      </p:sp>
      <p:sp>
        <p:nvSpPr>
          <p:cNvPr id="6" name="Rectangle 5"/>
          <p:cNvSpPr>
            <a:spLocks noGrp="1" noChangeArrowheads="1"/>
          </p:cNvSpPr>
          <p:nvPr>
            <p:ph type="ftr" sz="quarter" idx="11"/>
          </p:nvPr>
        </p:nvSpPr>
        <p:spPr>
          <a:ln/>
        </p:spPr>
        <p:txBody>
          <a:bodyPr/>
          <a:lstStyle>
            <a:lvl1pPr>
              <a:defRPr/>
            </a:lvl1pPr>
          </a:lstStyle>
          <a:p>
            <a:pPr>
              <a:defRPr/>
            </a:pPr>
            <a:endParaRPr lang="it-IT"/>
          </a:p>
        </p:txBody>
      </p:sp>
      <p:sp>
        <p:nvSpPr>
          <p:cNvPr id="7" name="Rectangle 6"/>
          <p:cNvSpPr>
            <a:spLocks noGrp="1" noChangeArrowheads="1"/>
          </p:cNvSpPr>
          <p:nvPr>
            <p:ph type="sldNum" sz="quarter" idx="12"/>
          </p:nvPr>
        </p:nvSpPr>
        <p:spPr>
          <a:ln/>
        </p:spPr>
        <p:txBody>
          <a:bodyPr/>
          <a:lstStyle>
            <a:lvl1pPr>
              <a:defRPr/>
            </a:lvl1pPr>
          </a:lstStyle>
          <a:p>
            <a:pPr>
              <a:defRPr/>
            </a:pPr>
            <a:fld id="{373105DD-6FA4-46BF-9163-B19FBA14D536}" type="slidenum">
              <a:rPr lang="it-IT"/>
              <a:pPr>
                <a:defRPr/>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304800" y="1126800"/>
            <a:ext cx="8534400" cy="579438"/>
          </a:xfrm>
        </p:spPr>
        <p:txBody>
          <a:bodyPr/>
          <a:lstStyle>
            <a:lvl1pPr>
              <a:defRPr sz="2400"/>
            </a:lvl1pPr>
          </a:lstStyle>
          <a:p>
            <a:r>
              <a:rPr lang="de-CH"/>
              <a:t>Mastertitelformat bearbeiten</a:t>
            </a:r>
            <a:endParaRPr lang="it-IT" dirty="0"/>
          </a:p>
        </p:txBody>
      </p:sp>
      <p:sp>
        <p:nvSpPr>
          <p:cNvPr id="3" name="Segnaposto testo 2"/>
          <p:cNvSpPr>
            <a:spLocks noGrp="1"/>
          </p:cNvSpPr>
          <p:nvPr>
            <p:ph type="body" idx="1"/>
          </p:nvPr>
        </p:nvSpPr>
        <p:spPr>
          <a:xfrm>
            <a:off x="304800" y="1752600"/>
            <a:ext cx="4192588" cy="639762"/>
          </a:xfrm>
        </p:spPr>
        <p:txBody>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CH"/>
              <a:t>Mastertextformat bearbeiten</a:t>
            </a:r>
          </a:p>
        </p:txBody>
      </p:sp>
      <p:sp>
        <p:nvSpPr>
          <p:cNvPr id="4" name="Segnaposto contenuto 3"/>
          <p:cNvSpPr>
            <a:spLocks noGrp="1"/>
          </p:cNvSpPr>
          <p:nvPr>
            <p:ph sz="half" idx="2"/>
          </p:nvPr>
        </p:nvSpPr>
        <p:spPr>
          <a:xfrm>
            <a:off x="304800" y="2438399"/>
            <a:ext cx="4192588" cy="3687763"/>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de-CH"/>
              <a:t>Mastertextformat bearbeiten</a:t>
            </a:r>
          </a:p>
          <a:p>
            <a:pPr lvl="1"/>
            <a:r>
              <a:rPr lang="de-CH"/>
              <a:t>Zweite Ebene</a:t>
            </a:r>
          </a:p>
          <a:p>
            <a:pPr lvl="2"/>
            <a:r>
              <a:rPr lang="de-CH"/>
              <a:t>Dritte Ebene</a:t>
            </a:r>
          </a:p>
          <a:p>
            <a:pPr lvl="3"/>
            <a:r>
              <a:rPr lang="de-CH"/>
              <a:t>Vierte Ebene</a:t>
            </a:r>
          </a:p>
          <a:p>
            <a:pPr lvl="4"/>
            <a:r>
              <a:rPr lang="de-CH"/>
              <a:t>Fünfte Ebene</a:t>
            </a:r>
            <a:endParaRPr lang="it-IT" dirty="0"/>
          </a:p>
        </p:txBody>
      </p:sp>
      <p:sp>
        <p:nvSpPr>
          <p:cNvPr id="5" name="Segnaposto testo 4"/>
          <p:cNvSpPr>
            <a:spLocks noGrp="1"/>
          </p:cNvSpPr>
          <p:nvPr>
            <p:ph type="body" sz="quarter" idx="3"/>
          </p:nvPr>
        </p:nvSpPr>
        <p:spPr>
          <a:xfrm>
            <a:off x="4645025" y="1752600"/>
            <a:ext cx="4194175" cy="639762"/>
          </a:xfrm>
        </p:spPr>
        <p:txBody>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CH"/>
              <a:t>Mastertextformat bearbeiten</a:t>
            </a:r>
          </a:p>
        </p:txBody>
      </p:sp>
      <p:sp>
        <p:nvSpPr>
          <p:cNvPr id="6" name="Segnaposto contenuto 5"/>
          <p:cNvSpPr>
            <a:spLocks noGrp="1"/>
          </p:cNvSpPr>
          <p:nvPr>
            <p:ph sz="quarter" idx="4"/>
          </p:nvPr>
        </p:nvSpPr>
        <p:spPr>
          <a:xfrm>
            <a:off x="4645025" y="2438399"/>
            <a:ext cx="4194175" cy="3687763"/>
          </a:xfrm>
        </p:spPr>
        <p:txBody>
          <a:bodyPr>
            <a:noAutofit/>
          </a:bodyPr>
          <a:lstStyle>
            <a:lvl1pPr>
              <a:defRPr sz="1800"/>
            </a:lvl1pPr>
            <a:lvl2pPr>
              <a:defRPr sz="1800"/>
            </a:lvl2pPr>
            <a:lvl3pPr>
              <a:defRPr sz="1800"/>
            </a:lvl3pPr>
            <a:lvl4pPr>
              <a:defRPr sz="1800"/>
            </a:lvl4pPr>
            <a:lvl5pPr>
              <a:buNone/>
              <a:defRPr sz="1800"/>
            </a:lvl5pPr>
            <a:lvl6pPr>
              <a:defRPr sz="1600"/>
            </a:lvl6pPr>
            <a:lvl7pPr>
              <a:defRPr sz="1600"/>
            </a:lvl7pPr>
            <a:lvl8pPr>
              <a:defRPr sz="1600"/>
            </a:lvl8pPr>
            <a:lvl9pPr>
              <a:defRPr sz="1600"/>
            </a:lvl9pPr>
          </a:lstStyle>
          <a:p>
            <a:pPr lvl="0"/>
            <a:r>
              <a:rPr lang="de-CH"/>
              <a:t>Mastertextformat bearbeiten</a:t>
            </a:r>
          </a:p>
          <a:p>
            <a:pPr lvl="1"/>
            <a:r>
              <a:rPr lang="de-CH"/>
              <a:t>Zweite Ebene</a:t>
            </a:r>
          </a:p>
          <a:p>
            <a:pPr lvl="2"/>
            <a:r>
              <a:rPr lang="de-CH"/>
              <a:t>Dritte Ebene</a:t>
            </a:r>
          </a:p>
          <a:p>
            <a:pPr lvl="3"/>
            <a:r>
              <a:rPr lang="de-CH"/>
              <a:t>Vierte Ebene</a:t>
            </a:r>
          </a:p>
          <a:p>
            <a:pPr lvl="4"/>
            <a:r>
              <a:rPr lang="de-CH"/>
              <a:t>Fünfte Ebene</a:t>
            </a:r>
            <a:endParaRPr lang="fr-CH" dirty="0"/>
          </a:p>
        </p:txBody>
      </p:sp>
      <p:sp>
        <p:nvSpPr>
          <p:cNvPr id="7" name="Rectangle 4"/>
          <p:cNvSpPr>
            <a:spLocks noGrp="1" noChangeArrowheads="1"/>
          </p:cNvSpPr>
          <p:nvPr>
            <p:ph type="dt" sz="half" idx="10"/>
          </p:nvPr>
        </p:nvSpPr>
        <p:spPr>
          <a:ln/>
        </p:spPr>
        <p:txBody>
          <a:bodyPr/>
          <a:lstStyle>
            <a:lvl1pPr>
              <a:defRPr/>
            </a:lvl1pPr>
          </a:lstStyle>
          <a:p>
            <a:pPr>
              <a:defRPr/>
            </a:pPr>
            <a:fld id="{F0868787-8CC0-415E-A2DB-7C52F8768EBB}" type="datetime1">
              <a:rPr lang="it-IT"/>
              <a:pPr>
                <a:defRPr/>
              </a:pPr>
              <a:t>02/02/2026</a:t>
            </a:fld>
            <a:endParaRPr lang="it-IT"/>
          </a:p>
        </p:txBody>
      </p:sp>
      <p:sp>
        <p:nvSpPr>
          <p:cNvPr id="8" name="Rectangle 5"/>
          <p:cNvSpPr>
            <a:spLocks noGrp="1" noChangeArrowheads="1"/>
          </p:cNvSpPr>
          <p:nvPr>
            <p:ph type="ftr" sz="quarter" idx="11"/>
          </p:nvPr>
        </p:nvSpPr>
        <p:spPr>
          <a:ln/>
        </p:spPr>
        <p:txBody>
          <a:bodyPr/>
          <a:lstStyle>
            <a:lvl1pPr>
              <a:defRPr/>
            </a:lvl1pPr>
          </a:lstStyle>
          <a:p>
            <a:pPr>
              <a:defRPr/>
            </a:pPr>
            <a:endParaRPr lang="it-IT"/>
          </a:p>
        </p:txBody>
      </p:sp>
      <p:sp>
        <p:nvSpPr>
          <p:cNvPr id="9" name="Rectangle 6"/>
          <p:cNvSpPr>
            <a:spLocks noGrp="1" noChangeArrowheads="1"/>
          </p:cNvSpPr>
          <p:nvPr>
            <p:ph type="sldNum" sz="quarter" idx="12"/>
          </p:nvPr>
        </p:nvSpPr>
        <p:spPr>
          <a:ln/>
        </p:spPr>
        <p:txBody>
          <a:bodyPr/>
          <a:lstStyle>
            <a:lvl1pPr>
              <a:defRPr/>
            </a:lvl1pPr>
          </a:lstStyle>
          <a:p>
            <a:pPr>
              <a:defRPr/>
            </a:pPr>
            <a:fld id="{35737625-B9C3-45C5-A0F1-7D81FA583CFF}" type="slidenum">
              <a:rPr lang="it-IT"/>
              <a:pPr>
                <a:defRPr/>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305999" y="1125538"/>
            <a:ext cx="8516267" cy="719137"/>
          </a:xfrm>
        </p:spPr>
        <p:txBody>
          <a:bodyPr/>
          <a:lstStyle>
            <a:lvl1pPr>
              <a:defRPr sz="2400"/>
            </a:lvl1pPr>
          </a:lstStyle>
          <a:p>
            <a:r>
              <a:rPr lang="de-CH"/>
              <a:t>Mastertitelformat bearbeiten</a:t>
            </a:r>
            <a:endParaRPr lang="it-IT" dirty="0"/>
          </a:p>
        </p:txBody>
      </p:sp>
      <p:sp>
        <p:nvSpPr>
          <p:cNvPr id="3" name="Rectangle 4"/>
          <p:cNvSpPr>
            <a:spLocks noGrp="1" noChangeArrowheads="1"/>
          </p:cNvSpPr>
          <p:nvPr>
            <p:ph type="dt" sz="half" idx="10"/>
          </p:nvPr>
        </p:nvSpPr>
        <p:spPr>
          <a:ln/>
        </p:spPr>
        <p:txBody>
          <a:bodyPr/>
          <a:lstStyle>
            <a:lvl1pPr>
              <a:defRPr/>
            </a:lvl1pPr>
          </a:lstStyle>
          <a:p>
            <a:pPr>
              <a:defRPr/>
            </a:pPr>
            <a:fld id="{A63C203D-6690-45F3-9417-5BAF954FFF8E}" type="datetime1">
              <a:rPr lang="it-IT"/>
              <a:pPr>
                <a:defRPr/>
              </a:pPr>
              <a:t>02/02/2026</a:t>
            </a:fld>
            <a:endParaRPr lang="it-IT"/>
          </a:p>
        </p:txBody>
      </p:sp>
      <p:sp>
        <p:nvSpPr>
          <p:cNvPr id="4" name="Rectangle 5"/>
          <p:cNvSpPr>
            <a:spLocks noGrp="1" noChangeArrowheads="1"/>
          </p:cNvSpPr>
          <p:nvPr>
            <p:ph type="ftr" sz="quarter" idx="11"/>
          </p:nvPr>
        </p:nvSpPr>
        <p:spPr>
          <a:ln/>
        </p:spPr>
        <p:txBody>
          <a:bodyPr/>
          <a:lstStyle>
            <a:lvl1pPr>
              <a:defRPr/>
            </a:lvl1pPr>
          </a:lstStyle>
          <a:p>
            <a:pPr>
              <a:defRPr/>
            </a:pPr>
            <a:endParaRPr lang="it-IT"/>
          </a:p>
        </p:txBody>
      </p:sp>
      <p:sp>
        <p:nvSpPr>
          <p:cNvPr id="5" name="Rectangle 6"/>
          <p:cNvSpPr>
            <a:spLocks noGrp="1" noChangeArrowheads="1"/>
          </p:cNvSpPr>
          <p:nvPr>
            <p:ph type="sldNum" sz="quarter" idx="12"/>
          </p:nvPr>
        </p:nvSpPr>
        <p:spPr>
          <a:ln/>
        </p:spPr>
        <p:txBody>
          <a:bodyPr/>
          <a:lstStyle>
            <a:lvl1pPr>
              <a:defRPr/>
            </a:lvl1pPr>
          </a:lstStyle>
          <a:p>
            <a:pPr>
              <a:defRPr/>
            </a:pPr>
            <a:fld id="{D88474E8-17FC-47E1-8957-C5DDC332D5B2}" type="slidenum">
              <a:rPr lang="it-IT"/>
              <a:pPr>
                <a:defRPr/>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uoto">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D0F9BC8E-6EE1-4646-84EF-6ADC74137B37}" type="datetime1">
              <a:rPr lang="it-IT"/>
              <a:pPr>
                <a:defRPr/>
              </a:pPr>
              <a:t>02/02/2026</a:t>
            </a:fld>
            <a:endParaRPr lang="it-IT"/>
          </a:p>
        </p:txBody>
      </p:sp>
      <p:sp>
        <p:nvSpPr>
          <p:cNvPr id="3" name="Rectangle 5"/>
          <p:cNvSpPr>
            <a:spLocks noGrp="1" noChangeArrowheads="1"/>
          </p:cNvSpPr>
          <p:nvPr>
            <p:ph type="ftr" sz="quarter" idx="11"/>
          </p:nvPr>
        </p:nvSpPr>
        <p:spPr>
          <a:ln/>
        </p:spPr>
        <p:txBody>
          <a:bodyPr/>
          <a:lstStyle>
            <a:lvl1pPr>
              <a:defRPr/>
            </a:lvl1pPr>
          </a:lstStyle>
          <a:p>
            <a:pPr>
              <a:defRPr/>
            </a:pPr>
            <a:endParaRPr lang="it-IT"/>
          </a:p>
        </p:txBody>
      </p:sp>
      <p:sp>
        <p:nvSpPr>
          <p:cNvPr id="4" name="Rectangle 6"/>
          <p:cNvSpPr>
            <a:spLocks noGrp="1" noChangeArrowheads="1"/>
          </p:cNvSpPr>
          <p:nvPr>
            <p:ph type="sldNum" sz="quarter" idx="12"/>
          </p:nvPr>
        </p:nvSpPr>
        <p:spPr>
          <a:ln/>
        </p:spPr>
        <p:txBody>
          <a:bodyPr/>
          <a:lstStyle>
            <a:lvl1pPr>
              <a:defRPr/>
            </a:lvl1pPr>
          </a:lstStyle>
          <a:p>
            <a:pPr>
              <a:defRPr/>
            </a:pPr>
            <a:fld id="{7A01B8E8-C941-401F-AD37-7B00C3DB8852}" type="slidenum">
              <a:rPr lang="it-IT"/>
              <a:pPr>
                <a:defRPr/>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326335" y="1127797"/>
            <a:ext cx="3026465" cy="914400"/>
          </a:xfrm>
        </p:spPr>
        <p:txBody>
          <a:bodyPr/>
          <a:lstStyle>
            <a:lvl1pPr algn="l">
              <a:defRPr sz="2400" b="0"/>
            </a:lvl1pPr>
          </a:lstStyle>
          <a:p>
            <a:r>
              <a:rPr lang="de-CH"/>
              <a:t>Mastertitelformat bearbeiten</a:t>
            </a:r>
            <a:endParaRPr lang="it-IT" dirty="0"/>
          </a:p>
        </p:txBody>
      </p:sp>
      <p:sp>
        <p:nvSpPr>
          <p:cNvPr id="3" name="Segnaposto contenuto 2"/>
          <p:cNvSpPr>
            <a:spLocks noGrp="1"/>
          </p:cNvSpPr>
          <p:nvPr>
            <p:ph idx="1"/>
          </p:nvPr>
        </p:nvSpPr>
        <p:spPr>
          <a:xfrm>
            <a:off x="3575050" y="1126800"/>
            <a:ext cx="5244820" cy="4995525"/>
          </a:xfrm>
        </p:spPr>
        <p:txBody>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de-CH"/>
              <a:t>Mastertextformat bearbeiten</a:t>
            </a:r>
          </a:p>
          <a:p>
            <a:pPr lvl="1"/>
            <a:r>
              <a:rPr lang="de-CH"/>
              <a:t>Zweite Ebene</a:t>
            </a:r>
          </a:p>
          <a:p>
            <a:pPr lvl="2"/>
            <a:r>
              <a:rPr lang="de-CH"/>
              <a:t>Dritte Ebene</a:t>
            </a:r>
          </a:p>
          <a:p>
            <a:pPr lvl="3"/>
            <a:r>
              <a:rPr lang="de-CH"/>
              <a:t>Vierte Ebene</a:t>
            </a:r>
          </a:p>
          <a:p>
            <a:pPr lvl="4"/>
            <a:r>
              <a:rPr lang="de-CH"/>
              <a:t>Fünfte Ebene</a:t>
            </a:r>
            <a:endParaRPr lang="it-IT" dirty="0"/>
          </a:p>
        </p:txBody>
      </p:sp>
      <p:sp>
        <p:nvSpPr>
          <p:cNvPr id="4" name="Segnaposto testo 3"/>
          <p:cNvSpPr>
            <a:spLocks noGrp="1"/>
          </p:cNvSpPr>
          <p:nvPr>
            <p:ph type="body" sz="half" idx="2"/>
          </p:nvPr>
        </p:nvSpPr>
        <p:spPr>
          <a:xfrm>
            <a:off x="326336" y="2133600"/>
            <a:ext cx="3026464" cy="3992563"/>
          </a:xfrm>
        </p:spPr>
        <p:txBody>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CH"/>
              <a:t>Mastertextformat bearbeiten</a:t>
            </a:r>
          </a:p>
        </p:txBody>
      </p:sp>
      <p:sp>
        <p:nvSpPr>
          <p:cNvPr id="5" name="Rectangle 4"/>
          <p:cNvSpPr>
            <a:spLocks noGrp="1" noChangeArrowheads="1"/>
          </p:cNvSpPr>
          <p:nvPr>
            <p:ph type="dt" sz="half" idx="10"/>
          </p:nvPr>
        </p:nvSpPr>
        <p:spPr>
          <a:ln/>
        </p:spPr>
        <p:txBody>
          <a:bodyPr/>
          <a:lstStyle>
            <a:lvl1pPr>
              <a:defRPr/>
            </a:lvl1pPr>
          </a:lstStyle>
          <a:p>
            <a:pPr>
              <a:defRPr/>
            </a:pPr>
            <a:fld id="{09B2EEAF-72AB-42CC-83C9-52C38A80A3C5}" type="datetime1">
              <a:rPr lang="it-IT"/>
              <a:pPr>
                <a:defRPr/>
              </a:pPr>
              <a:t>02/02/2026</a:t>
            </a:fld>
            <a:endParaRPr lang="it-IT"/>
          </a:p>
        </p:txBody>
      </p:sp>
      <p:sp>
        <p:nvSpPr>
          <p:cNvPr id="6" name="Rectangle 5"/>
          <p:cNvSpPr>
            <a:spLocks noGrp="1" noChangeArrowheads="1"/>
          </p:cNvSpPr>
          <p:nvPr>
            <p:ph type="ftr" sz="quarter" idx="11"/>
          </p:nvPr>
        </p:nvSpPr>
        <p:spPr>
          <a:ln/>
        </p:spPr>
        <p:txBody>
          <a:bodyPr/>
          <a:lstStyle>
            <a:lvl1pPr>
              <a:defRPr/>
            </a:lvl1pPr>
          </a:lstStyle>
          <a:p>
            <a:pPr>
              <a:defRPr/>
            </a:pPr>
            <a:endParaRPr lang="it-IT"/>
          </a:p>
        </p:txBody>
      </p:sp>
      <p:sp>
        <p:nvSpPr>
          <p:cNvPr id="7" name="Rectangle 6"/>
          <p:cNvSpPr>
            <a:spLocks noGrp="1" noChangeArrowheads="1"/>
          </p:cNvSpPr>
          <p:nvPr>
            <p:ph type="sldNum" sz="quarter" idx="12"/>
          </p:nvPr>
        </p:nvSpPr>
        <p:spPr>
          <a:ln/>
        </p:spPr>
        <p:txBody>
          <a:bodyPr/>
          <a:lstStyle>
            <a:lvl1pPr>
              <a:defRPr/>
            </a:lvl1pPr>
          </a:lstStyle>
          <a:p>
            <a:pPr>
              <a:defRPr/>
            </a:pPr>
            <a:fld id="{4FEA328A-E6A2-4607-8924-46B725F53257}" type="slidenum">
              <a:rPr lang="it-IT"/>
              <a:pPr>
                <a:defRPr/>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304800" y="4800600"/>
            <a:ext cx="8519314" cy="566738"/>
          </a:xfrm>
        </p:spPr>
        <p:txBody>
          <a:bodyPr/>
          <a:lstStyle>
            <a:lvl1pPr algn="l">
              <a:defRPr sz="2400" b="0"/>
            </a:lvl1pPr>
          </a:lstStyle>
          <a:p>
            <a:r>
              <a:rPr lang="de-CH"/>
              <a:t>Mastertitelformat bearbeiten</a:t>
            </a:r>
            <a:endParaRPr lang="it-IT" dirty="0"/>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de-CH" noProof="0"/>
              <a:t>Bild auf Platzhalter ziehen oder durch Klicken auf Symbol hinzufügen</a:t>
            </a:r>
            <a:endParaRPr lang="it-IT" noProof="0"/>
          </a:p>
        </p:txBody>
      </p:sp>
      <p:sp>
        <p:nvSpPr>
          <p:cNvPr id="4" name="Segnaposto testo 3"/>
          <p:cNvSpPr>
            <a:spLocks noGrp="1"/>
          </p:cNvSpPr>
          <p:nvPr>
            <p:ph type="body" sz="half" idx="2"/>
          </p:nvPr>
        </p:nvSpPr>
        <p:spPr>
          <a:xfrm>
            <a:off x="304800" y="5367338"/>
            <a:ext cx="8519314" cy="804862"/>
          </a:xfrm>
        </p:spPr>
        <p:txBody>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CH"/>
              <a:t>Mastertextformat bearbeiten</a:t>
            </a:r>
          </a:p>
        </p:txBody>
      </p:sp>
      <p:sp>
        <p:nvSpPr>
          <p:cNvPr id="5" name="Rectangle 4"/>
          <p:cNvSpPr>
            <a:spLocks noGrp="1" noChangeArrowheads="1"/>
          </p:cNvSpPr>
          <p:nvPr>
            <p:ph type="dt" sz="half" idx="10"/>
          </p:nvPr>
        </p:nvSpPr>
        <p:spPr>
          <a:ln/>
        </p:spPr>
        <p:txBody>
          <a:bodyPr/>
          <a:lstStyle>
            <a:lvl1pPr>
              <a:defRPr/>
            </a:lvl1pPr>
          </a:lstStyle>
          <a:p>
            <a:pPr>
              <a:defRPr/>
            </a:pPr>
            <a:fld id="{D1468707-01A1-423E-8387-3BF030C18924}" type="datetime1">
              <a:rPr lang="it-IT"/>
              <a:pPr>
                <a:defRPr/>
              </a:pPr>
              <a:t>02/02/2026</a:t>
            </a:fld>
            <a:endParaRPr lang="it-IT"/>
          </a:p>
        </p:txBody>
      </p:sp>
      <p:sp>
        <p:nvSpPr>
          <p:cNvPr id="6" name="Rectangle 5"/>
          <p:cNvSpPr>
            <a:spLocks noGrp="1" noChangeArrowheads="1"/>
          </p:cNvSpPr>
          <p:nvPr>
            <p:ph type="ftr" sz="quarter" idx="11"/>
          </p:nvPr>
        </p:nvSpPr>
        <p:spPr>
          <a:ln/>
        </p:spPr>
        <p:txBody>
          <a:bodyPr/>
          <a:lstStyle>
            <a:lvl1pPr>
              <a:defRPr/>
            </a:lvl1pPr>
          </a:lstStyle>
          <a:p>
            <a:pPr>
              <a:defRPr/>
            </a:pPr>
            <a:endParaRPr lang="it-IT"/>
          </a:p>
        </p:txBody>
      </p:sp>
      <p:sp>
        <p:nvSpPr>
          <p:cNvPr id="7" name="Rectangle 6"/>
          <p:cNvSpPr>
            <a:spLocks noGrp="1" noChangeArrowheads="1"/>
          </p:cNvSpPr>
          <p:nvPr>
            <p:ph type="sldNum" sz="quarter" idx="12"/>
          </p:nvPr>
        </p:nvSpPr>
        <p:spPr>
          <a:ln/>
        </p:spPr>
        <p:txBody>
          <a:bodyPr/>
          <a:lstStyle>
            <a:lvl1pPr>
              <a:defRPr/>
            </a:lvl1pPr>
          </a:lstStyle>
          <a:p>
            <a:pPr>
              <a:defRPr/>
            </a:pPr>
            <a:fld id="{99EC69E0-CFFB-4783-90C8-0334EF19EE76}" type="slidenum">
              <a:rPr lang="it-IT"/>
              <a:pPr>
                <a:defRPr/>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E08657A8-018C-4768-B0CE-F1F1157F7568}" type="datetime1">
              <a:rPr lang="it-IT"/>
              <a:pPr>
                <a:defRPr/>
              </a:pPr>
              <a:t>02/02/2026</a:t>
            </a:fld>
            <a:endParaRPr lang="it-IT"/>
          </a:p>
        </p:txBody>
      </p:sp>
      <p:sp>
        <p:nvSpPr>
          <p:cNvPr id="3" name="Rectangle 5"/>
          <p:cNvSpPr>
            <a:spLocks noGrp="1" noChangeArrowheads="1"/>
          </p:cNvSpPr>
          <p:nvPr>
            <p:ph type="ftr" sz="quarter" idx="11"/>
          </p:nvPr>
        </p:nvSpPr>
        <p:spPr>
          <a:ln/>
        </p:spPr>
        <p:txBody>
          <a:bodyPr/>
          <a:lstStyle>
            <a:lvl1pPr>
              <a:defRPr/>
            </a:lvl1pPr>
          </a:lstStyle>
          <a:p>
            <a:pPr>
              <a:defRPr/>
            </a:pPr>
            <a:endParaRPr lang="it-IT"/>
          </a:p>
        </p:txBody>
      </p:sp>
      <p:sp>
        <p:nvSpPr>
          <p:cNvPr id="4" name="Rectangle 6"/>
          <p:cNvSpPr>
            <a:spLocks noGrp="1" noChangeArrowheads="1"/>
          </p:cNvSpPr>
          <p:nvPr>
            <p:ph type="sldNum" sz="quarter" idx="12"/>
          </p:nvPr>
        </p:nvSpPr>
        <p:spPr>
          <a:ln/>
        </p:spPr>
        <p:txBody>
          <a:bodyPr/>
          <a:lstStyle>
            <a:lvl1pPr>
              <a:defRPr/>
            </a:lvl1pPr>
          </a:lstStyle>
          <a:p>
            <a:pPr>
              <a:defRPr/>
            </a:pPr>
            <a:fld id="{BA30BE3F-8B80-4944-AA99-14631BC5883A}" type="slidenum">
              <a:rPr lang="it-IT"/>
              <a:pPr>
                <a:defRPr/>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_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sz="2400"/>
            </a:lvl1pPr>
          </a:lstStyle>
          <a:p>
            <a:r>
              <a:rPr lang="fr-CH" dirty="0"/>
              <a:t>Fare clic per modificare stile</a:t>
            </a:r>
            <a:endParaRPr lang="it-IT" dirty="0"/>
          </a:p>
        </p:txBody>
      </p:sp>
      <p:sp>
        <p:nvSpPr>
          <p:cNvPr id="3" name="Segnaposto contenuto 2"/>
          <p:cNvSpPr>
            <a:spLocks noGrp="1"/>
          </p:cNvSpPr>
          <p:nvPr>
            <p:ph idx="1"/>
          </p:nvPr>
        </p:nvSpPr>
        <p:spPr/>
        <p:txBody>
          <a:bodyPr/>
          <a:lstStyle>
            <a:lvl1pPr>
              <a:defRPr sz="1800"/>
            </a:lvl1pPr>
            <a:lvl2pPr>
              <a:defRPr sz="1800"/>
            </a:lvl2pPr>
            <a:lvl3pPr>
              <a:defRPr sz="1800"/>
            </a:lvl3pPr>
            <a:lvl4pPr>
              <a:defRPr sz="1800"/>
            </a:lvl4pPr>
            <a:lvl5pPr>
              <a:defRPr sz="1800"/>
            </a:lvl5pPr>
          </a:lstStyle>
          <a:p>
            <a:pPr lvl="0"/>
            <a:r>
              <a:rPr lang="fr-CH" dirty="0"/>
              <a:t>Fare clic per modificare gli stili del testo dello schema</a:t>
            </a:r>
          </a:p>
          <a:p>
            <a:pPr lvl="1"/>
            <a:r>
              <a:rPr lang="fr-CH" dirty="0"/>
              <a:t>Secondo livello</a:t>
            </a:r>
          </a:p>
          <a:p>
            <a:pPr lvl="2"/>
            <a:r>
              <a:rPr lang="fr-CH" dirty="0"/>
              <a:t>Terzo livello</a:t>
            </a:r>
          </a:p>
          <a:p>
            <a:pPr lvl="3"/>
            <a:r>
              <a:rPr lang="fr-CH" dirty="0"/>
              <a:t>Quarto livello</a:t>
            </a:r>
          </a:p>
          <a:p>
            <a:pPr lvl="4"/>
            <a:r>
              <a:rPr lang="fr-CH" dirty="0"/>
              <a:t>Quinto livello</a:t>
            </a:r>
            <a:endParaRPr lang="it-IT" dirty="0"/>
          </a:p>
        </p:txBody>
      </p:sp>
      <p:sp>
        <p:nvSpPr>
          <p:cNvPr id="5" name="Rectangle 4"/>
          <p:cNvSpPr>
            <a:spLocks noGrp="1" noChangeArrowheads="1"/>
          </p:cNvSpPr>
          <p:nvPr>
            <p:ph type="dt" sz="half" idx="14"/>
          </p:nvPr>
        </p:nvSpPr>
        <p:spPr/>
        <p:txBody>
          <a:bodyPr/>
          <a:lstStyle>
            <a:lvl1pPr>
              <a:defRPr>
                <a:solidFill>
                  <a:srgbClr val="000000"/>
                </a:solidFill>
              </a:defRPr>
            </a:lvl1pPr>
          </a:lstStyle>
          <a:p>
            <a:pPr>
              <a:defRPr/>
            </a:pPr>
            <a:r>
              <a:rPr lang="it-CH"/>
              <a:t>13 marzo 2018</a:t>
            </a:r>
            <a:endParaRPr lang="it-IT"/>
          </a:p>
        </p:txBody>
      </p:sp>
      <p:sp>
        <p:nvSpPr>
          <p:cNvPr id="6" name="Rectangle 6"/>
          <p:cNvSpPr>
            <a:spLocks noGrp="1" noChangeArrowheads="1"/>
          </p:cNvSpPr>
          <p:nvPr>
            <p:ph type="sldNum" sz="quarter" idx="15"/>
          </p:nvPr>
        </p:nvSpPr>
        <p:spPr/>
        <p:txBody>
          <a:bodyPr/>
          <a:lstStyle>
            <a:lvl1pPr>
              <a:defRPr>
                <a:solidFill>
                  <a:srgbClr val="000000"/>
                </a:solidFill>
              </a:defRPr>
            </a:lvl1pPr>
          </a:lstStyle>
          <a:p>
            <a:pPr>
              <a:defRPr/>
            </a:pPr>
            <a:fld id="{5E43D968-5966-48D0-AA2D-E67B479520D0}" type="slidenum">
              <a:rPr lang="it-IT"/>
              <a:pPr>
                <a:defRPr/>
              </a:pPr>
              <a:t>‹N›</a:t>
            </a:fld>
            <a:endParaRPr lang="it-IT"/>
          </a:p>
        </p:txBody>
      </p:sp>
    </p:spTree>
    <p:extLst>
      <p:ext uri="{BB962C8B-B14F-4D97-AF65-F5344CB8AC3E}">
        <p14:creationId xmlns:p14="http://schemas.microsoft.com/office/powerpoint/2010/main" val="363010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oletto fondo verde">
    <p:bg>
      <p:bgPr>
        <a:solidFill>
          <a:schemeClr val="accent5"/>
        </a:solidFill>
        <a:effectLst/>
      </p:bgPr>
    </p:bg>
    <p:spTree>
      <p:nvGrpSpPr>
        <p:cNvPr id="1" name=""/>
        <p:cNvGrpSpPr/>
        <p:nvPr/>
      </p:nvGrpSpPr>
      <p:grpSpPr>
        <a:xfrm>
          <a:off x="0" y="0"/>
          <a:ext cx="0" cy="0"/>
          <a:chOff x="0" y="0"/>
          <a:chExt cx="0" cy="0"/>
        </a:xfrm>
      </p:grpSpPr>
      <p:sp>
        <p:nvSpPr>
          <p:cNvPr id="3" name="Rectangle 3"/>
          <p:cNvSpPr>
            <a:spLocks noGrp="1" noChangeArrowheads="1"/>
          </p:cNvSpPr>
          <p:nvPr/>
        </p:nvSpPr>
        <p:spPr bwMode="auto">
          <a:xfrm>
            <a:off x="1117600" y="185738"/>
            <a:ext cx="6661150" cy="476250"/>
          </a:xfrm>
          <a:prstGeom prst="rect">
            <a:avLst/>
          </a:prstGeom>
          <a:noFill/>
          <a:ln>
            <a:noFill/>
          </a:ln>
        </p:spPr>
        <p:txBody>
          <a:bodyPr lIns="0" tIns="0" rIns="0" bIns="0"/>
          <a:lstStyle/>
          <a:p>
            <a:pPr>
              <a:defRPr/>
            </a:pPr>
            <a:r>
              <a:rPr lang="it-IT" sz="1200">
                <a:solidFill>
                  <a:srgbClr val="FFFFFF"/>
                </a:solidFill>
                <a:ea typeface="ＭＳ Ｐゴシック" charset="0"/>
                <a:cs typeface="ＭＳ Ｐゴシック" charset="0"/>
              </a:rPr>
              <a:t>DSAS / Titolo principale della presentazione</a:t>
            </a:r>
          </a:p>
          <a:p>
            <a:pPr eaLnBrk="0" hangingPunct="0">
              <a:defRPr/>
            </a:pPr>
            <a:endParaRPr lang="it-IT" sz="1200">
              <a:solidFill>
                <a:srgbClr val="FFFFFF"/>
              </a:solidFill>
              <a:ea typeface="ＭＳ Ｐゴシック" charset="0"/>
              <a:cs typeface="ＭＳ Ｐゴシック" charset="0"/>
            </a:endParaRPr>
          </a:p>
          <a:p>
            <a:pPr eaLnBrk="0" hangingPunct="0">
              <a:defRPr/>
            </a:pPr>
            <a:endParaRPr lang="it-IT" sz="1200">
              <a:solidFill>
                <a:srgbClr val="FFFFFF"/>
              </a:solidFill>
              <a:ea typeface="ＭＳ Ｐゴシック" charset="0"/>
              <a:cs typeface="ＭＳ Ｐゴシック" charset="0"/>
            </a:endParaRPr>
          </a:p>
        </p:txBody>
      </p:sp>
      <p:pic>
        <p:nvPicPr>
          <p:cNvPr id="4" name="Immagine 2" descr="logo_SUPSI_acr_neg.png"/>
          <p:cNvPicPr>
            <a:picLocks noChangeAspect="1"/>
          </p:cNvPicPr>
          <p:nvPr/>
        </p:nvPicPr>
        <p:blipFill>
          <a:blip r:embed="rId2"/>
          <a:srcRect/>
          <a:stretch>
            <a:fillRect/>
          </a:stretch>
        </p:blipFill>
        <p:spPr bwMode="auto">
          <a:xfrm>
            <a:off x="346075" y="209550"/>
            <a:ext cx="469900" cy="131763"/>
          </a:xfrm>
          <a:prstGeom prst="rect">
            <a:avLst/>
          </a:prstGeom>
          <a:noFill/>
          <a:ln w="9525">
            <a:noFill/>
            <a:miter lim="800000"/>
            <a:headEnd/>
            <a:tailEnd/>
          </a:ln>
        </p:spPr>
      </p:pic>
      <p:sp>
        <p:nvSpPr>
          <p:cNvPr id="10" name="Titolo 1"/>
          <p:cNvSpPr>
            <a:spLocks noGrp="1"/>
          </p:cNvSpPr>
          <p:nvPr>
            <p:ph type="title"/>
          </p:nvPr>
        </p:nvSpPr>
        <p:spPr>
          <a:xfrm>
            <a:off x="324000" y="1854000"/>
            <a:ext cx="8519314" cy="2184600"/>
          </a:xfrm>
          <a:prstGeom prst="rect">
            <a:avLst/>
          </a:prstGeom>
        </p:spPr>
        <p:txBody>
          <a:bodyPr lIns="0" tIns="0" rIns="0" bIns="0"/>
          <a:lstStyle>
            <a:lvl1pPr algn="l">
              <a:defRPr sz="4800" b="0">
                <a:solidFill>
                  <a:schemeClr val="bg1"/>
                </a:solidFill>
              </a:defRPr>
            </a:lvl1pPr>
          </a:lstStyle>
          <a:p>
            <a:r>
              <a:rPr lang="fr-CH" dirty="0"/>
              <a:t>Fare clic per modificare stile</a:t>
            </a:r>
            <a:endParaRPr lang="it-IT" dirty="0"/>
          </a:p>
        </p:txBody>
      </p:sp>
      <p:sp>
        <p:nvSpPr>
          <p:cNvPr id="5" name="Segnaposto data 2"/>
          <p:cNvSpPr>
            <a:spLocks noGrp="1"/>
          </p:cNvSpPr>
          <p:nvPr>
            <p:ph type="dt" sz="half" idx="10"/>
          </p:nvPr>
        </p:nvSpPr>
        <p:spPr>
          <a:xfrm>
            <a:off x="323850" y="6453188"/>
            <a:ext cx="2133600" cy="404812"/>
          </a:xfrm>
          <a:prstGeom prst="rect">
            <a:avLst/>
          </a:prstGeom>
        </p:spPr>
        <p:txBody>
          <a:bodyPr vert="horz" wrap="square" lIns="0" tIns="0" rIns="0" bIns="0" numCol="1" anchor="t" anchorCtr="0" compatLnSpc="1">
            <a:prstTxWarp prst="textNoShape">
              <a:avLst/>
            </a:prstTxWarp>
          </a:bodyPr>
          <a:lstStyle>
            <a:lvl1pPr>
              <a:defRPr sz="1000">
                <a:solidFill>
                  <a:schemeClr val="bg1"/>
                </a:solidFill>
                <a:ea typeface="ＭＳ Ｐゴシック" charset="0"/>
                <a:cs typeface="ＭＳ Ｐゴシック" charset="0"/>
              </a:defRPr>
            </a:lvl1pPr>
          </a:lstStyle>
          <a:p>
            <a:pPr>
              <a:defRPr/>
            </a:pPr>
            <a:fld id="{76371BBB-E556-434D-B81E-FB1B5F0A6A33}" type="datetime1">
              <a:rPr lang="it-IT"/>
              <a:pPr>
                <a:defRPr/>
              </a:pPr>
              <a:t>02/02/2026</a:t>
            </a:fld>
            <a:endParaRPr lang="it-IT"/>
          </a:p>
        </p:txBody>
      </p:sp>
      <p:sp>
        <p:nvSpPr>
          <p:cNvPr id="6" name="Segnaposto piè di pagina 3"/>
          <p:cNvSpPr>
            <a:spLocks noGrp="1"/>
          </p:cNvSpPr>
          <p:nvPr>
            <p:ph type="ftr" sz="quarter" idx="11"/>
          </p:nvPr>
        </p:nvSpPr>
        <p:spPr>
          <a:xfrm>
            <a:off x="2484438" y="6453188"/>
            <a:ext cx="6335712" cy="404812"/>
          </a:xfrm>
          <a:prstGeom prst="rect">
            <a:avLst/>
          </a:prstGeom>
        </p:spPr>
        <p:txBody>
          <a:bodyPr vert="horz" wrap="square" lIns="0" tIns="0" rIns="0" bIns="0" numCol="1" anchor="t" anchorCtr="0" compatLnSpc="1">
            <a:prstTxWarp prst="textNoShape">
              <a:avLst/>
            </a:prstTxWarp>
          </a:bodyPr>
          <a:lstStyle>
            <a:lvl1pPr>
              <a:defRPr sz="1000">
                <a:solidFill>
                  <a:schemeClr val="bg1"/>
                </a:solidFill>
                <a:ea typeface="+mn-ea"/>
                <a:cs typeface="+mn-cs"/>
              </a:defRPr>
            </a:lvl1pPr>
          </a:lstStyle>
          <a:p>
            <a:pPr>
              <a:defRPr/>
            </a:pPr>
            <a:endParaRPr lang="it-IT"/>
          </a:p>
        </p:txBody>
      </p:sp>
      <p:sp>
        <p:nvSpPr>
          <p:cNvPr id="7" name="Segnaposto numero diapositiva 4"/>
          <p:cNvSpPr>
            <a:spLocks noGrp="1"/>
          </p:cNvSpPr>
          <p:nvPr>
            <p:ph type="sldNum" sz="quarter" idx="12"/>
          </p:nvPr>
        </p:nvSpPr>
        <p:spPr>
          <a:xfrm>
            <a:off x="8077200" y="188913"/>
            <a:ext cx="742950" cy="476250"/>
          </a:xfrm>
          <a:prstGeom prst="rect">
            <a:avLst/>
          </a:prstGeom>
        </p:spPr>
        <p:txBody>
          <a:bodyPr vert="horz" wrap="square" lIns="0" tIns="0" rIns="0" bIns="0" numCol="1" anchor="t" anchorCtr="0" compatLnSpc="1">
            <a:prstTxWarp prst="textNoShape">
              <a:avLst/>
            </a:prstTxWarp>
          </a:bodyPr>
          <a:lstStyle>
            <a:lvl1pPr algn="r">
              <a:defRPr sz="1000">
                <a:solidFill>
                  <a:schemeClr val="bg1"/>
                </a:solidFill>
                <a:ea typeface="ＭＳ Ｐゴシック" charset="0"/>
                <a:cs typeface="ＭＳ Ｐゴシック" charset="0"/>
              </a:defRPr>
            </a:lvl1pPr>
          </a:lstStyle>
          <a:p>
            <a:pPr>
              <a:defRPr/>
            </a:pPr>
            <a:fld id="{12221556-A85C-46C5-AF0D-A10F08FDC783}" type="slidenum">
              <a:rPr lang="it-IT"/>
              <a:pPr>
                <a:defRPr/>
              </a:pPr>
              <a:t>‹N›</a:t>
            </a:fld>
            <a:endParaRPr lang="it-IT"/>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oletto fondo celeste">
    <p:bg>
      <p:bgPr>
        <a:solidFill>
          <a:schemeClr val="accent4"/>
        </a:solidFill>
        <a:effectLst/>
      </p:bgPr>
    </p:bg>
    <p:spTree>
      <p:nvGrpSpPr>
        <p:cNvPr id="1" name=""/>
        <p:cNvGrpSpPr/>
        <p:nvPr/>
      </p:nvGrpSpPr>
      <p:grpSpPr>
        <a:xfrm>
          <a:off x="0" y="0"/>
          <a:ext cx="0" cy="0"/>
          <a:chOff x="0" y="0"/>
          <a:chExt cx="0" cy="0"/>
        </a:xfrm>
      </p:grpSpPr>
      <p:sp>
        <p:nvSpPr>
          <p:cNvPr id="3" name="Rectangle 3"/>
          <p:cNvSpPr>
            <a:spLocks noGrp="1" noChangeArrowheads="1"/>
          </p:cNvSpPr>
          <p:nvPr/>
        </p:nvSpPr>
        <p:spPr bwMode="auto">
          <a:xfrm>
            <a:off x="1117600" y="185738"/>
            <a:ext cx="6661150" cy="476250"/>
          </a:xfrm>
          <a:prstGeom prst="rect">
            <a:avLst/>
          </a:prstGeom>
          <a:noFill/>
          <a:ln>
            <a:noFill/>
          </a:ln>
        </p:spPr>
        <p:txBody>
          <a:bodyPr lIns="0" tIns="0" rIns="0" bIns="0"/>
          <a:lstStyle/>
          <a:p>
            <a:pPr>
              <a:defRPr/>
            </a:pPr>
            <a:r>
              <a:rPr lang="it-IT" sz="1200">
                <a:solidFill>
                  <a:srgbClr val="FFFFFF"/>
                </a:solidFill>
                <a:ea typeface="ＭＳ Ｐゴシック" charset="0"/>
                <a:cs typeface="ＭＳ Ｐゴシック" charset="0"/>
              </a:rPr>
              <a:t>DSAS / Titolo principale della presentazione</a:t>
            </a:r>
          </a:p>
          <a:p>
            <a:pPr eaLnBrk="0" hangingPunct="0">
              <a:defRPr/>
            </a:pPr>
            <a:endParaRPr lang="it-IT" sz="1200">
              <a:solidFill>
                <a:srgbClr val="FFFFFF"/>
              </a:solidFill>
              <a:ea typeface="ＭＳ Ｐゴシック" charset="0"/>
              <a:cs typeface="ＭＳ Ｐゴシック" charset="0"/>
            </a:endParaRPr>
          </a:p>
          <a:p>
            <a:pPr eaLnBrk="0" hangingPunct="0">
              <a:defRPr/>
            </a:pPr>
            <a:endParaRPr lang="it-IT" sz="1200">
              <a:solidFill>
                <a:srgbClr val="FFFFFF"/>
              </a:solidFill>
              <a:ea typeface="ＭＳ Ｐゴシック" charset="0"/>
              <a:cs typeface="ＭＳ Ｐゴシック" charset="0"/>
            </a:endParaRPr>
          </a:p>
        </p:txBody>
      </p:sp>
      <p:pic>
        <p:nvPicPr>
          <p:cNvPr id="4" name="Immagine 2" descr="logo_SUPSI_acr_neg.png"/>
          <p:cNvPicPr>
            <a:picLocks noChangeAspect="1"/>
          </p:cNvPicPr>
          <p:nvPr/>
        </p:nvPicPr>
        <p:blipFill>
          <a:blip r:embed="rId2"/>
          <a:srcRect/>
          <a:stretch>
            <a:fillRect/>
          </a:stretch>
        </p:blipFill>
        <p:spPr bwMode="auto">
          <a:xfrm>
            <a:off x="346075" y="209550"/>
            <a:ext cx="469900" cy="131763"/>
          </a:xfrm>
          <a:prstGeom prst="rect">
            <a:avLst/>
          </a:prstGeom>
          <a:noFill/>
          <a:ln w="9525">
            <a:noFill/>
            <a:miter lim="800000"/>
            <a:headEnd/>
            <a:tailEnd/>
          </a:ln>
        </p:spPr>
      </p:pic>
      <p:sp>
        <p:nvSpPr>
          <p:cNvPr id="15" name="Titolo 1"/>
          <p:cNvSpPr>
            <a:spLocks noGrp="1"/>
          </p:cNvSpPr>
          <p:nvPr>
            <p:ph type="title"/>
          </p:nvPr>
        </p:nvSpPr>
        <p:spPr>
          <a:xfrm>
            <a:off x="324000" y="1854000"/>
            <a:ext cx="8519314" cy="2184600"/>
          </a:xfrm>
          <a:prstGeom prst="rect">
            <a:avLst/>
          </a:prstGeom>
        </p:spPr>
        <p:txBody>
          <a:bodyPr lIns="0" tIns="0" rIns="0" bIns="0"/>
          <a:lstStyle>
            <a:lvl1pPr algn="l">
              <a:defRPr sz="4800" b="0">
                <a:solidFill>
                  <a:schemeClr val="bg1"/>
                </a:solidFill>
              </a:defRPr>
            </a:lvl1pPr>
          </a:lstStyle>
          <a:p>
            <a:r>
              <a:rPr lang="fr-CH" dirty="0"/>
              <a:t>Fare clic per modificare stile</a:t>
            </a:r>
            <a:endParaRPr lang="it-IT" dirty="0"/>
          </a:p>
        </p:txBody>
      </p:sp>
      <p:sp>
        <p:nvSpPr>
          <p:cNvPr id="5" name="Segnaposto data 2"/>
          <p:cNvSpPr>
            <a:spLocks noGrp="1"/>
          </p:cNvSpPr>
          <p:nvPr>
            <p:ph type="dt" sz="half" idx="10"/>
          </p:nvPr>
        </p:nvSpPr>
        <p:spPr>
          <a:xfrm>
            <a:off x="323850" y="6453188"/>
            <a:ext cx="2133600" cy="404812"/>
          </a:xfrm>
          <a:prstGeom prst="rect">
            <a:avLst/>
          </a:prstGeom>
        </p:spPr>
        <p:txBody>
          <a:bodyPr vert="horz" wrap="square" lIns="0" tIns="0" rIns="0" bIns="0" numCol="1" anchor="t" anchorCtr="0" compatLnSpc="1">
            <a:prstTxWarp prst="textNoShape">
              <a:avLst/>
            </a:prstTxWarp>
          </a:bodyPr>
          <a:lstStyle>
            <a:lvl1pPr>
              <a:defRPr sz="1000">
                <a:solidFill>
                  <a:schemeClr val="bg1"/>
                </a:solidFill>
                <a:ea typeface="ＭＳ Ｐゴシック" charset="0"/>
                <a:cs typeface="ＭＳ Ｐゴシック" charset="0"/>
              </a:defRPr>
            </a:lvl1pPr>
          </a:lstStyle>
          <a:p>
            <a:pPr>
              <a:defRPr/>
            </a:pPr>
            <a:fld id="{4CA77EF2-FAB9-4E31-AF79-06BA0EF4D1AF}" type="datetime1">
              <a:rPr lang="it-IT"/>
              <a:pPr>
                <a:defRPr/>
              </a:pPr>
              <a:t>02/02/2026</a:t>
            </a:fld>
            <a:endParaRPr lang="it-IT"/>
          </a:p>
        </p:txBody>
      </p:sp>
      <p:sp>
        <p:nvSpPr>
          <p:cNvPr id="6" name="Segnaposto piè di pagina 3"/>
          <p:cNvSpPr>
            <a:spLocks noGrp="1"/>
          </p:cNvSpPr>
          <p:nvPr>
            <p:ph type="ftr" sz="quarter" idx="11"/>
          </p:nvPr>
        </p:nvSpPr>
        <p:spPr>
          <a:xfrm>
            <a:off x="2484438" y="6453188"/>
            <a:ext cx="6335712" cy="404812"/>
          </a:xfrm>
          <a:prstGeom prst="rect">
            <a:avLst/>
          </a:prstGeom>
        </p:spPr>
        <p:txBody>
          <a:bodyPr vert="horz" wrap="square" lIns="0" tIns="0" rIns="0" bIns="0" numCol="1" anchor="t" anchorCtr="0" compatLnSpc="1">
            <a:prstTxWarp prst="textNoShape">
              <a:avLst/>
            </a:prstTxWarp>
          </a:bodyPr>
          <a:lstStyle>
            <a:lvl1pPr>
              <a:defRPr sz="1000">
                <a:solidFill>
                  <a:schemeClr val="bg1"/>
                </a:solidFill>
                <a:ea typeface="+mn-ea"/>
                <a:cs typeface="+mn-cs"/>
              </a:defRPr>
            </a:lvl1pPr>
          </a:lstStyle>
          <a:p>
            <a:pPr>
              <a:defRPr/>
            </a:pPr>
            <a:endParaRPr lang="it-IT"/>
          </a:p>
        </p:txBody>
      </p:sp>
      <p:sp>
        <p:nvSpPr>
          <p:cNvPr id="7" name="Segnaposto numero diapositiva 4"/>
          <p:cNvSpPr>
            <a:spLocks noGrp="1"/>
          </p:cNvSpPr>
          <p:nvPr>
            <p:ph type="sldNum" sz="quarter" idx="12"/>
          </p:nvPr>
        </p:nvSpPr>
        <p:spPr>
          <a:xfrm>
            <a:off x="8077200" y="188913"/>
            <a:ext cx="742950" cy="476250"/>
          </a:xfrm>
          <a:prstGeom prst="rect">
            <a:avLst/>
          </a:prstGeom>
        </p:spPr>
        <p:txBody>
          <a:bodyPr vert="horz" wrap="square" lIns="0" tIns="0" rIns="0" bIns="0" numCol="1" anchor="t" anchorCtr="0" compatLnSpc="1">
            <a:prstTxWarp prst="textNoShape">
              <a:avLst/>
            </a:prstTxWarp>
          </a:bodyPr>
          <a:lstStyle>
            <a:lvl1pPr algn="r">
              <a:defRPr sz="1000">
                <a:solidFill>
                  <a:schemeClr val="bg1"/>
                </a:solidFill>
                <a:ea typeface="ＭＳ Ｐゴシック" charset="0"/>
                <a:cs typeface="ＭＳ Ｐゴシック" charset="0"/>
              </a:defRPr>
            </a:lvl1pPr>
          </a:lstStyle>
          <a:p>
            <a:pPr>
              <a:defRPr/>
            </a:pPr>
            <a:fld id="{B51E15A4-5A58-481D-9302-13DC83A5CC63}" type="slidenum">
              <a:rPr lang="it-IT"/>
              <a:pPr>
                <a:defRPr/>
              </a:pPr>
              <a:t>‹N›</a:t>
            </a:fld>
            <a:endParaRPr lang="it-IT"/>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oletto fondo blu">
    <p:bg>
      <p:bgPr>
        <a:solidFill>
          <a:schemeClr val="accent1"/>
        </a:solidFill>
        <a:effectLst/>
      </p:bgPr>
    </p:bg>
    <p:spTree>
      <p:nvGrpSpPr>
        <p:cNvPr id="1" name=""/>
        <p:cNvGrpSpPr/>
        <p:nvPr/>
      </p:nvGrpSpPr>
      <p:grpSpPr>
        <a:xfrm>
          <a:off x="0" y="0"/>
          <a:ext cx="0" cy="0"/>
          <a:chOff x="0" y="0"/>
          <a:chExt cx="0" cy="0"/>
        </a:xfrm>
      </p:grpSpPr>
      <p:sp>
        <p:nvSpPr>
          <p:cNvPr id="3" name="Rectangle 3"/>
          <p:cNvSpPr>
            <a:spLocks noGrp="1" noChangeArrowheads="1"/>
          </p:cNvSpPr>
          <p:nvPr/>
        </p:nvSpPr>
        <p:spPr bwMode="auto">
          <a:xfrm>
            <a:off x="1117600" y="185738"/>
            <a:ext cx="6661150" cy="476250"/>
          </a:xfrm>
          <a:prstGeom prst="rect">
            <a:avLst/>
          </a:prstGeom>
          <a:noFill/>
          <a:ln>
            <a:noFill/>
          </a:ln>
        </p:spPr>
        <p:txBody>
          <a:bodyPr lIns="0" tIns="0" rIns="0" bIns="0"/>
          <a:lstStyle/>
          <a:p>
            <a:pPr>
              <a:defRPr/>
            </a:pPr>
            <a:r>
              <a:rPr lang="it-IT" sz="1200">
                <a:solidFill>
                  <a:srgbClr val="FFFFFF"/>
                </a:solidFill>
                <a:ea typeface="ＭＳ Ｐゴシック" charset="0"/>
                <a:cs typeface="ＭＳ Ｐゴシック" charset="0"/>
              </a:rPr>
              <a:t>DSAS / Titolo principale della presentazione</a:t>
            </a:r>
          </a:p>
          <a:p>
            <a:pPr eaLnBrk="0" hangingPunct="0">
              <a:defRPr/>
            </a:pPr>
            <a:endParaRPr lang="it-IT" sz="1200">
              <a:solidFill>
                <a:srgbClr val="FFFFFF"/>
              </a:solidFill>
              <a:ea typeface="ＭＳ Ｐゴシック" charset="0"/>
              <a:cs typeface="ＭＳ Ｐゴシック" charset="0"/>
            </a:endParaRPr>
          </a:p>
          <a:p>
            <a:pPr eaLnBrk="0" hangingPunct="0">
              <a:defRPr/>
            </a:pPr>
            <a:endParaRPr lang="it-IT" sz="1200">
              <a:solidFill>
                <a:srgbClr val="FFFFFF"/>
              </a:solidFill>
              <a:ea typeface="ＭＳ Ｐゴシック" charset="0"/>
              <a:cs typeface="ＭＳ Ｐゴシック" charset="0"/>
            </a:endParaRPr>
          </a:p>
        </p:txBody>
      </p:sp>
      <p:pic>
        <p:nvPicPr>
          <p:cNvPr id="4" name="Immagine 2" descr="logo_SUPSI_acr_neg.png"/>
          <p:cNvPicPr>
            <a:picLocks noChangeAspect="1"/>
          </p:cNvPicPr>
          <p:nvPr/>
        </p:nvPicPr>
        <p:blipFill>
          <a:blip r:embed="rId2"/>
          <a:srcRect/>
          <a:stretch>
            <a:fillRect/>
          </a:stretch>
        </p:blipFill>
        <p:spPr bwMode="auto">
          <a:xfrm>
            <a:off x="346075" y="209550"/>
            <a:ext cx="469900" cy="131763"/>
          </a:xfrm>
          <a:prstGeom prst="rect">
            <a:avLst/>
          </a:prstGeom>
          <a:noFill/>
          <a:ln w="9525">
            <a:noFill/>
            <a:miter lim="800000"/>
            <a:headEnd/>
            <a:tailEnd/>
          </a:ln>
        </p:spPr>
      </p:pic>
      <p:sp>
        <p:nvSpPr>
          <p:cNvPr id="13" name="Titolo 1"/>
          <p:cNvSpPr>
            <a:spLocks noGrp="1"/>
          </p:cNvSpPr>
          <p:nvPr>
            <p:ph type="title"/>
          </p:nvPr>
        </p:nvSpPr>
        <p:spPr>
          <a:xfrm>
            <a:off x="324000" y="1854000"/>
            <a:ext cx="8519314" cy="2184600"/>
          </a:xfrm>
          <a:prstGeom prst="rect">
            <a:avLst/>
          </a:prstGeom>
        </p:spPr>
        <p:txBody>
          <a:bodyPr lIns="0" tIns="0" rIns="0" bIns="0"/>
          <a:lstStyle>
            <a:lvl1pPr algn="l">
              <a:defRPr sz="4800" b="0">
                <a:solidFill>
                  <a:schemeClr val="bg1"/>
                </a:solidFill>
              </a:defRPr>
            </a:lvl1pPr>
          </a:lstStyle>
          <a:p>
            <a:r>
              <a:rPr lang="fr-CH" dirty="0"/>
              <a:t>Fare clic per modificare stile</a:t>
            </a:r>
            <a:endParaRPr lang="it-IT" dirty="0"/>
          </a:p>
        </p:txBody>
      </p:sp>
      <p:sp>
        <p:nvSpPr>
          <p:cNvPr id="5" name="Segnaposto data 2"/>
          <p:cNvSpPr>
            <a:spLocks noGrp="1"/>
          </p:cNvSpPr>
          <p:nvPr>
            <p:ph type="dt" sz="half" idx="10"/>
          </p:nvPr>
        </p:nvSpPr>
        <p:spPr>
          <a:xfrm>
            <a:off x="323850" y="6453188"/>
            <a:ext cx="2133600" cy="404812"/>
          </a:xfrm>
          <a:prstGeom prst="rect">
            <a:avLst/>
          </a:prstGeom>
        </p:spPr>
        <p:txBody>
          <a:bodyPr vert="horz" wrap="square" lIns="0" tIns="0" rIns="0" bIns="0" numCol="1" anchor="t" anchorCtr="0" compatLnSpc="1">
            <a:prstTxWarp prst="textNoShape">
              <a:avLst/>
            </a:prstTxWarp>
          </a:bodyPr>
          <a:lstStyle>
            <a:lvl1pPr>
              <a:defRPr sz="1000">
                <a:solidFill>
                  <a:schemeClr val="bg1"/>
                </a:solidFill>
                <a:ea typeface="ＭＳ Ｐゴシック" charset="0"/>
                <a:cs typeface="ＭＳ Ｐゴシック" charset="0"/>
              </a:defRPr>
            </a:lvl1pPr>
          </a:lstStyle>
          <a:p>
            <a:pPr>
              <a:defRPr/>
            </a:pPr>
            <a:fld id="{BA4F1F98-1503-4166-80E2-AD0D7F8E5D50}" type="datetime1">
              <a:rPr lang="it-IT"/>
              <a:pPr>
                <a:defRPr/>
              </a:pPr>
              <a:t>02/02/2026</a:t>
            </a:fld>
            <a:endParaRPr lang="it-IT"/>
          </a:p>
        </p:txBody>
      </p:sp>
      <p:sp>
        <p:nvSpPr>
          <p:cNvPr id="6" name="Segnaposto piè di pagina 3"/>
          <p:cNvSpPr>
            <a:spLocks noGrp="1"/>
          </p:cNvSpPr>
          <p:nvPr>
            <p:ph type="ftr" sz="quarter" idx="11"/>
          </p:nvPr>
        </p:nvSpPr>
        <p:spPr>
          <a:xfrm>
            <a:off x="2484438" y="6453188"/>
            <a:ext cx="6335712" cy="404812"/>
          </a:xfrm>
          <a:prstGeom prst="rect">
            <a:avLst/>
          </a:prstGeom>
        </p:spPr>
        <p:txBody>
          <a:bodyPr vert="horz" wrap="square" lIns="0" tIns="0" rIns="0" bIns="0" numCol="1" anchor="t" anchorCtr="0" compatLnSpc="1">
            <a:prstTxWarp prst="textNoShape">
              <a:avLst/>
            </a:prstTxWarp>
          </a:bodyPr>
          <a:lstStyle>
            <a:lvl1pPr>
              <a:defRPr sz="1000">
                <a:solidFill>
                  <a:schemeClr val="bg1"/>
                </a:solidFill>
                <a:ea typeface="+mn-ea"/>
                <a:cs typeface="+mn-cs"/>
              </a:defRPr>
            </a:lvl1pPr>
          </a:lstStyle>
          <a:p>
            <a:pPr>
              <a:defRPr/>
            </a:pPr>
            <a:endParaRPr lang="it-IT"/>
          </a:p>
        </p:txBody>
      </p:sp>
      <p:sp>
        <p:nvSpPr>
          <p:cNvPr id="7" name="Segnaposto numero diapositiva 4"/>
          <p:cNvSpPr>
            <a:spLocks noGrp="1"/>
          </p:cNvSpPr>
          <p:nvPr>
            <p:ph type="sldNum" sz="quarter" idx="12"/>
          </p:nvPr>
        </p:nvSpPr>
        <p:spPr>
          <a:xfrm>
            <a:off x="8077200" y="188913"/>
            <a:ext cx="742950" cy="476250"/>
          </a:xfrm>
          <a:prstGeom prst="rect">
            <a:avLst/>
          </a:prstGeom>
        </p:spPr>
        <p:txBody>
          <a:bodyPr vert="horz" wrap="square" lIns="0" tIns="0" rIns="0" bIns="0" numCol="1" anchor="t" anchorCtr="0" compatLnSpc="1">
            <a:prstTxWarp prst="textNoShape">
              <a:avLst/>
            </a:prstTxWarp>
          </a:bodyPr>
          <a:lstStyle>
            <a:lvl1pPr algn="r">
              <a:defRPr sz="1000">
                <a:solidFill>
                  <a:schemeClr val="bg1"/>
                </a:solidFill>
                <a:ea typeface="ＭＳ Ｐゴシック" charset="0"/>
                <a:cs typeface="ＭＳ Ｐゴシック" charset="0"/>
              </a:defRPr>
            </a:lvl1pPr>
          </a:lstStyle>
          <a:p>
            <a:pPr>
              <a:defRPr/>
            </a:pPr>
            <a:fld id="{2C85D568-CBBD-469C-A4FB-EAF26970ABD0}" type="slidenum">
              <a:rPr lang="it-IT"/>
              <a:pPr>
                <a:defRPr/>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23850" y="1125538"/>
            <a:ext cx="8496300" cy="71913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de-CH"/>
              <a:t>Mastertitelformat bearbeiten</a:t>
            </a:r>
            <a:endParaRPr lang="it-IT"/>
          </a:p>
        </p:txBody>
      </p:sp>
      <p:sp>
        <p:nvSpPr>
          <p:cNvPr id="1027" name="Rectangle 3"/>
          <p:cNvSpPr>
            <a:spLocks noGrp="1" noChangeArrowheads="1"/>
          </p:cNvSpPr>
          <p:nvPr>
            <p:ph type="body" idx="1"/>
          </p:nvPr>
        </p:nvSpPr>
        <p:spPr bwMode="auto">
          <a:xfrm>
            <a:off x="323850" y="1916113"/>
            <a:ext cx="8496300" cy="43211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de-CH"/>
              <a:t>Mastertextformat bearbeiten</a:t>
            </a:r>
          </a:p>
          <a:p>
            <a:pPr lvl="1"/>
            <a:r>
              <a:rPr lang="de-CH"/>
              <a:t>Zweite Ebene</a:t>
            </a:r>
          </a:p>
          <a:p>
            <a:pPr lvl="2"/>
            <a:r>
              <a:rPr lang="de-CH"/>
              <a:t>Dritte Ebene</a:t>
            </a:r>
          </a:p>
          <a:p>
            <a:pPr lvl="3"/>
            <a:r>
              <a:rPr lang="de-CH"/>
              <a:t>Vierte Ebene</a:t>
            </a:r>
          </a:p>
          <a:p>
            <a:pPr lvl="4"/>
            <a:r>
              <a:rPr lang="de-CH"/>
              <a:t>Fünfte Ebene</a:t>
            </a:r>
            <a:endParaRPr lang="it-IT"/>
          </a:p>
        </p:txBody>
      </p:sp>
      <p:sp>
        <p:nvSpPr>
          <p:cNvPr id="4100" name="Rectangle 4"/>
          <p:cNvSpPr>
            <a:spLocks noGrp="1" noChangeArrowheads="1"/>
          </p:cNvSpPr>
          <p:nvPr>
            <p:ph type="dt" sz="half" idx="2"/>
          </p:nvPr>
        </p:nvSpPr>
        <p:spPr bwMode="auto">
          <a:xfrm>
            <a:off x="323850" y="6453188"/>
            <a:ext cx="2133600" cy="4048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defRPr sz="1000">
                <a:ea typeface="ＭＳ Ｐゴシック" charset="0"/>
                <a:cs typeface="ＭＳ Ｐゴシック" charset="0"/>
              </a:defRPr>
            </a:lvl1pPr>
          </a:lstStyle>
          <a:p>
            <a:pPr>
              <a:defRPr/>
            </a:pPr>
            <a:fld id="{FFAC3C22-F253-47B9-9DF6-0A86BC106530}" type="datetime1">
              <a:rPr lang="it-IT"/>
              <a:pPr>
                <a:defRPr/>
              </a:pPr>
              <a:t>02/02/2026</a:t>
            </a:fld>
            <a:endParaRPr lang="it-IT"/>
          </a:p>
        </p:txBody>
      </p:sp>
      <p:sp>
        <p:nvSpPr>
          <p:cNvPr id="4101" name="Rectangle 5"/>
          <p:cNvSpPr>
            <a:spLocks noGrp="1" noChangeArrowheads="1"/>
          </p:cNvSpPr>
          <p:nvPr>
            <p:ph type="ftr" sz="quarter" idx="3"/>
          </p:nvPr>
        </p:nvSpPr>
        <p:spPr bwMode="auto">
          <a:xfrm>
            <a:off x="2484438" y="6453188"/>
            <a:ext cx="6335712" cy="4048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defRPr sz="1000">
                <a:ea typeface="+mn-ea"/>
                <a:cs typeface="+mn-cs"/>
              </a:defRPr>
            </a:lvl1pPr>
          </a:lstStyle>
          <a:p>
            <a:pPr>
              <a:defRPr/>
            </a:pPr>
            <a:endParaRPr lang="it-IT"/>
          </a:p>
        </p:txBody>
      </p:sp>
      <p:sp>
        <p:nvSpPr>
          <p:cNvPr id="4102" name="Rectangle 6"/>
          <p:cNvSpPr>
            <a:spLocks noGrp="1" noChangeArrowheads="1"/>
          </p:cNvSpPr>
          <p:nvPr>
            <p:ph type="sldNum" sz="quarter" idx="4"/>
          </p:nvPr>
        </p:nvSpPr>
        <p:spPr bwMode="auto">
          <a:xfrm>
            <a:off x="8001000" y="188913"/>
            <a:ext cx="819150" cy="47625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r">
              <a:defRPr sz="1200">
                <a:ea typeface="ＭＳ Ｐゴシック" charset="0"/>
                <a:cs typeface="ＭＳ Ｐゴシック" charset="0"/>
              </a:defRPr>
            </a:lvl1pPr>
          </a:lstStyle>
          <a:p>
            <a:pPr>
              <a:defRPr/>
            </a:pPr>
            <a:fld id="{EA1BFB32-F847-4964-8ACB-0FC775813AA5}" type="slidenum">
              <a:rPr lang="it-IT"/>
              <a:pPr>
                <a:defRPr/>
              </a:pPr>
              <a:t>‹N›</a:t>
            </a:fld>
            <a:endParaRPr lang="it-IT"/>
          </a:p>
        </p:txBody>
      </p:sp>
      <p:sp>
        <p:nvSpPr>
          <p:cNvPr id="1031" name="Rectangle 3"/>
          <p:cNvSpPr>
            <a:spLocks noGrp="1" noChangeArrowheads="1"/>
          </p:cNvSpPr>
          <p:nvPr/>
        </p:nvSpPr>
        <p:spPr bwMode="auto">
          <a:xfrm>
            <a:off x="1117600" y="185738"/>
            <a:ext cx="6807200" cy="476250"/>
          </a:xfrm>
          <a:prstGeom prst="rect">
            <a:avLst/>
          </a:prstGeom>
          <a:noFill/>
          <a:ln>
            <a:noFill/>
          </a:ln>
        </p:spPr>
        <p:txBody>
          <a:bodyPr lIns="0" tIns="0" rIns="0" bIns="0"/>
          <a:lstStyle/>
          <a:p>
            <a:pPr>
              <a:defRPr/>
            </a:pPr>
            <a:r>
              <a:rPr lang="it-IT" sz="1200" dirty="0"/>
              <a:t>DEASS / Accompagnamento allo studio e ricerca bibliografica</a:t>
            </a:r>
          </a:p>
          <a:p>
            <a:pPr eaLnBrk="0" hangingPunct="0">
              <a:defRPr/>
            </a:pPr>
            <a:endParaRPr lang="it-IT" sz="1200" dirty="0"/>
          </a:p>
          <a:p>
            <a:pPr eaLnBrk="0" hangingPunct="0">
              <a:defRPr/>
            </a:pPr>
            <a:endParaRPr lang="it-IT" sz="1200" dirty="0"/>
          </a:p>
        </p:txBody>
      </p:sp>
      <p:pic>
        <p:nvPicPr>
          <p:cNvPr id="1032" name="Immagine 6" descr="logo_SUPSI_acr.gif"/>
          <p:cNvPicPr>
            <a:picLocks noChangeAspect="1"/>
          </p:cNvPicPr>
          <p:nvPr/>
        </p:nvPicPr>
        <p:blipFill>
          <a:blip r:embed="rId12"/>
          <a:srcRect/>
          <a:stretch>
            <a:fillRect/>
          </a:stretch>
        </p:blipFill>
        <p:spPr bwMode="auto">
          <a:xfrm>
            <a:off x="346075" y="209550"/>
            <a:ext cx="469900" cy="13176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34" r:id="rId1"/>
    <p:sldLayoutId id="2147483933" r:id="rId2"/>
    <p:sldLayoutId id="2147483932" r:id="rId3"/>
    <p:sldLayoutId id="2147483931" r:id="rId4"/>
    <p:sldLayoutId id="2147483930" r:id="rId5"/>
    <p:sldLayoutId id="2147483929" r:id="rId6"/>
    <p:sldLayoutId id="2147483928" r:id="rId7"/>
    <p:sldLayoutId id="2147483927" r:id="rId8"/>
    <p:sldLayoutId id="2147483926" r:id="rId9"/>
    <p:sldLayoutId id="2147483938" r:id="rId10"/>
  </p:sldLayoutIdLst>
  <p:hf hdr="0" ftr="0"/>
  <p:txStyles>
    <p:titleStyle>
      <a:lvl1pPr algn="l" rtl="0" eaLnBrk="0" fontAlgn="base" hangingPunct="0">
        <a:spcBef>
          <a:spcPct val="0"/>
        </a:spcBef>
        <a:spcAft>
          <a:spcPct val="0"/>
        </a:spcAft>
        <a:defRPr sz="2400">
          <a:solidFill>
            <a:schemeClr val="accent2"/>
          </a:solidFill>
          <a:latin typeface="+mj-lt"/>
          <a:ea typeface="ＭＳ Ｐゴシック" pitchFamily="-112" charset="-128"/>
          <a:cs typeface="ＭＳ Ｐゴシック" pitchFamily="-112" charset="-128"/>
        </a:defRPr>
      </a:lvl1pPr>
      <a:lvl2pPr algn="l" rtl="0" eaLnBrk="0" fontAlgn="base" hangingPunct="0">
        <a:spcBef>
          <a:spcPct val="0"/>
        </a:spcBef>
        <a:spcAft>
          <a:spcPct val="0"/>
        </a:spcAft>
        <a:defRPr sz="2400">
          <a:solidFill>
            <a:schemeClr val="accent2"/>
          </a:solidFill>
          <a:latin typeface="Times New Roman" pitchFamily="-112" charset="-52"/>
          <a:ea typeface="ＭＳ Ｐゴシック" pitchFamily="-112" charset="-128"/>
          <a:cs typeface="ＭＳ Ｐゴシック" pitchFamily="-112" charset="-128"/>
        </a:defRPr>
      </a:lvl2pPr>
      <a:lvl3pPr algn="l" rtl="0" eaLnBrk="0" fontAlgn="base" hangingPunct="0">
        <a:spcBef>
          <a:spcPct val="0"/>
        </a:spcBef>
        <a:spcAft>
          <a:spcPct val="0"/>
        </a:spcAft>
        <a:defRPr sz="2400">
          <a:solidFill>
            <a:schemeClr val="accent2"/>
          </a:solidFill>
          <a:latin typeface="Times New Roman" pitchFamily="-112" charset="-52"/>
          <a:ea typeface="ＭＳ Ｐゴシック" pitchFamily="-112" charset="-128"/>
          <a:cs typeface="ＭＳ Ｐゴシック" pitchFamily="-112" charset="-128"/>
        </a:defRPr>
      </a:lvl3pPr>
      <a:lvl4pPr algn="l" rtl="0" eaLnBrk="0" fontAlgn="base" hangingPunct="0">
        <a:spcBef>
          <a:spcPct val="0"/>
        </a:spcBef>
        <a:spcAft>
          <a:spcPct val="0"/>
        </a:spcAft>
        <a:defRPr sz="2400">
          <a:solidFill>
            <a:schemeClr val="accent2"/>
          </a:solidFill>
          <a:latin typeface="Times New Roman" pitchFamily="-112" charset="-52"/>
          <a:ea typeface="ＭＳ Ｐゴシック" pitchFamily="-112" charset="-128"/>
          <a:cs typeface="ＭＳ Ｐゴシック" pitchFamily="-112" charset="-128"/>
        </a:defRPr>
      </a:lvl4pPr>
      <a:lvl5pPr algn="l" rtl="0" eaLnBrk="0" fontAlgn="base" hangingPunct="0">
        <a:spcBef>
          <a:spcPct val="0"/>
        </a:spcBef>
        <a:spcAft>
          <a:spcPct val="0"/>
        </a:spcAft>
        <a:defRPr sz="2400">
          <a:solidFill>
            <a:schemeClr val="accent2"/>
          </a:solidFill>
          <a:latin typeface="Times New Roman" pitchFamily="-112" charset="-52"/>
          <a:ea typeface="ＭＳ Ｐゴシック" pitchFamily="-112" charset="-128"/>
          <a:cs typeface="ＭＳ Ｐゴシック" pitchFamily="-112" charset="-128"/>
        </a:defRPr>
      </a:lvl5pPr>
      <a:lvl6pPr marL="457200" algn="l" rtl="0" eaLnBrk="1" fontAlgn="base" hangingPunct="1">
        <a:spcBef>
          <a:spcPct val="0"/>
        </a:spcBef>
        <a:spcAft>
          <a:spcPct val="0"/>
        </a:spcAft>
        <a:defRPr sz="2800">
          <a:solidFill>
            <a:schemeClr val="accent2"/>
          </a:solidFill>
          <a:latin typeface="Times New Roman" pitchFamily="-112" charset="-52"/>
        </a:defRPr>
      </a:lvl6pPr>
      <a:lvl7pPr marL="914400" algn="l" rtl="0" eaLnBrk="1" fontAlgn="base" hangingPunct="1">
        <a:spcBef>
          <a:spcPct val="0"/>
        </a:spcBef>
        <a:spcAft>
          <a:spcPct val="0"/>
        </a:spcAft>
        <a:defRPr sz="2800">
          <a:solidFill>
            <a:schemeClr val="accent2"/>
          </a:solidFill>
          <a:latin typeface="Times New Roman" pitchFamily="-112" charset="-52"/>
        </a:defRPr>
      </a:lvl7pPr>
      <a:lvl8pPr marL="1371600" algn="l" rtl="0" eaLnBrk="1" fontAlgn="base" hangingPunct="1">
        <a:spcBef>
          <a:spcPct val="0"/>
        </a:spcBef>
        <a:spcAft>
          <a:spcPct val="0"/>
        </a:spcAft>
        <a:defRPr sz="2800">
          <a:solidFill>
            <a:schemeClr val="accent2"/>
          </a:solidFill>
          <a:latin typeface="Times New Roman" pitchFamily="-112" charset="-52"/>
        </a:defRPr>
      </a:lvl8pPr>
      <a:lvl9pPr marL="1828800" algn="l" rtl="0" eaLnBrk="1" fontAlgn="base" hangingPunct="1">
        <a:spcBef>
          <a:spcPct val="0"/>
        </a:spcBef>
        <a:spcAft>
          <a:spcPct val="0"/>
        </a:spcAft>
        <a:defRPr sz="2800">
          <a:solidFill>
            <a:schemeClr val="accent2"/>
          </a:solidFill>
          <a:latin typeface="Times New Roman" pitchFamily="-112" charset="-52"/>
        </a:defRPr>
      </a:lvl9pPr>
    </p:titleStyle>
    <p:bodyStyle>
      <a:lvl1pPr marL="342900" indent="-342900" algn="l" rtl="0" eaLnBrk="0" fontAlgn="base" hangingPunct="0">
        <a:spcBef>
          <a:spcPct val="20000"/>
        </a:spcBef>
        <a:spcAft>
          <a:spcPct val="0"/>
        </a:spcAft>
        <a:buChar char="•"/>
        <a:defRPr>
          <a:solidFill>
            <a:schemeClr val="tx1"/>
          </a:solidFill>
          <a:latin typeface="+mn-lt"/>
          <a:ea typeface="ＭＳ Ｐゴシック" pitchFamily="-112" charset="-128"/>
          <a:cs typeface="ＭＳ Ｐゴシック" pitchFamily="-112" charset="-128"/>
        </a:defRPr>
      </a:lvl1pPr>
      <a:lvl2pPr marL="742950" indent="-285750" algn="l" rtl="0" eaLnBrk="0" fontAlgn="base" hangingPunct="0">
        <a:spcBef>
          <a:spcPct val="20000"/>
        </a:spcBef>
        <a:spcAft>
          <a:spcPct val="0"/>
        </a:spcAft>
        <a:buChar char="–"/>
        <a:defRPr>
          <a:solidFill>
            <a:schemeClr val="tx1"/>
          </a:solidFill>
          <a:latin typeface="+mn-lt"/>
          <a:ea typeface="ＭＳ Ｐゴシック" pitchFamily="-112" charset="-128"/>
          <a:cs typeface="ＭＳ Ｐゴシック"/>
        </a:defRPr>
      </a:lvl2pPr>
      <a:lvl3pPr marL="1143000" indent="-228600" algn="l" rtl="0" eaLnBrk="0" fontAlgn="base" hangingPunct="0">
        <a:spcBef>
          <a:spcPct val="20000"/>
        </a:spcBef>
        <a:spcAft>
          <a:spcPct val="0"/>
        </a:spcAft>
        <a:buChar char="•"/>
        <a:defRPr>
          <a:solidFill>
            <a:schemeClr val="tx1"/>
          </a:solidFill>
          <a:latin typeface="+mn-lt"/>
          <a:ea typeface="ＭＳ Ｐゴシック" pitchFamily="-112" charset="-128"/>
          <a:cs typeface="ＭＳ Ｐゴシック"/>
        </a:defRPr>
      </a:lvl3pPr>
      <a:lvl4pPr marL="1600200" indent="-228600" algn="l" rtl="0" eaLnBrk="0" fontAlgn="base" hangingPunct="0">
        <a:spcBef>
          <a:spcPct val="20000"/>
        </a:spcBef>
        <a:spcAft>
          <a:spcPct val="0"/>
        </a:spcAft>
        <a:buChar char="–"/>
        <a:defRPr>
          <a:solidFill>
            <a:schemeClr val="tx1"/>
          </a:solidFill>
          <a:latin typeface="+mn-lt"/>
          <a:ea typeface="ＭＳ Ｐゴシック" pitchFamily="-112" charset="-128"/>
          <a:cs typeface="ＭＳ Ｐゴシック"/>
        </a:defRPr>
      </a:lvl4pPr>
      <a:lvl5pPr marL="2057400" indent="-228600" algn="l" rtl="0" eaLnBrk="0" fontAlgn="base" hangingPunct="0">
        <a:spcBef>
          <a:spcPct val="20000"/>
        </a:spcBef>
        <a:spcAft>
          <a:spcPct val="0"/>
        </a:spcAft>
        <a:buChar char="»"/>
        <a:defRPr>
          <a:solidFill>
            <a:schemeClr val="tx1"/>
          </a:solidFill>
          <a:latin typeface="+mn-lt"/>
          <a:ea typeface="ＭＳ Ｐゴシック" pitchFamily="-112" charset="-128"/>
          <a:cs typeface="ＭＳ Ｐゴシック"/>
        </a:defRPr>
      </a:lvl5pPr>
      <a:lvl6pPr marL="2514600" indent="-228600" algn="l" rtl="0" eaLnBrk="1" fontAlgn="base" hangingPunct="1">
        <a:spcBef>
          <a:spcPct val="20000"/>
        </a:spcBef>
        <a:spcAft>
          <a:spcPct val="0"/>
        </a:spcAft>
        <a:buChar char="»"/>
        <a:defRPr sz="1200">
          <a:solidFill>
            <a:schemeClr val="tx1"/>
          </a:solidFill>
          <a:latin typeface="+mn-lt"/>
          <a:ea typeface="ＭＳ Ｐゴシック" pitchFamily="-112" charset="-128"/>
        </a:defRPr>
      </a:lvl6pPr>
      <a:lvl7pPr marL="2971800" indent="-228600" algn="l" rtl="0" eaLnBrk="1" fontAlgn="base" hangingPunct="1">
        <a:spcBef>
          <a:spcPct val="20000"/>
        </a:spcBef>
        <a:spcAft>
          <a:spcPct val="0"/>
        </a:spcAft>
        <a:buChar char="»"/>
        <a:defRPr sz="1200">
          <a:solidFill>
            <a:schemeClr val="tx1"/>
          </a:solidFill>
          <a:latin typeface="+mn-lt"/>
          <a:ea typeface="ＭＳ Ｐゴシック" pitchFamily="-112" charset="-128"/>
        </a:defRPr>
      </a:lvl7pPr>
      <a:lvl8pPr marL="3429000" indent="-228600" algn="l" rtl="0" eaLnBrk="1" fontAlgn="base" hangingPunct="1">
        <a:spcBef>
          <a:spcPct val="20000"/>
        </a:spcBef>
        <a:spcAft>
          <a:spcPct val="0"/>
        </a:spcAft>
        <a:buChar char="»"/>
        <a:defRPr sz="1200">
          <a:solidFill>
            <a:schemeClr val="tx1"/>
          </a:solidFill>
          <a:latin typeface="+mn-lt"/>
          <a:ea typeface="ＭＳ Ｐゴシック" pitchFamily="-112" charset="-128"/>
        </a:defRPr>
      </a:lvl8pPr>
      <a:lvl9pPr marL="3886200" indent="-228600" algn="l" rtl="0" eaLnBrk="1" fontAlgn="base" hangingPunct="1">
        <a:spcBef>
          <a:spcPct val="20000"/>
        </a:spcBef>
        <a:spcAft>
          <a:spcPct val="0"/>
        </a:spcAft>
        <a:buChar char="»"/>
        <a:defRPr sz="1200">
          <a:solidFill>
            <a:schemeClr val="tx1"/>
          </a:solidFill>
          <a:latin typeface="+mn-lt"/>
          <a:ea typeface="ＭＳ Ｐゴシック" pitchFamily="-112" charset="-128"/>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935" r:id="rId1"/>
    <p:sldLayoutId id="2147483936" r:id="rId2"/>
    <p:sldLayoutId id="2147483937" r:id="rId3"/>
  </p:sldLayoutIdLst>
  <p:hf hdr="0" ftr="0"/>
  <p:txStyles>
    <p:titleStyle>
      <a:lvl1pPr algn="ctr" defTabSz="457200" rtl="0" eaLnBrk="0" fontAlgn="base" hangingPunct="0">
        <a:spcBef>
          <a:spcPct val="0"/>
        </a:spcBef>
        <a:spcAft>
          <a:spcPct val="0"/>
        </a:spcAft>
        <a:defRPr sz="4400" kern="1200">
          <a:solidFill>
            <a:schemeClr val="tx1"/>
          </a:solidFill>
          <a:latin typeface="+mj-lt"/>
          <a:ea typeface="ＭＳ Ｐゴシック" pitchFamily="-128" charset="-128"/>
          <a:cs typeface="ＭＳ Ｐゴシック" pitchFamily="-128" charset="-128"/>
        </a:defRPr>
      </a:lvl1pPr>
      <a:lvl2pPr algn="ctr" defTabSz="457200" rtl="0" eaLnBrk="0" fontAlgn="base" hangingPunct="0">
        <a:spcBef>
          <a:spcPct val="0"/>
        </a:spcBef>
        <a:spcAft>
          <a:spcPct val="0"/>
        </a:spcAft>
        <a:defRPr sz="4400">
          <a:solidFill>
            <a:schemeClr val="tx1"/>
          </a:solidFill>
          <a:latin typeface="Times New Roman" pitchFamily="-128" charset="-52"/>
          <a:ea typeface="ＭＳ Ｐゴシック" pitchFamily="-128" charset="-128"/>
          <a:cs typeface="ＭＳ Ｐゴシック" pitchFamily="-128" charset="-128"/>
        </a:defRPr>
      </a:lvl2pPr>
      <a:lvl3pPr algn="ctr" defTabSz="457200" rtl="0" eaLnBrk="0" fontAlgn="base" hangingPunct="0">
        <a:spcBef>
          <a:spcPct val="0"/>
        </a:spcBef>
        <a:spcAft>
          <a:spcPct val="0"/>
        </a:spcAft>
        <a:defRPr sz="4400">
          <a:solidFill>
            <a:schemeClr val="tx1"/>
          </a:solidFill>
          <a:latin typeface="Times New Roman" pitchFamily="-128" charset="-52"/>
          <a:ea typeface="ＭＳ Ｐゴシック" pitchFamily="-128" charset="-128"/>
          <a:cs typeface="ＭＳ Ｐゴシック" pitchFamily="-128" charset="-128"/>
        </a:defRPr>
      </a:lvl3pPr>
      <a:lvl4pPr algn="ctr" defTabSz="457200" rtl="0" eaLnBrk="0" fontAlgn="base" hangingPunct="0">
        <a:spcBef>
          <a:spcPct val="0"/>
        </a:spcBef>
        <a:spcAft>
          <a:spcPct val="0"/>
        </a:spcAft>
        <a:defRPr sz="4400">
          <a:solidFill>
            <a:schemeClr val="tx1"/>
          </a:solidFill>
          <a:latin typeface="Times New Roman" pitchFamily="-128" charset="-52"/>
          <a:ea typeface="ＭＳ Ｐゴシック" pitchFamily="-128" charset="-128"/>
          <a:cs typeface="ＭＳ Ｐゴシック" pitchFamily="-128" charset="-128"/>
        </a:defRPr>
      </a:lvl4pPr>
      <a:lvl5pPr algn="ctr" defTabSz="457200" rtl="0" eaLnBrk="0" fontAlgn="base" hangingPunct="0">
        <a:spcBef>
          <a:spcPct val="0"/>
        </a:spcBef>
        <a:spcAft>
          <a:spcPct val="0"/>
        </a:spcAft>
        <a:defRPr sz="4400">
          <a:solidFill>
            <a:schemeClr val="tx1"/>
          </a:solidFill>
          <a:latin typeface="Times New Roman" pitchFamily="-128" charset="-52"/>
          <a:ea typeface="ＭＳ Ｐゴシック" pitchFamily="-128" charset="-128"/>
          <a:cs typeface="ＭＳ Ｐゴシック" pitchFamily="-128" charset="-128"/>
        </a:defRPr>
      </a:lvl5pPr>
      <a:lvl6pPr marL="457200" algn="ctr" defTabSz="457200" rtl="0" fontAlgn="base">
        <a:spcBef>
          <a:spcPct val="0"/>
        </a:spcBef>
        <a:spcAft>
          <a:spcPct val="0"/>
        </a:spcAft>
        <a:defRPr sz="4400">
          <a:solidFill>
            <a:schemeClr val="tx1"/>
          </a:solidFill>
          <a:latin typeface="Times New Roman" pitchFamily="-128" charset="-52"/>
          <a:ea typeface="ＭＳ Ｐゴシック" pitchFamily="-128" charset="-128"/>
          <a:cs typeface="ＭＳ Ｐゴシック" pitchFamily="-128" charset="-128"/>
        </a:defRPr>
      </a:lvl6pPr>
      <a:lvl7pPr marL="914400" algn="ctr" defTabSz="457200" rtl="0" fontAlgn="base">
        <a:spcBef>
          <a:spcPct val="0"/>
        </a:spcBef>
        <a:spcAft>
          <a:spcPct val="0"/>
        </a:spcAft>
        <a:defRPr sz="4400">
          <a:solidFill>
            <a:schemeClr val="tx1"/>
          </a:solidFill>
          <a:latin typeface="Times New Roman" pitchFamily="-128" charset="-52"/>
          <a:ea typeface="ＭＳ Ｐゴシック" pitchFamily="-128" charset="-128"/>
          <a:cs typeface="ＭＳ Ｐゴシック" pitchFamily="-128" charset="-128"/>
        </a:defRPr>
      </a:lvl7pPr>
      <a:lvl8pPr marL="1371600" algn="ctr" defTabSz="457200" rtl="0" fontAlgn="base">
        <a:spcBef>
          <a:spcPct val="0"/>
        </a:spcBef>
        <a:spcAft>
          <a:spcPct val="0"/>
        </a:spcAft>
        <a:defRPr sz="4400">
          <a:solidFill>
            <a:schemeClr val="tx1"/>
          </a:solidFill>
          <a:latin typeface="Times New Roman" pitchFamily="-128" charset="-52"/>
          <a:ea typeface="ＭＳ Ｐゴシック" pitchFamily="-128" charset="-128"/>
          <a:cs typeface="ＭＳ Ｐゴシック" pitchFamily="-128" charset="-128"/>
        </a:defRPr>
      </a:lvl8pPr>
      <a:lvl9pPr marL="1828800" algn="ctr" defTabSz="457200" rtl="0" fontAlgn="base">
        <a:spcBef>
          <a:spcPct val="0"/>
        </a:spcBef>
        <a:spcAft>
          <a:spcPct val="0"/>
        </a:spcAft>
        <a:defRPr sz="4400">
          <a:solidFill>
            <a:schemeClr val="tx1"/>
          </a:solidFill>
          <a:latin typeface="Times New Roman" pitchFamily="-128" charset="-52"/>
          <a:ea typeface="ＭＳ Ｐゴシック" pitchFamily="-128" charset="-128"/>
          <a:cs typeface="ＭＳ Ｐゴシック" pitchFamily="-128"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pitchFamily="-128" charset="-128"/>
          <a:cs typeface="ＭＳ Ｐゴシック" pitchFamily="-128"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pitchFamily="-128" charset="-128"/>
          <a:cs typeface="ＭＳ Ｐゴシック"/>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pitchFamily="-128" charset="-128"/>
          <a:cs typeface="ＭＳ Ｐゴシック"/>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128" charset="-128"/>
          <a:cs typeface="ＭＳ Ｐゴシック"/>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pitchFamily="-128" charset="-128"/>
          <a:cs typeface="ＭＳ Ｐゴシック"/>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google.ch/url?sa=i&amp;rct=j&amp;q=sito+internet&amp;source=images&amp;cd=&amp;cad=rja&amp;docid=BYHFtiQ-Hrz7tM&amp;tbnid=qNmUX1-nJ85F7M:&amp;ved=0CAUQjRw&amp;url=http://www.tattichemarketing.com/creazione-siti-web&amp;ei=iak4Ud7WCITYtAbN74HABw&amp;bvm=bv.43287494,d.bGE&amp;psig=AFQjCNGpX72LGL_Tu9kbD-6eQvufpvg-_g&amp;ust=1362754294353756"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www.google.ch/url?sa=i&amp;rct=j&amp;q=fumetti+libri&amp;source=images&amp;cd=&amp;cad=rja&amp;docid=7_QMAbWSq_n8nM&amp;tbnid=tIDLjHRfl5WdxM:&amp;ved=0CAUQjRw&amp;url=http://www.libriusatitorino.it/&amp;ei=-qw4UZ3GJcLqswbzroHYCw&amp;psig=AFQjCNHQZEH-OOZJ6T9IzT-tQVzKmx_L0w&amp;ust=1362755177329105"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books.google.ch/" TargetMode="External"/><Relationship Id="rId5" Type="http://schemas.openxmlformats.org/officeDocument/2006/relationships/image" Target="../media/image12.png"/><Relationship Id="rId4" Type="http://schemas.openxmlformats.org/officeDocument/2006/relationships/hyperlink" Target="https://scholar.google.ch/"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tesi.supsi.ch/"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biblioteche.supsi.ch/risorse"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hyperlink" Target="http://www.ssrn.com/" TargetMode="Externa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hyperlink" Target="http://www.ssrn.com/en/"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olo 1"/>
          <p:cNvSpPr>
            <a:spLocks noGrp="1"/>
          </p:cNvSpPr>
          <p:nvPr>
            <p:ph type="ctrTitle"/>
          </p:nvPr>
        </p:nvSpPr>
        <p:spPr>
          <a:xfrm>
            <a:off x="323850" y="2176463"/>
            <a:ext cx="8496300" cy="1584325"/>
          </a:xfrm>
        </p:spPr>
        <p:txBody>
          <a:bodyPr/>
          <a:lstStyle/>
          <a:p>
            <a:pPr eaLnBrk="1" hangingPunct="1"/>
            <a:r>
              <a:rPr lang="it-CH" dirty="0">
                <a:ea typeface="ＭＳ Ｐゴシック"/>
                <a:cs typeface="ＭＳ Ｐゴシック"/>
              </a:rPr>
              <a:t>Accompagnamento allo studio e ricerca bibliografica </a:t>
            </a:r>
            <a:br>
              <a:rPr lang="it-CH" dirty="0">
                <a:ea typeface="ＭＳ Ｐゴシック"/>
                <a:cs typeface="ＭＳ Ｐゴシック"/>
              </a:rPr>
            </a:br>
            <a:r>
              <a:rPr lang="it-CH" sz="3600" dirty="0">
                <a:ea typeface="ＭＳ Ｐゴシック"/>
                <a:cs typeface="ＭＳ Ｐゴシック"/>
              </a:rPr>
              <a:t>Riconoscere le fonti e </a:t>
            </a:r>
            <a:r>
              <a:rPr lang="it-CH" sz="3600">
                <a:ea typeface="ＭＳ Ｐゴシック"/>
                <a:cs typeface="ＭＳ Ｐゴシック"/>
              </a:rPr>
              <a:t>reperire letteratura</a:t>
            </a:r>
            <a:endParaRPr lang="it-CH" sz="3600" dirty="0">
              <a:ea typeface="ＭＳ Ｐゴシック"/>
              <a:cs typeface="ＭＳ Ｐゴシック"/>
            </a:endParaRPr>
          </a:p>
        </p:txBody>
      </p:sp>
      <p:sp>
        <p:nvSpPr>
          <p:cNvPr id="17411" name="Segnaposto numero diapositiva 4"/>
          <p:cNvSpPr>
            <a:spLocks noGrp="1"/>
          </p:cNvSpPr>
          <p:nvPr>
            <p:ph type="sldNum" sz="quarter" idx="16"/>
          </p:nvPr>
        </p:nvSpPr>
        <p:spPr>
          <a:noFill/>
        </p:spPr>
        <p:txBody>
          <a:bodyPr/>
          <a:lstStyle/>
          <a:p>
            <a:fld id="{068F6CDE-7A55-47E2-8262-270320FEA493}" type="slidenum">
              <a:rPr lang="it-IT" smtClean="0">
                <a:ea typeface="ＭＳ Ｐゴシック"/>
                <a:cs typeface="ＭＳ Ｐゴシック"/>
              </a:rPr>
              <a:pPr/>
              <a:t>1</a:t>
            </a:fld>
            <a:endParaRPr lang="it-IT">
              <a:ea typeface="ＭＳ Ｐゴシック"/>
              <a:cs typeface="ＭＳ Ｐゴシック"/>
            </a:endParaRPr>
          </a:p>
        </p:txBody>
      </p:sp>
    </p:spTree>
  </p:cSld>
  <p:clrMapOvr>
    <a:masterClrMapping/>
  </p:clrMapOvr>
  <mc:AlternateContent xmlns:mc="http://schemas.openxmlformats.org/markup-compatibility/2006" xmlns:p14="http://schemas.microsoft.com/office/powerpoint/2010/main">
    <mc:Choice Requires="p14">
      <p:transition spd="slow" p14:dur="2000" advTm="45208"/>
    </mc:Choice>
    <mc:Fallback xmlns="">
      <p:transition spd="slow" advTm="4520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4"/>
          <p:cNvSpPr>
            <a:spLocks noGrp="1"/>
          </p:cNvSpPr>
          <p:nvPr>
            <p:ph type="title"/>
          </p:nvPr>
        </p:nvSpPr>
        <p:spPr>
          <a:xfrm>
            <a:off x="323850" y="774478"/>
            <a:ext cx="8208590" cy="476250"/>
          </a:xfrm>
        </p:spPr>
        <p:txBody>
          <a:bodyPr/>
          <a:lstStyle/>
          <a:p>
            <a:pPr eaLnBrk="1" hangingPunct="1">
              <a:defRPr/>
            </a:pPr>
            <a:r>
              <a:rPr lang="it-CH" sz="2400" dirty="0"/>
              <a:t>Fonti primarie o fonti secondarie</a:t>
            </a:r>
          </a:p>
        </p:txBody>
      </p:sp>
      <p:graphicFrame>
        <p:nvGraphicFramePr>
          <p:cNvPr id="9" name="Tabella 9">
            <a:extLst>
              <a:ext uri="{FF2B5EF4-FFF2-40B4-BE49-F238E27FC236}">
                <a16:creationId xmlns:a16="http://schemas.microsoft.com/office/drawing/2014/main" id="{C679383E-B4DE-8BEF-34E8-6124BB2C35D8}"/>
              </a:ext>
            </a:extLst>
          </p:cNvPr>
          <p:cNvGraphicFramePr>
            <a:graphicFrameLocks noGrp="1"/>
          </p:cNvGraphicFramePr>
          <p:nvPr>
            <p:extLst>
              <p:ext uri="{D42A27DB-BD31-4B8C-83A1-F6EECF244321}">
                <p14:modId xmlns:p14="http://schemas.microsoft.com/office/powerpoint/2010/main" val="3063131289"/>
              </p:ext>
            </p:extLst>
          </p:nvPr>
        </p:nvGraphicFramePr>
        <p:xfrm>
          <a:off x="295613" y="2651760"/>
          <a:ext cx="8057120" cy="1554480"/>
        </p:xfrm>
        <a:graphic>
          <a:graphicData uri="http://schemas.openxmlformats.org/drawingml/2006/table">
            <a:tbl>
              <a:tblPr firstRow="1" bandRow="1">
                <a:effectLst>
                  <a:outerShdw blurRad="50800" dist="50800" dir="5400000" sx="4000" sy="4000" algn="ctr" rotWithShape="0">
                    <a:srgbClr val="000000">
                      <a:alpha val="43137"/>
                    </a:srgbClr>
                  </a:outerShdw>
                </a:effectLst>
                <a:tableStyleId>{2D5ABB26-0587-4C30-8999-92F81FD0307C}</a:tableStyleId>
              </a:tblPr>
              <a:tblGrid>
                <a:gridCol w="3661893">
                  <a:extLst>
                    <a:ext uri="{9D8B030D-6E8A-4147-A177-3AD203B41FA5}">
                      <a16:colId xmlns:a16="http://schemas.microsoft.com/office/drawing/2014/main" val="1078359636"/>
                    </a:ext>
                  </a:extLst>
                </a:gridCol>
                <a:gridCol w="1073237">
                  <a:extLst>
                    <a:ext uri="{9D8B030D-6E8A-4147-A177-3AD203B41FA5}">
                      <a16:colId xmlns:a16="http://schemas.microsoft.com/office/drawing/2014/main" val="2174789075"/>
                    </a:ext>
                  </a:extLst>
                </a:gridCol>
                <a:gridCol w="3321990">
                  <a:extLst>
                    <a:ext uri="{9D8B030D-6E8A-4147-A177-3AD203B41FA5}">
                      <a16:colId xmlns:a16="http://schemas.microsoft.com/office/drawing/2014/main" val="1869037103"/>
                    </a:ext>
                  </a:extLst>
                </a:gridCol>
              </a:tblGrid>
              <a:tr h="184239">
                <a:tc>
                  <a:txBody>
                    <a:bodyPr/>
                    <a:lstStyle/>
                    <a:p>
                      <a:r>
                        <a:rPr lang="it-CH" b="1" dirty="0"/>
                        <a:t>Fonti primarie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it-CH"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it-CH" b="1" dirty="0"/>
                        <a:t>Fonti secondarie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96270947"/>
                  </a:ext>
                </a:extLst>
              </a:tr>
              <a:tr h="155089">
                <a:tc>
                  <a:txBody>
                    <a:bodyPr/>
                    <a:lstStyle/>
                    <a:p>
                      <a:r>
                        <a:rPr lang="it-CH" dirty="0"/>
                        <a:t>Sono quelle più vicine all’evento, cioè i materiali originari che non sono ancora stati filtrati da interpretazioni o valutazioni</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it-CH"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it-CH" dirty="0"/>
                        <a:t>Le fonti secondarie sono interpretazioni o valutazioni di fonti primarie, cioè informazioni contestualizzate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56772832"/>
                  </a:ext>
                </a:extLst>
              </a:tr>
            </a:tbl>
          </a:graphicData>
        </a:graphic>
      </p:graphicFrame>
      <p:sp>
        <p:nvSpPr>
          <p:cNvPr id="18" name="Inhaltsplatzhalter 2">
            <a:extLst>
              <a:ext uri="{FF2B5EF4-FFF2-40B4-BE49-F238E27FC236}">
                <a16:creationId xmlns:a16="http://schemas.microsoft.com/office/drawing/2014/main" id="{989189F0-1A31-4482-F44D-90A65D7429A0}"/>
              </a:ext>
            </a:extLst>
          </p:cNvPr>
          <p:cNvSpPr txBox="1">
            <a:spLocks/>
          </p:cNvSpPr>
          <p:nvPr/>
        </p:nvSpPr>
        <p:spPr bwMode="auto">
          <a:xfrm>
            <a:off x="322398" y="1224646"/>
            <a:ext cx="8057119" cy="11241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342900" indent="-342900" algn="l" rtl="0" eaLnBrk="1" fontAlgn="base" hangingPunct="1">
              <a:spcBef>
                <a:spcPct val="20000"/>
              </a:spcBef>
              <a:spcAft>
                <a:spcPct val="0"/>
              </a:spcAft>
              <a:buChar char="•"/>
              <a:defRPr sz="1350">
                <a:solidFill>
                  <a:schemeClr val="tx1"/>
                </a:solidFill>
                <a:latin typeface="+mn-lt"/>
                <a:ea typeface="ＭＳ Ｐゴシック" pitchFamily="-112" charset="-128"/>
                <a:cs typeface="ＭＳ Ｐゴシック" pitchFamily="-112" charset="-128"/>
              </a:defRPr>
            </a:lvl1pPr>
            <a:lvl2pPr marL="742950" indent="-285750" algn="l" rtl="0" eaLnBrk="1" fontAlgn="base" hangingPunct="1">
              <a:spcBef>
                <a:spcPct val="20000"/>
              </a:spcBef>
              <a:spcAft>
                <a:spcPct val="0"/>
              </a:spcAft>
              <a:buChar char="–"/>
              <a:defRPr sz="1350">
                <a:solidFill>
                  <a:schemeClr val="tx1"/>
                </a:solidFill>
                <a:latin typeface="+mn-lt"/>
                <a:ea typeface="ＭＳ Ｐゴシック" pitchFamily="-112" charset="-128"/>
              </a:defRPr>
            </a:lvl2pPr>
            <a:lvl3pPr marL="1143000" indent="-228600" algn="l" rtl="0" eaLnBrk="1" fontAlgn="base" hangingPunct="1">
              <a:spcBef>
                <a:spcPct val="20000"/>
              </a:spcBef>
              <a:spcAft>
                <a:spcPct val="0"/>
              </a:spcAft>
              <a:buChar char="•"/>
              <a:defRPr sz="1350">
                <a:solidFill>
                  <a:schemeClr val="tx1"/>
                </a:solidFill>
                <a:latin typeface="+mn-lt"/>
                <a:ea typeface="ＭＳ Ｐゴシック" pitchFamily="-112" charset="-128"/>
              </a:defRPr>
            </a:lvl3pPr>
            <a:lvl4pPr marL="1600200" indent="-228600" algn="l" rtl="0" eaLnBrk="1" fontAlgn="base" hangingPunct="1">
              <a:spcBef>
                <a:spcPct val="20000"/>
              </a:spcBef>
              <a:spcAft>
                <a:spcPct val="0"/>
              </a:spcAft>
              <a:buChar char="–"/>
              <a:defRPr sz="1350">
                <a:solidFill>
                  <a:schemeClr val="tx1"/>
                </a:solidFill>
                <a:latin typeface="+mn-lt"/>
                <a:ea typeface="ＭＳ Ｐゴシック" pitchFamily="-112" charset="-128"/>
              </a:defRPr>
            </a:lvl4pPr>
            <a:lvl5pPr marL="2057400" indent="-228600" algn="l" rtl="0" eaLnBrk="1" fontAlgn="base" hangingPunct="1">
              <a:spcBef>
                <a:spcPct val="20000"/>
              </a:spcBef>
              <a:spcAft>
                <a:spcPct val="0"/>
              </a:spcAft>
              <a:buChar char="»"/>
              <a:defRPr sz="1350">
                <a:solidFill>
                  <a:schemeClr val="tx1"/>
                </a:solidFill>
                <a:latin typeface="+mn-lt"/>
                <a:ea typeface="ＭＳ Ｐゴシック" pitchFamily="-112" charset="-128"/>
              </a:defRPr>
            </a:lvl5pPr>
            <a:lvl6pPr marL="2514600" indent="-228600" algn="l" rtl="0" eaLnBrk="1" fontAlgn="base" hangingPunct="1">
              <a:spcBef>
                <a:spcPct val="20000"/>
              </a:spcBef>
              <a:spcAft>
                <a:spcPct val="0"/>
              </a:spcAft>
              <a:buChar char="»"/>
              <a:defRPr sz="1200">
                <a:solidFill>
                  <a:schemeClr val="tx1"/>
                </a:solidFill>
                <a:latin typeface="+mn-lt"/>
                <a:ea typeface="ＭＳ Ｐゴシック" pitchFamily="-112" charset="-128"/>
              </a:defRPr>
            </a:lvl6pPr>
            <a:lvl7pPr marL="2971800" indent="-228600" algn="l" rtl="0" eaLnBrk="1" fontAlgn="base" hangingPunct="1">
              <a:spcBef>
                <a:spcPct val="20000"/>
              </a:spcBef>
              <a:spcAft>
                <a:spcPct val="0"/>
              </a:spcAft>
              <a:buChar char="»"/>
              <a:defRPr sz="1200">
                <a:solidFill>
                  <a:schemeClr val="tx1"/>
                </a:solidFill>
                <a:latin typeface="+mn-lt"/>
                <a:ea typeface="ＭＳ Ｐゴシック" pitchFamily="-112" charset="-128"/>
              </a:defRPr>
            </a:lvl7pPr>
            <a:lvl8pPr marL="3429000" indent="-228600" algn="l" rtl="0" eaLnBrk="1" fontAlgn="base" hangingPunct="1">
              <a:spcBef>
                <a:spcPct val="20000"/>
              </a:spcBef>
              <a:spcAft>
                <a:spcPct val="0"/>
              </a:spcAft>
              <a:buChar char="»"/>
              <a:defRPr sz="1200">
                <a:solidFill>
                  <a:schemeClr val="tx1"/>
                </a:solidFill>
                <a:latin typeface="+mn-lt"/>
                <a:ea typeface="ＭＳ Ｐゴシック" pitchFamily="-112" charset="-128"/>
              </a:defRPr>
            </a:lvl8pPr>
            <a:lvl9pPr marL="3886200" indent="-228600" algn="l" rtl="0" eaLnBrk="1" fontAlgn="base" hangingPunct="1">
              <a:spcBef>
                <a:spcPct val="20000"/>
              </a:spcBef>
              <a:spcAft>
                <a:spcPct val="0"/>
              </a:spcAft>
              <a:buChar char="»"/>
              <a:defRPr sz="1200">
                <a:solidFill>
                  <a:schemeClr val="tx1"/>
                </a:solidFill>
                <a:latin typeface="+mn-lt"/>
                <a:ea typeface="ＭＳ Ｐゴシック" pitchFamily="-112" charset="-128"/>
              </a:defRPr>
            </a:lvl9pPr>
          </a:lstStyle>
          <a:p>
            <a:pPr marL="0" indent="0">
              <a:buFontTx/>
              <a:buNone/>
            </a:pPr>
            <a:endParaRPr lang="it-CH" sz="1800" kern="0" dirty="0"/>
          </a:p>
          <a:p>
            <a:pPr marL="0" indent="0">
              <a:buFontTx/>
              <a:buNone/>
            </a:pPr>
            <a:r>
              <a:rPr lang="it-CH" sz="1800" kern="0" dirty="0"/>
              <a:t>Nel lavoro accademico, una </a:t>
            </a:r>
            <a:r>
              <a:rPr lang="it-CH" sz="1800" u="sng" kern="0" dirty="0"/>
              <a:t>fonte primaria </a:t>
            </a:r>
            <a:r>
              <a:rPr lang="it-CH" sz="1800" kern="0" dirty="0"/>
              <a:t>riporta il contenuto originale; </a:t>
            </a:r>
            <a:r>
              <a:rPr lang="it-CH" sz="1800" u="sng" kern="0" dirty="0"/>
              <a:t>una fonte secondaria </a:t>
            </a:r>
            <a:r>
              <a:rPr lang="it-CH" sz="1800" kern="0" dirty="0"/>
              <a:t>si riferisce al contenuto riportato per la prima volta da un’altra fonte (APA Style Guideline, 2022)</a:t>
            </a:r>
          </a:p>
        </p:txBody>
      </p:sp>
      <p:sp>
        <p:nvSpPr>
          <p:cNvPr id="4" name="Segnaposto contenuto 3">
            <a:extLst>
              <a:ext uri="{FF2B5EF4-FFF2-40B4-BE49-F238E27FC236}">
                <a16:creationId xmlns:a16="http://schemas.microsoft.com/office/drawing/2014/main" id="{5C41AB3D-E954-6D4A-9427-F39097CEE9FF}"/>
              </a:ext>
            </a:extLst>
          </p:cNvPr>
          <p:cNvSpPr>
            <a:spLocks noGrp="1"/>
          </p:cNvSpPr>
          <p:nvPr>
            <p:ph idx="1"/>
          </p:nvPr>
        </p:nvSpPr>
        <p:spPr>
          <a:xfrm>
            <a:off x="322398" y="4518312"/>
            <a:ext cx="8496300" cy="1608951"/>
          </a:xfrm>
        </p:spPr>
        <p:txBody>
          <a:bodyPr/>
          <a:lstStyle/>
          <a:p>
            <a:pPr marL="0" indent="0">
              <a:buFontTx/>
              <a:buNone/>
            </a:pPr>
            <a:r>
              <a:rPr lang="it-CH" b="1" dirty="0">
                <a:ea typeface="ＭＳ Ｐゴシック"/>
                <a:cs typeface="ＭＳ Ｐゴシック"/>
              </a:rPr>
              <a:t>Fonti di informazioni primarie</a:t>
            </a:r>
            <a:r>
              <a:rPr lang="it-CH" dirty="0">
                <a:ea typeface="ＭＳ Ｐゴシック"/>
                <a:cs typeface="ＭＳ Ｐゴシック"/>
              </a:rPr>
              <a:t>: forniscono risposte immediate e dirette a un bisogno informativo – </a:t>
            </a:r>
            <a:r>
              <a:rPr lang="it-CH" u="sng" dirty="0">
                <a:ea typeface="ＭＳ Ｐゴシック"/>
                <a:cs typeface="ＭＳ Ｐゴシック"/>
              </a:rPr>
              <a:t>raccolta diretta o database statistici </a:t>
            </a:r>
            <a:r>
              <a:rPr lang="it-CH" dirty="0">
                <a:ea typeface="ＭＳ Ｐゴシック"/>
                <a:cs typeface="ＭＳ Ｐゴシック"/>
              </a:rPr>
              <a:t>o multimediali</a:t>
            </a:r>
          </a:p>
          <a:p>
            <a:pPr marL="0" indent="0">
              <a:buFontTx/>
              <a:buNone/>
            </a:pPr>
            <a:endParaRPr lang="it-CH" dirty="0">
              <a:ea typeface="ＭＳ Ｐゴシック"/>
              <a:cs typeface="ＭＳ Ｐゴシック"/>
            </a:endParaRPr>
          </a:p>
          <a:p>
            <a:pPr marL="0" indent="0">
              <a:buFontTx/>
              <a:buNone/>
            </a:pPr>
            <a:r>
              <a:rPr lang="it-CH" b="1" dirty="0">
                <a:ea typeface="ＭＳ Ｐゴシック"/>
                <a:cs typeface="ＭＳ Ｐゴシック"/>
              </a:rPr>
              <a:t>Fonti di informazioni secondarie</a:t>
            </a:r>
            <a:r>
              <a:rPr lang="it-CH" dirty="0">
                <a:ea typeface="ＭＳ Ｐゴシック"/>
                <a:cs typeface="ＭＳ Ｐゴシック"/>
              </a:rPr>
              <a:t>: rimandano alla risorsa dove si può trovare l’informazione già elaborata da altri </a:t>
            </a:r>
            <a:r>
              <a:rPr lang="it-CH" dirty="0">
                <a:ea typeface="ＭＳ Ｐゴシック"/>
                <a:cs typeface="ＭＳ Ｐゴシック"/>
                <a:sym typeface="Wingdings" panose="05000000000000000000" pitchFamily="2" charset="2"/>
              </a:rPr>
              <a:t></a:t>
            </a:r>
            <a:r>
              <a:rPr lang="it-CH" dirty="0">
                <a:ea typeface="ＭＳ Ｐゴシック"/>
                <a:cs typeface="ＭＳ Ｐゴシック"/>
              </a:rPr>
              <a:t> </a:t>
            </a:r>
            <a:r>
              <a:rPr lang="it-CH" u="sng" dirty="0">
                <a:ea typeface="ＭＳ Ｐゴシック"/>
                <a:cs typeface="ＭＳ Ｐゴシック"/>
              </a:rPr>
              <a:t>revisione della letteratura</a:t>
            </a:r>
          </a:p>
          <a:p>
            <a:pPr marL="0" indent="0">
              <a:buNone/>
            </a:pPr>
            <a:endParaRPr lang="it-CH" dirty="0"/>
          </a:p>
        </p:txBody>
      </p:sp>
    </p:spTree>
    <p:extLst>
      <p:ext uri="{BB962C8B-B14F-4D97-AF65-F5344CB8AC3E}">
        <p14:creationId xmlns:p14="http://schemas.microsoft.com/office/powerpoint/2010/main" val="611172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el 1"/>
          <p:cNvSpPr>
            <a:spLocks noGrp="1"/>
          </p:cNvSpPr>
          <p:nvPr>
            <p:ph type="title"/>
          </p:nvPr>
        </p:nvSpPr>
        <p:spPr>
          <a:xfrm>
            <a:off x="400050" y="729458"/>
            <a:ext cx="8496300" cy="719137"/>
          </a:xfrm>
        </p:spPr>
        <p:txBody>
          <a:bodyPr wrap="square" anchor="t">
            <a:normAutofit/>
          </a:bodyPr>
          <a:lstStyle/>
          <a:p>
            <a:pPr eaLnBrk="1" hangingPunct="1"/>
            <a:r>
              <a:rPr lang="it-CH" dirty="0"/>
              <a:t>Le diverse fonti di informazione</a:t>
            </a:r>
          </a:p>
        </p:txBody>
      </p:sp>
      <p:sp>
        <p:nvSpPr>
          <p:cNvPr id="23554" name="Inhaltsplatzhalter 2"/>
          <p:cNvSpPr>
            <a:spLocks noGrp="1"/>
          </p:cNvSpPr>
          <p:nvPr>
            <p:ph sz="half" idx="1"/>
          </p:nvPr>
        </p:nvSpPr>
        <p:spPr>
          <a:xfrm>
            <a:off x="323850" y="1916113"/>
            <a:ext cx="4896222" cy="4321175"/>
          </a:xfrm>
        </p:spPr>
        <p:txBody>
          <a:bodyPr wrap="square" anchor="t">
            <a:normAutofit/>
          </a:bodyPr>
          <a:lstStyle/>
          <a:p>
            <a:pPr>
              <a:lnSpc>
                <a:spcPct val="90000"/>
              </a:lnSpc>
              <a:buFont typeface="Wingdings" panose="05000000000000000000" pitchFamily="2" charset="2"/>
              <a:buChar char="à"/>
            </a:pPr>
            <a:r>
              <a:rPr lang="it-CH" sz="1500" dirty="0"/>
              <a:t>Enciclopedie: informazioni generali sulle varie voci</a:t>
            </a:r>
          </a:p>
          <a:p>
            <a:pPr>
              <a:lnSpc>
                <a:spcPct val="90000"/>
              </a:lnSpc>
              <a:buFont typeface="Wingdings" panose="05000000000000000000" pitchFamily="2" charset="2"/>
              <a:buChar char="à"/>
            </a:pPr>
            <a:endParaRPr lang="it-CH" sz="1500" dirty="0"/>
          </a:p>
          <a:p>
            <a:pPr marL="0" indent="0">
              <a:lnSpc>
                <a:spcPct val="90000"/>
              </a:lnSpc>
              <a:buFont typeface="Wingdings" panose="05000000000000000000" pitchFamily="2" charset="2"/>
              <a:buChar char="à"/>
            </a:pPr>
            <a:r>
              <a:rPr lang="it-CH" sz="1500" dirty="0"/>
              <a:t> Libri e manuali: trattazione estesa d argomenti/</a:t>
            </a:r>
          </a:p>
          <a:p>
            <a:pPr marL="0" indent="0">
              <a:lnSpc>
                <a:spcPct val="90000"/>
              </a:lnSpc>
              <a:buFont typeface="Wingdings" panose="05000000000000000000" pitchFamily="2" charset="2"/>
              <a:buChar char="à"/>
            </a:pPr>
            <a:endParaRPr lang="it-CH" sz="1500" dirty="0"/>
          </a:p>
          <a:p>
            <a:pPr marL="0" indent="0">
              <a:lnSpc>
                <a:spcPct val="90000"/>
              </a:lnSpc>
              <a:buFont typeface="Wingdings" panose="05000000000000000000" pitchFamily="2" charset="2"/>
              <a:buChar char="à"/>
            </a:pPr>
            <a:r>
              <a:rPr lang="it-CH" sz="1500" dirty="0"/>
              <a:t> Tesi di bachelor, master, dottorato</a:t>
            </a:r>
          </a:p>
          <a:p>
            <a:pPr marL="0" indent="0">
              <a:lnSpc>
                <a:spcPct val="90000"/>
              </a:lnSpc>
              <a:buFont typeface="Wingdings" panose="05000000000000000000" pitchFamily="2" charset="2"/>
              <a:buChar char="à"/>
            </a:pPr>
            <a:endParaRPr lang="it-CH" sz="1500" dirty="0"/>
          </a:p>
          <a:p>
            <a:pPr marL="0" indent="0">
              <a:lnSpc>
                <a:spcPct val="90000"/>
              </a:lnSpc>
              <a:buFont typeface="Wingdings" panose="05000000000000000000" pitchFamily="2" charset="2"/>
              <a:buChar char="à"/>
            </a:pPr>
            <a:r>
              <a:rPr lang="it-CH" sz="1500" dirty="0"/>
              <a:t> Diapositive di una lezione- di un modulo</a:t>
            </a:r>
          </a:p>
          <a:p>
            <a:pPr marL="0" indent="0">
              <a:lnSpc>
                <a:spcPct val="90000"/>
              </a:lnSpc>
              <a:buFont typeface="Wingdings" panose="05000000000000000000" pitchFamily="2" charset="2"/>
              <a:buChar char="à"/>
            </a:pPr>
            <a:endParaRPr lang="it-CH" sz="1500" dirty="0"/>
          </a:p>
          <a:p>
            <a:pPr marL="0" indent="0">
              <a:lnSpc>
                <a:spcPct val="90000"/>
              </a:lnSpc>
              <a:buFont typeface="Wingdings" panose="05000000000000000000" pitchFamily="2" charset="2"/>
              <a:buChar char="à"/>
            </a:pPr>
            <a:r>
              <a:rPr lang="it-CH" sz="1500" dirty="0"/>
              <a:t> Periodici scientifici (journal) e riviste specializzate: trattazione rigorosa di concetti specifici / ricerche empiriche</a:t>
            </a:r>
          </a:p>
          <a:p>
            <a:pPr marL="0" indent="0">
              <a:lnSpc>
                <a:spcPct val="90000"/>
              </a:lnSpc>
              <a:buFont typeface="Wingdings" panose="05000000000000000000" pitchFamily="2" charset="2"/>
              <a:buChar char="à"/>
            </a:pPr>
            <a:endParaRPr lang="it-CH" sz="1500" dirty="0"/>
          </a:p>
          <a:p>
            <a:pPr marL="0" indent="0">
              <a:lnSpc>
                <a:spcPct val="90000"/>
              </a:lnSpc>
              <a:buFont typeface="Wingdings" panose="05000000000000000000" pitchFamily="2" charset="2"/>
              <a:buChar char="à"/>
            </a:pPr>
            <a:r>
              <a:rPr lang="it-CH" sz="1500" dirty="0"/>
              <a:t>Quotidiani e riviste divulgative: informazioni più generiche, trattazione superficiale</a:t>
            </a:r>
          </a:p>
          <a:p>
            <a:pPr marL="0" indent="0">
              <a:lnSpc>
                <a:spcPct val="90000"/>
              </a:lnSpc>
              <a:buFont typeface="Wingdings" panose="05000000000000000000" pitchFamily="2" charset="2"/>
              <a:buChar char="à"/>
            </a:pPr>
            <a:endParaRPr lang="it-CH" sz="1500" dirty="0"/>
          </a:p>
          <a:p>
            <a:pPr marL="0" indent="0">
              <a:lnSpc>
                <a:spcPct val="90000"/>
              </a:lnSpc>
              <a:buFont typeface="Wingdings" panose="05000000000000000000" pitchFamily="2" charset="2"/>
              <a:buChar char="à"/>
            </a:pPr>
            <a:r>
              <a:rPr lang="it-CH" sz="1500" dirty="0"/>
              <a:t> Siti web: informazioni </a:t>
            </a:r>
            <a:r>
              <a:rPr lang="it-CH" sz="1500"/>
              <a:t>molto eterogenee</a:t>
            </a:r>
            <a:br>
              <a:rPr lang="it-CH" sz="1500"/>
            </a:br>
            <a:endParaRPr lang="it-CH" sz="1500" dirty="0"/>
          </a:p>
          <a:p>
            <a:pPr marL="0" indent="0">
              <a:lnSpc>
                <a:spcPct val="90000"/>
              </a:lnSpc>
              <a:buFont typeface="Wingdings" panose="05000000000000000000" pitchFamily="2" charset="2"/>
              <a:buChar char="à"/>
            </a:pPr>
            <a:r>
              <a:rPr lang="it-CH" sz="1500" dirty="0"/>
              <a:t>Intelligenza artificiale AI</a:t>
            </a:r>
          </a:p>
        </p:txBody>
      </p:sp>
      <p:pic>
        <p:nvPicPr>
          <p:cNvPr id="2" name="Picture 6" descr="http://blog.journals.cambridge.org/wp-content/uploads/2012/06/shutterstock_95584771_bookshelf.jpg">
            <a:extLst>
              <a:ext uri="{FF2B5EF4-FFF2-40B4-BE49-F238E27FC236}">
                <a16:creationId xmlns:a16="http://schemas.microsoft.com/office/drawing/2014/main" id="{D3DF1071-8605-5AAB-C643-0FFB85877360}"/>
              </a:ext>
            </a:extLst>
          </p:cNvPr>
          <p:cNvPicPr>
            <a:picLocks noChangeAspect="1" noChangeArrowheads="1"/>
          </p:cNvPicPr>
          <p:nvPr/>
        </p:nvPicPr>
        <p:blipFill rotWithShape="1">
          <a:blip r:embed="rId3"/>
          <a:srcRect l="28620" r="6934" b="-1"/>
          <a:stretch/>
        </p:blipFill>
        <p:spPr bwMode="auto">
          <a:xfrm>
            <a:off x="5292080" y="1924849"/>
            <a:ext cx="3491522" cy="3880415"/>
          </a:xfrm>
          <a:prstGeom prst="rect">
            <a:avLst/>
          </a:prstGeom>
          <a:noFill/>
        </p:spPr>
      </p:pic>
      <p:sp>
        <p:nvSpPr>
          <p:cNvPr id="23555" name="Foliennummernplatzhalter 4"/>
          <p:cNvSpPr>
            <a:spLocks noGrp="1"/>
          </p:cNvSpPr>
          <p:nvPr>
            <p:ph type="sldNum" sz="quarter" idx="12"/>
          </p:nvPr>
        </p:nvSpPr>
        <p:spPr>
          <a:xfrm>
            <a:off x="8001000" y="188913"/>
            <a:ext cx="819150" cy="476250"/>
          </a:xfrm>
        </p:spPr>
        <p:txBody>
          <a:bodyPr wrap="square" anchor="t">
            <a:normAutofit/>
          </a:bodyPr>
          <a:lstStyle/>
          <a:p>
            <a:pPr>
              <a:spcAft>
                <a:spcPts val="600"/>
              </a:spcAft>
            </a:pPr>
            <a:fld id="{02B2A280-DA5B-4B4A-886C-EED6240975B7}" type="slidenum">
              <a:rPr lang="it-IT" smtClean="0"/>
              <a:pPr>
                <a:spcAft>
                  <a:spcPts val="600"/>
                </a:spcAft>
              </a:pPr>
              <a:t>3</a:t>
            </a:fld>
            <a:endParaRPr lang="it-IT"/>
          </a:p>
        </p:txBody>
      </p:sp>
    </p:spTree>
    <p:extLst>
      <p:ext uri="{BB962C8B-B14F-4D97-AF65-F5344CB8AC3E}">
        <p14:creationId xmlns:p14="http://schemas.microsoft.com/office/powerpoint/2010/main" val="2129056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ttangolo 16"/>
          <p:cNvSpPr/>
          <p:nvPr/>
        </p:nvSpPr>
        <p:spPr>
          <a:xfrm>
            <a:off x="179512" y="1114769"/>
            <a:ext cx="8846410" cy="5482583"/>
          </a:xfrm>
          <a:prstGeom prst="rect">
            <a:avLst/>
          </a:prstGeom>
          <a:solidFill>
            <a:schemeClr val="bg1">
              <a:alpha val="50000"/>
            </a:schemeClr>
          </a:solidFill>
          <a:ln w="28575">
            <a:solidFill>
              <a:schemeClr val="accent3"/>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it-CH"/>
          </a:p>
        </p:txBody>
      </p:sp>
      <p:sp>
        <p:nvSpPr>
          <p:cNvPr id="31745" name="Titel 1"/>
          <p:cNvSpPr>
            <a:spLocks noGrp="1"/>
          </p:cNvSpPr>
          <p:nvPr>
            <p:ph type="title"/>
          </p:nvPr>
        </p:nvSpPr>
        <p:spPr>
          <a:xfrm>
            <a:off x="292197" y="628362"/>
            <a:ext cx="8496300" cy="719137"/>
          </a:xfrm>
        </p:spPr>
        <p:txBody>
          <a:bodyPr/>
          <a:lstStyle/>
          <a:p>
            <a:r>
              <a:rPr lang="it-CH" sz="2800" dirty="0"/>
              <a:t>Valutazione dell’attendibilità di una fonte </a:t>
            </a:r>
          </a:p>
        </p:txBody>
      </p:sp>
      <p:sp>
        <p:nvSpPr>
          <p:cNvPr id="11" name="Segnaposto contenuto 10"/>
          <p:cNvSpPr>
            <a:spLocks noGrp="1"/>
          </p:cNvSpPr>
          <p:nvPr>
            <p:ph idx="1"/>
          </p:nvPr>
        </p:nvSpPr>
        <p:spPr>
          <a:xfrm>
            <a:off x="292197" y="1239787"/>
            <a:ext cx="8467842" cy="5357565"/>
          </a:xfrm>
        </p:spPr>
        <p:txBody>
          <a:bodyPr/>
          <a:lstStyle/>
          <a:p>
            <a:pPr marL="0" lvl="1" indent="0">
              <a:buNone/>
            </a:pPr>
            <a:r>
              <a:rPr lang="it-CH" b="1" dirty="0"/>
              <a:t>Criteri di qualità di una fonte nel lavoro scientifico</a:t>
            </a:r>
            <a:endParaRPr lang="it-IT" b="1" dirty="0"/>
          </a:p>
          <a:p>
            <a:pPr>
              <a:lnSpc>
                <a:spcPct val="150000"/>
              </a:lnSpc>
            </a:pPr>
            <a:r>
              <a:rPr lang="it-CH" dirty="0">
                <a:solidFill>
                  <a:schemeClr val="accent2"/>
                </a:solidFill>
              </a:rPr>
              <a:t>Imparzialità dei contenuti (principio di indipendenza scientifica)</a:t>
            </a:r>
          </a:p>
          <a:p>
            <a:pPr marL="0" indent="0">
              <a:lnSpc>
                <a:spcPts val="2000"/>
              </a:lnSpc>
              <a:spcBef>
                <a:spcPts val="0"/>
              </a:spcBef>
              <a:buNone/>
            </a:pPr>
            <a:r>
              <a:rPr lang="it-CH" sz="1600" dirty="0">
                <a:latin typeface="Arial" charset="0"/>
                <a:ea typeface="ＭＳ Ｐゴシック"/>
              </a:rPr>
              <a:t>Il lavoro scientifico (la scienza in generale) si distanzia da altre pratiche in quanto cerca di spiegare con rigore ed oggettività i fenomeni. </a:t>
            </a:r>
            <a:br>
              <a:rPr lang="it-CH" sz="1600" dirty="0">
                <a:latin typeface="Arial" charset="0"/>
                <a:ea typeface="ＭＳ Ｐゴシック"/>
              </a:rPr>
            </a:br>
            <a:r>
              <a:rPr lang="it-CH" sz="1600" dirty="0">
                <a:latin typeface="Arial" charset="0"/>
                <a:ea typeface="ＭＳ Ｐゴシック"/>
              </a:rPr>
              <a:t>La politica (e alcune forme di giornalismo) indagano ed espongono i fatti nel modo più congeniale alla veicolazione di un determinato messaggio così come un’azienda promuove il proprio prodotto mettendone in luce le qualità positive piuttosto che quelle negative</a:t>
            </a:r>
            <a:endParaRPr lang="it-CH" sz="1600" dirty="0"/>
          </a:p>
          <a:p>
            <a:pPr>
              <a:lnSpc>
                <a:spcPct val="150000"/>
              </a:lnSpc>
            </a:pPr>
            <a:r>
              <a:rPr lang="it-CH" dirty="0">
                <a:solidFill>
                  <a:schemeClr val="accent2"/>
                </a:solidFill>
              </a:rPr>
              <a:t>Processo di revisione (</a:t>
            </a:r>
            <a:r>
              <a:rPr lang="it-CH" dirty="0" err="1">
                <a:solidFill>
                  <a:schemeClr val="accent2"/>
                </a:solidFill>
              </a:rPr>
              <a:t>peer-review</a:t>
            </a:r>
            <a:r>
              <a:rPr lang="it-CH" dirty="0">
                <a:solidFill>
                  <a:schemeClr val="accent2"/>
                </a:solidFill>
              </a:rPr>
              <a:t>)</a:t>
            </a:r>
          </a:p>
          <a:p>
            <a:pPr marL="0" indent="0">
              <a:lnSpc>
                <a:spcPts val="2000"/>
              </a:lnSpc>
              <a:spcBef>
                <a:spcPts val="0"/>
              </a:spcBef>
              <a:buNone/>
            </a:pPr>
            <a:r>
              <a:rPr lang="it-CH" sz="1600" dirty="0">
                <a:latin typeface="Arial" charset="0"/>
                <a:ea typeface="ＭＳ Ｐゴシック"/>
              </a:rPr>
              <a:t>I contributi per essere pubblicati su rivista scientifica specializzata passano attraverso un’analisi di revisione fatta da persone esperte e qualificate nel settore ma che restano anonime, che analizzano il contenuto, la metodologia, gradi di innovazione e di originalità del contributo.  Sappiamo con un certo grado di sicurezza che un articolo passato al vaglio di una </a:t>
            </a:r>
            <a:r>
              <a:rPr lang="it-CH" sz="1600" dirty="0" err="1">
                <a:latin typeface="Arial" charset="0"/>
                <a:ea typeface="ＭＳ Ｐゴシック"/>
              </a:rPr>
              <a:t>peer-review</a:t>
            </a:r>
            <a:r>
              <a:rPr lang="it-CH" sz="1600" dirty="0">
                <a:latin typeface="Arial" charset="0"/>
                <a:ea typeface="ＭＳ Ｐゴシック"/>
              </a:rPr>
              <a:t> è un contributo rigoroso e utile alla conoscenza. Durata del processo può essere di uno o più anni.</a:t>
            </a:r>
          </a:p>
          <a:p>
            <a:pPr marL="0" indent="0">
              <a:lnSpc>
                <a:spcPts val="2000"/>
              </a:lnSpc>
              <a:spcBef>
                <a:spcPts val="0"/>
              </a:spcBef>
              <a:buNone/>
            </a:pPr>
            <a:endParaRPr lang="it-CH" sz="1600" dirty="0">
              <a:solidFill>
                <a:schemeClr val="accent2"/>
              </a:solidFill>
              <a:latin typeface="Arial" charset="0"/>
              <a:ea typeface="ＭＳ Ｐゴシック"/>
            </a:endParaRPr>
          </a:p>
          <a:p>
            <a:pPr marL="0" indent="0">
              <a:lnSpc>
                <a:spcPts val="2000"/>
              </a:lnSpc>
              <a:spcBef>
                <a:spcPts val="0"/>
              </a:spcBef>
              <a:buNone/>
            </a:pPr>
            <a:r>
              <a:rPr lang="it-CH" dirty="0">
                <a:solidFill>
                  <a:schemeClr val="accent2"/>
                </a:solidFill>
              </a:rPr>
              <a:t>Attualità (anno di pubblicazione)</a:t>
            </a:r>
          </a:p>
          <a:p>
            <a:pPr marL="0" indent="0">
              <a:lnSpc>
                <a:spcPts val="2000"/>
              </a:lnSpc>
              <a:spcBef>
                <a:spcPts val="0"/>
              </a:spcBef>
              <a:buNone/>
            </a:pPr>
            <a:r>
              <a:rPr lang="it-CH" sz="1400" dirty="0">
                <a:latin typeface="Arial" charset="0"/>
                <a:ea typeface="ＭＳ Ｐゴシック"/>
              </a:rPr>
              <a:t>U</a:t>
            </a:r>
            <a:r>
              <a:rPr lang="it-CH" sz="1600" dirty="0">
                <a:latin typeface="Arial" charset="0"/>
                <a:ea typeface="ＭＳ Ｐゴシック"/>
              </a:rPr>
              <a:t>n contributo pubblicato nel 1920 poteva essere molto attuale e moderno nel 1920… oggi rischia di essere sorpassato. Quindi è bene riferirsi sempre alle più recenti opere inerenti al tema di interesse.</a:t>
            </a:r>
          </a:p>
          <a:p>
            <a:pPr marL="0" indent="0">
              <a:lnSpc>
                <a:spcPct val="150000"/>
              </a:lnSpc>
              <a:buNone/>
            </a:pPr>
            <a:endParaRPr lang="it-CH" dirty="0">
              <a:solidFill>
                <a:schemeClr val="accent2"/>
              </a:solidFill>
            </a:endParaRPr>
          </a:p>
          <a:p>
            <a:pPr marL="0" indent="0">
              <a:buNone/>
            </a:pPr>
            <a:endParaRPr lang="it-CH" dirty="0"/>
          </a:p>
          <a:p>
            <a:pPr marL="0" indent="0">
              <a:buNone/>
            </a:pPr>
            <a:endParaRPr lang="it-CH" dirty="0"/>
          </a:p>
        </p:txBody>
      </p:sp>
      <p:sp>
        <p:nvSpPr>
          <p:cNvPr id="31747" name="Foliennummernplatzhalter 4"/>
          <p:cNvSpPr>
            <a:spLocks noGrp="1"/>
          </p:cNvSpPr>
          <p:nvPr>
            <p:ph type="sldNum" sz="quarter" idx="12"/>
          </p:nvPr>
        </p:nvSpPr>
        <p:spPr/>
        <p:txBody>
          <a:bodyPr/>
          <a:lstStyle/>
          <a:p>
            <a:fld id="{49AE0B2C-F90F-46CA-9E86-906BE483C0CC}" type="slidenum">
              <a:rPr lang="it-IT" smtClean="0"/>
              <a:pPr/>
              <a:t>4</a:t>
            </a:fld>
            <a:endParaRPr lang="it-IT"/>
          </a:p>
        </p:txBody>
      </p:sp>
    </p:spTree>
    <p:extLst>
      <p:ext uri="{BB962C8B-B14F-4D97-AF65-F5344CB8AC3E}">
        <p14:creationId xmlns:p14="http://schemas.microsoft.com/office/powerpoint/2010/main" val="274299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http://www.tattichemarketing.com/foto-marketing/Siti_internet.jpg">
            <a:hlinkClick r:id="rId3"/>
          </p:cNvPr>
          <p:cNvPicPr>
            <a:picLocks noChangeAspect="1" noChangeArrowheads="1"/>
          </p:cNvPicPr>
          <p:nvPr/>
        </p:nvPicPr>
        <p:blipFill>
          <a:blip r:embed="rId4"/>
          <a:srcRect/>
          <a:stretch>
            <a:fillRect/>
          </a:stretch>
        </p:blipFill>
        <p:spPr bwMode="auto">
          <a:xfrm>
            <a:off x="304800" y="3971354"/>
            <a:ext cx="3845587" cy="2232248"/>
          </a:xfrm>
          <a:prstGeom prst="rect">
            <a:avLst/>
          </a:prstGeom>
          <a:noFill/>
        </p:spPr>
      </p:pic>
      <p:sp>
        <p:nvSpPr>
          <p:cNvPr id="13" name="Titel 1"/>
          <p:cNvSpPr>
            <a:spLocks noGrp="1"/>
          </p:cNvSpPr>
          <p:nvPr>
            <p:ph type="title"/>
          </p:nvPr>
        </p:nvSpPr>
        <p:spPr/>
        <p:txBody>
          <a:bodyPr/>
          <a:lstStyle/>
          <a:p>
            <a:r>
              <a:rPr lang="it-CH" sz="2800" dirty="0">
                <a:ea typeface="ＭＳ Ｐゴシック" charset="0"/>
                <a:cs typeface="ＭＳ Ｐゴシック" charset="0"/>
              </a:rPr>
              <a:t>Altri criteri di valutazione delle fonti</a:t>
            </a:r>
            <a:endParaRPr lang="it-CH" sz="2800" dirty="0"/>
          </a:p>
        </p:txBody>
      </p:sp>
      <p:sp>
        <p:nvSpPr>
          <p:cNvPr id="6" name="Segnaposto testo 5"/>
          <p:cNvSpPr>
            <a:spLocks noGrp="1"/>
          </p:cNvSpPr>
          <p:nvPr>
            <p:ph type="body" idx="1"/>
          </p:nvPr>
        </p:nvSpPr>
        <p:spPr/>
        <p:txBody>
          <a:bodyPr/>
          <a:lstStyle/>
          <a:p>
            <a:r>
              <a:rPr lang="it-CH" dirty="0"/>
              <a:t>Classiche</a:t>
            </a:r>
          </a:p>
          <a:p>
            <a:r>
              <a:rPr lang="it-CH" b="0" dirty="0"/>
              <a:t>(libri, enciclopedie, riviste, ecc.)</a:t>
            </a:r>
          </a:p>
        </p:txBody>
      </p:sp>
      <p:sp>
        <p:nvSpPr>
          <p:cNvPr id="8" name="Segnaposto contenuto 7"/>
          <p:cNvSpPr>
            <a:spLocks noGrp="1"/>
          </p:cNvSpPr>
          <p:nvPr>
            <p:ph sz="half" idx="2"/>
          </p:nvPr>
        </p:nvSpPr>
        <p:spPr/>
        <p:txBody>
          <a:bodyPr/>
          <a:lstStyle/>
          <a:p>
            <a:pPr marL="285750" indent="-285750" algn="l">
              <a:buFont typeface="Arial" panose="020B0604020202020204" pitchFamily="34" charset="0"/>
              <a:buChar char="•"/>
            </a:pPr>
            <a:r>
              <a:rPr lang="it-CH" dirty="0"/>
              <a:t>notorietà editori</a:t>
            </a:r>
          </a:p>
          <a:p>
            <a:pPr marL="285750" indent="-285750" algn="l">
              <a:buFont typeface="Arial" panose="020B0604020202020204" pitchFamily="34" charset="0"/>
              <a:buChar char="•"/>
            </a:pPr>
            <a:r>
              <a:rPr lang="it-CH" dirty="0"/>
              <a:t>autorevolezza autori</a:t>
            </a:r>
          </a:p>
          <a:p>
            <a:pPr marL="285750" indent="-285750" algn="l">
              <a:buFont typeface="Arial" panose="020B0604020202020204" pitchFamily="34" charset="0"/>
              <a:buChar char="•"/>
            </a:pPr>
            <a:r>
              <a:rPr lang="it-CH" dirty="0"/>
              <a:t>no. di citazioni dell’articolo (</a:t>
            </a:r>
            <a:r>
              <a:rPr lang="it-CH" dirty="0" err="1"/>
              <a:t>GoogleScholar</a:t>
            </a:r>
            <a:r>
              <a:rPr lang="it-CH" dirty="0"/>
              <a:t>)</a:t>
            </a:r>
          </a:p>
        </p:txBody>
      </p:sp>
      <p:sp>
        <p:nvSpPr>
          <p:cNvPr id="11" name="Segnaposto testo 10"/>
          <p:cNvSpPr>
            <a:spLocks noGrp="1"/>
          </p:cNvSpPr>
          <p:nvPr>
            <p:ph type="body" sz="quarter" idx="3"/>
          </p:nvPr>
        </p:nvSpPr>
        <p:spPr/>
        <p:txBody>
          <a:bodyPr/>
          <a:lstStyle/>
          <a:p>
            <a:pPr algn="l"/>
            <a:r>
              <a:rPr lang="it-CH" dirty="0"/>
              <a:t>Web</a:t>
            </a:r>
          </a:p>
          <a:p>
            <a:pPr algn="l"/>
            <a:r>
              <a:rPr lang="it-CH" b="0" dirty="0"/>
              <a:t>(siti, blog, piattaforme - FB, </a:t>
            </a:r>
            <a:r>
              <a:rPr lang="it-CH" b="0" dirty="0" err="1"/>
              <a:t>LinkedIn</a:t>
            </a:r>
            <a:r>
              <a:rPr lang="it-CH" b="0" dirty="0"/>
              <a:t>, …)</a:t>
            </a:r>
          </a:p>
          <a:p>
            <a:pPr algn="l"/>
            <a:endParaRPr lang="it-CH" b="0" dirty="0"/>
          </a:p>
        </p:txBody>
      </p:sp>
      <p:sp>
        <p:nvSpPr>
          <p:cNvPr id="10" name="Segnaposto contenuto 9"/>
          <p:cNvSpPr>
            <a:spLocks noGrp="1"/>
          </p:cNvSpPr>
          <p:nvPr>
            <p:ph sz="quarter" idx="4"/>
          </p:nvPr>
        </p:nvSpPr>
        <p:spPr/>
        <p:txBody>
          <a:bodyPr/>
          <a:lstStyle/>
          <a:p>
            <a:pPr algn="l" eaLnBrk="0" hangingPunct="0">
              <a:spcBef>
                <a:spcPts val="0"/>
              </a:spcBef>
              <a:spcAft>
                <a:spcPts val="600"/>
              </a:spcAft>
            </a:pPr>
            <a:r>
              <a:rPr lang="it-CH" dirty="0"/>
              <a:t>sito privato o istituzionale, accademico, governativo, commerciale</a:t>
            </a:r>
          </a:p>
          <a:p>
            <a:pPr lvl="1" eaLnBrk="0" hangingPunct="0">
              <a:spcBef>
                <a:spcPts val="0"/>
              </a:spcBef>
              <a:spcAft>
                <a:spcPts val="600"/>
              </a:spcAft>
            </a:pPr>
            <a:r>
              <a:rPr lang="it-CH" dirty="0">
                <a:cs typeface="ＭＳ Ｐゴシック" pitchFamily="-112" charset="-128"/>
              </a:rPr>
              <a:t>notorietà organizzazione</a:t>
            </a:r>
          </a:p>
          <a:p>
            <a:pPr lvl="1" eaLnBrk="0" hangingPunct="0">
              <a:spcBef>
                <a:spcPts val="0"/>
              </a:spcBef>
              <a:spcAft>
                <a:spcPts val="600"/>
              </a:spcAft>
            </a:pPr>
            <a:r>
              <a:rPr lang="it-CH" dirty="0"/>
              <a:t>accuratezza del sito (aggiornato, link validi, scopo chiaro)</a:t>
            </a:r>
          </a:p>
          <a:p>
            <a:pPr lvl="1" eaLnBrk="0" hangingPunct="0">
              <a:spcBef>
                <a:spcPts val="0"/>
              </a:spcBef>
              <a:spcAft>
                <a:spcPts val="600"/>
              </a:spcAft>
            </a:pPr>
            <a:r>
              <a:rPr lang="it-CH" dirty="0"/>
              <a:t>indicazione delle fonti utilizzate</a:t>
            </a:r>
          </a:p>
          <a:p>
            <a:pPr marL="0" indent="0" algn="l">
              <a:buNone/>
            </a:pPr>
            <a:endParaRPr lang="it-CH" dirty="0"/>
          </a:p>
        </p:txBody>
      </p:sp>
      <p:sp>
        <p:nvSpPr>
          <p:cNvPr id="5" name="Foliennummernplatzhalter 4"/>
          <p:cNvSpPr>
            <a:spLocks noGrp="1"/>
          </p:cNvSpPr>
          <p:nvPr>
            <p:ph type="sldNum" sz="quarter" idx="12"/>
          </p:nvPr>
        </p:nvSpPr>
        <p:spPr/>
        <p:txBody>
          <a:bodyPr/>
          <a:lstStyle/>
          <a:p>
            <a:pPr>
              <a:defRPr/>
            </a:pPr>
            <a:fld id="{61CB78A0-B0FF-624B-8408-04E0AEC662E7}" type="slidenum">
              <a:rPr lang="it-IT" smtClean="0"/>
              <a:pPr>
                <a:defRPr/>
              </a:pPr>
              <a:t>5</a:t>
            </a:fld>
            <a:endParaRPr lang="it-IT" dirty="0"/>
          </a:p>
        </p:txBody>
      </p:sp>
      <p:pic>
        <p:nvPicPr>
          <p:cNvPr id="14" name="Picture 2" descr="https://www.aeaweb.org/images/aer_cover.jpg"/>
          <p:cNvPicPr>
            <a:picLocks noChangeAspect="1" noChangeArrowheads="1"/>
          </p:cNvPicPr>
          <p:nvPr/>
        </p:nvPicPr>
        <p:blipFill>
          <a:blip r:embed="rId5"/>
          <a:srcRect/>
          <a:stretch>
            <a:fillRect/>
          </a:stretch>
        </p:blipFill>
        <p:spPr bwMode="auto">
          <a:xfrm rot="641578">
            <a:off x="6493996" y="4873787"/>
            <a:ext cx="957288" cy="1402427"/>
          </a:xfrm>
          <a:prstGeom prst="rect">
            <a:avLst/>
          </a:prstGeom>
          <a:noFill/>
        </p:spPr>
      </p:pic>
      <p:pic>
        <p:nvPicPr>
          <p:cNvPr id="17" name="Picture 2" descr="http://www.phd2published.com/wp-content/uploads/2012/01/journal.jpg"/>
          <p:cNvPicPr>
            <a:picLocks noChangeAspect="1" noChangeArrowheads="1"/>
          </p:cNvPicPr>
          <p:nvPr/>
        </p:nvPicPr>
        <p:blipFill>
          <a:blip r:embed="rId6"/>
          <a:srcRect/>
          <a:stretch>
            <a:fillRect/>
          </a:stretch>
        </p:blipFill>
        <p:spPr bwMode="auto">
          <a:xfrm rot="215283">
            <a:off x="7191920" y="5390253"/>
            <a:ext cx="1284597" cy="923304"/>
          </a:xfrm>
          <a:prstGeom prst="rect">
            <a:avLst/>
          </a:prstGeom>
          <a:noFill/>
        </p:spPr>
      </p:pic>
    </p:spTree>
    <p:extLst>
      <p:ext uri="{BB962C8B-B14F-4D97-AF65-F5344CB8AC3E}">
        <p14:creationId xmlns:p14="http://schemas.microsoft.com/office/powerpoint/2010/main" val="2774788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CH" sz="2800" dirty="0">
                <a:latin typeface="Times New Roman" panose="02020603050405020304" pitchFamily="18" charset="0"/>
                <a:ea typeface="ＭＳ Ｐゴシック" charset="0"/>
                <a:cs typeface="Times New Roman" panose="02020603050405020304" pitchFamily="18" charset="0"/>
              </a:rPr>
              <a:t>Fonti attendibili</a:t>
            </a:r>
            <a:br>
              <a:rPr lang="it-CH" dirty="0">
                <a:latin typeface="Arial" charset="0"/>
                <a:ea typeface="ＭＳ Ｐゴシック" charset="0"/>
                <a:cs typeface="ＭＳ Ｐゴシック" charset="0"/>
              </a:rPr>
            </a:br>
            <a:endParaRPr lang="it-CH" dirty="0"/>
          </a:p>
        </p:txBody>
      </p:sp>
      <p:sp>
        <p:nvSpPr>
          <p:cNvPr id="3" name="Segnaposto contenuto 2"/>
          <p:cNvSpPr>
            <a:spLocks noGrp="1"/>
          </p:cNvSpPr>
          <p:nvPr>
            <p:ph idx="1"/>
          </p:nvPr>
        </p:nvSpPr>
        <p:spPr/>
        <p:txBody>
          <a:bodyPr/>
          <a:lstStyle/>
          <a:p>
            <a:pPr algn="just">
              <a:spcAft>
                <a:spcPts val="600"/>
              </a:spcAft>
            </a:pPr>
            <a:r>
              <a:rPr lang="it-CH" b="1" dirty="0">
                <a:latin typeface="Arial" charset="0"/>
                <a:ea typeface="ＭＳ Ｐゴシック" charset="0"/>
                <a:cs typeface="ＭＳ Ｐゴシック" charset="0"/>
              </a:rPr>
              <a:t>F</a:t>
            </a:r>
            <a:r>
              <a:rPr lang="it-CH" sz="1800" b="1" dirty="0">
                <a:latin typeface="Arial" charset="0"/>
                <a:ea typeface="ＭＳ Ｐゴシック" charset="0"/>
                <a:cs typeface="ＭＳ Ｐゴシック" charset="0"/>
              </a:rPr>
              <a:t>onti scientifiche specializzate</a:t>
            </a:r>
          </a:p>
          <a:p>
            <a:pPr lvl="1" algn="just">
              <a:spcAft>
                <a:spcPts val="600"/>
              </a:spcAft>
            </a:pPr>
            <a:r>
              <a:rPr lang="it-CH" sz="1800" dirty="0">
                <a:latin typeface="Arial" charset="0"/>
                <a:ea typeface="ＭＳ Ｐゴシック" charset="0"/>
                <a:cs typeface="ＭＳ Ｐゴシック" charset="0"/>
              </a:rPr>
              <a:t>Riviste di settore (Sociologia del lavoro, Salute e società, Psicologia di comunità , …)</a:t>
            </a:r>
          </a:p>
          <a:p>
            <a:pPr lvl="1" algn="just">
              <a:spcAft>
                <a:spcPts val="600"/>
              </a:spcAft>
            </a:pPr>
            <a:r>
              <a:rPr lang="it-CH" sz="1800" dirty="0">
                <a:latin typeface="Arial" charset="0"/>
                <a:ea typeface="ＭＳ Ｐゴシック" charset="0"/>
                <a:cs typeface="ＭＳ Ｐゴシック" charset="0"/>
              </a:rPr>
              <a:t>Annuari (Annuario Statistico Ticinese, …)</a:t>
            </a:r>
          </a:p>
          <a:p>
            <a:pPr lvl="1" algn="just">
              <a:spcAft>
                <a:spcPts val="600"/>
              </a:spcAft>
            </a:pPr>
            <a:r>
              <a:rPr lang="it-CH" sz="1800" dirty="0">
                <a:latin typeface="Arial" charset="0"/>
                <a:ea typeface="ＭＳ Ｐゴシック" charset="0"/>
                <a:cs typeface="ＭＳ Ｐゴシック" charset="0"/>
              </a:rPr>
              <a:t>Enciclopedie (Treccani, Enciclopedia delle scienze sociali, …)</a:t>
            </a:r>
          </a:p>
          <a:p>
            <a:pPr lvl="1" algn="just">
              <a:spcAft>
                <a:spcPts val="600"/>
              </a:spcAft>
            </a:pPr>
            <a:r>
              <a:rPr lang="it-CH" sz="1800" dirty="0">
                <a:latin typeface="Arial" charset="0"/>
                <a:ea typeface="ＭＳ Ｐゴシック" charset="0"/>
                <a:cs typeface="ＭＳ Ｐゴシック" charset="0"/>
              </a:rPr>
              <a:t>Libri e manuali (Sociologia della povertà,….)</a:t>
            </a:r>
          </a:p>
          <a:p>
            <a:pPr lvl="1" algn="just">
              <a:spcAft>
                <a:spcPts val="600"/>
              </a:spcAft>
            </a:pPr>
            <a:endParaRPr lang="it-CH" sz="1800" dirty="0">
              <a:latin typeface="Arial" charset="0"/>
              <a:ea typeface="ＭＳ Ｐゴシック" charset="0"/>
              <a:cs typeface="ＭＳ Ｐゴシック" charset="0"/>
            </a:endParaRPr>
          </a:p>
          <a:p>
            <a:pPr algn="just">
              <a:spcAft>
                <a:spcPts val="600"/>
              </a:spcAft>
            </a:pPr>
            <a:r>
              <a:rPr lang="it-CH" sz="1800" b="1" dirty="0">
                <a:latin typeface="Arial" charset="0"/>
                <a:ea typeface="ＭＳ Ｐゴシック" charset="0"/>
                <a:cs typeface="ＭＳ Ｐゴシック" charset="0"/>
              </a:rPr>
              <a:t>Siti web ufficiali </a:t>
            </a:r>
            <a:r>
              <a:rPr lang="it-CH" sz="1800" dirty="0">
                <a:latin typeface="Arial" charset="0"/>
                <a:ea typeface="ＭＳ Ｐゴシック" charset="0"/>
                <a:cs typeface="ＭＳ Ｐゴシック" charset="0"/>
              </a:rPr>
              <a:t>(di enti, amministrazione, …)</a:t>
            </a:r>
          </a:p>
          <a:p>
            <a:pPr lvl="1" algn="just">
              <a:spcAft>
                <a:spcPts val="600"/>
              </a:spcAft>
            </a:pPr>
            <a:r>
              <a:rPr lang="it-CH" sz="1800" dirty="0">
                <a:latin typeface="Arial" charset="0"/>
                <a:ea typeface="ＭＳ Ｐゴシック" charset="0"/>
                <a:cs typeface="ＭＳ Ｐゴシック" charset="0"/>
              </a:rPr>
              <a:t>tutte le fonti citate sopra in forma elettronica</a:t>
            </a:r>
          </a:p>
          <a:p>
            <a:pPr lvl="1" algn="just">
              <a:spcAft>
                <a:spcPts val="600"/>
              </a:spcAft>
            </a:pPr>
            <a:r>
              <a:rPr lang="it-CH" sz="1800" dirty="0">
                <a:latin typeface="Arial" charset="0"/>
                <a:ea typeface="ＭＳ Ｐゴシック" charset="0"/>
                <a:cs typeface="ＭＳ Ｐゴシック" charset="0"/>
              </a:rPr>
              <a:t>siti ufficiali di enti governativi (Cantone, Confederazione, Ufficio Federale di Statistica, UE, OCSE, …)</a:t>
            </a:r>
          </a:p>
        </p:txBody>
      </p:sp>
      <p:sp>
        <p:nvSpPr>
          <p:cNvPr id="5" name="Segnaposto numero diapositiva 4"/>
          <p:cNvSpPr>
            <a:spLocks noGrp="1"/>
          </p:cNvSpPr>
          <p:nvPr>
            <p:ph type="sldNum" sz="quarter" idx="12"/>
          </p:nvPr>
        </p:nvSpPr>
        <p:spPr/>
        <p:txBody>
          <a:bodyPr/>
          <a:lstStyle/>
          <a:p>
            <a:fld id="{2D06D53B-7F90-46E4-BB13-BB881782A82C}" type="slidenum">
              <a:rPr lang="it-IT" altLang="it-CH" smtClean="0"/>
              <a:pPr/>
              <a:t>6</a:t>
            </a:fld>
            <a:endParaRPr lang="it-IT" altLang="it-CH"/>
          </a:p>
        </p:txBody>
      </p:sp>
    </p:spTree>
    <p:extLst>
      <p:ext uri="{BB962C8B-B14F-4D97-AF65-F5344CB8AC3E}">
        <p14:creationId xmlns:p14="http://schemas.microsoft.com/office/powerpoint/2010/main" val="3812629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309975" y="571569"/>
            <a:ext cx="8496300" cy="719137"/>
          </a:xfrm>
        </p:spPr>
        <p:txBody>
          <a:bodyPr/>
          <a:lstStyle/>
          <a:p>
            <a:r>
              <a:rPr lang="it-CH" sz="2800" dirty="0">
                <a:latin typeface="Times New Roman" panose="02020603050405020304" pitchFamily="18" charset="0"/>
                <a:ea typeface="ＭＳ Ｐゴシック" charset="0"/>
                <a:cs typeface="Times New Roman" panose="02020603050405020304" pitchFamily="18" charset="0"/>
              </a:rPr>
              <a:t>Fonti parzialmente o non attendibili</a:t>
            </a:r>
            <a:br>
              <a:rPr lang="it-CH" dirty="0">
                <a:latin typeface="Arial" charset="0"/>
                <a:ea typeface="ＭＳ Ｐゴシック" charset="0"/>
                <a:cs typeface="ＭＳ Ｐゴシック" charset="0"/>
              </a:rPr>
            </a:br>
            <a:endParaRPr lang="it-CH" dirty="0"/>
          </a:p>
        </p:txBody>
      </p:sp>
      <p:sp>
        <p:nvSpPr>
          <p:cNvPr id="3" name="Segnaposto contenuto 2"/>
          <p:cNvSpPr>
            <a:spLocks noGrp="1"/>
          </p:cNvSpPr>
          <p:nvPr>
            <p:ph idx="1"/>
          </p:nvPr>
        </p:nvSpPr>
        <p:spPr>
          <a:xfrm>
            <a:off x="309975" y="1102392"/>
            <a:ext cx="8496300" cy="5755608"/>
          </a:xfrm>
        </p:spPr>
        <p:txBody>
          <a:bodyPr/>
          <a:lstStyle/>
          <a:p>
            <a:pPr algn="just">
              <a:spcAft>
                <a:spcPts val="600"/>
              </a:spcAft>
            </a:pPr>
            <a:r>
              <a:rPr lang="it-CH" sz="1800" b="1" dirty="0">
                <a:latin typeface="Arial" charset="0"/>
                <a:ea typeface="ＭＳ Ｐゴシック" charset="0"/>
                <a:cs typeface="ＭＳ Ｐゴシック" charset="0"/>
              </a:rPr>
              <a:t>Giornali e settimanali o riviste divulgative</a:t>
            </a:r>
          </a:p>
          <a:p>
            <a:pPr lvl="1" algn="just">
              <a:spcAft>
                <a:spcPts val="600"/>
              </a:spcAft>
            </a:pPr>
            <a:r>
              <a:rPr lang="it-CH" sz="1800" dirty="0">
                <a:latin typeface="Arial" charset="0"/>
                <a:ea typeface="ＭＳ Ｐゴシック" charset="0"/>
                <a:cs typeface="ＭＳ Ｐゴシック" charset="0"/>
              </a:rPr>
              <a:t>online o cartacei (es. Corriere del Ticino, Corriere della Sera, The Economist, Animazione sociale, …)</a:t>
            </a:r>
          </a:p>
          <a:p>
            <a:pPr algn="just">
              <a:spcAft>
                <a:spcPts val="600"/>
              </a:spcAft>
            </a:pPr>
            <a:r>
              <a:rPr lang="it-CH" sz="1800" b="1" dirty="0">
                <a:latin typeface="Arial" charset="0"/>
                <a:ea typeface="ＭＳ Ｐゴシック" charset="0"/>
                <a:cs typeface="ＭＳ Ｐゴシック" charset="0"/>
              </a:rPr>
              <a:t>Siti web non ufficiali</a:t>
            </a:r>
          </a:p>
          <a:p>
            <a:pPr lvl="1" algn="just">
              <a:spcAft>
                <a:spcPts val="600"/>
              </a:spcAft>
            </a:pPr>
            <a:r>
              <a:rPr lang="it-CH" sz="1800" dirty="0">
                <a:latin typeface="Arial" charset="0"/>
                <a:ea typeface="ＭＳ Ｐゴシック" charset="0"/>
                <a:cs typeface="ＭＳ Ｐゴシック" charset="0"/>
              </a:rPr>
              <a:t>Blog</a:t>
            </a:r>
          </a:p>
          <a:p>
            <a:pPr lvl="1" algn="just">
              <a:spcAft>
                <a:spcPts val="600"/>
              </a:spcAft>
            </a:pPr>
            <a:r>
              <a:rPr lang="it-CH" sz="1800" dirty="0">
                <a:latin typeface="Arial" charset="0"/>
                <a:ea typeface="ＭＳ Ｐゴシック" charset="0"/>
                <a:cs typeface="ＭＳ Ｐゴシック" charset="0"/>
              </a:rPr>
              <a:t>Aggregatori di notizie online (</a:t>
            </a:r>
            <a:r>
              <a:rPr lang="it-CH" sz="1800" dirty="0" err="1">
                <a:latin typeface="Arial" charset="0"/>
                <a:ea typeface="ＭＳ Ｐゴシック" charset="0"/>
                <a:cs typeface="ＭＳ Ｐゴシック" charset="0"/>
              </a:rPr>
              <a:t>Ticinonline</a:t>
            </a:r>
            <a:r>
              <a:rPr lang="it-CH" sz="1800" dirty="0">
                <a:latin typeface="Arial" charset="0"/>
                <a:ea typeface="ＭＳ Ｐゴシック" charset="0"/>
                <a:cs typeface="ＭＳ Ｐゴシック" charset="0"/>
              </a:rPr>
              <a:t>, </a:t>
            </a:r>
            <a:r>
              <a:rPr lang="it-CH" sz="1800" dirty="0" err="1">
                <a:latin typeface="Arial" charset="0"/>
                <a:ea typeface="ＭＳ Ｐゴシック" charset="0"/>
                <a:cs typeface="ＭＳ Ｐゴシック" charset="0"/>
              </a:rPr>
              <a:t>Ticinonews</a:t>
            </a:r>
            <a:r>
              <a:rPr lang="it-CH" sz="1800" dirty="0">
                <a:latin typeface="Arial" charset="0"/>
                <a:ea typeface="ＭＳ Ｐゴシック" charset="0"/>
                <a:cs typeface="ＭＳ Ｐゴシック" charset="0"/>
              </a:rPr>
              <a:t>,…)</a:t>
            </a:r>
          </a:p>
          <a:p>
            <a:pPr lvl="1" algn="just">
              <a:spcAft>
                <a:spcPts val="600"/>
              </a:spcAft>
            </a:pPr>
            <a:r>
              <a:rPr lang="it-CH" sz="1800" dirty="0">
                <a:latin typeface="Arial" charset="0"/>
                <a:ea typeface="ＭＳ Ｐゴシック" charset="0"/>
                <a:cs typeface="ＭＳ Ｐゴシック" charset="0"/>
              </a:rPr>
              <a:t>Forum</a:t>
            </a:r>
          </a:p>
          <a:p>
            <a:pPr lvl="1" algn="just">
              <a:spcAft>
                <a:spcPts val="600"/>
              </a:spcAft>
            </a:pPr>
            <a:r>
              <a:rPr lang="it-CH" sz="1800" dirty="0">
                <a:latin typeface="Arial" charset="0"/>
                <a:ea typeface="ＭＳ Ｐゴシック" charset="0"/>
                <a:cs typeface="ＭＳ Ｐゴシック" charset="0"/>
              </a:rPr>
              <a:t>Enciclopedie libere (Wikipedia, Wikileaks, ecc.)</a:t>
            </a:r>
          </a:p>
          <a:p>
            <a:pPr lvl="1" algn="just">
              <a:spcAft>
                <a:spcPts val="600"/>
              </a:spcAft>
            </a:pPr>
            <a:r>
              <a:rPr lang="it-CH" dirty="0">
                <a:latin typeface="Arial" charset="0"/>
                <a:ea typeface="ＭＳ Ｐゴシック" charset="0"/>
                <a:cs typeface="ＭＳ Ｐゴシック" charset="0"/>
              </a:rPr>
              <a:t>AI (ChatGPT, …)</a:t>
            </a:r>
            <a:endParaRPr lang="it-CH" sz="1800" dirty="0">
              <a:latin typeface="Arial" charset="0"/>
              <a:ea typeface="ＭＳ Ｐゴシック" charset="0"/>
              <a:cs typeface="ＭＳ Ｐゴシック" charset="0"/>
            </a:endParaRPr>
          </a:p>
          <a:p>
            <a:pPr algn="just">
              <a:spcAft>
                <a:spcPts val="600"/>
              </a:spcAft>
            </a:pPr>
            <a:r>
              <a:rPr lang="it-CH" sz="1800" b="1" dirty="0">
                <a:latin typeface="Arial" charset="0"/>
                <a:ea typeface="ＭＳ Ｐゴシック" charset="0"/>
                <a:cs typeface="ＭＳ Ｐゴシック" charset="0"/>
              </a:rPr>
              <a:t>Altri materiali</a:t>
            </a:r>
          </a:p>
          <a:p>
            <a:pPr lvl="1" algn="just">
              <a:spcAft>
                <a:spcPts val="600"/>
              </a:spcAft>
            </a:pPr>
            <a:r>
              <a:rPr lang="it-CH" sz="1800" dirty="0">
                <a:latin typeface="Arial" charset="0"/>
                <a:ea typeface="ＭＳ Ｐゴシック" charset="0"/>
                <a:cs typeface="ＭＳ Ｐゴシック" charset="0"/>
              </a:rPr>
              <a:t>Diapositive di una lezione</a:t>
            </a:r>
          </a:p>
          <a:p>
            <a:pPr lvl="1" algn="just">
              <a:spcAft>
                <a:spcPts val="600"/>
              </a:spcAft>
            </a:pPr>
            <a:r>
              <a:rPr lang="it-CH" dirty="0">
                <a:latin typeface="Arial" charset="0"/>
                <a:ea typeface="ＭＳ Ｐゴシック" charset="0"/>
                <a:cs typeface="ＭＳ Ｐゴシック" charset="0"/>
              </a:rPr>
              <a:t>Tesi di bachelor, master, dottorato</a:t>
            </a:r>
            <a:endParaRPr lang="it-CH" sz="1800" dirty="0">
              <a:latin typeface="Arial" charset="0"/>
              <a:ea typeface="ＭＳ Ｐゴシック" charset="0"/>
              <a:cs typeface="ＭＳ Ｐゴシック" charset="0"/>
            </a:endParaRPr>
          </a:p>
          <a:p>
            <a:pPr marL="0" indent="0" algn="just">
              <a:spcBef>
                <a:spcPts val="1200"/>
              </a:spcBef>
              <a:spcAft>
                <a:spcPts val="600"/>
              </a:spcAft>
              <a:buNone/>
            </a:pPr>
            <a:r>
              <a:rPr lang="it-CH" sz="1800" b="1" dirty="0">
                <a:solidFill>
                  <a:srgbClr val="C00000"/>
                </a:solidFill>
                <a:latin typeface="Arial" charset="0"/>
                <a:ea typeface="ＭＳ Ｐゴシック" charset="0"/>
                <a:cs typeface="ＭＳ Ｐゴシック" charset="0"/>
              </a:rPr>
              <a:t>Queste fonti devono essere analizzate caso per caso in merito alla loro attendibilità </a:t>
            </a:r>
            <a:r>
              <a:rPr lang="it-CH" sz="1800" b="1" dirty="0">
                <a:solidFill>
                  <a:srgbClr val="C00000"/>
                </a:solidFill>
                <a:latin typeface="Arial" charset="0"/>
                <a:ea typeface="ＭＳ Ｐゴシック" charset="0"/>
                <a:cs typeface="ＭＳ Ｐゴシック" charset="0"/>
                <a:sym typeface="Wingdings" panose="05000000000000000000" pitchFamily="2" charset="2"/>
              </a:rPr>
              <a:t> </a:t>
            </a:r>
            <a:r>
              <a:rPr lang="it-CH" sz="1800" b="1" dirty="0">
                <a:solidFill>
                  <a:srgbClr val="C00000"/>
                </a:solidFill>
                <a:latin typeface="Arial" charset="0"/>
                <a:ea typeface="ＭＳ Ｐゴシック" charset="0"/>
                <a:cs typeface="ＭＳ Ｐゴシック" charset="0"/>
              </a:rPr>
              <a:t>utili per entrare in materia, quando non si conosce la tematica da affrontare </a:t>
            </a:r>
          </a:p>
          <a:p>
            <a:pPr lvl="1" algn="just">
              <a:spcAft>
                <a:spcPts val="600"/>
              </a:spcAft>
            </a:pPr>
            <a:endParaRPr lang="it-CH" sz="1800" dirty="0">
              <a:latin typeface="Arial" charset="0"/>
              <a:ea typeface="ＭＳ Ｐゴシック" charset="0"/>
              <a:cs typeface="ＭＳ Ｐゴシック" charset="0"/>
            </a:endParaRPr>
          </a:p>
        </p:txBody>
      </p:sp>
      <p:sp>
        <p:nvSpPr>
          <p:cNvPr id="5" name="Segnaposto numero diapositiva 4"/>
          <p:cNvSpPr>
            <a:spLocks noGrp="1"/>
          </p:cNvSpPr>
          <p:nvPr>
            <p:ph type="sldNum" sz="quarter" idx="12"/>
          </p:nvPr>
        </p:nvSpPr>
        <p:spPr/>
        <p:txBody>
          <a:bodyPr/>
          <a:lstStyle/>
          <a:p>
            <a:fld id="{2D06D53B-7F90-46E4-BB13-BB881782A82C}" type="slidenum">
              <a:rPr lang="it-IT" altLang="it-CH" smtClean="0"/>
              <a:pPr/>
              <a:t>7</a:t>
            </a:fld>
            <a:endParaRPr lang="it-IT" altLang="it-CH"/>
          </a:p>
        </p:txBody>
      </p:sp>
    </p:spTree>
    <p:extLst>
      <p:ext uri="{BB962C8B-B14F-4D97-AF65-F5344CB8AC3E}">
        <p14:creationId xmlns:p14="http://schemas.microsoft.com/office/powerpoint/2010/main" val="3347325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CH" dirty="0">
                <a:latin typeface="Times New Roman" panose="02020603050405020304" pitchFamily="18" charset="0"/>
                <a:ea typeface="ＭＳ Ｐゴシック" charset="0"/>
                <a:cs typeface="Times New Roman" panose="02020603050405020304" pitchFamily="18" charset="0"/>
              </a:rPr>
              <a:t>Perché è necessario verificare l’attendibilità?</a:t>
            </a:r>
            <a:endParaRPr lang="it-CH" dirty="0">
              <a:latin typeface="Times New Roman" panose="02020603050405020304" pitchFamily="18" charset="0"/>
              <a:cs typeface="Times New Roman" panose="02020603050405020304" pitchFamily="18" charset="0"/>
            </a:endParaRPr>
          </a:p>
        </p:txBody>
      </p:sp>
      <p:sp>
        <p:nvSpPr>
          <p:cNvPr id="3" name="Segnaposto contenuto 2"/>
          <p:cNvSpPr>
            <a:spLocks noGrp="1"/>
          </p:cNvSpPr>
          <p:nvPr>
            <p:ph idx="1"/>
          </p:nvPr>
        </p:nvSpPr>
        <p:spPr/>
        <p:txBody>
          <a:bodyPr/>
          <a:lstStyle/>
          <a:p>
            <a:pPr algn="just">
              <a:spcAft>
                <a:spcPts val="600"/>
              </a:spcAft>
            </a:pPr>
            <a:r>
              <a:rPr lang="it-CH" sz="1800" b="1" dirty="0">
                <a:latin typeface="Arial" charset="0"/>
                <a:ea typeface="ＭＳ Ｐゴシック" charset="0"/>
                <a:cs typeface="ＭＳ Ｐゴシック" charset="0"/>
              </a:rPr>
              <a:t>Informazioni non attendibili sono un fenomeno diffuso </a:t>
            </a:r>
            <a:r>
              <a:rPr lang="it-CH" sz="1800" dirty="0">
                <a:latin typeface="Arial" charset="0"/>
                <a:ea typeface="ＭＳ Ｐゴシック" charset="0"/>
                <a:cs typeface="ＭＳ Ｐゴシック" charset="0"/>
              </a:rPr>
              <a:t>– gli esperti sono sempre più preoccupati della qualità delle informazioni reperibili</a:t>
            </a:r>
          </a:p>
          <a:p>
            <a:pPr algn="just">
              <a:spcAft>
                <a:spcPts val="600"/>
              </a:spcAft>
            </a:pPr>
            <a:r>
              <a:rPr lang="it-CH" sz="1800" b="1" dirty="0">
                <a:latin typeface="Arial" charset="0"/>
                <a:ea typeface="ＭＳ Ｐゴシック" charset="0"/>
                <a:cs typeface="ＭＳ Ｐゴシック" charset="0"/>
              </a:rPr>
              <a:t>Fatti vs Opinioni </a:t>
            </a:r>
            <a:r>
              <a:rPr lang="it-CH" sz="1800" dirty="0">
                <a:latin typeface="Arial" charset="0"/>
                <a:ea typeface="ＭＳ Ｐゴシック" charset="0"/>
                <a:cs typeface="ＭＳ Ｐゴシック" charset="0"/>
              </a:rPr>
              <a:t>– essere critici nella valutazione delle fonti, distinguere i fatti dalle opinioni personali </a:t>
            </a:r>
          </a:p>
          <a:p>
            <a:pPr>
              <a:spcAft>
                <a:spcPts val="600"/>
              </a:spcAft>
            </a:pPr>
            <a:r>
              <a:rPr lang="it-CH" sz="1800" b="1" dirty="0"/>
              <a:t>Principio di doppia verifica </a:t>
            </a:r>
            <a:r>
              <a:rPr lang="it-CH" sz="1800" dirty="0"/>
              <a:t>– se siete in dubbio, meglio verificare la fonte originale: p.es. trovate un articolo sul tema che cita lo studio </a:t>
            </a:r>
            <a:r>
              <a:rPr lang="it-CH" sz="1800" dirty="0" err="1"/>
              <a:t>xyz</a:t>
            </a:r>
            <a:r>
              <a:rPr lang="it-CH" sz="1800" dirty="0"/>
              <a:t>, andate a cercarlo </a:t>
            </a:r>
          </a:p>
        </p:txBody>
      </p:sp>
      <p:sp>
        <p:nvSpPr>
          <p:cNvPr id="5" name="Segnaposto numero diapositiva 4"/>
          <p:cNvSpPr>
            <a:spLocks noGrp="1"/>
          </p:cNvSpPr>
          <p:nvPr>
            <p:ph type="sldNum" sz="quarter" idx="12"/>
          </p:nvPr>
        </p:nvSpPr>
        <p:spPr/>
        <p:txBody>
          <a:bodyPr/>
          <a:lstStyle/>
          <a:p>
            <a:fld id="{2D06D53B-7F90-46E4-BB13-BB881782A82C}" type="slidenum">
              <a:rPr lang="it-IT" altLang="it-CH" smtClean="0"/>
              <a:pPr/>
              <a:t>8</a:t>
            </a:fld>
            <a:endParaRPr lang="it-IT" altLang="it-CH"/>
          </a:p>
        </p:txBody>
      </p:sp>
      <p:pic>
        <p:nvPicPr>
          <p:cNvPr id="1026" name="Picture 2" descr="https://o.aolcdn.com/images/dims3/GLOB/crop/6256x3133+0+240/resize/630x315!/format/jpg/quality/85/http%3A%2F%2Fo.aolcdn.com%2Fhss%2Fstorage%2Fmidas%2Fd09337e47b3f710dd96f7c6fee45d136%2F205303404%2Fcomputer-keyboard-with-balloons-fake-or-news-facts-picture-id64980389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2120" y="4725281"/>
            <a:ext cx="3024014" cy="1512007"/>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764608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el 1"/>
          <p:cNvSpPr>
            <a:spLocks noGrp="1"/>
          </p:cNvSpPr>
          <p:nvPr>
            <p:ph type="title"/>
          </p:nvPr>
        </p:nvSpPr>
        <p:spPr>
          <a:xfrm>
            <a:off x="400050" y="729458"/>
            <a:ext cx="8496300" cy="719137"/>
          </a:xfrm>
        </p:spPr>
        <p:txBody>
          <a:bodyPr wrap="square" anchor="t">
            <a:normAutofit/>
          </a:bodyPr>
          <a:lstStyle/>
          <a:p>
            <a:pPr eaLnBrk="1" hangingPunct="1"/>
            <a:r>
              <a:rPr lang="it-CH" dirty="0"/>
              <a:t>Perché avvalersi di fonti attendibili nel lavoro sociale?</a:t>
            </a:r>
          </a:p>
        </p:txBody>
      </p:sp>
      <p:sp>
        <p:nvSpPr>
          <p:cNvPr id="23554" name="Inhaltsplatzhalter 2"/>
          <p:cNvSpPr>
            <a:spLocks noGrp="1"/>
          </p:cNvSpPr>
          <p:nvPr>
            <p:ph sz="half" idx="1"/>
          </p:nvPr>
        </p:nvSpPr>
        <p:spPr>
          <a:xfrm>
            <a:off x="400050" y="1916137"/>
            <a:ext cx="7916366" cy="4321175"/>
          </a:xfrm>
        </p:spPr>
        <p:txBody>
          <a:bodyPr wrap="square" anchor="t">
            <a:normAutofit/>
          </a:bodyPr>
          <a:lstStyle/>
          <a:p>
            <a:pPr marL="0" indent="0">
              <a:lnSpc>
                <a:spcPct val="90000"/>
              </a:lnSpc>
              <a:buNone/>
            </a:pPr>
            <a:r>
              <a:rPr lang="it-CH" sz="2000" dirty="0">
                <a:sym typeface="Wingdings" panose="05000000000000000000" pitchFamily="2" charset="2"/>
              </a:rPr>
              <a:t> </a:t>
            </a:r>
            <a:r>
              <a:rPr lang="it-CH" sz="2000" dirty="0"/>
              <a:t>Andare «oltre una pratica professionale basata sulle opinioni» (Galesi, 2007, p.82)</a:t>
            </a:r>
          </a:p>
          <a:p>
            <a:pPr marL="0" indent="0">
              <a:lnSpc>
                <a:spcPct val="90000"/>
              </a:lnSpc>
              <a:buNone/>
            </a:pPr>
            <a:endParaRPr lang="it-CH" sz="2000" dirty="0"/>
          </a:p>
          <a:p>
            <a:pPr marL="0" indent="0">
              <a:lnSpc>
                <a:spcPct val="90000"/>
              </a:lnSpc>
              <a:buNone/>
            </a:pPr>
            <a:r>
              <a:rPr lang="it-CH" sz="2000" dirty="0">
                <a:sym typeface="Wingdings" panose="05000000000000000000" pitchFamily="2" charset="2"/>
              </a:rPr>
              <a:t> c</a:t>
            </a:r>
            <a:r>
              <a:rPr lang="it-CH" sz="2000" dirty="0"/>
              <a:t>on approcci che permettano di integrare il sapere scientifico a delle scelte responsabili al fine di ideare interventi appropriati (</a:t>
            </a:r>
            <a:r>
              <a:rPr lang="it-CH" sz="2000" dirty="0" err="1"/>
              <a:t>Pawson</a:t>
            </a:r>
            <a:r>
              <a:rPr lang="it-CH" sz="2000" dirty="0"/>
              <a:t> et al., 2003, citati in Vecchiato et al., 2007, p.78)</a:t>
            </a:r>
          </a:p>
          <a:p>
            <a:pPr marL="0" indent="0">
              <a:lnSpc>
                <a:spcPct val="90000"/>
              </a:lnSpc>
              <a:buNone/>
            </a:pPr>
            <a:endParaRPr lang="it-CH" sz="2000" dirty="0"/>
          </a:p>
          <a:p>
            <a:pPr marL="0" indent="0">
              <a:lnSpc>
                <a:spcPct val="90000"/>
              </a:lnSpc>
              <a:buFont typeface="Wingdings" panose="05000000000000000000" pitchFamily="2" charset="2"/>
              <a:buChar char="à"/>
            </a:pPr>
            <a:r>
              <a:rPr lang="it-CH" sz="2000" dirty="0"/>
              <a:t> per identificare e raccogliere in modo più o meno sistematico quanto è stato scritto su un determinato argomento.</a:t>
            </a:r>
          </a:p>
        </p:txBody>
      </p:sp>
      <p:sp>
        <p:nvSpPr>
          <p:cNvPr id="23555" name="Foliennummernplatzhalter 4"/>
          <p:cNvSpPr>
            <a:spLocks noGrp="1"/>
          </p:cNvSpPr>
          <p:nvPr>
            <p:ph type="sldNum" sz="quarter" idx="12"/>
          </p:nvPr>
        </p:nvSpPr>
        <p:spPr>
          <a:xfrm>
            <a:off x="8001000" y="188913"/>
            <a:ext cx="819150" cy="476250"/>
          </a:xfrm>
        </p:spPr>
        <p:txBody>
          <a:bodyPr wrap="square" anchor="t">
            <a:normAutofit/>
          </a:bodyPr>
          <a:lstStyle/>
          <a:p>
            <a:pPr>
              <a:spcAft>
                <a:spcPts val="600"/>
              </a:spcAft>
            </a:pPr>
            <a:fld id="{02B2A280-DA5B-4B4A-886C-EED6240975B7}" type="slidenum">
              <a:rPr lang="it-IT" smtClean="0"/>
              <a:pPr>
                <a:spcAft>
                  <a:spcPts val="600"/>
                </a:spcAft>
              </a:pPr>
              <a:t>9</a:t>
            </a:fld>
            <a:endParaRPr lang="it-IT"/>
          </a:p>
        </p:txBody>
      </p:sp>
    </p:spTree>
    <p:extLst>
      <p:ext uri="{BB962C8B-B14F-4D97-AF65-F5344CB8AC3E}">
        <p14:creationId xmlns:p14="http://schemas.microsoft.com/office/powerpoint/2010/main" val="3949724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Foliennummernplatzhalter 4"/>
          <p:cNvSpPr>
            <a:spLocks noGrp="1"/>
          </p:cNvSpPr>
          <p:nvPr>
            <p:ph type="sldNum" sz="quarter" idx="12"/>
          </p:nvPr>
        </p:nvSpPr>
        <p:spPr>
          <a:noFill/>
        </p:spPr>
        <p:txBody>
          <a:bodyPr/>
          <a:lstStyle/>
          <a:p>
            <a:fld id="{2896B416-2827-4C20-82AD-A8AB4AEAE076}" type="slidenum">
              <a:rPr lang="it-IT" smtClean="0">
                <a:ea typeface="ＭＳ Ｐゴシック"/>
                <a:cs typeface="ＭＳ Ｐゴシック"/>
              </a:rPr>
              <a:pPr/>
              <a:t>10</a:t>
            </a:fld>
            <a:endParaRPr lang="it-IT">
              <a:ea typeface="ＭＳ Ｐゴシック"/>
              <a:cs typeface="ＭＳ Ｐゴシック"/>
            </a:endParaRPr>
          </a:p>
        </p:txBody>
      </p:sp>
      <p:sp>
        <p:nvSpPr>
          <p:cNvPr id="25602" name="Rechteck 6"/>
          <p:cNvSpPr>
            <a:spLocks noChangeArrowheads="1"/>
          </p:cNvSpPr>
          <p:nvPr/>
        </p:nvSpPr>
        <p:spPr bwMode="auto">
          <a:xfrm>
            <a:off x="395288" y="765175"/>
            <a:ext cx="7704137" cy="1138773"/>
          </a:xfrm>
          <a:prstGeom prst="rect">
            <a:avLst/>
          </a:prstGeom>
          <a:noFill/>
          <a:ln w="9525">
            <a:noFill/>
            <a:miter lim="800000"/>
            <a:headEnd/>
            <a:tailEnd/>
          </a:ln>
        </p:spPr>
        <p:txBody>
          <a:bodyPr>
            <a:spAutoFit/>
          </a:bodyPr>
          <a:lstStyle/>
          <a:p>
            <a:pPr marL="342900" indent="-342900"/>
            <a:r>
              <a:rPr lang="it-CH" sz="2400" dirty="0">
                <a:solidFill>
                  <a:schemeClr val="accent2"/>
                </a:solidFill>
                <a:latin typeface="Times New Roman" pitchFamily="18" charset="0"/>
              </a:rPr>
              <a:t>Fonti bibliografiche </a:t>
            </a:r>
          </a:p>
          <a:p>
            <a:pPr marL="342900" indent="-342900"/>
            <a:r>
              <a:rPr lang="it-CH" sz="2400" dirty="0">
                <a:solidFill>
                  <a:schemeClr val="accent2"/>
                </a:solidFill>
                <a:latin typeface="Times New Roman" pitchFamily="18" charset="0"/>
              </a:rPr>
              <a:t>cartacee, digitali, elettroniche</a:t>
            </a:r>
            <a:endParaRPr lang="it-CH" dirty="0">
              <a:solidFill>
                <a:schemeClr val="accent2"/>
              </a:solidFill>
            </a:endParaRPr>
          </a:p>
          <a:p>
            <a:pPr marL="800100" lvl="1" indent="-342900">
              <a:buFont typeface="Arial" charset="0"/>
              <a:buNone/>
            </a:pPr>
            <a:endParaRPr lang="it-CH" sz="2000" dirty="0"/>
          </a:p>
        </p:txBody>
      </p:sp>
      <p:pic>
        <p:nvPicPr>
          <p:cNvPr id="25603" name="Picture 12" descr="http://www.libriusatitorino.it/polopoly_fs/1.6945423.1322405767!/httpImage/img.jpg">
            <a:hlinkClick r:id="rId3"/>
          </p:cNvPr>
          <p:cNvPicPr>
            <a:picLocks noChangeAspect="1" noChangeArrowheads="1"/>
          </p:cNvPicPr>
          <p:nvPr/>
        </p:nvPicPr>
        <p:blipFill>
          <a:blip r:embed="rId4"/>
          <a:srcRect/>
          <a:stretch>
            <a:fillRect/>
          </a:stretch>
        </p:blipFill>
        <p:spPr bwMode="auto">
          <a:xfrm>
            <a:off x="7345363" y="44450"/>
            <a:ext cx="2339975" cy="2232025"/>
          </a:xfrm>
          <a:prstGeom prst="rect">
            <a:avLst/>
          </a:prstGeom>
          <a:noFill/>
          <a:ln w="9525">
            <a:noFill/>
            <a:miter lim="800000"/>
            <a:headEnd/>
            <a:tailEnd/>
          </a:ln>
        </p:spPr>
      </p:pic>
      <p:sp>
        <p:nvSpPr>
          <p:cNvPr id="25604" name="Rechteck 6"/>
          <p:cNvSpPr>
            <a:spLocks noChangeArrowheads="1"/>
          </p:cNvSpPr>
          <p:nvPr/>
        </p:nvSpPr>
        <p:spPr bwMode="auto">
          <a:xfrm>
            <a:off x="395288" y="2060575"/>
            <a:ext cx="6659562" cy="1371600"/>
          </a:xfrm>
          <a:prstGeom prst="rect">
            <a:avLst/>
          </a:prstGeom>
          <a:noFill/>
          <a:ln w="9525">
            <a:noFill/>
            <a:miter lim="800000"/>
            <a:headEnd/>
            <a:tailEnd/>
          </a:ln>
        </p:spPr>
        <p:txBody>
          <a:bodyPr>
            <a:spAutoFit/>
          </a:bodyPr>
          <a:lstStyle/>
          <a:p>
            <a:pPr marL="342900" indent="-342900"/>
            <a:r>
              <a:rPr lang="it-CH" sz="2000" dirty="0"/>
              <a:t>1. Fonti </a:t>
            </a:r>
            <a:r>
              <a:rPr lang="it-CH" sz="2000" b="1" dirty="0"/>
              <a:t>propriamente</a:t>
            </a:r>
            <a:r>
              <a:rPr lang="it-CH" sz="2000" dirty="0"/>
              <a:t> elettroniche : pagine web</a:t>
            </a:r>
          </a:p>
          <a:p>
            <a:pPr marL="342900" indent="-342900"/>
            <a:r>
              <a:rPr lang="it-CH" sz="2000" dirty="0"/>
              <a:t>2. Fonti bibliografiche classiche (cartacee)</a:t>
            </a:r>
          </a:p>
          <a:p>
            <a:pPr marL="342900" indent="-342900"/>
            <a:r>
              <a:rPr lang="it-CH" sz="2000" dirty="0"/>
              <a:t>3. Fonti bibliografiche digitali, </a:t>
            </a:r>
            <a:r>
              <a:rPr lang="it-CH" sz="2000" b="1" dirty="0"/>
              <a:t>reperibili</a:t>
            </a:r>
            <a:r>
              <a:rPr lang="it-CH" sz="2000" dirty="0"/>
              <a:t> elettronicamente</a:t>
            </a:r>
            <a:r>
              <a:rPr lang="it-CH" sz="2400" b="1" dirty="0"/>
              <a:t> </a:t>
            </a:r>
            <a:br>
              <a:rPr lang="it-CH" sz="2400" dirty="0"/>
            </a:br>
            <a:r>
              <a:rPr lang="it-CH" sz="2000" dirty="0"/>
              <a:t>(versione PDF, E-books, …)</a:t>
            </a:r>
          </a:p>
        </p:txBody>
      </p:sp>
      <p:sp>
        <p:nvSpPr>
          <p:cNvPr id="25605" name="Rechteck 6"/>
          <p:cNvSpPr>
            <a:spLocks noChangeArrowheads="1"/>
          </p:cNvSpPr>
          <p:nvPr/>
        </p:nvSpPr>
        <p:spPr bwMode="auto">
          <a:xfrm>
            <a:off x="395288" y="3644900"/>
            <a:ext cx="8135937" cy="1616075"/>
          </a:xfrm>
          <a:prstGeom prst="rect">
            <a:avLst/>
          </a:prstGeom>
          <a:noFill/>
          <a:ln w="9525">
            <a:noFill/>
            <a:miter lim="800000"/>
            <a:headEnd/>
            <a:tailEnd/>
          </a:ln>
        </p:spPr>
        <p:txBody>
          <a:bodyPr>
            <a:spAutoFit/>
          </a:bodyPr>
          <a:lstStyle/>
          <a:p>
            <a:pPr marL="342900" indent="-342900"/>
            <a:r>
              <a:rPr lang="it-CH" sz="2000" b="1"/>
              <a:t>Perché è importante distinguere la natura delle fonti?</a:t>
            </a:r>
          </a:p>
          <a:p>
            <a:pPr marL="342900" indent="-342900"/>
            <a:endParaRPr lang="it-CH" sz="2000" b="1"/>
          </a:p>
          <a:p>
            <a:pPr marL="342900" indent="-342900">
              <a:buFontTx/>
              <a:buChar char="-"/>
            </a:pPr>
            <a:r>
              <a:rPr lang="it-CH" sz="2000"/>
              <a:t>Diverso grado di stabilità nel tempo</a:t>
            </a:r>
          </a:p>
          <a:p>
            <a:pPr marL="342900" indent="-342900">
              <a:buFontTx/>
              <a:buChar char="-"/>
            </a:pPr>
            <a:r>
              <a:rPr lang="it-CH" sz="2000"/>
              <a:t>Diverso grado di reperibilità</a:t>
            </a:r>
          </a:p>
          <a:p>
            <a:pPr marL="342900" indent="-342900">
              <a:buFontTx/>
              <a:buChar char="-"/>
            </a:pPr>
            <a:r>
              <a:rPr lang="it-CH" sz="2000"/>
              <a:t>Diverso grado di trasparenza</a:t>
            </a:r>
          </a:p>
        </p:txBody>
      </p:sp>
      <p:pic>
        <p:nvPicPr>
          <p:cNvPr id="25606" name="Picture 2" descr="https://encrypted-tbn0.gstatic.com/images?q=tbn:ANd9GcSfTsq5d3cKCUqSqR2V-J5Z7grIqlR9Dzv5zhitHXkrDjeFsp2Q"/>
          <p:cNvPicPr>
            <a:picLocks noChangeAspect="1" noChangeArrowheads="1"/>
          </p:cNvPicPr>
          <p:nvPr/>
        </p:nvPicPr>
        <p:blipFill>
          <a:blip r:embed="rId5"/>
          <a:srcRect/>
          <a:stretch>
            <a:fillRect/>
          </a:stretch>
        </p:blipFill>
        <p:spPr bwMode="auto">
          <a:xfrm>
            <a:off x="5435600" y="188913"/>
            <a:ext cx="1916113" cy="1800225"/>
          </a:xfrm>
          <a:prstGeom prst="rect">
            <a:avLst/>
          </a:prstGeom>
          <a:noFill/>
          <a:ln w="9525">
            <a:noFill/>
            <a:miter lim="800000"/>
            <a:headEnd/>
            <a:tailEnd/>
          </a:ln>
        </p:spPr>
      </p:pic>
      <p:sp>
        <p:nvSpPr>
          <p:cNvPr id="25608" name="AutoShape 8"/>
          <p:cNvSpPr>
            <a:spLocks/>
          </p:cNvSpPr>
          <p:nvPr/>
        </p:nvSpPr>
        <p:spPr bwMode="auto">
          <a:xfrm>
            <a:off x="5003800" y="4292600"/>
            <a:ext cx="288925" cy="1152525"/>
          </a:xfrm>
          <a:prstGeom prst="rightBrace">
            <a:avLst>
              <a:gd name="adj1" fmla="val 33242"/>
              <a:gd name="adj2" fmla="val 50000"/>
            </a:avLst>
          </a:prstGeom>
          <a:noFill/>
          <a:ln w="9525">
            <a:solidFill>
              <a:schemeClr val="tx1"/>
            </a:solidFill>
            <a:round/>
            <a:headEnd/>
            <a:tailEnd/>
          </a:ln>
          <a:effectLst/>
        </p:spPr>
        <p:txBody>
          <a:bodyPr wrap="none" anchor="ctr"/>
          <a:lstStyle/>
          <a:p>
            <a:endParaRPr lang="it-CH"/>
          </a:p>
        </p:txBody>
      </p:sp>
      <p:sp>
        <p:nvSpPr>
          <p:cNvPr id="25609" name="Text Box 9"/>
          <p:cNvSpPr txBox="1">
            <a:spLocks noChangeArrowheads="1"/>
          </p:cNvSpPr>
          <p:nvPr/>
        </p:nvSpPr>
        <p:spPr bwMode="auto">
          <a:xfrm>
            <a:off x="5775325" y="4529138"/>
            <a:ext cx="2927350" cy="641350"/>
          </a:xfrm>
          <a:prstGeom prst="rect">
            <a:avLst/>
          </a:prstGeom>
          <a:noFill/>
          <a:ln w="9525">
            <a:noFill/>
            <a:miter lim="800000"/>
            <a:headEnd/>
            <a:tailEnd/>
          </a:ln>
          <a:effectLst/>
        </p:spPr>
        <p:txBody>
          <a:bodyPr wrap="none">
            <a:spAutoFit/>
          </a:bodyPr>
          <a:lstStyle/>
          <a:p>
            <a:r>
              <a:rPr lang="it-IT" i="1"/>
              <a:t>Diverso modo di scrivere il </a:t>
            </a:r>
          </a:p>
          <a:p>
            <a:r>
              <a:rPr lang="it-IT" i="1"/>
              <a:t>riferimento bibliografico </a:t>
            </a:r>
          </a:p>
        </p:txBody>
      </p:sp>
    </p:spTree>
    <p:extLst>
      <p:ext uri="{BB962C8B-B14F-4D97-AF65-F5344CB8AC3E}">
        <p14:creationId xmlns:p14="http://schemas.microsoft.com/office/powerpoint/2010/main" val="841730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529" name="Titel 1"/>
          <p:cNvSpPr>
            <a:spLocks noGrp="1"/>
          </p:cNvSpPr>
          <p:nvPr>
            <p:ph type="title"/>
          </p:nvPr>
        </p:nvSpPr>
        <p:spPr/>
        <p:txBody>
          <a:bodyPr/>
          <a:lstStyle/>
          <a:p>
            <a:r>
              <a:rPr lang="it-CH" dirty="0"/>
              <a:t>Le diverse fonti – sistema di gestione dei riferimenti bibliografici in Word</a:t>
            </a:r>
          </a:p>
        </p:txBody>
      </p:sp>
      <p:sp>
        <p:nvSpPr>
          <p:cNvPr id="6" name="Inhaltsplatzhalter 2"/>
          <p:cNvSpPr>
            <a:spLocks noGrp="1"/>
          </p:cNvSpPr>
          <p:nvPr>
            <p:ph sz="half" idx="1"/>
          </p:nvPr>
        </p:nvSpPr>
        <p:spPr/>
        <p:txBody>
          <a:bodyPr/>
          <a:lstStyle/>
          <a:p>
            <a:r>
              <a:rPr lang="it-CH" dirty="0"/>
              <a:t>Libro </a:t>
            </a:r>
          </a:p>
          <a:p>
            <a:r>
              <a:rPr lang="it-CH" dirty="0"/>
              <a:t>Sezione di libro </a:t>
            </a:r>
          </a:p>
          <a:p>
            <a:r>
              <a:rPr lang="it-CH" dirty="0"/>
              <a:t>Articolo di journal</a:t>
            </a:r>
          </a:p>
          <a:p>
            <a:r>
              <a:rPr lang="it-CH" dirty="0"/>
              <a:t>Articolo di periodico</a:t>
            </a:r>
          </a:p>
          <a:p>
            <a:r>
              <a:rPr lang="it-CH" dirty="0"/>
              <a:t>Atti di convegno </a:t>
            </a:r>
          </a:p>
          <a:p>
            <a:r>
              <a:rPr lang="it-CH" dirty="0"/>
              <a:t>Relazione</a:t>
            </a:r>
          </a:p>
          <a:p>
            <a:r>
              <a:rPr lang="it-CH" dirty="0"/>
              <a:t>Sito web</a:t>
            </a:r>
          </a:p>
          <a:p>
            <a:r>
              <a:rPr lang="it-CH" dirty="0"/>
              <a:t>Documento da sito web</a:t>
            </a:r>
          </a:p>
          <a:p>
            <a:r>
              <a:rPr lang="it-CH" dirty="0"/>
              <a:t>Supporto elettronico</a:t>
            </a:r>
          </a:p>
          <a:p>
            <a:r>
              <a:rPr lang="it-CH" dirty="0"/>
              <a:t>Opera d’arte</a:t>
            </a:r>
          </a:p>
          <a:p>
            <a:endParaRPr lang="it-CH" dirty="0"/>
          </a:p>
          <a:p>
            <a:endParaRPr lang="it-CH" dirty="0"/>
          </a:p>
          <a:p>
            <a:endParaRPr lang="it-CH" dirty="0"/>
          </a:p>
        </p:txBody>
      </p:sp>
      <p:sp>
        <p:nvSpPr>
          <p:cNvPr id="10" name="Segnaposto contenuto 9"/>
          <p:cNvSpPr>
            <a:spLocks noGrp="1"/>
          </p:cNvSpPr>
          <p:nvPr>
            <p:ph sz="half" idx="2"/>
          </p:nvPr>
        </p:nvSpPr>
        <p:spPr/>
        <p:txBody>
          <a:bodyPr/>
          <a:lstStyle/>
          <a:p>
            <a:r>
              <a:rPr lang="it-CH" dirty="0"/>
              <a:t>Registrazione audio</a:t>
            </a:r>
          </a:p>
          <a:p>
            <a:r>
              <a:rPr lang="it-CH" dirty="0"/>
              <a:t>Spettacolo </a:t>
            </a:r>
          </a:p>
          <a:p>
            <a:r>
              <a:rPr lang="it-CH" dirty="0"/>
              <a:t>Film</a:t>
            </a:r>
          </a:p>
          <a:p>
            <a:r>
              <a:rPr lang="it-CH" dirty="0"/>
              <a:t>Intervista</a:t>
            </a:r>
          </a:p>
          <a:p>
            <a:r>
              <a:rPr lang="it-CH" dirty="0"/>
              <a:t>Brevetto</a:t>
            </a:r>
          </a:p>
          <a:p>
            <a:r>
              <a:rPr lang="it-CH" dirty="0"/>
              <a:t>Sentenza</a:t>
            </a:r>
          </a:p>
          <a:p>
            <a:r>
              <a:rPr lang="it-CH" dirty="0"/>
              <a:t>Varie</a:t>
            </a:r>
          </a:p>
          <a:p>
            <a:endParaRPr lang="it-CH" dirty="0"/>
          </a:p>
          <a:p>
            <a:endParaRPr lang="it-CH" dirty="0"/>
          </a:p>
        </p:txBody>
      </p:sp>
      <p:sp>
        <p:nvSpPr>
          <p:cNvPr id="22532" name="Foliennummernplatzhalter 4"/>
          <p:cNvSpPr>
            <a:spLocks noGrp="1"/>
          </p:cNvSpPr>
          <p:nvPr>
            <p:ph type="sldNum" sz="quarter" idx="12"/>
          </p:nvPr>
        </p:nvSpPr>
        <p:spPr/>
        <p:txBody>
          <a:bodyPr/>
          <a:lstStyle/>
          <a:p>
            <a:fld id="{14A87FB2-5A67-4FFA-B09C-451D830FEEC3}" type="slidenum">
              <a:rPr lang="it-IT" smtClean="0"/>
              <a:pPr/>
              <a:t>11</a:t>
            </a:fld>
            <a:endParaRPr lang="it-IT"/>
          </a:p>
        </p:txBody>
      </p:sp>
      <p:sp>
        <p:nvSpPr>
          <p:cNvPr id="16386" name="AutoShape 2" descr="data:image/jpeg;base64,/9j/4AAQSkZJRgABAQAAAQABAAD/2wCEAAkGBhQSEBUUEBIWFRQVFRQVFxUXFBQXFxYVGRQVFRUUFRUYHSYeFxkjGRQUHy8gJCcpLCwsFR4xNTAqNSYrLCkBCQoKDgwOFw8PGiwkHx8xLSwsNSksLiwtKi8pLCkpLCwpKiwsKSksLCwsLCwtLywsLCwpLyksLCwpKSwsKSwqLP/AABEIAMkA3AMBIgACEQEDEQH/xAAcAAEAAQUBAQAAAAAAAAAAAAAABQIDBAYHAQj/xAA+EAABAwIEAwUFBQcDBQAAAAABAAIDBBEFEiExBkFhByJRcYETMpGhsRRCUmLRIzNDU4LB8BUk4RY0Y3Ki/8QAGgEBAAMBAQEAAAAAAAAAAAAAAAIDBAEFBv/EADARAAICAQIEBAUDBQEAAAAAAAABAgMRBCESMUFREyJhcQUygdHwkaHBFCOx4fFS/9oADAMBAAIRAxEAPwDuCIiAIiIAiIgCIiAIixcSxOOCMyTPDGN3J+g8T0QGVdWKuujibmle1jfFzgB81yfijtiebto2hjds7rF56gbNXMMUxyaocXTSvefzOJ+v9kB3+t7VKCM2EpefyNNvibK1T9rNG42PtG9S0H6FfOpcqmykbFAfVeGcQQVA/Yytd02PwOqkbr5SosakjILXEEcwV1bgLtYzubDWO3sGyHfpm8fNAdXReNdfZeoAiIgCIiAIiIAiIgCIiAIiIAiIgCIiAIiIDxxXz52gcYPqqlwvaJhLWN5aG2Y9Su/1Q7jrb5XfQr5OxclszwdLOI+aApmmurRCxy9eh5QGQGLxWfbFUukKAuSSWCx2zm9wdlWIi7YEqgx23QH0l2Q8QuqsOHtDd8LjESdyAAW39D8lu65d2CUxbRyk/eeD8iuooAiIgCIiAIiIAiIgCIiAIiIAiIgCIiAIiIAQvnPtM4eyVL3sGhJ+N19GLlnaFSAyu05ldQOFF3ivPaKYxXCBclqhX0DxyXAVsdcgeJt8V2PgLs8ow0TVMsczt8ucFjdL6i+pC4yyld4FXmU772Ga3qPouoHauNeOqGjjMVGyGSUgizGNLGdXEaHnoFx7DqJ1RLtoTc6fRXoMFGYG5t5c1ufDdA1ljZd5nDrXZ3hwhpco6fRbSofhVv8Atx5qYUToREQBERAEREAREQBERAEREAREQBERAEREAXOu0KK0hPiLroq1Pj/CTJD7RguWjvDnl8V1A4pXt1Ki3hStfuVGOQFLbeCusAVACuxhAZUAF9lseD6uF1rsLVtHDFG6WVrIwSSdfADxPgug67w221O3rcqUVijphHG1g+6AP1KvqICIiAIiIAiIgCIiAIiIAiIgCIiAIiIAiIgC8IXqIDnnGnZgJs0tIQyTUmM6Mcfyke4VxitcYpXRTNMcjTYh23odiOq+qiF849tEZbXBpJtY2+PL0QlFZeCDa7w19QrrTbcgeZC1eI67qTZTF3IrnEWqrubHgsPt6iOCM5nyODRbYeJJ8AAT6L6B4f4eipIwyJutu847uPX9FxbsZEbK2aadzWNghNi4gd57g31Ng4eq3jH+16Nt20bPaO/G+4Z6Dc/JV+IorMmaY6Kd0lGmLfr/ALOhzzta0ue4NaNyTYDzJWkY/wBrFPDdtOPbv2uNGD+rn6Ll2N8R1FU69RK5w5N2aPJo0UVfwVEtQ3tE9ij4JGG9zz6Ll9yfxjjerqXXfMWNBuGs7rR4bak+a6BwF2iCe0FWbS7Mk5SdHeD/AJFcfLkbJr5f5p4KmNkk8m+/Q021+HjGOWOh9Q3Xq5p2fdo4flp6t3f0DJSfe8GvPJ3XmulArfCamso+Q1Gnnp58E/8Ap6iIpmcIiIAiIgCIiAIiIAiIgCIiAIiIAvn3t4t9sb5EfILtWMcWU1M5rJpmh7yGtjHeeSTb3Ry6lfP3azivtqu/hmPoSAPonQktmapg8Ic/W9gtmMWnd8RooLAm2Dj1AU3Tyapg65vJG4eCJZGka/8AP/KkRdYFU/2dYfCS3wIsPmFJuXnXrEz7P4TYp6dLqiheEoEVJ6bTKSV4Qqill0hgNC6f2fdpFstPWP8AARyn5MkP0PxXMo4XPOVjXOcdmtFz8FItwRkQzVcoZYfumWc89HHZn1U4OUXlGTV013x8Oa9u69j6OBXq0Tsv4n+0skisQ2HIGZiXOym47zzubhb2vRjJSWT4q+l02OEugREUikIiIAiIgCIiAIipdIALnQDmdkBUvLrTOI+1OkprtjPt5BplZ7oP5n7fBcu4j7Rayru0yeyjP8OO7dPzO3cq5WRRtq0Vtm+ML1Ot8Sdo9HR3DpPaSD+HHZzv6js31K5RxL2v1dTdsH+3jOncN5COsh29Fp3sl4YVU7cm6Pw9RRYFW4SCS5Lw4OzEkkuGoJJ6rGxvE/tEmexBtYjrrssmaBRMg1KtjLKMN9Li9yRw2pa1liQNVnw4k0kWKgIrfeBPlupigZGNWtJPVWZMnCzMxNoc6H8Wf/5tc3Wco2FhLy46nYeAHRZ4OiwXy4pH1vwiqVVLb6sOKoV6lpnyuyxMc93gBt5+HqpgcPRxWNXIL/y4yCfJz+XpfzVGD13LfHUhaeFz3BsbS5x5NBJ+WylTg7IbGrkt/wCNhBd5Of7o9LlUVFeS0x037Nh3DRluPzO3d6lWIqC/7xxd0OysjFMy228PzfsZUmNuLclHGIWHQlt8zh4uf7zvosSLB7m7zfpyUlHGBsFcAVqh3MNmobXDHZG9dk8AaZ7DS0f1cuirR+y+AiKZxG72gdbNP6reFqr5HzerebZfnQIiKZlCIiAIipc5Aekq1UVbWNLnuDWjdziAB6lRnEuKvhgLorZybNzbXseXPZcHxzG6mpeftMjnEE929mtPMBuwVVlqgehotC9U3vhL9TqPEHa9BFdtKPbP/FqGD13d6LmmP8Y1VXf20xyn+Gzus+A39VD+zXhWOV0pH1Gn+HU0rKW/d8y0RbkvHBVlLKvJp8JFoMVbWKsNVLo04h4O2cFRh0WBU4cDyWeySypfJdSUmuRVKiEvmSIpuEi+5WdBTZRa+izcMwySd2WGMu8T90f+zjoFMnDKWm/7mX20n8qMnJf80n6BS45vqVLTaeD2jlkPQYdJM7LAxzz0Gg6l2wHmpj/SoIBerlzv/kxEW8nSfp8VYqsflmaI4miKIfcZ3W+Ztv6rDZRNGrtT8lxInOxLm/ovv+e5JT8Qvc32dOwQxfhYMoPUndx81hiO/vHN9F486aLyFykkip2za8uy9C9mV6J6t5FfhgUyhxMiNXQ1ZmG4JJKQGNJ6roXDvBMUQDpm537973R/Tspxi5GK6+urnzMvgOlyUTLixcXO9L2HyC2NUsHgqlpSwsHg2T45OXcIiLpAIiICklWnvXsj1iTyrqOEJxjDmiYfwv8AqLFcu4mwq49qzf748Ryd/ZdPx2pBhcCbADNfwtqtPpjcjncf2us9sOJ4N2k1EqJKcehzwqm6neKcIELg9vuvJ7ttGnTn4HX4KAWBrDwz7ei2N0FZHqVAqkheFe3XCzPcALyyy6DCJpv3TCRzfswebjopE0VLTazuNRJ/LZdsYPV27l1LJCVkVslkjMOwqWodlgjLvE7Nb1c46BSjcNpaYZql/t5R/CYTkBH4n273orVZxFNM3JG0RRbBjAGgefisSKhG51KsUexkstS+Z/Rfcv1fEE8zcjAIouTGNyNt1tqfVY8WHgau7x6rKcQAscz66qaS6mZ2SaxHZF0EDRWpGq4Y76heNfyRsVwKIjrYhZLKXXRSGGYC+YjI0+a37BOz4AAza9FKMHIpv1VVPXc0rDcEfKRlafNbxgvAIFjL8FuFHhscYsxoCybLTGtI8O7XWWbR2RjUeHMjFmNAWSiXVhgbKgvQViy18bb5nt7oudQbDxI5Ba5N2gxZwI43uFxdxs3S+pA3OihKcY82aadLdd8kWzb0VEUgIBGxFx5FVqZmCIiAxJSoytfoVKytUZWRKRw1TFZyFG0bW2Ib5/50U5iNJoVp+ISOhlDxq0aPHi2/vDqFXPuXV7vBKVlI2ZhY8aH5HkQud4hQOgeWO5bHkR4ro8coe0OaQRuD4hYGMUDXgPcwPyG+UjRw8FRZWpLJ6eg1ktPPD5M0rDsJmqDaFhcBu491jernnRSjaekpdZnColH3WkiIHqd3/JYOIcQT1AyD9nENmNGVo9BoVjwYeBq7U+KzKB9DZf8A+n9F9/sZtfxFPUANH7OMbMaA1oHQBY0NHzOp6q+1q9up8K5mZ3Se0dl6FwMVmSSxV1kitztuutkIwy9y3Isd8ZKlqDDJJjljYXHx5D1W78O9mVu9Ob/l5D9UUZS5Cy+rTrzPfsaHhWETTOAiYT4m2g9V0PAuzUAh8+p005LeKDCI4QAxoFugVypro4/fka3zcB8lojUo8zxrviFlr4a1henMoosMjiFmNAt0WWonGOImQRCQD2gJsMpFr9StfoeNJ5pg1kbbfhFySPMrsrYReGU1aG+6LsS2Xd9jdS4Dc281j11e2JmZ50uBtzOy1jjuH904EtcSGi5Nr6H0Ivur2E4iKqKSlqdJmtLTfnbZ46jT6rni+Zx/QnHRf2o3ZyuuOaWcZ9Sd/wBSDoxJHZzdc3QDf4FQOMU01YGupZf2ZBuM5bqORA8lrmHVNTA98TNTHmzRfjaNHWHOw10WdwTjeSZ0R0ZKSW3+6/wJ6j5hU+Mp4i9snpf0MtMpW1NScd112fdfumV8HYU0zSCRxD2Xa5n4mnQhxO4uqccwn7C9ksPeBzDvAGx3HyPyUxiuFOZWMqIzYH39dNrEeo+YU3W0jKiEt3a7UHqNtfkiq8rj1XIrs1zVsbW8wmt125pr+TB4SqppIi+c+8e7y7qnwVpFZhlW8tZCXxxNGX3w0C3McyFuFC1wjaJCC4ABxF7E+KvrbxjsedrK4qXiRa83RdC+iIrTCWXhYs0aznBWXtXUCBrKbRapjeH3BW+VEN1B4hR3RnUc4wuu9jJ7J+jHHu3+67w8itjcNLHY3UPxHhG5ATh3E87fZSHvtGh5lo29QqcYNXzrPX83NeqY8sjxbZx+qous/GYbTv8AO/xCj3DwVTPXrbaTPXlWDMr8MJebNH9gPM8lsUPB7Yo2zVRc5hNg2MXBPVyreWbFKEWk+b5Jc2QFDRPmdljaSeg09St4wDszLgHVJ/pG3qeamKSrjjoDPRxta5jgHNcAS3W39wbq9S4qa+mmjIyvZZzbG126c/ipR4F6sy3T1E02vLFPD7r8z0JjD2UkBEbHxh3Jt239FZ4o4lNNlbG3NI+5F9gAbbDdaxW8OQxUznGS0zbGwcCDc6ADfx1V+dz5YKaocC4sJif1Ad3XJK6WGsYZCvQ08cbMuUctPO2XjK+jJPDeMnBwZWsyF1srsrmjXmb8uoURiNLGMQc2rJEZFw4G2lrtJI3HJbHxLAypojIyxyjO0+XvN/zwUU5rZ8PbI9uZ0XcJtchnJ3K9u6fiuTUn5W8439yWnlWv7kYuPE+CSXR9Gizwk1pq5Y2ftINXDML7EZXm/mQpHiiIU74qiJobZwa6wtceBt4i6iv9NcyJlXR3aWi0kYvoRu4DmNiR1WyUr/t1GRIwsJFjcEDNuHtvyXILMXDrzQ1MlG6N+cw+WS69nlfyW+Kqf7RRh8fetlkbbci1j9fktVkpquZ4nEZaY2gZ2gA93S5ue8dNbLccEwWSOnMMzw4G9rcgeXXXVS8UIa0NGw6fFWyqdm72MleuWlTrglJJvDfZmozYdLO6KrhGWUWztOgdbY36i4WVi3BrZniWJ3sXmxcALi+9wB94LZ2tttoqgFPwYtbmb+vtTThtjKXt2fdLoY76UOZlk72gudrkc+iuQU4Y0NYAGjYBXQ1VWVuDDxPGCgNVQC9RdOBERACqHNVaIDFfGsKoprqVc1W3RroNQxPCcwOi59i+FOglD2gixv8AqF2mSkBUbWcONk3AUWsk4T4Xk5RidO6Z7HxguzNGw1BB2KncE7PXvsZdB4LoGH8OxxDRo+AUm1ltlFQXU0PVS4eGJrc3BcP2Z8TWC5bofzDVp+P1UFgINRSz0r9Xs77L73B1b6EW9V0FaXU032bE2yDRkt3H10ePjYqm6OGn05P6m3QXOUJ153Xmj7x+6New6UxRONrxyB0MzfwuteN1v890rOwGsFOYZz7pDoZOjgRYnzaWn0U1WYQxlU6PKTHUtIdYE5XElzXi21nXVjDOEpTBNBNZoL2ujdv3hoXWBvqFmjXKLWOh6tmrpsg3PZSxn1T2/Vf4SLOLQM/1BjJrmN9iCDYEH3dfAFbrHRMaz2bWgN2AH+bqN/6ajeyET3e6IWDhdtxpv4jQKYa1bK68Nt9TwdVqVZGEYt+XZ9uezXuaRXcLVQkcIH/snOvbOWj1atvpKQNjDSL6AHnfSx5arKyr3KpRrUW2V36uy6KjLG3br7lmKBrdGiw8ArmVVhq9srDI3ndlGVe2VVkQHll7ZEQBERAEREAREQBERAEsiIDzKmVeogPMqZV6iApyrGqcPZIWmRodlNxfl4rLXi41k6pOLyigMVWVer1dOFOVe2XqIAiIgCIiAIiIAiIgCIiAIiIAiIgP/9k="/>
          <p:cNvSpPr>
            <a:spLocks noChangeAspect="1" noChangeArrowheads="1"/>
          </p:cNvSpPr>
          <p:nvPr/>
        </p:nvSpPr>
        <p:spPr bwMode="auto">
          <a:xfrm>
            <a:off x="63500" y="-38417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it-CH"/>
          </a:p>
        </p:txBody>
      </p:sp>
    </p:spTree>
    <p:extLst>
      <p:ext uri="{BB962C8B-B14F-4D97-AF65-F5344CB8AC3E}">
        <p14:creationId xmlns:p14="http://schemas.microsoft.com/office/powerpoint/2010/main" val="1019661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el 1"/>
          <p:cNvSpPr>
            <a:spLocks noGrp="1"/>
          </p:cNvSpPr>
          <p:nvPr>
            <p:ph type="title"/>
          </p:nvPr>
        </p:nvSpPr>
        <p:spPr>
          <a:xfrm>
            <a:off x="323850" y="908050"/>
            <a:ext cx="8496300" cy="719138"/>
          </a:xfrm>
        </p:spPr>
        <p:txBody>
          <a:bodyPr/>
          <a:lstStyle/>
          <a:p>
            <a:pPr eaLnBrk="1" hangingPunct="1"/>
            <a:r>
              <a:rPr lang="it-CH" dirty="0">
                <a:ea typeface="ＭＳ Ｐゴシック"/>
                <a:cs typeface="ＭＳ Ｐゴシック"/>
              </a:rPr>
              <a:t>Biblioteca e Internet: differenze</a:t>
            </a:r>
          </a:p>
        </p:txBody>
      </p:sp>
      <p:graphicFrame>
        <p:nvGraphicFramePr>
          <p:cNvPr id="5" name="Segnaposto contenuto 4"/>
          <p:cNvGraphicFramePr>
            <a:graphicFrameLocks noGrp="1"/>
          </p:cNvGraphicFramePr>
          <p:nvPr>
            <p:ph idx="1"/>
          </p:nvPr>
        </p:nvGraphicFramePr>
        <p:xfrm>
          <a:off x="323850" y="1628775"/>
          <a:ext cx="8496300" cy="3845560"/>
        </p:xfrm>
        <a:graphic>
          <a:graphicData uri="http://schemas.openxmlformats.org/drawingml/2006/table">
            <a:tbl>
              <a:tblPr firstRow="1" bandRow="1">
                <a:tableStyleId>{5C22544A-7EE6-4342-B048-85BDC9FD1C3A}</a:tableStyleId>
              </a:tblPr>
              <a:tblGrid>
                <a:gridCol w="4248150">
                  <a:extLst>
                    <a:ext uri="{9D8B030D-6E8A-4147-A177-3AD203B41FA5}">
                      <a16:colId xmlns:a16="http://schemas.microsoft.com/office/drawing/2014/main" val="20000"/>
                    </a:ext>
                  </a:extLst>
                </a:gridCol>
                <a:gridCol w="4248150">
                  <a:extLst>
                    <a:ext uri="{9D8B030D-6E8A-4147-A177-3AD203B41FA5}">
                      <a16:colId xmlns:a16="http://schemas.microsoft.com/office/drawing/2014/main" val="20001"/>
                    </a:ext>
                  </a:extLst>
                </a:gridCol>
              </a:tblGrid>
              <a:tr h="370840">
                <a:tc>
                  <a:txBody>
                    <a:bodyPr/>
                    <a:lstStyle/>
                    <a:p>
                      <a:r>
                        <a:rPr lang="it-CH" dirty="0"/>
                        <a:t>biblioteca</a:t>
                      </a:r>
                    </a:p>
                  </a:txBody>
                  <a:tcPr/>
                </a:tc>
                <a:tc>
                  <a:txBody>
                    <a:bodyPr/>
                    <a:lstStyle/>
                    <a:p>
                      <a:r>
                        <a:rPr lang="it-CH" dirty="0"/>
                        <a:t>internet</a:t>
                      </a:r>
                    </a:p>
                  </a:txBody>
                  <a:tcPr/>
                </a:tc>
                <a:extLst>
                  <a:ext uri="{0D108BD9-81ED-4DB2-BD59-A6C34878D82A}">
                    <a16:rowId xmlns:a16="http://schemas.microsoft.com/office/drawing/2014/main" val="10000"/>
                  </a:ext>
                </a:extLst>
              </a:tr>
              <a:tr h="370840">
                <a:tc>
                  <a:txBody>
                    <a:bodyPr/>
                    <a:lstStyle/>
                    <a:p>
                      <a:r>
                        <a:rPr lang="it-CH" dirty="0"/>
                        <a:t>Le risorse</a:t>
                      </a:r>
                      <a:r>
                        <a:rPr lang="it-CH" baseline="0" dirty="0"/>
                        <a:t> informative vengono selezionate</a:t>
                      </a:r>
                      <a:endParaRPr lang="it-CH" dirty="0"/>
                    </a:p>
                  </a:txBody>
                  <a:tcPr/>
                </a:tc>
                <a:tc>
                  <a:txBody>
                    <a:bodyPr/>
                    <a:lstStyle/>
                    <a:p>
                      <a:r>
                        <a:rPr lang="it-CH" dirty="0"/>
                        <a:t>Molte</a:t>
                      </a:r>
                      <a:r>
                        <a:rPr lang="it-CH" baseline="0" dirty="0"/>
                        <a:t> non sono vagliate da esperti quindi  non garanzia di qualità</a:t>
                      </a:r>
                      <a:endParaRPr lang="it-CH" dirty="0"/>
                    </a:p>
                  </a:txBody>
                  <a:tcPr/>
                </a:tc>
                <a:extLst>
                  <a:ext uri="{0D108BD9-81ED-4DB2-BD59-A6C34878D82A}">
                    <a16:rowId xmlns:a16="http://schemas.microsoft.com/office/drawing/2014/main" val="10001"/>
                  </a:ext>
                </a:extLst>
              </a:tr>
              <a:tr h="370840">
                <a:tc>
                  <a:txBody>
                    <a:bodyPr/>
                    <a:lstStyle/>
                    <a:p>
                      <a:r>
                        <a:rPr lang="it-CH" dirty="0"/>
                        <a:t>I servizi non</a:t>
                      </a:r>
                      <a:r>
                        <a:rPr lang="it-CH" baseline="0" dirty="0"/>
                        <a:t> sono commerciali</a:t>
                      </a:r>
                      <a:endParaRPr lang="it-CH" dirty="0"/>
                    </a:p>
                  </a:txBody>
                  <a:tcPr/>
                </a:tc>
                <a:tc>
                  <a:txBody>
                    <a:bodyPr/>
                    <a:lstStyle/>
                    <a:p>
                      <a:r>
                        <a:rPr lang="it-CH" dirty="0"/>
                        <a:t>I servizi di informazione</a:t>
                      </a:r>
                      <a:r>
                        <a:rPr lang="it-CH" baseline="0" dirty="0"/>
                        <a:t> sono spesso a pagamento</a:t>
                      </a:r>
                      <a:endParaRPr lang="it-CH" dirty="0"/>
                    </a:p>
                  </a:txBody>
                  <a:tcPr/>
                </a:tc>
                <a:extLst>
                  <a:ext uri="{0D108BD9-81ED-4DB2-BD59-A6C34878D82A}">
                    <a16:rowId xmlns:a16="http://schemas.microsoft.com/office/drawing/2014/main" val="10002"/>
                  </a:ext>
                </a:extLst>
              </a:tr>
              <a:tr h="370840">
                <a:tc>
                  <a:txBody>
                    <a:bodyPr/>
                    <a:lstStyle/>
                    <a:p>
                      <a:r>
                        <a:rPr lang="it-CH" dirty="0"/>
                        <a:t>Le risorse</a:t>
                      </a:r>
                      <a:r>
                        <a:rPr lang="it-CH" baseline="0" dirty="0"/>
                        <a:t> sono strutturate per permettere il reperimento</a:t>
                      </a:r>
                      <a:endParaRPr lang="it-CH" dirty="0"/>
                    </a:p>
                  </a:txBody>
                  <a:tcPr/>
                </a:tc>
                <a:tc>
                  <a:txBody>
                    <a:bodyPr/>
                    <a:lstStyle/>
                    <a:p>
                      <a:r>
                        <a:rPr lang="it-CH" dirty="0"/>
                        <a:t>Spazio caotico, libero e in continua evoluzione e crescita</a:t>
                      </a:r>
                      <a:r>
                        <a:rPr lang="it-CH" baseline="0" dirty="0"/>
                        <a:t> incontrollabile</a:t>
                      </a:r>
                      <a:endParaRPr lang="it-CH" dirty="0"/>
                    </a:p>
                  </a:txBody>
                  <a:tcPr/>
                </a:tc>
                <a:extLst>
                  <a:ext uri="{0D108BD9-81ED-4DB2-BD59-A6C34878D82A}">
                    <a16:rowId xmlns:a16="http://schemas.microsoft.com/office/drawing/2014/main" val="10003"/>
                  </a:ext>
                </a:extLst>
              </a:tr>
              <a:tr h="370840">
                <a:tc>
                  <a:txBody>
                    <a:bodyPr/>
                    <a:lstStyle/>
                    <a:p>
                      <a:r>
                        <a:rPr lang="it-CH" dirty="0"/>
                        <a:t>Le risorse sono pensate per</a:t>
                      </a:r>
                      <a:r>
                        <a:rPr lang="it-CH" baseline="0" dirty="0"/>
                        <a:t> esistere in permanenza</a:t>
                      </a:r>
                      <a:endParaRPr lang="it-CH" dirty="0"/>
                    </a:p>
                  </a:txBody>
                  <a:tcPr/>
                </a:tc>
                <a:tc>
                  <a:txBody>
                    <a:bodyPr/>
                    <a:lstStyle/>
                    <a:p>
                      <a:r>
                        <a:rPr lang="it-CH" dirty="0"/>
                        <a:t>Molti siti e documenti possono apparire</a:t>
                      </a:r>
                      <a:r>
                        <a:rPr lang="it-CH" baseline="0" dirty="0"/>
                        <a:t> spostarsi o scomparire con facilità</a:t>
                      </a:r>
                      <a:endParaRPr lang="it-CH" dirty="0"/>
                    </a:p>
                  </a:txBody>
                  <a:tcPr/>
                </a:tc>
                <a:extLst>
                  <a:ext uri="{0D108BD9-81ED-4DB2-BD59-A6C34878D82A}">
                    <a16:rowId xmlns:a16="http://schemas.microsoft.com/office/drawing/2014/main" val="10004"/>
                  </a:ext>
                </a:extLst>
              </a:tr>
              <a:tr h="370840">
                <a:tc>
                  <a:txBody>
                    <a:bodyPr/>
                    <a:lstStyle/>
                    <a:p>
                      <a:r>
                        <a:rPr lang="it-CH" dirty="0"/>
                        <a:t>La missione delle</a:t>
                      </a:r>
                      <a:r>
                        <a:rPr lang="it-CH" baseline="0" dirty="0"/>
                        <a:t> biblioteche: soddisfare i bisogni informativi degli utenti</a:t>
                      </a:r>
                      <a:endParaRPr lang="it-CH" dirty="0"/>
                    </a:p>
                  </a:txBody>
                  <a:tcPr/>
                </a:tc>
                <a:tc>
                  <a:txBody>
                    <a:bodyPr/>
                    <a:lstStyle/>
                    <a:p>
                      <a:r>
                        <a:rPr lang="it-CH" dirty="0"/>
                        <a:t>Si trovano informazioni in siti</a:t>
                      </a:r>
                      <a:r>
                        <a:rPr lang="it-CH" baseline="0" dirty="0"/>
                        <a:t> che hanno finalità commerciali, pubblicitarie, religiose o politiche</a:t>
                      </a:r>
                      <a:endParaRPr lang="it-CH" dirty="0"/>
                    </a:p>
                  </a:txBody>
                  <a:tcPr/>
                </a:tc>
                <a:extLst>
                  <a:ext uri="{0D108BD9-81ED-4DB2-BD59-A6C34878D82A}">
                    <a16:rowId xmlns:a16="http://schemas.microsoft.com/office/drawing/2014/main" val="10005"/>
                  </a:ext>
                </a:extLst>
              </a:tr>
            </a:tbl>
          </a:graphicData>
        </a:graphic>
      </p:graphicFrame>
      <p:sp>
        <p:nvSpPr>
          <p:cNvPr id="30745" name="Foliennummernplatzhalter 4"/>
          <p:cNvSpPr>
            <a:spLocks noGrp="1"/>
          </p:cNvSpPr>
          <p:nvPr>
            <p:ph type="sldNum" sz="quarter" idx="12"/>
          </p:nvPr>
        </p:nvSpPr>
        <p:spPr>
          <a:noFill/>
        </p:spPr>
        <p:txBody>
          <a:bodyPr/>
          <a:lstStyle/>
          <a:p>
            <a:fld id="{28445524-AA6C-442C-A264-CE3C75B73EDF}" type="slidenum">
              <a:rPr lang="it-IT" smtClean="0">
                <a:ea typeface="ＭＳ Ｐゴシック"/>
                <a:cs typeface="ＭＳ Ｐゴシック"/>
              </a:rPr>
              <a:pPr/>
              <a:t>12</a:t>
            </a:fld>
            <a:endParaRPr lang="it-IT">
              <a:ea typeface="ＭＳ Ｐゴシック"/>
              <a:cs typeface="ＭＳ Ｐゴシック"/>
            </a:endParaRPr>
          </a:p>
        </p:txBody>
      </p:sp>
    </p:spTree>
    <p:extLst>
      <p:ext uri="{BB962C8B-B14F-4D97-AF65-F5344CB8AC3E}">
        <p14:creationId xmlns:p14="http://schemas.microsoft.com/office/powerpoint/2010/main" val="2326331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el 1"/>
          <p:cNvSpPr>
            <a:spLocks noGrp="1"/>
          </p:cNvSpPr>
          <p:nvPr>
            <p:ph type="title" idx="4294967295"/>
          </p:nvPr>
        </p:nvSpPr>
        <p:spPr>
          <a:xfrm>
            <a:off x="323850" y="702747"/>
            <a:ext cx="8496300" cy="719138"/>
          </a:xfrm>
        </p:spPr>
        <p:txBody>
          <a:bodyPr/>
          <a:lstStyle/>
          <a:p>
            <a:pPr eaLnBrk="1" hangingPunct="1"/>
            <a:r>
              <a:rPr lang="it-CH" sz="2800" dirty="0">
                <a:ea typeface="ＭＳ Ｐゴシック"/>
                <a:cs typeface="ＭＳ Ｐゴシック"/>
              </a:rPr>
              <a:t>Dove cercare?</a:t>
            </a:r>
          </a:p>
        </p:txBody>
      </p:sp>
      <p:sp>
        <p:nvSpPr>
          <p:cNvPr id="56323" name="Foliennummernplatzhalter 4"/>
          <p:cNvSpPr txBox="1">
            <a:spLocks noGrp="1"/>
          </p:cNvSpPr>
          <p:nvPr/>
        </p:nvSpPr>
        <p:spPr bwMode="auto">
          <a:xfrm>
            <a:off x="8001000" y="188913"/>
            <a:ext cx="819150" cy="476250"/>
          </a:xfrm>
          <a:prstGeom prst="rect">
            <a:avLst/>
          </a:prstGeom>
          <a:noFill/>
          <a:ln w="9525">
            <a:noFill/>
            <a:miter lim="800000"/>
            <a:headEnd/>
            <a:tailEnd/>
          </a:ln>
        </p:spPr>
        <p:txBody>
          <a:bodyPr lIns="0" tIns="0" rIns="0" bIns="0"/>
          <a:lstStyle/>
          <a:p>
            <a:pPr algn="r"/>
            <a:fld id="{78BB074D-E81C-424C-9971-CC4878929326}" type="slidenum">
              <a:rPr lang="it-IT" sz="1200"/>
              <a:pPr algn="r"/>
              <a:t>13</a:t>
            </a:fld>
            <a:endParaRPr lang="it-IT" sz="1200"/>
          </a:p>
        </p:txBody>
      </p:sp>
      <p:sp>
        <p:nvSpPr>
          <p:cNvPr id="17412" name="Inhaltsplatzhalter 5"/>
          <p:cNvSpPr>
            <a:spLocks noGrp="1"/>
          </p:cNvSpPr>
          <p:nvPr>
            <p:ph idx="4294967295"/>
          </p:nvPr>
        </p:nvSpPr>
        <p:spPr>
          <a:xfrm>
            <a:off x="358941" y="1459469"/>
            <a:ext cx="8496300" cy="4802974"/>
          </a:xfrm>
        </p:spPr>
        <p:txBody>
          <a:bodyPr/>
          <a:lstStyle/>
          <a:p>
            <a:pPr marL="0" indent="0">
              <a:spcBef>
                <a:spcPts val="1638"/>
              </a:spcBef>
              <a:buFontTx/>
              <a:buNone/>
            </a:pPr>
            <a:r>
              <a:rPr lang="it-CH" b="1" dirty="0">
                <a:ea typeface="ＭＳ Ｐゴシック"/>
                <a:cs typeface="ＭＳ Ｐゴシック"/>
                <a:sym typeface="Wingdings" pitchFamily="2" charset="2"/>
              </a:rPr>
              <a:t>Ricerca documentale</a:t>
            </a:r>
            <a:r>
              <a:rPr lang="it-CH" dirty="0">
                <a:ea typeface="ＭＳ Ｐゴシック"/>
                <a:cs typeface="ＭＳ Ｐゴシック"/>
                <a:sym typeface="Wingdings" pitchFamily="2" charset="2"/>
              </a:rPr>
              <a:t> Motori specifici e </a:t>
            </a:r>
            <a:r>
              <a:rPr lang="it-CH" b="1" dirty="0">
                <a:solidFill>
                  <a:schemeClr val="accent2"/>
                </a:solidFill>
                <a:ea typeface="ＭＳ Ｐゴシック"/>
                <a:cs typeface="ＭＳ Ｐゴシック"/>
                <a:sym typeface="Wingdings" pitchFamily="2" charset="2"/>
              </a:rPr>
              <a:t>banche dati</a:t>
            </a:r>
          </a:p>
          <a:p>
            <a:pPr marL="0" indent="0">
              <a:spcBef>
                <a:spcPts val="1638"/>
              </a:spcBef>
              <a:buFontTx/>
              <a:buNone/>
            </a:pPr>
            <a:r>
              <a:rPr lang="it-CH" dirty="0">
                <a:ea typeface="ＭＳ Ｐゴシック"/>
                <a:cs typeface="ＭＳ Ｐゴシック"/>
              </a:rPr>
              <a:t>Sono raccolte organizzate d’informazioni su supporto digitale ; </a:t>
            </a:r>
          </a:p>
          <a:p>
            <a:pPr marL="0" indent="0">
              <a:spcBef>
                <a:spcPts val="1638"/>
              </a:spcBef>
              <a:buFontTx/>
              <a:buNone/>
            </a:pPr>
            <a:r>
              <a:rPr lang="it-CH" dirty="0">
                <a:ea typeface="ＭＳ Ｐゴシック"/>
                <a:cs typeface="ＭＳ Ｐゴシック"/>
              </a:rPr>
              <a:t>Le informazioni raccolte possono essere di varia natura (articoli di periodici, immagini, dati statistici e fattuali, suoni, ecc.).</a:t>
            </a:r>
          </a:p>
          <a:p>
            <a:pPr marL="0" indent="0">
              <a:spcBef>
                <a:spcPts val="1638"/>
              </a:spcBef>
              <a:buFontTx/>
              <a:buNone/>
            </a:pPr>
            <a:r>
              <a:rPr lang="it-CH" dirty="0">
                <a:ea typeface="ＭＳ Ｐゴシック"/>
                <a:cs typeface="ＭＳ Ｐゴシック"/>
              </a:rPr>
              <a:t> Le più diffuse sono:</a:t>
            </a:r>
          </a:p>
          <a:p>
            <a:pPr lvl="2">
              <a:spcAft>
                <a:spcPts val="1200"/>
              </a:spcAft>
              <a:buFontTx/>
              <a:buNone/>
            </a:pPr>
            <a:r>
              <a:rPr lang="it-CH" dirty="0">
                <a:ea typeface="ＭＳ Ｐゴシック"/>
                <a:sym typeface="Wingdings" pitchFamily="2" charset="2"/>
              </a:rPr>
              <a:t></a:t>
            </a:r>
            <a:r>
              <a:rPr lang="it-CH" b="1" dirty="0">
                <a:ea typeface="ＭＳ Ｐゴシック"/>
                <a:sym typeface="Wingdings" pitchFamily="2" charset="2"/>
              </a:rPr>
              <a:t> </a:t>
            </a:r>
            <a:r>
              <a:rPr lang="it-CH" b="1" dirty="0">
                <a:ea typeface="ＭＳ Ｐゴシック"/>
              </a:rPr>
              <a:t>Bibliografiche</a:t>
            </a:r>
            <a:r>
              <a:rPr lang="it-CH" dirty="0">
                <a:ea typeface="ＭＳ Ｐゴシック"/>
              </a:rPr>
              <a:t>: contengono descrizioni di documenti. Sono bibliografie in formato elettronico che segnalano l’esistenza di un documento ma non necessariamente dove reperirlo. </a:t>
            </a:r>
          </a:p>
          <a:p>
            <a:pPr lvl="2">
              <a:spcAft>
                <a:spcPts val="1200"/>
              </a:spcAft>
              <a:buFont typeface="Wingdings" pitchFamily="2" charset="2"/>
              <a:buChar char="à"/>
            </a:pPr>
            <a:r>
              <a:rPr lang="it-CH" b="1" dirty="0">
                <a:ea typeface="ＭＳ Ｐゴシック"/>
                <a:sym typeface="Wingdings" pitchFamily="2" charset="2"/>
              </a:rPr>
              <a:t>A testo pieno</a:t>
            </a:r>
            <a:r>
              <a:rPr lang="it-CH" dirty="0">
                <a:ea typeface="ＭＳ Ｐゴシック"/>
                <a:sym typeface="Wingdings" pitchFamily="2" charset="2"/>
              </a:rPr>
              <a:t>: consentono l’accesso ai documenti in genere nella loro versione integrale</a:t>
            </a:r>
          </a:p>
          <a:p>
            <a:pPr lvl="2">
              <a:spcAft>
                <a:spcPts val="1200"/>
              </a:spcAft>
              <a:buFont typeface="Wingdings" pitchFamily="2" charset="2"/>
              <a:buChar char="à"/>
            </a:pPr>
            <a:r>
              <a:rPr lang="it-CH" b="1" dirty="0">
                <a:ea typeface="ＭＳ Ｐゴシック"/>
                <a:sym typeface="Wingdings" pitchFamily="2" charset="2"/>
              </a:rPr>
              <a:t>Numeriche</a:t>
            </a:r>
            <a:r>
              <a:rPr lang="it-CH" dirty="0">
                <a:ea typeface="ＭＳ Ｐゴシック"/>
                <a:sym typeface="Wingdings" pitchFamily="2" charset="2"/>
              </a:rPr>
              <a:t>: contengono dati numerici, statistici o finanziari</a:t>
            </a:r>
          </a:p>
        </p:txBody>
      </p:sp>
    </p:spTree>
    <p:extLst>
      <p:ext uri="{BB962C8B-B14F-4D97-AF65-F5344CB8AC3E}">
        <p14:creationId xmlns:p14="http://schemas.microsoft.com/office/powerpoint/2010/main" val="2665466220"/>
      </p:ext>
    </p:extLst>
  </p:cSld>
  <p:clrMapOvr>
    <a:masterClrMapping/>
  </p:clrMapOvr>
  <mc:AlternateContent xmlns:mc="http://schemas.openxmlformats.org/markup-compatibility/2006" xmlns:p14="http://schemas.microsoft.com/office/powerpoint/2010/main">
    <mc:Choice Requires="p14">
      <p:transition spd="slow" p14:dur="2000" advTm="153216"/>
    </mc:Choice>
    <mc:Fallback xmlns="">
      <p:transition spd="slow" advTm="153216"/>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el 1"/>
          <p:cNvSpPr>
            <a:spLocks noGrp="1"/>
          </p:cNvSpPr>
          <p:nvPr>
            <p:ph type="title"/>
          </p:nvPr>
        </p:nvSpPr>
        <p:spPr>
          <a:xfrm>
            <a:off x="314682" y="548481"/>
            <a:ext cx="8496300" cy="719138"/>
          </a:xfrm>
        </p:spPr>
        <p:txBody>
          <a:bodyPr/>
          <a:lstStyle/>
          <a:p>
            <a:pPr eaLnBrk="1" hangingPunct="1"/>
            <a:r>
              <a:rPr lang="it-CH" sz="2800" dirty="0">
                <a:ea typeface="ＭＳ Ｐゴシック"/>
                <a:cs typeface="ＭＳ Ｐゴシック"/>
              </a:rPr>
              <a:t>Principali strumenti per reperire della documentazione</a:t>
            </a:r>
          </a:p>
        </p:txBody>
      </p:sp>
      <p:sp>
        <p:nvSpPr>
          <p:cNvPr id="32770" name="Inhaltsplatzhalter 2"/>
          <p:cNvSpPr>
            <a:spLocks noGrp="1"/>
          </p:cNvSpPr>
          <p:nvPr>
            <p:ph idx="1"/>
          </p:nvPr>
        </p:nvSpPr>
        <p:spPr>
          <a:xfrm>
            <a:off x="269782" y="1267619"/>
            <a:ext cx="6504779" cy="4392613"/>
          </a:xfrm>
        </p:spPr>
        <p:txBody>
          <a:bodyPr/>
          <a:lstStyle/>
          <a:p>
            <a:pPr marL="57150" indent="0">
              <a:spcAft>
                <a:spcPts val="1200"/>
              </a:spcAft>
              <a:buNone/>
            </a:pPr>
            <a:r>
              <a:rPr lang="it-CH" sz="2000" dirty="0">
                <a:ea typeface="ＭＳ Ｐゴシック"/>
              </a:rPr>
              <a:t>1 . </a:t>
            </a:r>
            <a:r>
              <a:rPr lang="it-CH" dirty="0">
                <a:ea typeface="ＭＳ Ｐゴシック"/>
              </a:rPr>
              <a:t>Biblioteche:</a:t>
            </a:r>
          </a:p>
          <a:p>
            <a:pPr marL="514350" lvl="1" indent="0">
              <a:spcAft>
                <a:spcPts val="1200"/>
              </a:spcAft>
              <a:buNone/>
            </a:pPr>
            <a:r>
              <a:rPr lang="it-CH" dirty="0">
                <a:ea typeface="ＭＳ Ｐゴシック"/>
              </a:rPr>
              <a:t>Cataloghi (libri, riviste, …) anche in linea - OPAC</a:t>
            </a:r>
          </a:p>
          <a:p>
            <a:pPr marL="514350" lvl="1" indent="0">
              <a:spcAft>
                <a:spcPts val="1200"/>
              </a:spcAft>
              <a:buNone/>
            </a:pPr>
            <a:r>
              <a:rPr lang="it-CH" dirty="0">
                <a:ea typeface="ＭＳ Ｐゴシック"/>
              </a:rPr>
              <a:t>Banche dati elettroniche </a:t>
            </a:r>
            <a:r>
              <a:rPr lang="it-CH" b="1" dirty="0">
                <a:ea typeface="ＭＳ Ｐゴシック"/>
              </a:rPr>
              <a:t>specifiche per </a:t>
            </a:r>
            <a:r>
              <a:rPr lang="it-CH" b="1" dirty="0">
                <a:solidFill>
                  <a:schemeClr val="tx2">
                    <a:lumMod val="60000"/>
                    <a:lumOff val="40000"/>
                  </a:schemeClr>
                </a:solidFill>
                <a:ea typeface="ＭＳ Ｐゴシック"/>
              </a:rPr>
              <a:t>articoli scientifici </a:t>
            </a:r>
          </a:p>
          <a:p>
            <a:pPr marL="57150" indent="0">
              <a:spcAft>
                <a:spcPts val="1200"/>
              </a:spcAft>
              <a:buNone/>
            </a:pPr>
            <a:r>
              <a:rPr lang="it-CH" dirty="0">
                <a:ea typeface="ＭＳ Ｐゴシック"/>
              </a:rPr>
              <a:t>2. Riviste specializzate di settore</a:t>
            </a:r>
          </a:p>
          <a:p>
            <a:pPr marL="57150" indent="0">
              <a:spcAft>
                <a:spcPts val="1200"/>
              </a:spcAft>
              <a:buNone/>
            </a:pPr>
            <a:r>
              <a:rPr lang="it-CH" dirty="0">
                <a:ea typeface="ＭＳ Ｐゴシック"/>
              </a:rPr>
              <a:t>3. Internet (siti specializzati e/o motori di ricerca)</a:t>
            </a:r>
          </a:p>
          <a:p>
            <a:pPr marL="57150" indent="0">
              <a:spcAft>
                <a:spcPts val="1200"/>
              </a:spcAft>
              <a:buNone/>
            </a:pPr>
            <a:r>
              <a:rPr lang="it-CH" dirty="0">
                <a:ea typeface="ＭＳ Ｐゴシック"/>
              </a:rPr>
              <a:t>4. Ricerche da parte di istituti o centri specializzati</a:t>
            </a:r>
            <a:br>
              <a:rPr lang="it-CH" dirty="0">
                <a:ea typeface="ＭＳ Ｐゴシック"/>
              </a:rPr>
            </a:br>
            <a:endParaRPr lang="it-CH" dirty="0">
              <a:ea typeface="ＭＳ Ｐゴシック"/>
            </a:endParaRPr>
          </a:p>
          <a:p>
            <a:pPr marL="0" indent="0">
              <a:buFontTx/>
              <a:buNone/>
            </a:pPr>
            <a:endParaRPr lang="it-CH" sz="2000" dirty="0">
              <a:ea typeface="ＭＳ Ｐゴシック"/>
              <a:cs typeface="ＭＳ Ｐゴシック"/>
            </a:endParaRPr>
          </a:p>
        </p:txBody>
      </p:sp>
      <p:sp>
        <p:nvSpPr>
          <p:cNvPr id="32771" name="Foliennummernplatzhalter 4"/>
          <p:cNvSpPr>
            <a:spLocks noGrp="1"/>
          </p:cNvSpPr>
          <p:nvPr>
            <p:ph type="sldNum" sz="quarter" idx="12"/>
          </p:nvPr>
        </p:nvSpPr>
        <p:spPr>
          <a:noFill/>
        </p:spPr>
        <p:txBody>
          <a:bodyPr/>
          <a:lstStyle/>
          <a:p>
            <a:fld id="{3DA3A7AA-4AED-4509-A0E2-88B1E5DC7B76}" type="slidenum">
              <a:rPr lang="it-IT" smtClean="0">
                <a:ea typeface="ＭＳ Ｐゴシック"/>
                <a:cs typeface="ＭＳ Ｐゴシック"/>
              </a:rPr>
              <a:pPr/>
              <a:t>14</a:t>
            </a:fld>
            <a:endParaRPr lang="it-IT">
              <a:ea typeface="ＭＳ Ｐゴシック"/>
              <a:cs typeface="ＭＳ Ｐゴシック"/>
            </a:endParaRPr>
          </a:p>
        </p:txBody>
      </p:sp>
      <p:sp>
        <p:nvSpPr>
          <p:cNvPr id="2" name="Fumetto: rettangolo 1">
            <a:extLst>
              <a:ext uri="{FF2B5EF4-FFF2-40B4-BE49-F238E27FC236}">
                <a16:creationId xmlns:a16="http://schemas.microsoft.com/office/drawing/2014/main" id="{E5D18DD2-3AB4-24F7-0518-304972E06DDF}"/>
              </a:ext>
            </a:extLst>
          </p:cNvPr>
          <p:cNvSpPr/>
          <p:nvPr/>
        </p:nvSpPr>
        <p:spPr>
          <a:xfrm>
            <a:off x="5967173" y="3013088"/>
            <a:ext cx="3176827" cy="3656000"/>
          </a:xfrm>
          <a:prstGeom prst="wedgeRectCallout">
            <a:avLst>
              <a:gd name="adj1" fmla="val -37461"/>
              <a:gd name="adj2" fmla="val -63430"/>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r>
              <a:rPr lang="it-CH" dirty="0">
                <a:solidFill>
                  <a:schemeClr val="tx1"/>
                </a:solidFill>
              </a:rPr>
              <a:t>Quali elementi contraddistinguono un articolo scientifico?</a:t>
            </a:r>
          </a:p>
          <a:p>
            <a:endParaRPr lang="it-CH" dirty="0">
              <a:solidFill>
                <a:schemeClr val="tx1"/>
              </a:solidFill>
            </a:endParaRPr>
          </a:p>
          <a:p>
            <a:r>
              <a:rPr lang="it-CH" dirty="0">
                <a:solidFill>
                  <a:schemeClr val="tx1"/>
                </a:solidFill>
              </a:rPr>
              <a:t>FORMA CANONICA</a:t>
            </a:r>
          </a:p>
          <a:p>
            <a:r>
              <a:rPr lang="it-CH" dirty="0">
                <a:solidFill>
                  <a:schemeClr val="tx1"/>
                </a:solidFill>
              </a:rPr>
              <a:t> </a:t>
            </a:r>
          </a:p>
          <a:p>
            <a:r>
              <a:rPr lang="it-CH" dirty="0">
                <a:solidFill>
                  <a:schemeClr val="tx1"/>
                </a:solidFill>
              </a:rPr>
              <a:t>Abstract (riassunto)</a:t>
            </a:r>
          </a:p>
          <a:p>
            <a:pPr marL="285750" indent="-285750">
              <a:buFontTx/>
              <a:buChar char="-"/>
            </a:pPr>
            <a:r>
              <a:rPr lang="it-CH" sz="1200" dirty="0">
                <a:solidFill>
                  <a:schemeClr val="tx1"/>
                </a:solidFill>
              </a:rPr>
              <a:t>Motivazioni</a:t>
            </a:r>
          </a:p>
          <a:p>
            <a:pPr marL="285750" indent="-285750">
              <a:buFontTx/>
              <a:buChar char="-"/>
            </a:pPr>
            <a:r>
              <a:rPr lang="it-CH" sz="1200" dirty="0">
                <a:solidFill>
                  <a:schemeClr val="tx1"/>
                </a:solidFill>
              </a:rPr>
              <a:t>Contestualizzazione della tematica</a:t>
            </a:r>
          </a:p>
          <a:p>
            <a:pPr marL="285750" indent="-285750">
              <a:buFontTx/>
              <a:buChar char="-"/>
            </a:pPr>
            <a:r>
              <a:rPr lang="it-CH" sz="1200" dirty="0">
                <a:solidFill>
                  <a:schemeClr val="tx1"/>
                </a:solidFill>
              </a:rPr>
              <a:t>Metodologia</a:t>
            </a:r>
          </a:p>
          <a:p>
            <a:pPr marL="285750" indent="-285750">
              <a:buFontTx/>
              <a:buChar char="-"/>
            </a:pPr>
            <a:r>
              <a:rPr lang="it-CH" sz="1200" dirty="0">
                <a:solidFill>
                  <a:schemeClr val="tx1"/>
                </a:solidFill>
              </a:rPr>
              <a:t>Risultati </a:t>
            </a:r>
          </a:p>
          <a:p>
            <a:pPr marL="285750" indent="-285750">
              <a:buFontTx/>
              <a:buChar char="-"/>
            </a:pPr>
            <a:r>
              <a:rPr lang="it-CH" sz="1200" dirty="0">
                <a:solidFill>
                  <a:schemeClr val="tx1"/>
                </a:solidFill>
              </a:rPr>
              <a:t>Conclusioni</a:t>
            </a:r>
          </a:p>
          <a:p>
            <a:r>
              <a:rPr lang="it-CH" dirty="0">
                <a:solidFill>
                  <a:schemeClr val="tx1"/>
                </a:solidFill>
              </a:rPr>
              <a:t>Citazioni nel testo</a:t>
            </a:r>
          </a:p>
          <a:p>
            <a:r>
              <a:rPr lang="it-CH" dirty="0">
                <a:solidFill>
                  <a:schemeClr val="tx1"/>
                </a:solidFill>
              </a:rPr>
              <a:t>Bibliografia</a:t>
            </a:r>
          </a:p>
        </p:txBody>
      </p:sp>
    </p:spTree>
    <p:extLst>
      <p:ext uri="{BB962C8B-B14F-4D97-AF65-F5344CB8AC3E}">
        <p14:creationId xmlns:p14="http://schemas.microsoft.com/office/powerpoint/2010/main" val="2091590260"/>
      </p:ext>
    </p:extLst>
  </p:cSld>
  <p:clrMapOvr>
    <a:masterClrMapping/>
  </p:clrMapOvr>
  <mc:AlternateContent xmlns:mc="http://schemas.openxmlformats.org/markup-compatibility/2006" xmlns:p14="http://schemas.microsoft.com/office/powerpoint/2010/main">
    <mc:Choice Requires="p14">
      <p:transition spd="slow" p14:dur="2000" advTm="53814"/>
    </mc:Choice>
    <mc:Fallback xmlns="">
      <p:transition spd="slow" advTm="5381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olo 12"/>
          <p:cNvSpPr>
            <a:spLocks noGrp="1"/>
          </p:cNvSpPr>
          <p:nvPr>
            <p:ph type="title"/>
          </p:nvPr>
        </p:nvSpPr>
        <p:spPr/>
        <p:txBody>
          <a:bodyPr/>
          <a:lstStyle/>
          <a:p>
            <a:r>
              <a:rPr lang="it-CH" dirty="0"/>
              <a:t>Motori di ricerca per testi scientifici – ricerca documentale</a:t>
            </a:r>
          </a:p>
        </p:txBody>
      </p:sp>
      <p:sp>
        <p:nvSpPr>
          <p:cNvPr id="14" name="Segnaposto contenuto 13"/>
          <p:cNvSpPr>
            <a:spLocks noGrp="1"/>
          </p:cNvSpPr>
          <p:nvPr>
            <p:ph idx="1"/>
          </p:nvPr>
        </p:nvSpPr>
        <p:spPr>
          <a:xfrm>
            <a:off x="323850" y="1916114"/>
            <a:ext cx="8496300" cy="1557214"/>
          </a:xfrm>
        </p:spPr>
        <p:txBody>
          <a:bodyPr/>
          <a:lstStyle/>
          <a:p>
            <a:pPr marL="0" indent="0">
              <a:buNone/>
            </a:pPr>
            <a:r>
              <a:rPr lang="it-CH" dirty="0"/>
              <a:t>Esistono appositi motori di ricerca creati da Google che indicizzano la letteratura scientifica e i libri pubblicati:</a:t>
            </a:r>
          </a:p>
          <a:p>
            <a:pPr marL="0" indent="0">
              <a:buNone/>
            </a:pPr>
            <a:endParaRPr lang="it-CH" dirty="0"/>
          </a:p>
        </p:txBody>
      </p:sp>
      <p:sp>
        <p:nvSpPr>
          <p:cNvPr id="5" name="Foliennummernplatzhalter 4"/>
          <p:cNvSpPr>
            <a:spLocks noGrp="1"/>
          </p:cNvSpPr>
          <p:nvPr>
            <p:ph type="sldNum" sz="quarter" idx="12"/>
          </p:nvPr>
        </p:nvSpPr>
        <p:spPr/>
        <p:txBody>
          <a:bodyPr/>
          <a:lstStyle/>
          <a:p>
            <a:fld id="{61CB78A0-B0FF-624B-8408-04E0AEC662E7}" type="slidenum">
              <a:rPr lang="it-IT" smtClean="0"/>
              <a:pPr/>
              <a:t>15</a:t>
            </a:fld>
            <a:endParaRPr lang="it-IT"/>
          </a:p>
        </p:txBody>
      </p:sp>
      <p:pic>
        <p:nvPicPr>
          <p:cNvPr id="16" name="Immagine 15"/>
          <p:cNvPicPr>
            <a:picLocks noChangeAspect="1"/>
          </p:cNvPicPr>
          <p:nvPr/>
        </p:nvPicPr>
        <p:blipFill rotWithShape="1">
          <a:blip r:embed="rId3"/>
          <a:srcRect l="-15717" b="8383"/>
          <a:stretch/>
        </p:blipFill>
        <p:spPr>
          <a:xfrm>
            <a:off x="107504" y="3473328"/>
            <a:ext cx="3849624" cy="2309023"/>
          </a:xfrm>
          <a:prstGeom prst="rect">
            <a:avLst/>
          </a:prstGeom>
        </p:spPr>
      </p:pic>
      <p:sp>
        <p:nvSpPr>
          <p:cNvPr id="18" name="Ovale 17"/>
          <p:cNvSpPr/>
          <p:nvPr/>
        </p:nvSpPr>
        <p:spPr>
          <a:xfrm>
            <a:off x="1679136" y="4149000"/>
            <a:ext cx="576064" cy="319226"/>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it-CH"/>
          </a:p>
        </p:txBody>
      </p:sp>
      <p:sp>
        <p:nvSpPr>
          <p:cNvPr id="20" name="Rettangolo 19"/>
          <p:cNvSpPr/>
          <p:nvPr/>
        </p:nvSpPr>
        <p:spPr>
          <a:xfrm>
            <a:off x="751809" y="3130362"/>
            <a:ext cx="3044488" cy="369332"/>
          </a:xfrm>
          <a:prstGeom prst="rect">
            <a:avLst/>
          </a:prstGeom>
        </p:spPr>
        <p:txBody>
          <a:bodyPr wrap="none">
            <a:spAutoFit/>
          </a:bodyPr>
          <a:lstStyle/>
          <a:p>
            <a:r>
              <a:rPr lang="it-CH" b="1" dirty="0">
                <a:hlinkClick r:id="rId4"/>
              </a:rPr>
              <a:t>https://scholar.google.ch/</a:t>
            </a:r>
            <a:r>
              <a:rPr lang="it-CH" b="1" dirty="0"/>
              <a:t> </a:t>
            </a:r>
          </a:p>
        </p:txBody>
      </p:sp>
      <p:pic>
        <p:nvPicPr>
          <p:cNvPr id="22" name="Immagine 21"/>
          <p:cNvPicPr>
            <a:picLocks noChangeAspect="1"/>
          </p:cNvPicPr>
          <p:nvPr/>
        </p:nvPicPr>
        <p:blipFill rotWithShape="1">
          <a:blip r:embed="rId5"/>
          <a:srcRect l="2069" r="2365" b="9086"/>
          <a:stretch/>
        </p:blipFill>
        <p:spPr>
          <a:xfrm>
            <a:off x="4706608" y="3707879"/>
            <a:ext cx="3903079" cy="2020991"/>
          </a:xfrm>
          <a:prstGeom prst="rect">
            <a:avLst/>
          </a:prstGeom>
        </p:spPr>
      </p:pic>
      <p:sp>
        <p:nvSpPr>
          <p:cNvPr id="23" name="Ovale 22"/>
          <p:cNvSpPr/>
          <p:nvPr/>
        </p:nvSpPr>
        <p:spPr>
          <a:xfrm>
            <a:off x="6948264" y="4429857"/>
            <a:ext cx="576064" cy="319226"/>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it-CH"/>
          </a:p>
        </p:txBody>
      </p:sp>
      <p:sp>
        <p:nvSpPr>
          <p:cNvPr id="24" name="Rettangolo 23"/>
          <p:cNvSpPr/>
          <p:nvPr/>
        </p:nvSpPr>
        <p:spPr>
          <a:xfrm>
            <a:off x="5232117" y="3161161"/>
            <a:ext cx="2916183" cy="369332"/>
          </a:xfrm>
          <a:prstGeom prst="rect">
            <a:avLst/>
          </a:prstGeom>
        </p:spPr>
        <p:txBody>
          <a:bodyPr wrap="none">
            <a:spAutoFit/>
          </a:bodyPr>
          <a:lstStyle/>
          <a:p>
            <a:r>
              <a:rPr lang="it-CH" b="1" dirty="0">
                <a:hlinkClick r:id="rId6"/>
              </a:rPr>
              <a:t>https://books.google.ch/</a:t>
            </a:r>
            <a:r>
              <a:rPr lang="it-CH" b="1" dirty="0"/>
              <a:t> </a:t>
            </a:r>
          </a:p>
        </p:txBody>
      </p:sp>
    </p:spTree>
    <p:extLst>
      <p:ext uri="{BB962C8B-B14F-4D97-AF65-F5344CB8AC3E}">
        <p14:creationId xmlns:p14="http://schemas.microsoft.com/office/powerpoint/2010/main" val="941744108"/>
      </p:ext>
    </p:extLst>
  </p:cSld>
  <p:clrMapOvr>
    <a:masterClrMapping/>
  </p:clrMapOvr>
  <mc:AlternateContent xmlns:mc="http://schemas.openxmlformats.org/markup-compatibility/2006" xmlns:p14="http://schemas.microsoft.com/office/powerpoint/2010/main">
    <mc:Choice Requires="p14">
      <p:transition spd="slow" p14:dur="2000" advTm="87007"/>
    </mc:Choice>
    <mc:Fallback xmlns="">
      <p:transition spd="slow" advTm="87007"/>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Foliennummernplatzhalter 4"/>
          <p:cNvSpPr>
            <a:spLocks noGrp="1"/>
          </p:cNvSpPr>
          <p:nvPr>
            <p:ph type="sldNum" sz="quarter" idx="12"/>
          </p:nvPr>
        </p:nvSpPr>
        <p:spPr>
          <a:noFill/>
        </p:spPr>
        <p:txBody>
          <a:bodyPr/>
          <a:lstStyle/>
          <a:p>
            <a:fld id="{B02A4D49-378C-4EFB-80D8-327E92E2B469}" type="slidenum">
              <a:rPr lang="it-IT" smtClean="0">
                <a:ea typeface="ＭＳ Ｐゴシック"/>
                <a:cs typeface="ＭＳ Ｐゴシック"/>
              </a:rPr>
              <a:pPr/>
              <a:t>16</a:t>
            </a:fld>
            <a:endParaRPr lang="it-IT">
              <a:ea typeface="ＭＳ Ｐゴシック"/>
              <a:cs typeface="ＭＳ Ｐゴシック"/>
            </a:endParaRPr>
          </a:p>
        </p:txBody>
      </p:sp>
      <p:sp>
        <p:nvSpPr>
          <p:cNvPr id="4" name="Rettangolo 3"/>
          <p:cNvSpPr/>
          <p:nvPr/>
        </p:nvSpPr>
        <p:spPr>
          <a:xfrm>
            <a:off x="393997" y="486624"/>
            <a:ext cx="7992888" cy="1692771"/>
          </a:xfrm>
          <a:prstGeom prst="rect">
            <a:avLst/>
          </a:prstGeom>
        </p:spPr>
        <p:txBody>
          <a:bodyPr wrap="square">
            <a:spAutoFit/>
          </a:bodyPr>
          <a:lstStyle/>
          <a:p>
            <a:r>
              <a:rPr lang="it-IT" sz="2400" dirty="0">
                <a:solidFill>
                  <a:schemeClr val="accent2"/>
                </a:solidFill>
                <a:latin typeface="+mj-lt"/>
              </a:rPr>
              <a:t>Sito di partenza da cui accedere a tutte le risorse</a:t>
            </a:r>
          </a:p>
          <a:p>
            <a:r>
              <a:rPr lang="it-IT" sz="3200" dirty="0">
                <a:solidFill>
                  <a:schemeClr val="accent2"/>
                </a:solidFill>
              </a:rPr>
              <a:t>https://www. biblioteche.supsi.ch</a:t>
            </a:r>
          </a:p>
          <a:p>
            <a:r>
              <a:rPr lang="it-IT" sz="2400" i="1" dirty="0">
                <a:solidFill>
                  <a:schemeClr val="accent2"/>
                </a:solidFill>
              </a:rPr>
              <a:t>catalogo tesi </a:t>
            </a:r>
            <a:r>
              <a:rPr lang="it-IT" sz="2400" dirty="0">
                <a:solidFill>
                  <a:schemeClr val="accent2"/>
                </a:solidFill>
                <a:hlinkClick r:id="rId3"/>
              </a:rPr>
              <a:t>https://tesi.supsi.ch</a:t>
            </a:r>
            <a:endParaRPr lang="it-IT" sz="2400" dirty="0">
              <a:solidFill>
                <a:schemeClr val="accent2"/>
              </a:solidFill>
            </a:endParaRPr>
          </a:p>
          <a:p>
            <a:endParaRPr lang="it-IT" sz="2400" dirty="0">
              <a:solidFill>
                <a:schemeClr val="accent2"/>
              </a:solidFill>
            </a:endParaRPr>
          </a:p>
        </p:txBody>
      </p:sp>
      <p:pic>
        <p:nvPicPr>
          <p:cNvPr id="5" name="Immagine 4" descr="Immagine che contiene testo, schermata, design">
            <a:extLst>
              <a:ext uri="{FF2B5EF4-FFF2-40B4-BE49-F238E27FC236}">
                <a16:creationId xmlns:a16="http://schemas.microsoft.com/office/drawing/2014/main" id="{89ADB4EC-909E-C79F-0725-1BA3A9C920FD}"/>
              </a:ext>
            </a:extLst>
          </p:cNvPr>
          <p:cNvPicPr>
            <a:picLocks noChangeAspect="1"/>
          </p:cNvPicPr>
          <p:nvPr/>
        </p:nvPicPr>
        <p:blipFill>
          <a:blip r:embed="rId4"/>
          <a:stretch>
            <a:fillRect/>
          </a:stretch>
        </p:blipFill>
        <p:spPr>
          <a:xfrm>
            <a:off x="145555" y="2079326"/>
            <a:ext cx="8604448" cy="3436368"/>
          </a:xfrm>
          <a:prstGeom prst="rect">
            <a:avLst/>
          </a:prstGeom>
        </p:spPr>
      </p:pic>
    </p:spTree>
    <p:extLst>
      <p:ext uri="{BB962C8B-B14F-4D97-AF65-F5344CB8AC3E}">
        <p14:creationId xmlns:p14="http://schemas.microsoft.com/office/powerpoint/2010/main" val="3895555707"/>
      </p:ext>
    </p:extLst>
  </p:cSld>
  <p:clrMapOvr>
    <a:masterClrMapping/>
  </p:clrMapOvr>
  <mc:AlternateContent xmlns:mc="http://schemas.openxmlformats.org/markup-compatibility/2006" xmlns:p14="http://schemas.microsoft.com/office/powerpoint/2010/main">
    <mc:Choice Requires="p14">
      <p:transition spd="slow" p14:dur="2000" advTm="100811"/>
    </mc:Choice>
    <mc:Fallback xmlns="">
      <p:transition spd="slow" advTm="10081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6C13102-94A9-4AEB-B710-B4A3205B8019}"/>
              </a:ext>
            </a:extLst>
          </p:cNvPr>
          <p:cNvSpPr>
            <a:spLocks noGrp="1"/>
          </p:cNvSpPr>
          <p:nvPr>
            <p:ph type="title"/>
          </p:nvPr>
        </p:nvSpPr>
        <p:spPr>
          <a:xfrm>
            <a:off x="311385" y="397476"/>
            <a:ext cx="8496300" cy="719137"/>
          </a:xfrm>
        </p:spPr>
        <p:txBody>
          <a:bodyPr/>
          <a:lstStyle/>
          <a:p>
            <a:r>
              <a:rPr lang="it-CH" dirty="0"/>
              <a:t>Alcuni motori di ricerca – biblioteca SUPSI</a:t>
            </a:r>
            <a:br>
              <a:rPr lang="it-CH" dirty="0"/>
            </a:br>
            <a:r>
              <a:rPr lang="it-CH" dirty="0">
                <a:solidFill>
                  <a:schemeClr val="tx1"/>
                </a:solidFill>
                <a:latin typeface="+mn-lt"/>
              </a:rPr>
              <a:t>Swisscovery</a:t>
            </a:r>
            <a:br>
              <a:rPr lang="it-CH" dirty="0">
                <a:solidFill>
                  <a:schemeClr val="tx1"/>
                </a:solidFill>
                <a:latin typeface="+mn-lt"/>
              </a:rPr>
            </a:br>
            <a:br>
              <a:rPr lang="it-CH" dirty="0"/>
            </a:br>
            <a:endParaRPr lang="it-CH" dirty="0"/>
          </a:p>
        </p:txBody>
      </p:sp>
      <p:sp>
        <p:nvSpPr>
          <p:cNvPr id="3" name="Segnaposto contenuto 2">
            <a:extLst>
              <a:ext uri="{FF2B5EF4-FFF2-40B4-BE49-F238E27FC236}">
                <a16:creationId xmlns:a16="http://schemas.microsoft.com/office/drawing/2014/main" id="{D50DAB9E-2EDF-4F70-9B2F-380AFDBC9C3E}"/>
              </a:ext>
            </a:extLst>
          </p:cNvPr>
          <p:cNvSpPr>
            <a:spLocks noGrp="1"/>
          </p:cNvSpPr>
          <p:nvPr>
            <p:ph idx="1"/>
          </p:nvPr>
        </p:nvSpPr>
        <p:spPr>
          <a:xfrm>
            <a:off x="-180528" y="1147483"/>
            <a:ext cx="9144000" cy="619840"/>
          </a:xfrm>
        </p:spPr>
        <p:txBody>
          <a:bodyPr/>
          <a:lstStyle/>
          <a:p>
            <a:pPr marL="457200" lvl="1" indent="0">
              <a:buNone/>
            </a:pPr>
            <a:r>
              <a:rPr lang="it-CH" dirty="0"/>
              <a:t>https://swisscovery.slsp.ch/discovery/search?vid=41SLSP_SUP:VU1_UNION&amp;lang=it</a:t>
            </a:r>
            <a:endParaRPr lang="it-CH" sz="1800" dirty="0"/>
          </a:p>
        </p:txBody>
      </p:sp>
      <p:sp>
        <p:nvSpPr>
          <p:cNvPr id="5" name="Segnaposto numero diapositiva 4">
            <a:extLst>
              <a:ext uri="{FF2B5EF4-FFF2-40B4-BE49-F238E27FC236}">
                <a16:creationId xmlns:a16="http://schemas.microsoft.com/office/drawing/2014/main" id="{664EF82C-B5E8-4F82-9182-374156127D95}"/>
              </a:ext>
            </a:extLst>
          </p:cNvPr>
          <p:cNvSpPr>
            <a:spLocks noGrp="1"/>
          </p:cNvSpPr>
          <p:nvPr>
            <p:ph type="sldNum" sz="quarter" idx="12"/>
          </p:nvPr>
        </p:nvSpPr>
        <p:spPr/>
        <p:txBody>
          <a:bodyPr/>
          <a:lstStyle/>
          <a:p>
            <a:fld id="{2D06D53B-7F90-46E4-BB13-BB881782A82C}" type="slidenum">
              <a:rPr lang="it-IT" altLang="it-CH" smtClean="0"/>
              <a:pPr/>
              <a:t>17</a:t>
            </a:fld>
            <a:endParaRPr lang="it-IT" altLang="it-CH"/>
          </a:p>
        </p:txBody>
      </p:sp>
      <p:pic>
        <p:nvPicPr>
          <p:cNvPr id="7" name="Immagine 6" descr="Immagine che contiene testo, schermata, Pagina Web, Sito Web&#10;&#10;Descrizione generata automaticamente">
            <a:extLst>
              <a:ext uri="{FF2B5EF4-FFF2-40B4-BE49-F238E27FC236}">
                <a16:creationId xmlns:a16="http://schemas.microsoft.com/office/drawing/2014/main" id="{880C0ABA-654B-32A5-4A69-BD8D555CAFA7}"/>
              </a:ext>
            </a:extLst>
          </p:cNvPr>
          <p:cNvPicPr>
            <a:picLocks noChangeAspect="1"/>
          </p:cNvPicPr>
          <p:nvPr/>
        </p:nvPicPr>
        <p:blipFill>
          <a:blip r:embed="rId3"/>
          <a:stretch>
            <a:fillRect/>
          </a:stretch>
        </p:blipFill>
        <p:spPr>
          <a:xfrm>
            <a:off x="195481" y="1598933"/>
            <a:ext cx="8375903" cy="4943397"/>
          </a:xfrm>
          <a:prstGeom prst="rect">
            <a:avLst/>
          </a:prstGeom>
        </p:spPr>
      </p:pic>
    </p:spTree>
    <p:extLst>
      <p:ext uri="{BB962C8B-B14F-4D97-AF65-F5344CB8AC3E}">
        <p14:creationId xmlns:p14="http://schemas.microsoft.com/office/powerpoint/2010/main" val="692277870"/>
      </p:ext>
    </p:extLst>
  </p:cSld>
  <p:clrMapOvr>
    <a:masterClrMapping/>
  </p:clrMapOvr>
  <mc:AlternateContent xmlns:mc="http://schemas.openxmlformats.org/markup-compatibility/2006" xmlns:p14="http://schemas.microsoft.com/office/powerpoint/2010/main">
    <mc:Choice Requires="p14">
      <p:transition spd="slow" p14:dur="2000" advTm="79753"/>
    </mc:Choice>
    <mc:Fallback xmlns="">
      <p:transition spd="slow" advTm="79753"/>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Foliennummernplatzhalter 4"/>
          <p:cNvSpPr>
            <a:spLocks noGrp="1"/>
          </p:cNvSpPr>
          <p:nvPr>
            <p:ph type="sldNum" sz="quarter" idx="12"/>
          </p:nvPr>
        </p:nvSpPr>
        <p:spPr>
          <a:noFill/>
        </p:spPr>
        <p:txBody>
          <a:bodyPr/>
          <a:lstStyle/>
          <a:p>
            <a:fld id="{52330A76-124A-47C0-8436-1845458091A3}" type="slidenum">
              <a:rPr lang="it-IT" smtClean="0">
                <a:ea typeface="ＭＳ Ｐゴシック"/>
                <a:cs typeface="ＭＳ Ｐゴシック"/>
              </a:rPr>
              <a:pPr/>
              <a:t>18</a:t>
            </a:fld>
            <a:endParaRPr lang="it-IT">
              <a:ea typeface="ＭＳ Ｐゴシック"/>
              <a:cs typeface="ＭＳ Ｐゴシック"/>
            </a:endParaRPr>
          </a:p>
        </p:txBody>
      </p:sp>
      <p:sp>
        <p:nvSpPr>
          <p:cNvPr id="43011" name="Rechteck 6"/>
          <p:cNvSpPr>
            <a:spLocks noChangeArrowheads="1"/>
          </p:cNvSpPr>
          <p:nvPr/>
        </p:nvSpPr>
        <p:spPr bwMode="auto">
          <a:xfrm>
            <a:off x="179513" y="3429671"/>
            <a:ext cx="4392488" cy="3231654"/>
          </a:xfrm>
          <a:prstGeom prst="rect">
            <a:avLst/>
          </a:prstGeom>
          <a:noFill/>
          <a:ln w="9525">
            <a:noFill/>
            <a:miter lim="800000"/>
            <a:headEnd/>
            <a:tailEnd/>
          </a:ln>
        </p:spPr>
        <p:txBody>
          <a:bodyPr wrap="square">
            <a:spAutoFit/>
          </a:bodyPr>
          <a:lstStyle/>
          <a:p>
            <a:pPr marL="342900" indent="-342900"/>
            <a:r>
              <a:rPr lang="it-CH" sz="2000" dirty="0">
                <a:solidFill>
                  <a:schemeClr val="accent2"/>
                </a:solidFill>
                <a:latin typeface="+mj-lt"/>
                <a:hlinkClick r:id="rId3"/>
              </a:rPr>
              <a:t>https://www.biblioteche.supsi.ch/risorse</a:t>
            </a:r>
            <a:endParaRPr lang="it-CH" sz="2000" dirty="0">
              <a:solidFill>
                <a:schemeClr val="accent2"/>
              </a:solidFill>
              <a:latin typeface="+mj-lt"/>
            </a:endParaRPr>
          </a:p>
          <a:p>
            <a:pPr marL="342900" indent="-342900"/>
            <a:endParaRPr lang="it-CH" sz="2000" dirty="0">
              <a:solidFill>
                <a:schemeClr val="accent2"/>
              </a:solidFill>
              <a:latin typeface="+mj-lt"/>
            </a:endParaRPr>
          </a:p>
          <a:p>
            <a:pPr marL="342900" indent="-342900"/>
            <a:r>
              <a:rPr lang="it-CH" sz="2000" dirty="0">
                <a:solidFill>
                  <a:schemeClr val="accent2"/>
                </a:solidFill>
                <a:latin typeface="+mj-lt"/>
              </a:rPr>
              <a:t>Banche dati bibliografiche </a:t>
            </a:r>
          </a:p>
          <a:p>
            <a:pPr marL="800100" lvl="1" indent="-342900"/>
            <a:r>
              <a:rPr lang="it-CH" dirty="0"/>
              <a:t>In italiano </a:t>
            </a:r>
          </a:p>
          <a:p>
            <a:pPr lvl="1"/>
            <a:r>
              <a:rPr lang="it-CH" dirty="0"/>
              <a:t>- </a:t>
            </a:r>
            <a:r>
              <a:rPr lang="it-CH" dirty="0" err="1"/>
              <a:t>Torrossa</a:t>
            </a:r>
            <a:r>
              <a:rPr lang="it-CH" dirty="0"/>
              <a:t> Open</a:t>
            </a:r>
          </a:p>
          <a:p>
            <a:pPr lvl="1"/>
            <a:r>
              <a:rPr lang="it-CH" dirty="0">
                <a:sym typeface="Wingdings" pitchFamily="2" charset="2"/>
              </a:rPr>
              <a:t>- Associazione ESSPER</a:t>
            </a:r>
          </a:p>
          <a:p>
            <a:pPr marL="742950" lvl="1" indent="-285750">
              <a:buFontTx/>
              <a:buChar char="-"/>
            </a:pPr>
            <a:endParaRPr lang="it-CH" dirty="0">
              <a:sym typeface="Wingdings" pitchFamily="2" charset="2"/>
            </a:endParaRPr>
          </a:p>
          <a:p>
            <a:pPr marL="800100" lvl="1" indent="-342900">
              <a:buFont typeface="Times New Roman" pitchFamily="18" charset="0"/>
              <a:buNone/>
            </a:pPr>
            <a:r>
              <a:rPr lang="it-CH" dirty="0"/>
              <a:t>Altre banche dati</a:t>
            </a:r>
          </a:p>
          <a:p>
            <a:pPr lvl="1"/>
            <a:r>
              <a:rPr lang="it-CH" dirty="0"/>
              <a:t>- JSTOR</a:t>
            </a:r>
          </a:p>
          <a:p>
            <a:pPr lvl="1"/>
            <a:r>
              <a:rPr lang="it-CH" dirty="0"/>
              <a:t>- IBSS (International </a:t>
            </a:r>
            <a:r>
              <a:rPr lang="it-CH" dirty="0" err="1"/>
              <a:t>Bibliography</a:t>
            </a:r>
            <a:r>
              <a:rPr lang="it-CH" dirty="0"/>
              <a:t> of the Social Sciences)</a:t>
            </a:r>
            <a:endParaRPr lang="en-US" dirty="0"/>
          </a:p>
        </p:txBody>
      </p:sp>
      <p:pic>
        <p:nvPicPr>
          <p:cNvPr id="5" name="Immagine 4" descr="Immagine che contiene testo, schermata, Carattere, Pagina Web">
            <a:extLst>
              <a:ext uri="{FF2B5EF4-FFF2-40B4-BE49-F238E27FC236}">
                <a16:creationId xmlns:a16="http://schemas.microsoft.com/office/drawing/2014/main" id="{CA1E73E4-1C02-B9B6-D4D5-EC8DF25337D2}"/>
              </a:ext>
            </a:extLst>
          </p:cNvPr>
          <p:cNvPicPr>
            <a:picLocks noChangeAspect="1"/>
          </p:cNvPicPr>
          <p:nvPr/>
        </p:nvPicPr>
        <p:blipFill rotWithShape="1">
          <a:blip r:embed="rId4"/>
          <a:srcRect t="20533"/>
          <a:stretch/>
        </p:blipFill>
        <p:spPr>
          <a:xfrm>
            <a:off x="323850" y="317645"/>
            <a:ext cx="7798643" cy="3057259"/>
          </a:xfrm>
          <a:prstGeom prst="rect">
            <a:avLst/>
          </a:prstGeom>
        </p:spPr>
      </p:pic>
      <p:sp>
        <p:nvSpPr>
          <p:cNvPr id="6" name="Rechteck 6">
            <a:extLst>
              <a:ext uri="{FF2B5EF4-FFF2-40B4-BE49-F238E27FC236}">
                <a16:creationId xmlns:a16="http://schemas.microsoft.com/office/drawing/2014/main" id="{0835583F-A323-7B8C-43FF-34458062B2D1}"/>
              </a:ext>
            </a:extLst>
          </p:cNvPr>
          <p:cNvSpPr>
            <a:spLocks noChangeArrowheads="1"/>
          </p:cNvSpPr>
          <p:nvPr/>
        </p:nvSpPr>
        <p:spPr bwMode="auto">
          <a:xfrm>
            <a:off x="5580112" y="4241899"/>
            <a:ext cx="3816423" cy="2616101"/>
          </a:xfrm>
          <a:prstGeom prst="rect">
            <a:avLst/>
          </a:prstGeom>
          <a:noFill/>
          <a:ln w="9525">
            <a:noFill/>
            <a:miter lim="800000"/>
            <a:headEnd/>
            <a:tailEnd/>
          </a:ln>
        </p:spPr>
        <p:txBody>
          <a:bodyPr wrap="square">
            <a:spAutoFit/>
          </a:bodyPr>
          <a:lstStyle/>
          <a:p>
            <a:pPr marL="800100" lvl="1" indent="-342900">
              <a:buFont typeface="Times New Roman" pitchFamily="18" charset="0"/>
              <a:buNone/>
            </a:pPr>
            <a:endParaRPr lang="it-CH" sz="2000" dirty="0">
              <a:solidFill>
                <a:schemeClr val="accent2"/>
              </a:solidFill>
              <a:latin typeface="+mj-lt"/>
            </a:endParaRPr>
          </a:p>
          <a:p>
            <a:pPr lvl="1"/>
            <a:r>
              <a:rPr lang="it-CH" dirty="0"/>
              <a:t>- SAGE </a:t>
            </a:r>
            <a:r>
              <a:rPr lang="it-CH" dirty="0" err="1"/>
              <a:t>sociology</a:t>
            </a:r>
            <a:r>
              <a:rPr lang="it-CH" dirty="0"/>
              <a:t> </a:t>
            </a:r>
          </a:p>
          <a:p>
            <a:pPr lvl="1"/>
            <a:r>
              <a:rPr lang="it-CH" dirty="0"/>
              <a:t>- SAGE </a:t>
            </a:r>
            <a:r>
              <a:rPr lang="it-CH" dirty="0" err="1"/>
              <a:t>education</a:t>
            </a:r>
            <a:endParaRPr lang="it-CH" dirty="0"/>
          </a:p>
          <a:p>
            <a:pPr lvl="1"/>
            <a:r>
              <a:rPr lang="it-CH" dirty="0"/>
              <a:t>- </a:t>
            </a:r>
            <a:r>
              <a:rPr lang="it-CH" dirty="0" err="1"/>
              <a:t>SocIndex</a:t>
            </a:r>
            <a:r>
              <a:rPr lang="it-CH" dirty="0"/>
              <a:t> (EBSCO)</a:t>
            </a:r>
          </a:p>
          <a:p>
            <a:pPr lvl="1"/>
            <a:r>
              <a:rPr lang="it-CH" dirty="0"/>
              <a:t>- </a:t>
            </a:r>
            <a:r>
              <a:rPr lang="it-CH" dirty="0" err="1"/>
              <a:t>Sociological</a:t>
            </a:r>
            <a:r>
              <a:rPr lang="it-CH" dirty="0"/>
              <a:t> abstracts</a:t>
            </a:r>
          </a:p>
          <a:p>
            <a:pPr lvl="1"/>
            <a:r>
              <a:rPr lang="it-CH" dirty="0"/>
              <a:t>- SSRN (</a:t>
            </a:r>
            <a:r>
              <a:rPr lang="it-CH" dirty="0">
                <a:hlinkClick r:id="rId5"/>
              </a:rPr>
              <a:t>www.ssrn.com</a:t>
            </a:r>
            <a:r>
              <a:rPr lang="it-CH" dirty="0"/>
              <a:t>)</a:t>
            </a:r>
          </a:p>
          <a:p>
            <a:pPr lvl="1"/>
            <a:r>
              <a:rPr lang="it-CH" dirty="0"/>
              <a:t>- </a:t>
            </a:r>
            <a:r>
              <a:rPr lang="it-CH" dirty="0" err="1"/>
              <a:t>Taylor&amp;Francis</a:t>
            </a:r>
            <a:r>
              <a:rPr lang="it-CH" dirty="0"/>
              <a:t> </a:t>
            </a:r>
            <a:br>
              <a:rPr lang="it-CH" b="1" dirty="0"/>
            </a:br>
            <a:r>
              <a:rPr lang="it-CH" dirty="0"/>
              <a:t>- WISO</a:t>
            </a:r>
            <a:br>
              <a:rPr lang="it-CH" dirty="0"/>
            </a:br>
            <a:r>
              <a:rPr lang="it-CH" dirty="0"/>
              <a:t> </a:t>
            </a:r>
          </a:p>
        </p:txBody>
      </p:sp>
    </p:spTree>
    <p:extLst>
      <p:ext uri="{BB962C8B-B14F-4D97-AF65-F5344CB8AC3E}">
        <p14:creationId xmlns:p14="http://schemas.microsoft.com/office/powerpoint/2010/main" val="3194538101"/>
      </p:ext>
    </p:extLst>
  </p:cSld>
  <p:clrMapOvr>
    <a:masterClrMapping/>
  </p:clrMapOvr>
  <mc:AlternateContent xmlns:mc="http://schemas.openxmlformats.org/markup-compatibility/2006" xmlns:p14="http://schemas.microsoft.com/office/powerpoint/2010/main">
    <mc:Choice Requires="p14">
      <p:transition spd="slow" p14:dur="2000" advTm="166409"/>
    </mc:Choice>
    <mc:Fallback xmlns="">
      <p:transition spd="slow" advTm="166409"/>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el 1"/>
          <p:cNvSpPr>
            <a:spLocks noGrp="1"/>
          </p:cNvSpPr>
          <p:nvPr>
            <p:ph type="title"/>
          </p:nvPr>
        </p:nvSpPr>
        <p:spPr>
          <a:xfrm>
            <a:off x="323850" y="571500"/>
            <a:ext cx="8496300" cy="719137"/>
          </a:xfrm>
        </p:spPr>
        <p:txBody>
          <a:bodyPr/>
          <a:lstStyle/>
          <a:p>
            <a:r>
              <a:rPr lang="it-CH" dirty="0"/>
              <a:t>Social </a:t>
            </a:r>
            <a:r>
              <a:rPr lang="it-CH" dirty="0" err="1"/>
              <a:t>Sciences</a:t>
            </a:r>
            <a:r>
              <a:rPr lang="it-CH" dirty="0"/>
              <a:t> </a:t>
            </a:r>
            <a:r>
              <a:rPr lang="it-CH" dirty="0" err="1"/>
              <a:t>Research</a:t>
            </a:r>
            <a:r>
              <a:rPr lang="it-CH" dirty="0"/>
              <a:t> Network (SSRN)</a:t>
            </a:r>
            <a:br>
              <a:rPr lang="it-CH" dirty="0"/>
            </a:br>
            <a:endParaRPr lang="it-CH" dirty="0"/>
          </a:p>
        </p:txBody>
      </p:sp>
      <p:sp>
        <p:nvSpPr>
          <p:cNvPr id="17412" name="Inhaltsplatzhalter 5"/>
          <p:cNvSpPr>
            <a:spLocks noGrp="1"/>
          </p:cNvSpPr>
          <p:nvPr>
            <p:ph idx="1"/>
          </p:nvPr>
        </p:nvSpPr>
        <p:spPr>
          <a:xfrm>
            <a:off x="251520" y="1092498"/>
            <a:ext cx="8496300" cy="4321175"/>
          </a:xfrm>
        </p:spPr>
        <p:txBody>
          <a:bodyPr/>
          <a:lstStyle/>
          <a:p>
            <a:r>
              <a:rPr lang="it-CH" dirty="0">
                <a:sym typeface="Wingdings" pitchFamily="2" charset="2"/>
                <a:hlinkClick r:id="rId3"/>
              </a:rPr>
              <a:t>http://www.ssrn.com/en/</a:t>
            </a:r>
            <a:endParaRPr lang="it-CH" dirty="0">
              <a:sym typeface="Wingdings" pitchFamily="2" charset="2"/>
            </a:endParaRPr>
          </a:p>
          <a:p>
            <a:r>
              <a:rPr lang="it-CH" dirty="0" err="1"/>
              <a:t>Working</a:t>
            </a:r>
            <a:r>
              <a:rPr lang="it-CH" dirty="0"/>
              <a:t> </a:t>
            </a:r>
            <a:r>
              <a:rPr lang="it-CH" dirty="0" err="1"/>
              <a:t>paper</a:t>
            </a:r>
            <a:r>
              <a:rPr lang="it-CH" dirty="0"/>
              <a:t> su temi di scienze sociali</a:t>
            </a:r>
            <a:endParaRPr lang="it-CH" dirty="0">
              <a:sym typeface="Wingdings" pitchFamily="2" charset="2"/>
            </a:endParaRPr>
          </a:p>
          <a:p>
            <a:r>
              <a:rPr lang="it-CH" dirty="0">
                <a:sym typeface="Wingdings" pitchFamily="2" charset="2"/>
              </a:rPr>
              <a:t>Quando è utile consultare </a:t>
            </a:r>
            <a:r>
              <a:rPr lang="it-CH" dirty="0" err="1">
                <a:sym typeface="Wingdings" pitchFamily="2" charset="2"/>
              </a:rPr>
              <a:t>Working</a:t>
            </a:r>
            <a:r>
              <a:rPr lang="it-CH" dirty="0">
                <a:sym typeface="Wingdings" pitchFamily="2" charset="2"/>
              </a:rPr>
              <a:t> </a:t>
            </a:r>
            <a:r>
              <a:rPr lang="it-CH" dirty="0" err="1">
                <a:sym typeface="Wingdings" pitchFamily="2" charset="2"/>
              </a:rPr>
              <a:t>paper</a:t>
            </a:r>
            <a:r>
              <a:rPr lang="it-CH" dirty="0">
                <a:sym typeface="Wingdings" pitchFamily="2" charset="2"/>
              </a:rPr>
              <a:t>?</a:t>
            </a:r>
          </a:p>
          <a:p>
            <a:pPr lvl="1"/>
            <a:r>
              <a:rPr lang="it-CH" dirty="0">
                <a:sym typeface="Wingdings" pitchFamily="2" charset="2"/>
              </a:rPr>
              <a:t>Per </a:t>
            </a:r>
            <a:r>
              <a:rPr lang="it-CH" b="1" dirty="0">
                <a:sym typeface="Wingdings" pitchFamily="2" charset="2"/>
              </a:rPr>
              <a:t>temi innovativi e non ancora pubblicati in una rivista scientifica </a:t>
            </a:r>
            <a:r>
              <a:rPr lang="it-CH" dirty="0">
                <a:sym typeface="Wingdings" pitchFamily="2" charset="2"/>
              </a:rPr>
              <a:t>che mirano a raccogliere dei feedback prima della pubblicazione </a:t>
            </a:r>
          </a:p>
          <a:p>
            <a:r>
              <a:rPr lang="it-CH" dirty="0">
                <a:sym typeface="Wingdings" pitchFamily="2" charset="2"/>
              </a:rPr>
              <a:t>A volte scritti da autori indipendenti che riportano punti di vista diversi</a:t>
            </a:r>
          </a:p>
        </p:txBody>
      </p:sp>
      <p:sp>
        <p:nvSpPr>
          <p:cNvPr id="17411" name="Foliennummernplatzhalter 4"/>
          <p:cNvSpPr>
            <a:spLocks noGrp="1"/>
          </p:cNvSpPr>
          <p:nvPr>
            <p:ph type="sldNum" sz="quarter" idx="12"/>
          </p:nvPr>
        </p:nvSpPr>
        <p:spPr/>
        <p:txBody>
          <a:bodyPr/>
          <a:lstStyle/>
          <a:p>
            <a:fld id="{0527B145-CA46-4A37-B682-79A241ADEDFA}" type="slidenum">
              <a:rPr lang="it-IT" smtClean="0"/>
              <a:pPr/>
              <a:t>19</a:t>
            </a:fld>
            <a:endParaRPr lang="it-IT"/>
          </a:p>
        </p:txBody>
      </p:sp>
      <p:pic>
        <p:nvPicPr>
          <p:cNvPr id="4" name="Picture 3"/>
          <p:cNvPicPr>
            <a:picLocks noChangeAspect="1"/>
          </p:cNvPicPr>
          <p:nvPr/>
        </p:nvPicPr>
        <p:blipFill rotWithShape="1">
          <a:blip r:embed="rId4"/>
          <a:srcRect l="3848" t="10259" r="89236" b="83188"/>
          <a:stretch/>
        </p:blipFill>
        <p:spPr>
          <a:xfrm>
            <a:off x="7735719" y="3486279"/>
            <a:ext cx="1156761" cy="616521"/>
          </a:xfrm>
          <a:prstGeom prst="rect">
            <a:avLst/>
          </a:prstGeom>
        </p:spPr>
      </p:pic>
      <p:pic>
        <p:nvPicPr>
          <p:cNvPr id="5" name="Immagine 4" descr="Immagine che contiene testo, schermata&#10;&#10;Descrizione generata automaticamente">
            <a:extLst>
              <a:ext uri="{FF2B5EF4-FFF2-40B4-BE49-F238E27FC236}">
                <a16:creationId xmlns:a16="http://schemas.microsoft.com/office/drawing/2014/main" id="{CBEE0895-06C7-0343-B01C-A3DD03B35B3A}"/>
              </a:ext>
            </a:extLst>
          </p:cNvPr>
          <p:cNvPicPr>
            <a:picLocks noChangeAspect="1"/>
          </p:cNvPicPr>
          <p:nvPr/>
        </p:nvPicPr>
        <p:blipFill>
          <a:blip r:embed="rId5"/>
          <a:stretch>
            <a:fillRect/>
          </a:stretch>
        </p:blipFill>
        <p:spPr>
          <a:xfrm>
            <a:off x="337206" y="3061318"/>
            <a:ext cx="7012028" cy="3558343"/>
          </a:xfrm>
          <a:prstGeom prst="rect">
            <a:avLst/>
          </a:prstGeom>
        </p:spPr>
      </p:pic>
    </p:spTree>
    <p:extLst>
      <p:ext uri="{BB962C8B-B14F-4D97-AF65-F5344CB8AC3E}">
        <p14:creationId xmlns:p14="http://schemas.microsoft.com/office/powerpoint/2010/main" val="2895432351"/>
      </p:ext>
    </p:extLst>
  </p:cSld>
  <p:clrMapOvr>
    <a:masterClrMapping/>
  </p:clrMapOvr>
  <mc:AlternateContent xmlns:mc="http://schemas.openxmlformats.org/markup-compatibility/2006" xmlns:p14="http://schemas.microsoft.com/office/powerpoint/2010/main">
    <mc:Choice Requires="p14">
      <p:transition spd="slow" p14:dur="2000" advClick="0" advTm="82878"/>
    </mc:Choice>
    <mc:Fallback xmlns="">
      <p:transition spd="slow" advClick="0" advTm="82878"/>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el 1"/>
          <p:cNvSpPr>
            <a:spLocks noGrp="1"/>
          </p:cNvSpPr>
          <p:nvPr>
            <p:ph type="title"/>
          </p:nvPr>
        </p:nvSpPr>
        <p:spPr>
          <a:xfrm>
            <a:off x="400050" y="729458"/>
            <a:ext cx="8496300" cy="719137"/>
          </a:xfrm>
        </p:spPr>
        <p:txBody>
          <a:bodyPr wrap="square" anchor="t">
            <a:normAutofit/>
          </a:bodyPr>
          <a:lstStyle/>
          <a:p>
            <a:pPr eaLnBrk="1" hangingPunct="1"/>
            <a:r>
              <a:rPr lang="it-CH" dirty="0"/>
              <a:t>Esercizio </a:t>
            </a:r>
          </a:p>
        </p:txBody>
      </p:sp>
      <p:sp>
        <p:nvSpPr>
          <p:cNvPr id="23554" name="Inhaltsplatzhalter 2"/>
          <p:cNvSpPr>
            <a:spLocks noGrp="1"/>
          </p:cNvSpPr>
          <p:nvPr>
            <p:ph sz="half" idx="1"/>
          </p:nvPr>
        </p:nvSpPr>
        <p:spPr>
          <a:xfrm>
            <a:off x="400050" y="1916137"/>
            <a:ext cx="7916366" cy="4321175"/>
          </a:xfrm>
        </p:spPr>
        <p:txBody>
          <a:bodyPr wrap="square" anchor="t">
            <a:normAutofit/>
          </a:bodyPr>
          <a:lstStyle/>
          <a:p>
            <a:pPr marL="0" indent="0">
              <a:lnSpc>
                <a:spcPct val="90000"/>
              </a:lnSpc>
              <a:buNone/>
            </a:pPr>
            <a:r>
              <a:rPr lang="it-CH" sz="2000" dirty="0"/>
              <a:t>Ricercare la definizione di «</a:t>
            </a:r>
            <a:r>
              <a:rPr lang="it-CH" sz="2000" dirty="0" err="1"/>
              <a:t>bias</a:t>
            </a:r>
            <a:r>
              <a:rPr lang="it-CH" sz="2000" dirty="0"/>
              <a:t> cognitivi» usando varie fonti</a:t>
            </a:r>
          </a:p>
          <a:p>
            <a:pPr marL="0" indent="0">
              <a:lnSpc>
                <a:spcPct val="90000"/>
              </a:lnSpc>
              <a:buNone/>
            </a:pPr>
            <a:endParaRPr lang="it-CH" sz="2000" dirty="0"/>
          </a:p>
          <a:p>
            <a:pPr marL="0" indent="0">
              <a:lnSpc>
                <a:spcPct val="90000"/>
              </a:lnSpc>
              <a:buNone/>
            </a:pPr>
            <a:r>
              <a:rPr lang="it-CH" sz="2000" dirty="0"/>
              <a:t>- AI, AI con richiesta fonti, enciclopedia, banche dati, …</a:t>
            </a:r>
          </a:p>
          <a:p>
            <a:pPr marL="0" indent="0">
              <a:lnSpc>
                <a:spcPct val="90000"/>
              </a:lnSpc>
              <a:buNone/>
            </a:pPr>
            <a:endParaRPr lang="it-CH" sz="2000" dirty="0"/>
          </a:p>
          <a:p>
            <a:pPr marL="0" indent="0">
              <a:lnSpc>
                <a:spcPct val="90000"/>
              </a:lnSpc>
              <a:buNone/>
            </a:pPr>
            <a:r>
              <a:rPr lang="it-CH" sz="2000" dirty="0"/>
              <a:t>Confrontare i risultati</a:t>
            </a:r>
          </a:p>
        </p:txBody>
      </p:sp>
      <p:sp>
        <p:nvSpPr>
          <p:cNvPr id="23555" name="Foliennummernplatzhalter 4"/>
          <p:cNvSpPr>
            <a:spLocks noGrp="1"/>
          </p:cNvSpPr>
          <p:nvPr>
            <p:ph type="sldNum" sz="quarter" idx="12"/>
          </p:nvPr>
        </p:nvSpPr>
        <p:spPr>
          <a:xfrm>
            <a:off x="8001000" y="188913"/>
            <a:ext cx="819150" cy="476250"/>
          </a:xfrm>
        </p:spPr>
        <p:txBody>
          <a:bodyPr wrap="square" anchor="t">
            <a:normAutofit/>
          </a:bodyPr>
          <a:lstStyle/>
          <a:p>
            <a:pPr>
              <a:spcAft>
                <a:spcPts val="600"/>
              </a:spcAft>
            </a:pPr>
            <a:fld id="{02B2A280-DA5B-4B4A-886C-EED6240975B7}" type="slidenum">
              <a:rPr lang="it-IT" smtClean="0"/>
              <a:pPr>
                <a:spcAft>
                  <a:spcPts val="600"/>
                </a:spcAft>
              </a:pPr>
              <a:t>20</a:t>
            </a:fld>
            <a:endParaRPr lang="it-IT"/>
          </a:p>
        </p:txBody>
      </p:sp>
    </p:spTree>
    <p:extLst>
      <p:ext uri="{BB962C8B-B14F-4D97-AF65-F5344CB8AC3E}">
        <p14:creationId xmlns:p14="http://schemas.microsoft.com/office/powerpoint/2010/main" val="29743599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5FC48-9D3D-4287-8874-590035FF31C7}"/>
            </a:ext>
          </a:extLst>
        </p:cNvPr>
        <p:cNvGrpSpPr/>
        <p:nvPr/>
      </p:nvGrpSpPr>
      <p:grpSpPr>
        <a:xfrm>
          <a:off x="0" y="0"/>
          <a:ext cx="0" cy="0"/>
          <a:chOff x="0" y="0"/>
          <a:chExt cx="0" cy="0"/>
        </a:xfrm>
      </p:grpSpPr>
      <p:sp>
        <p:nvSpPr>
          <p:cNvPr id="23553" name="Titel 1">
            <a:extLst>
              <a:ext uri="{FF2B5EF4-FFF2-40B4-BE49-F238E27FC236}">
                <a16:creationId xmlns:a16="http://schemas.microsoft.com/office/drawing/2014/main" id="{62FE4E60-C26B-15E8-174A-4B70544EEAE9}"/>
              </a:ext>
            </a:extLst>
          </p:cNvPr>
          <p:cNvSpPr>
            <a:spLocks noGrp="1"/>
          </p:cNvSpPr>
          <p:nvPr>
            <p:ph type="title"/>
          </p:nvPr>
        </p:nvSpPr>
        <p:spPr>
          <a:xfrm>
            <a:off x="400050" y="729458"/>
            <a:ext cx="8496300" cy="719137"/>
          </a:xfrm>
        </p:spPr>
        <p:txBody>
          <a:bodyPr wrap="square" anchor="t">
            <a:normAutofit/>
          </a:bodyPr>
          <a:lstStyle/>
          <a:p>
            <a:pPr eaLnBrk="1" hangingPunct="1"/>
            <a:r>
              <a:rPr lang="it-CH" dirty="0"/>
              <a:t>Elementi bibliografici</a:t>
            </a:r>
          </a:p>
        </p:txBody>
      </p:sp>
      <p:sp>
        <p:nvSpPr>
          <p:cNvPr id="23554" name="Inhaltsplatzhalter 2">
            <a:extLst>
              <a:ext uri="{FF2B5EF4-FFF2-40B4-BE49-F238E27FC236}">
                <a16:creationId xmlns:a16="http://schemas.microsoft.com/office/drawing/2014/main" id="{CF132E20-628E-A5F1-86D6-3326ED4C3FEB}"/>
              </a:ext>
            </a:extLst>
          </p:cNvPr>
          <p:cNvSpPr>
            <a:spLocks noGrp="1"/>
          </p:cNvSpPr>
          <p:nvPr>
            <p:ph sz="half" idx="1"/>
          </p:nvPr>
        </p:nvSpPr>
        <p:spPr>
          <a:xfrm>
            <a:off x="400050" y="1916137"/>
            <a:ext cx="7916366" cy="4321175"/>
          </a:xfrm>
        </p:spPr>
        <p:txBody>
          <a:bodyPr wrap="square" anchor="t">
            <a:normAutofit/>
          </a:bodyPr>
          <a:lstStyle/>
          <a:p>
            <a:pPr marL="0" indent="0">
              <a:lnSpc>
                <a:spcPct val="90000"/>
              </a:lnSpc>
              <a:buNone/>
            </a:pPr>
            <a:r>
              <a:rPr lang="it-CH" sz="2000" dirty="0"/>
              <a:t>Galesi, D. (2007). Dall’</a:t>
            </a:r>
            <a:r>
              <a:rPr lang="it-CH" sz="2000" dirty="0" err="1"/>
              <a:t>Evidence</a:t>
            </a:r>
            <a:r>
              <a:rPr lang="it-CH" sz="2000" dirty="0"/>
              <a:t> </a:t>
            </a:r>
            <a:r>
              <a:rPr lang="it-CH" sz="2000" dirty="0" err="1"/>
              <a:t>Based</a:t>
            </a:r>
            <a:r>
              <a:rPr lang="it-CH" sz="2000" dirty="0"/>
              <a:t> Practice al ciclo metodologico del servizio sociale. </a:t>
            </a:r>
            <a:r>
              <a:rPr lang="it-CH" sz="2000" i="1" dirty="0"/>
              <a:t>Salute e Società</a:t>
            </a:r>
            <a:r>
              <a:rPr lang="it-CH" sz="2000" dirty="0"/>
              <a:t>, 2, 81-90.</a:t>
            </a:r>
          </a:p>
          <a:p>
            <a:pPr marL="0" indent="0">
              <a:lnSpc>
                <a:spcPct val="90000"/>
              </a:lnSpc>
              <a:buNone/>
            </a:pPr>
            <a:endParaRPr lang="it-CH" sz="2000" dirty="0"/>
          </a:p>
          <a:p>
            <a:pPr marL="0" indent="0">
              <a:lnSpc>
                <a:spcPct val="90000"/>
              </a:lnSpc>
              <a:buNone/>
            </a:pPr>
            <a:r>
              <a:rPr lang="it-CH" sz="2000" dirty="0"/>
              <a:t>Vecchiato, T., </a:t>
            </a:r>
            <a:r>
              <a:rPr lang="it-CH" sz="2000" dirty="0" err="1"/>
              <a:t>Zeira</a:t>
            </a:r>
            <a:r>
              <a:rPr lang="it-CH" sz="2000" dirty="0"/>
              <a:t>, A., Canali, C.,U.,J., </a:t>
            </a:r>
            <a:r>
              <a:rPr lang="it-CH" sz="2000" dirty="0" err="1"/>
              <a:t>Thoburn</a:t>
            </a:r>
            <a:r>
              <a:rPr lang="it-CH" sz="2000" dirty="0"/>
              <a:t>, J. &amp; Neve, E. (2007). Il lavoro sociale basato su prove di efficacia con minori e famiglie. Prospettive internazionali. </a:t>
            </a:r>
            <a:r>
              <a:rPr lang="it-CH" sz="2000" i="1" dirty="0"/>
              <a:t>Studi Zancan. Politiche e servizi alle persone</a:t>
            </a:r>
            <a:r>
              <a:rPr lang="it-CH" sz="2000" dirty="0"/>
              <a:t>, 1, 72-91.</a:t>
            </a:r>
          </a:p>
          <a:p>
            <a:pPr marL="0" indent="0">
              <a:lnSpc>
                <a:spcPct val="90000"/>
              </a:lnSpc>
              <a:buNone/>
            </a:pPr>
            <a:endParaRPr lang="it-CH" sz="2000" dirty="0"/>
          </a:p>
        </p:txBody>
      </p:sp>
      <p:sp>
        <p:nvSpPr>
          <p:cNvPr id="23555" name="Foliennummernplatzhalter 4">
            <a:extLst>
              <a:ext uri="{FF2B5EF4-FFF2-40B4-BE49-F238E27FC236}">
                <a16:creationId xmlns:a16="http://schemas.microsoft.com/office/drawing/2014/main" id="{2A16287E-7116-F982-92DF-E2E64B1022B7}"/>
              </a:ext>
            </a:extLst>
          </p:cNvPr>
          <p:cNvSpPr>
            <a:spLocks noGrp="1"/>
          </p:cNvSpPr>
          <p:nvPr>
            <p:ph type="sldNum" sz="quarter" idx="12"/>
          </p:nvPr>
        </p:nvSpPr>
        <p:spPr>
          <a:xfrm>
            <a:off x="8001000" y="188913"/>
            <a:ext cx="819150" cy="476250"/>
          </a:xfrm>
        </p:spPr>
        <p:txBody>
          <a:bodyPr wrap="square" anchor="t">
            <a:normAutofit/>
          </a:bodyPr>
          <a:lstStyle/>
          <a:p>
            <a:pPr>
              <a:spcAft>
                <a:spcPts val="600"/>
              </a:spcAft>
            </a:pPr>
            <a:fld id="{02B2A280-DA5B-4B4A-886C-EED6240975B7}" type="slidenum">
              <a:rPr lang="it-IT" smtClean="0"/>
              <a:pPr>
                <a:spcAft>
                  <a:spcPts val="600"/>
                </a:spcAft>
              </a:pPr>
              <a:t>21</a:t>
            </a:fld>
            <a:endParaRPr lang="it-IT"/>
          </a:p>
        </p:txBody>
      </p:sp>
    </p:spTree>
    <p:extLst>
      <p:ext uri="{BB962C8B-B14F-4D97-AF65-F5344CB8AC3E}">
        <p14:creationId xmlns:p14="http://schemas.microsoft.com/office/powerpoint/2010/main" val="806632180"/>
      </p:ext>
    </p:extLst>
  </p:cSld>
  <p:clrMapOvr>
    <a:masterClrMapping/>
  </p:clrMapOvr>
</p:sld>
</file>

<file path=ppt/theme/theme1.xml><?xml version="1.0" encoding="utf-8"?>
<a:theme xmlns:a="http://schemas.openxmlformats.org/drawingml/2006/main" name="Intro_CTS">
  <a:themeElements>
    <a:clrScheme name="SUPSI 1">
      <a:dk1>
        <a:srgbClr val="000000"/>
      </a:dk1>
      <a:lt1>
        <a:sysClr val="window" lastClr="FFFFFF"/>
      </a:lt1>
      <a:dk2>
        <a:srgbClr val="141C64"/>
      </a:dk2>
      <a:lt2>
        <a:srgbClr val="FFFFFF"/>
      </a:lt2>
      <a:accent1>
        <a:srgbClr val="141C78"/>
      </a:accent1>
      <a:accent2>
        <a:srgbClr val="2838C8"/>
      </a:accent2>
      <a:accent3>
        <a:srgbClr val="0063C8"/>
      </a:accent3>
      <a:accent4>
        <a:srgbClr val="0096FF"/>
      </a:accent4>
      <a:accent5>
        <a:srgbClr val="46A01E"/>
      </a:accent5>
      <a:accent6>
        <a:srgbClr val="8CD23C"/>
      </a:accent6>
      <a:hlink>
        <a:srgbClr val="000000"/>
      </a:hlink>
      <a:folHlink>
        <a:srgbClr val="646464"/>
      </a:folHlink>
    </a:clrScheme>
    <a:fontScheme name="SUPSI_DSAS">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bwMode="auto">
        <a:noFill/>
        <a:ln w="9525">
          <a:noFill/>
          <a:miter lim="800000"/>
          <a:headEnd/>
          <a:tailEnd/>
        </a:ln>
      </a:spPr>
      <a:bodyPr lIns="0" tIns="0" rIns="0" bIns="0">
        <a:prstTxWarp prst="textNoShape">
          <a:avLst/>
        </a:prstTxWarp>
      </a:bodyPr>
      <a:lstStyle>
        <a:defPPr eaLnBrk="0" hangingPunct="0">
          <a:spcBef>
            <a:spcPct val="20000"/>
          </a:spcBef>
          <a:defRPr sz="1400" kern="0" dirty="0" smtClean="0">
            <a:latin typeface="+mn-lt"/>
            <a:ea typeface="ＭＳ Ｐゴシック" pitchFamily="-112" charset="-128"/>
            <a:cs typeface="ＭＳ Ｐゴシック" pitchFamily="-112" charset="-128"/>
          </a:defRPr>
        </a:defPPr>
      </a:lstStyle>
    </a:txDef>
  </a:objectDefaults>
  <a:extraClrSchemeLst>
    <a:extraClrScheme>
      <a:clrScheme name="SUPSI_DSA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UPSI_DSA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UPSI_DSA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UPSI_DSA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UPSI_DSA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UPSI_DSA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UPSI_DSA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UPSI_DSA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UPSI_DSA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UPSI_DSA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UPSI_DSA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UPSI_DSA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i Office">
  <a:themeElements>
    <a:clrScheme name="SUPSI 1">
      <a:dk1>
        <a:srgbClr val="000000"/>
      </a:dk1>
      <a:lt1>
        <a:sysClr val="window" lastClr="FFFFFF"/>
      </a:lt1>
      <a:dk2>
        <a:srgbClr val="141C64"/>
      </a:dk2>
      <a:lt2>
        <a:srgbClr val="FFFFFF"/>
      </a:lt2>
      <a:accent1>
        <a:srgbClr val="141C78"/>
      </a:accent1>
      <a:accent2>
        <a:srgbClr val="2838C8"/>
      </a:accent2>
      <a:accent3>
        <a:srgbClr val="0063C8"/>
      </a:accent3>
      <a:accent4>
        <a:srgbClr val="0096FF"/>
      </a:accent4>
      <a:accent5>
        <a:srgbClr val="46A01E"/>
      </a:accent5>
      <a:accent6>
        <a:srgbClr val="8CD23C"/>
      </a:accent6>
      <a:hlink>
        <a:srgbClr val="000000"/>
      </a:hlink>
      <a:folHlink>
        <a:srgbClr val="646464"/>
      </a:folHlink>
    </a:clrScheme>
    <a:fontScheme name="SUPSI">
      <a:majorFont>
        <a:latin typeface="Times New Roman"/>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i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832538a4-939e-4f12-952e-e33cf9e5689d}" enabled="0" method="" siteId="{832538a4-939e-4f12-952e-e33cf9e5689d}" removed="1"/>
</clbl:labelList>
</file>

<file path=docProps/app.xml><?xml version="1.0" encoding="utf-8"?>
<Properties xmlns="http://schemas.openxmlformats.org/officeDocument/2006/extended-properties" xmlns:vt="http://schemas.openxmlformats.org/officeDocument/2006/docPropsVTypes">
  <Template>Intro_CTS.pot</Template>
  <TotalTime>0</TotalTime>
  <Words>3160</Words>
  <Application>Microsoft Office PowerPoint</Application>
  <PresentationFormat>Presentazione su schermo (4:3)</PresentationFormat>
  <Paragraphs>289</Paragraphs>
  <Slides>21</Slides>
  <Notes>21</Notes>
  <HiddenSlides>1</HiddenSlides>
  <MMClips>0</MMClips>
  <ScaleCrop>false</ScaleCrop>
  <HeadingPairs>
    <vt:vector size="6" baseType="variant">
      <vt:variant>
        <vt:lpstr>Caratteri utilizzati</vt:lpstr>
      </vt:variant>
      <vt:variant>
        <vt:i4>4</vt:i4>
      </vt:variant>
      <vt:variant>
        <vt:lpstr>Tema</vt:lpstr>
      </vt:variant>
      <vt:variant>
        <vt:i4>2</vt:i4>
      </vt:variant>
      <vt:variant>
        <vt:lpstr>Titoli diapositive</vt:lpstr>
      </vt:variant>
      <vt:variant>
        <vt:i4>21</vt:i4>
      </vt:variant>
    </vt:vector>
  </HeadingPairs>
  <TitlesOfParts>
    <vt:vector size="27" baseType="lpstr">
      <vt:lpstr>ＭＳ Ｐゴシック</vt:lpstr>
      <vt:lpstr>Arial</vt:lpstr>
      <vt:lpstr>Times New Roman</vt:lpstr>
      <vt:lpstr>Wingdings</vt:lpstr>
      <vt:lpstr>Intro_CTS</vt:lpstr>
      <vt:lpstr>Tema di Office</vt:lpstr>
      <vt:lpstr>Accompagnamento allo studio e ricerca bibliografica  Riconoscere le fonti e reperire letteratura</vt:lpstr>
      <vt:lpstr>Fonti primarie o fonti secondarie</vt:lpstr>
      <vt:lpstr>Le diverse fonti di informazione</vt:lpstr>
      <vt:lpstr>Valutazione dell’attendibilità di una fonte </vt:lpstr>
      <vt:lpstr>Altri criteri di valutazione delle fonti</vt:lpstr>
      <vt:lpstr>Fonti attendibili </vt:lpstr>
      <vt:lpstr>Fonti parzialmente o non attendibili </vt:lpstr>
      <vt:lpstr>Perché è necessario verificare l’attendibilità?</vt:lpstr>
      <vt:lpstr>Perché avvalersi di fonti attendibili nel lavoro sociale?</vt:lpstr>
      <vt:lpstr>Presentazione standard di PowerPoint</vt:lpstr>
      <vt:lpstr>Le diverse fonti – sistema di gestione dei riferimenti bibliografici in Word</vt:lpstr>
      <vt:lpstr>Biblioteca e Internet: differenze</vt:lpstr>
      <vt:lpstr>Dove cercare?</vt:lpstr>
      <vt:lpstr>Principali strumenti per reperire della documentazione</vt:lpstr>
      <vt:lpstr>Motori di ricerca per testi scientifici – ricerca documentale</vt:lpstr>
      <vt:lpstr>Presentazione standard di PowerPoint</vt:lpstr>
      <vt:lpstr>Alcuni motori di ricerca – biblioteca SUPSI Swisscovery  </vt:lpstr>
      <vt:lpstr>Presentazione standard di PowerPoint</vt:lpstr>
      <vt:lpstr>Social Sciences Research Network (SSRN) </vt:lpstr>
      <vt:lpstr>Esercizio </vt:lpstr>
      <vt:lpstr>Elementi bibliografici</vt:lpstr>
    </vt:vector>
  </TitlesOfParts>
  <Company>SUPSI-DACD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Ginevra</dc:creator>
  <cp:lastModifiedBy>Lepori Angelica</cp:lastModifiedBy>
  <cp:revision>225</cp:revision>
  <cp:lastPrinted>2020-04-18T02:34:19Z</cp:lastPrinted>
  <dcterms:created xsi:type="dcterms:W3CDTF">2010-05-03T13:35:32Z</dcterms:created>
  <dcterms:modified xsi:type="dcterms:W3CDTF">2026-02-02T13:03:21Z</dcterms:modified>
</cp:coreProperties>
</file>