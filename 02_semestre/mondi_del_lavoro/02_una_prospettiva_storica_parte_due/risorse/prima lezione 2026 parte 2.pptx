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sldIdLst>
    <p:sldId id="256" r:id="rId3"/>
    <p:sldId id="261" r:id="rId4"/>
    <p:sldId id="274" r:id="rId5"/>
    <p:sldId id="308" r:id="rId6"/>
    <p:sldId id="383" r:id="rId7"/>
    <p:sldId id="275" r:id="rId8"/>
    <p:sldId id="278" r:id="rId9"/>
    <p:sldId id="384" r:id="rId10"/>
    <p:sldId id="385" r:id="rId11"/>
    <p:sldId id="498" r:id="rId12"/>
    <p:sldId id="288" r:id="rId13"/>
    <p:sldId id="292" r:id="rId14"/>
    <p:sldId id="293" r:id="rId15"/>
    <p:sldId id="462" r:id="rId16"/>
    <p:sldId id="265" r:id="rId17"/>
    <p:sldId id="494" r:id="rId18"/>
    <p:sldId id="294" r:id="rId19"/>
    <p:sldId id="496" r:id="rId20"/>
    <p:sldId id="387" r:id="rId21"/>
    <p:sldId id="388" r:id="rId22"/>
    <p:sldId id="390" r:id="rId23"/>
    <p:sldId id="389" r:id="rId24"/>
    <p:sldId id="457" r:id="rId25"/>
    <p:sldId id="608" r:id="rId26"/>
    <p:sldId id="454" r:id="rId27"/>
    <p:sldId id="594" r:id="rId28"/>
    <p:sldId id="595" r:id="rId29"/>
    <p:sldId id="459" r:id="rId30"/>
    <p:sldId id="461" r:id="rId31"/>
    <p:sldId id="609" r:id="rId32"/>
    <p:sldId id="395" r:id="rId33"/>
    <p:sldId id="299" r:id="rId34"/>
    <p:sldId id="300" r:id="rId35"/>
    <p:sldId id="284" r:id="rId36"/>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E54881-7D7E-484E-8222-B03D7DD1E0DD}" v="29" dt="2026-02-20T13:37:07.42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autoAdjust="0"/>
    <p:restoredTop sz="94660"/>
  </p:normalViewPr>
  <p:slideViewPr>
    <p:cSldViewPr>
      <p:cViewPr varScale="1">
        <p:scale>
          <a:sx n="95" d="100"/>
          <a:sy n="95" d="100"/>
        </p:scale>
        <p:origin x="1620"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pori Angelica" userId="55a5bc30-81af-4e93-b812-e5e14fd30480" providerId="ADAL" clId="{D2172EE2-CC9E-43EC-8C00-080A388CF3C0}"/>
    <pc:docChg chg="undo custSel addSld delSld modSld sldOrd">
      <pc:chgData name="Lepori Angelica" userId="55a5bc30-81af-4e93-b812-e5e14fd30480" providerId="ADAL" clId="{D2172EE2-CC9E-43EC-8C00-080A388CF3C0}" dt="2026-02-20T13:37:07.423" v="534"/>
      <pc:docMkLst>
        <pc:docMk/>
      </pc:docMkLst>
      <pc:sldChg chg="add">
        <pc:chgData name="Lepori Angelica" userId="55a5bc30-81af-4e93-b812-e5e14fd30480" providerId="ADAL" clId="{D2172EE2-CC9E-43EC-8C00-080A388CF3C0}" dt="2026-02-20T13:37:07.423" v="534"/>
        <pc:sldMkLst>
          <pc:docMk/>
          <pc:sldMk cId="0" sldId="261"/>
        </pc:sldMkLst>
      </pc:sldChg>
      <pc:sldChg chg="modSp mod">
        <pc:chgData name="Lepori Angelica" userId="55a5bc30-81af-4e93-b812-e5e14fd30480" providerId="ADAL" clId="{D2172EE2-CC9E-43EC-8C00-080A388CF3C0}" dt="2026-02-20T09:59:20.528" v="320" actId="6549"/>
        <pc:sldMkLst>
          <pc:docMk/>
          <pc:sldMk cId="0" sldId="265"/>
        </pc:sldMkLst>
        <pc:spChg chg="mod">
          <ac:chgData name="Lepori Angelica" userId="55a5bc30-81af-4e93-b812-e5e14fd30480" providerId="ADAL" clId="{D2172EE2-CC9E-43EC-8C00-080A388CF3C0}" dt="2026-02-20T09:59:20.528" v="320" actId="6549"/>
          <ac:spMkLst>
            <pc:docMk/>
            <pc:sldMk cId="0" sldId="265"/>
            <ac:spMk id="7" creationId="{00000000-0000-0000-0000-000000000000}"/>
          </ac:spMkLst>
        </pc:spChg>
      </pc:sldChg>
      <pc:sldChg chg="addSp modSp mod">
        <pc:chgData name="Lepori Angelica" userId="55a5bc30-81af-4e93-b812-e5e14fd30480" providerId="ADAL" clId="{D2172EE2-CC9E-43EC-8C00-080A388CF3C0}" dt="2026-02-20T11:01:10.315" v="531" actId="1076"/>
        <pc:sldMkLst>
          <pc:docMk/>
          <pc:sldMk cId="1266642239" sldId="384"/>
        </pc:sldMkLst>
        <pc:spChg chg="mod">
          <ac:chgData name="Lepori Angelica" userId="55a5bc30-81af-4e93-b812-e5e14fd30480" providerId="ADAL" clId="{D2172EE2-CC9E-43EC-8C00-080A388CF3C0}" dt="2026-02-20T10:04:54.814" v="348" actId="113"/>
          <ac:spMkLst>
            <pc:docMk/>
            <pc:sldMk cId="1266642239" sldId="384"/>
            <ac:spMk id="3" creationId="{2D5EF346-0F40-2D20-10D4-9340EF07C637}"/>
          </ac:spMkLst>
        </pc:spChg>
        <pc:spChg chg="add mod">
          <ac:chgData name="Lepori Angelica" userId="55a5bc30-81af-4e93-b812-e5e14fd30480" providerId="ADAL" clId="{D2172EE2-CC9E-43EC-8C00-080A388CF3C0}" dt="2026-02-20T11:01:10.315" v="531" actId="1076"/>
          <ac:spMkLst>
            <pc:docMk/>
            <pc:sldMk cId="1266642239" sldId="384"/>
            <ac:spMk id="4" creationId="{8D37BAFE-F613-4ECE-77FD-FAD59A55A817}"/>
          </ac:spMkLst>
        </pc:spChg>
      </pc:sldChg>
      <pc:sldChg chg="modSp mod">
        <pc:chgData name="Lepori Angelica" userId="55a5bc30-81af-4e93-b812-e5e14fd30480" providerId="ADAL" clId="{D2172EE2-CC9E-43EC-8C00-080A388CF3C0}" dt="2026-02-20T10:29:43.201" v="355" actId="113"/>
        <pc:sldMkLst>
          <pc:docMk/>
          <pc:sldMk cId="2443460183" sldId="389"/>
        </pc:sldMkLst>
        <pc:spChg chg="mod">
          <ac:chgData name="Lepori Angelica" userId="55a5bc30-81af-4e93-b812-e5e14fd30480" providerId="ADAL" clId="{D2172EE2-CC9E-43EC-8C00-080A388CF3C0}" dt="2026-02-20T10:29:43.201" v="355" actId="113"/>
          <ac:spMkLst>
            <pc:docMk/>
            <pc:sldMk cId="2443460183" sldId="389"/>
            <ac:spMk id="3" creationId="{13936F36-C4D9-DCDB-1C98-043FFC5E61DE}"/>
          </ac:spMkLst>
        </pc:spChg>
      </pc:sldChg>
      <pc:sldChg chg="ord">
        <pc:chgData name="Lepori Angelica" userId="55a5bc30-81af-4e93-b812-e5e14fd30480" providerId="ADAL" clId="{D2172EE2-CC9E-43EC-8C00-080A388CF3C0}" dt="2026-02-20T10:04:01.372" v="340"/>
        <pc:sldMkLst>
          <pc:docMk/>
          <pc:sldMk cId="3982584647" sldId="390"/>
        </pc:sldMkLst>
      </pc:sldChg>
      <pc:sldChg chg="modSp add mod">
        <pc:chgData name="Lepori Angelica" userId="55a5bc30-81af-4e93-b812-e5e14fd30480" providerId="ADAL" clId="{D2172EE2-CC9E-43EC-8C00-080A388CF3C0}" dt="2026-02-20T10:31:59.136" v="371" actId="14100"/>
        <pc:sldMkLst>
          <pc:docMk/>
          <pc:sldMk cId="0" sldId="454"/>
        </pc:sldMkLst>
        <pc:spChg chg="mod">
          <ac:chgData name="Lepori Angelica" userId="55a5bc30-81af-4e93-b812-e5e14fd30480" providerId="ADAL" clId="{D2172EE2-CC9E-43EC-8C00-080A388CF3C0}" dt="2026-02-20T10:31:59.136" v="371" actId="14100"/>
          <ac:spMkLst>
            <pc:docMk/>
            <pc:sldMk cId="0" sldId="454"/>
            <ac:spMk id="43011" creationId="{E169BA56-F80A-F291-E0EA-94B6363CF009}"/>
          </ac:spMkLst>
        </pc:spChg>
        <pc:picChg chg="mod">
          <ac:chgData name="Lepori Angelica" userId="55a5bc30-81af-4e93-b812-e5e14fd30480" providerId="ADAL" clId="{D2172EE2-CC9E-43EC-8C00-080A388CF3C0}" dt="2026-02-20T10:31:56.348" v="370" actId="1076"/>
          <ac:picMkLst>
            <pc:docMk/>
            <pc:sldMk cId="0" sldId="454"/>
            <ac:picMk id="43013" creationId="{54727CA9-94A4-40FF-82A0-F5E21D3A54B2}"/>
          </ac:picMkLst>
        </pc:picChg>
      </pc:sldChg>
      <pc:sldChg chg="modSp add mod">
        <pc:chgData name="Lepori Angelica" userId="55a5bc30-81af-4e93-b812-e5e14fd30480" providerId="ADAL" clId="{D2172EE2-CC9E-43EC-8C00-080A388CF3C0}" dt="2026-02-20T10:30:40.117" v="367" actId="14100"/>
        <pc:sldMkLst>
          <pc:docMk/>
          <pc:sldMk cId="0" sldId="457"/>
        </pc:sldMkLst>
        <pc:spChg chg="mod">
          <ac:chgData name="Lepori Angelica" userId="55a5bc30-81af-4e93-b812-e5e14fd30480" providerId="ADAL" clId="{D2172EE2-CC9E-43EC-8C00-080A388CF3C0}" dt="2026-02-20T10:29:50.189" v="356" actId="14100"/>
          <ac:spMkLst>
            <pc:docMk/>
            <pc:sldMk cId="0" sldId="457"/>
            <ac:spMk id="41986" creationId="{CFD79073-44C0-57DA-C98D-D8BC6E37434A}"/>
          </ac:spMkLst>
        </pc:spChg>
        <pc:spChg chg="mod">
          <ac:chgData name="Lepori Angelica" userId="55a5bc30-81af-4e93-b812-e5e14fd30480" providerId="ADAL" clId="{D2172EE2-CC9E-43EC-8C00-080A388CF3C0}" dt="2026-02-20T10:30:30.840" v="364" actId="20577"/>
          <ac:spMkLst>
            <pc:docMk/>
            <pc:sldMk cId="0" sldId="457"/>
            <ac:spMk id="41987" creationId="{32B846A2-8704-A306-6490-74881629F820}"/>
          </ac:spMkLst>
        </pc:spChg>
        <pc:spChg chg="mod">
          <ac:chgData name="Lepori Angelica" userId="55a5bc30-81af-4e93-b812-e5e14fd30480" providerId="ADAL" clId="{D2172EE2-CC9E-43EC-8C00-080A388CF3C0}" dt="2026-02-20T10:30:40.117" v="367" actId="14100"/>
          <ac:spMkLst>
            <pc:docMk/>
            <pc:sldMk cId="0" sldId="457"/>
            <ac:spMk id="41988" creationId="{3E123484-4C3C-B6FE-0D74-4AE8A043F1F8}"/>
          </ac:spMkLst>
        </pc:spChg>
      </pc:sldChg>
      <pc:sldChg chg="addSp delSp modSp add mod">
        <pc:chgData name="Lepori Angelica" userId="55a5bc30-81af-4e93-b812-e5e14fd30480" providerId="ADAL" clId="{D2172EE2-CC9E-43EC-8C00-080A388CF3C0}" dt="2026-02-20T11:00:52.434" v="530" actId="1076"/>
        <pc:sldMkLst>
          <pc:docMk/>
          <pc:sldMk cId="0" sldId="459"/>
        </pc:sldMkLst>
        <pc:spChg chg="add mod">
          <ac:chgData name="Lepori Angelica" userId="55a5bc30-81af-4e93-b812-e5e14fd30480" providerId="ADAL" clId="{D2172EE2-CC9E-43EC-8C00-080A388CF3C0}" dt="2026-02-20T11:00:52.434" v="530" actId="1076"/>
          <ac:spMkLst>
            <pc:docMk/>
            <pc:sldMk cId="0" sldId="459"/>
            <ac:spMk id="2" creationId="{C09C8947-C0EA-01FE-ED2B-4E0A3B12B7CB}"/>
          </ac:spMkLst>
        </pc:spChg>
        <pc:spChg chg="mod">
          <ac:chgData name="Lepori Angelica" userId="55a5bc30-81af-4e93-b812-e5e14fd30480" providerId="ADAL" clId="{D2172EE2-CC9E-43EC-8C00-080A388CF3C0}" dt="2026-02-20T10:48:00.256" v="503" actId="1076"/>
          <ac:spMkLst>
            <pc:docMk/>
            <pc:sldMk cId="0" sldId="459"/>
            <ac:spMk id="46082" creationId="{75B470A4-7C78-3BED-6173-EA07E5F94B1D}"/>
          </ac:spMkLst>
        </pc:spChg>
        <pc:spChg chg="mod">
          <ac:chgData name="Lepori Angelica" userId="55a5bc30-81af-4e93-b812-e5e14fd30480" providerId="ADAL" clId="{D2172EE2-CC9E-43EC-8C00-080A388CF3C0}" dt="2026-02-20T10:48:32.791" v="505" actId="1076"/>
          <ac:spMkLst>
            <pc:docMk/>
            <pc:sldMk cId="0" sldId="459"/>
            <ac:spMk id="46083" creationId="{042C5557-1614-0818-66D9-884C89DA5B32}"/>
          </ac:spMkLst>
        </pc:spChg>
        <pc:picChg chg="add mod">
          <ac:chgData name="Lepori Angelica" userId="55a5bc30-81af-4e93-b812-e5e14fd30480" providerId="ADAL" clId="{D2172EE2-CC9E-43EC-8C00-080A388CF3C0}" dt="2026-02-20T11:00:46.903" v="529" actId="1076"/>
          <ac:picMkLst>
            <pc:docMk/>
            <pc:sldMk cId="0" sldId="459"/>
            <ac:picMk id="4098" creationId="{F5FA887A-C96A-26F3-CD5E-CC1ED5910D2A}"/>
          </ac:picMkLst>
        </pc:picChg>
        <pc:picChg chg="del mod">
          <ac:chgData name="Lepori Angelica" userId="55a5bc30-81af-4e93-b812-e5e14fd30480" providerId="ADAL" clId="{D2172EE2-CC9E-43EC-8C00-080A388CF3C0}" dt="2026-02-20T10:33:07.983" v="380" actId="478"/>
          <ac:picMkLst>
            <pc:docMk/>
            <pc:sldMk cId="0" sldId="459"/>
            <ac:picMk id="46084" creationId="{55A41DF4-1C67-E6AF-9E0D-078DBEE73344}"/>
          </ac:picMkLst>
        </pc:picChg>
      </pc:sldChg>
      <pc:sldChg chg="addSp delSp modSp add mod">
        <pc:chgData name="Lepori Angelica" userId="55a5bc30-81af-4e93-b812-e5e14fd30480" providerId="ADAL" clId="{D2172EE2-CC9E-43EC-8C00-080A388CF3C0}" dt="2026-02-20T10:59:31.648" v="510" actId="20577"/>
        <pc:sldMkLst>
          <pc:docMk/>
          <pc:sldMk cId="0" sldId="461"/>
        </pc:sldMkLst>
        <pc:spChg chg="add mod">
          <ac:chgData name="Lepori Angelica" userId="55a5bc30-81af-4e93-b812-e5e14fd30480" providerId="ADAL" clId="{D2172EE2-CC9E-43EC-8C00-080A388CF3C0}" dt="2026-02-20T10:59:31.648" v="510" actId="20577"/>
          <ac:spMkLst>
            <pc:docMk/>
            <pc:sldMk cId="0" sldId="461"/>
            <ac:spMk id="2" creationId="{BC731A39-FE90-F54D-B6E3-AA2A942E9421}"/>
          </ac:spMkLst>
        </pc:spChg>
        <pc:spChg chg="mod">
          <ac:chgData name="Lepori Angelica" userId="55a5bc30-81af-4e93-b812-e5e14fd30480" providerId="ADAL" clId="{D2172EE2-CC9E-43EC-8C00-080A388CF3C0}" dt="2026-02-20T10:47:49.760" v="501" actId="1076"/>
          <ac:spMkLst>
            <pc:docMk/>
            <pc:sldMk cId="0" sldId="461"/>
            <ac:spMk id="3" creationId="{38E6796D-AF13-2C4D-506F-D0AEF86C0155}"/>
          </ac:spMkLst>
        </pc:spChg>
        <pc:spChg chg="mod">
          <ac:chgData name="Lepori Angelica" userId="55a5bc30-81af-4e93-b812-e5e14fd30480" providerId="ADAL" clId="{D2172EE2-CC9E-43EC-8C00-080A388CF3C0}" dt="2026-02-20T10:47:54.046" v="502" actId="1076"/>
          <ac:spMkLst>
            <pc:docMk/>
            <pc:sldMk cId="0" sldId="461"/>
            <ac:spMk id="50178" creationId="{147429CC-0230-3E3B-F001-98565B2A0267}"/>
          </ac:spMkLst>
        </pc:spChg>
        <pc:picChg chg="add mod">
          <ac:chgData name="Lepori Angelica" userId="55a5bc30-81af-4e93-b812-e5e14fd30480" providerId="ADAL" clId="{D2172EE2-CC9E-43EC-8C00-080A388CF3C0}" dt="2026-02-20T10:45:30.846" v="447" actId="1076"/>
          <ac:picMkLst>
            <pc:docMk/>
            <pc:sldMk cId="0" sldId="461"/>
            <ac:picMk id="1026" creationId="{34921694-3AE1-9C4A-FF77-FCC68575DC64}"/>
          </ac:picMkLst>
        </pc:picChg>
        <pc:picChg chg="del">
          <ac:chgData name="Lepori Angelica" userId="55a5bc30-81af-4e93-b812-e5e14fd30480" providerId="ADAL" clId="{D2172EE2-CC9E-43EC-8C00-080A388CF3C0}" dt="2026-02-20T10:33:10.488" v="381" actId="478"/>
          <ac:picMkLst>
            <pc:docMk/>
            <pc:sldMk cId="0" sldId="461"/>
            <ac:picMk id="50180" creationId="{F971E313-2A16-1B18-ABEF-0184153380B0}"/>
          </ac:picMkLst>
        </pc:picChg>
      </pc:sldChg>
      <pc:sldChg chg="modSp add mod">
        <pc:chgData name="Lepori Angelica" userId="55a5bc30-81af-4e93-b812-e5e14fd30480" providerId="ADAL" clId="{D2172EE2-CC9E-43EC-8C00-080A388CF3C0}" dt="2026-02-20T09:59:25.133" v="321" actId="6549"/>
        <pc:sldMkLst>
          <pc:docMk/>
          <pc:sldMk cId="0" sldId="462"/>
        </pc:sldMkLst>
        <pc:spChg chg="mod">
          <ac:chgData name="Lepori Angelica" userId="55a5bc30-81af-4e93-b812-e5e14fd30480" providerId="ADAL" clId="{D2172EE2-CC9E-43EC-8C00-080A388CF3C0}" dt="2026-02-20T09:59:25.133" v="321" actId="6549"/>
          <ac:spMkLst>
            <pc:docMk/>
            <pc:sldMk cId="0" sldId="462"/>
            <ac:spMk id="48130" creationId="{6D898FAB-48CF-69AF-AD6C-5FA93A2038C9}"/>
          </ac:spMkLst>
        </pc:spChg>
      </pc:sldChg>
      <pc:sldChg chg="new del">
        <pc:chgData name="Lepori Angelica" userId="55a5bc30-81af-4e93-b812-e5e14fd30480" providerId="ADAL" clId="{D2172EE2-CC9E-43EC-8C00-080A388CF3C0}" dt="2026-02-20T09:59:30.061" v="322" actId="47"/>
        <pc:sldMkLst>
          <pc:docMk/>
          <pc:sldMk cId="1395241986" sldId="463"/>
        </pc:sldMkLst>
      </pc:sldChg>
      <pc:sldChg chg="modSp add mod">
        <pc:chgData name="Lepori Angelica" userId="55a5bc30-81af-4e93-b812-e5e14fd30480" providerId="ADAL" clId="{D2172EE2-CC9E-43EC-8C00-080A388CF3C0}" dt="2026-02-20T09:59:16.882" v="319" actId="6549"/>
        <pc:sldMkLst>
          <pc:docMk/>
          <pc:sldMk cId="0" sldId="494"/>
        </pc:sldMkLst>
        <pc:spChg chg="mod">
          <ac:chgData name="Lepori Angelica" userId="55a5bc30-81af-4e93-b812-e5e14fd30480" providerId="ADAL" clId="{D2172EE2-CC9E-43EC-8C00-080A388CF3C0}" dt="2026-02-20T09:59:16.882" v="319" actId="6549"/>
          <ac:spMkLst>
            <pc:docMk/>
            <pc:sldMk cId="0" sldId="494"/>
            <ac:spMk id="50180" creationId="{45DC8059-490B-ED0A-1D4E-F550C1EF95DB}"/>
          </ac:spMkLst>
        </pc:spChg>
        <pc:spChg chg="mod">
          <ac:chgData name="Lepori Angelica" userId="55a5bc30-81af-4e93-b812-e5e14fd30480" providerId="ADAL" clId="{D2172EE2-CC9E-43EC-8C00-080A388CF3C0}" dt="2026-02-20T09:58:54.350" v="318" actId="14100"/>
          <ac:spMkLst>
            <pc:docMk/>
            <pc:sldMk cId="0" sldId="494"/>
            <ac:spMk id="52227" creationId="{9AB61BAB-2408-7BE9-93ED-A0D6DEEF3046}"/>
          </ac:spMkLst>
        </pc:spChg>
      </pc:sldChg>
      <pc:sldChg chg="addSp delSp modSp add mod">
        <pc:chgData name="Lepori Angelica" userId="55a5bc30-81af-4e93-b812-e5e14fd30480" providerId="ADAL" clId="{D2172EE2-CC9E-43EC-8C00-080A388CF3C0}" dt="2026-02-20T10:05:10.878" v="349" actId="1076"/>
        <pc:sldMkLst>
          <pc:docMk/>
          <pc:sldMk cId="0" sldId="496"/>
        </pc:sldMkLst>
        <pc:spChg chg="add mod">
          <ac:chgData name="Lepori Angelica" userId="55a5bc30-81af-4e93-b812-e5e14fd30480" providerId="ADAL" clId="{D2172EE2-CC9E-43EC-8C00-080A388CF3C0}" dt="2026-02-20T10:05:10.878" v="349" actId="1076"/>
          <ac:spMkLst>
            <pc:docMk/>
            <pc:sldMk cId="0" sldId="496"/>
            <ac:spMk id="2" creationId="{A74065A6-7499-93C9-22E8-7DDD3E862156}"/>
          </ac:spMkLst>
        </pc:spChg>
        <pc:spChg chg="mod">
          <ac:chgData name="Lepori Angelica" userId="55a5bc30-81af-4e93-b812-e5e14fd30480" providerId="ADAL" clId="{D2172EE2-CC9E-43EC-8C00-080A388CF3C0}" dt="2026-02-20T10:03:28.024" v="338" actId="207"/>
          <ac:spMkLst>
            <pc:docMk/>
            <pc:sldMk cId="0" sldId="496"/>
            <ac:spMk id="6" creationId="{129FE37B-3F16-E0A5-4A75-9C407B375026}"/>
          </ac:spMkLst>
        </pc:spChg>
        <pc:spChg chg="mod">
          <ac:chgData name="Lepori Angelica" userId="55a5bc30-81af-4e93-b812-e5e14fd30480" providerId="ADAL" clId="{D2172EE2-CC9E-43EC-8C00-080A388CF3C0}" dt="2026-02-20T10:02:10.779" v="335" actId="1076"/>
          <ac:spMkLst>
            <pc:docMk/>
            <pc:sldMk cId="0" sldId="496"/>
            <ac:spMk id="53253" creationId="{EAFBA42C-8368-A929-8257-C9BEE05B1434}"/>
          </ac:spMkLst>
        </pc:spChg>
        <pc:picChg chg="del">
          <ac:chgData name="Lepori Angelica" userId="55a5bc30-81af-4e93-b812-e5e14fd30480" providerId="ADAL" clId="{D2172EE2-CC9E-43EC-8C00-080A388CF3C0}" dt="2026-02-20T10:01:24.309" v="329" actId="478"/>
          <ac:picMkLst>
            <pc:docMk/>
            <pc:sldMk cId="0" sldId="496"/>
            <ac:picMk id="53254" creationId="{CD6690ED-93DC-A4B9-DF71-72C602C0F923}"/>
          </ac:picMkLst>
        </pc:picChg>
      </pc:sldChg>
      <pc:sldChg chg="new del">
        <pc:chgData name="Lepori Angelica" userId="55a5bc30-81af-4e93-b812-e5e14fd30480" providerId="ADAL" clId="{D2172EE2-CC9E-43EC-8C00-080A388CF3C0}" dt="2026-02-20T10:33:24.036" v="385" actId="47"/>
        <pc:sldMkLst>
          <pc:docMk/>
          <pc:sldMk cId="1246572836" sldId="497"/>
        </pc:sldMkLst>
      </pc:sldChg>
      <pc:sldChg chg="delSp modSp new mod">
        <pc:chgData name="Lepori Angelica" userId="55a5bc30-81af-4e93-b812-e5e14fd30480" providerId="ADAL" clId="{D2172EE2-CC9E-43EC-8C00-080A388CF3C0}" dt="2026-02-20T10:22:57.868" v="353" actId="478"/>
        <pc:sldMkLst>
          <pc:docMk/>
          <pc:sldMk cId="440584115" sldId="498"/>
        </pc:sldMkLst>
        <pc:spChg chg="del">
          <ac:chgData name="Lepori Angelica" userId="55a5bc30-81af-4e93-b812-e5e14fd30480" providerId="ADAL" clId="{D2172EE2-CC9E-43EC-8C00-080A388CF3C0}" dt="2026-02-20T10:22:57.868" v="353" actId="478"/>
          <ac:spMkLst>
            <pc:docMk/>
            <pc:sldMk cId="440584115" sldId="498"/>
            <ac:spMk id="2" creationId="{6D2DA45A-DBBF-9F05-E78A-D298238F10E8}"/>
          </ac:spMkLst>
        </pc:spChg>
        <pc:spChg chg="mod">
          <ac:chgData name="Lepori Angelica" userId="55a5bc30-81af-4e93-b812-e5e14fd30480" providerId="ADAL" clId="{D2172EE2-CC9E-43EC-8C00-080A388CF3C0}" dt="2026-02-20T10:22:53.713" v="352"/>
          <ac:spMkLst>
            <pc:docMk/>
            <pc:sldMk cId="440584115" sldId="498"/>
            <ac:spMk id="3" creationId="{8BCA1E77-3551-55D4-44C9-61B5862BB5C0}"/>
          </ac:spMkLst>
        </pc:spChg>
      </pc:sldChg>
      <pc:sldChg chg="modSp add del mod">
        <pc:chgData name="Lepori Angelica" userId="55a5bc30-81af-4e93-b812-e5e14fd30480" providerId="ADAL" clId="{D2172EE2-CC9E-43EC-8C00-080A388CF3C0}" dt="2026-02-20T10:32:38.429" v="378" actId="47"/>
        <pc:sldMkLst>
          <pc:docMk/>
          <pc:sldMk cId="0" sldId="550"/>
        </pc:sldMkLst>
        <pc:spChg chg="mod">
          <ac:chgData name="Lepori Angelica" userId="55a5bc30-81af-4e93-b812-e5e14fd30480" providerId="ADAL" clId="{D2172EE2-CC9E-43EC-8C00-080A388CF3C0}" dt="2026-02-20T10:32:36.833" v="377" actId="14100"/>
          <ac:spMkLst>
            <pc:docMk/>
            <pc:sldMk cId="0" sldId="550"/>
            <ac:spMk id="3" creationId="{1DF082B5-410E-C1BE-F5D2-310FB8BC6510}"/>
          </ac:spMkLst>
        </pc:spChg>
      </pc:sldChg>
      <pc:sldChg chg="modSp add mod">
        <pc:chgData name="Lepori Angelica" userId="55a5bc30-81af-4e93-b812-e5e14fd30480" providerId="ADAL" clId="{D2172EE2-CC9E-43EC-8C00-080A388CF3C0}" dt="2026-02-20T10:32:12.018" v="372" actId="6549"/>
        <pc:sldMkLst>
          <pc:docMk/>
          <pc:sldMk cId="0" sldId="594"/>
        </pc:sldMkLst>
        <pc:spChg chg="mod">
          <ac:chgData name="Lepori Angelica" userId="55a5bc30-81af-4e93-b812-e5e14fd30480" providerId="ADAL" clId="{D2172EE2-CC9E-43EC-8C00-080A388CF3C0}" dt="2026-02-20T10:32:12.018" v="372" actId="6549"/>
          <ac:spMkLst>
            <pc:docMk/>
            <pc:sldMk cId="0" sldId="594"/>
            <ac:spMk id="44036" creationId="{B6855D55-D78F-1546-F79F-BDB526EDB151}"/>
          </ac:spMkLst>
        </pc:spChg>
      </pc:sldChg>
      <pc:sldChg chg="modSp add mod">
        <pc:chgData name="Lepori Angelica" userId="55a5bc30-81af-4e93-b812-e5e14fd30480" providerId="ADAL" clId="{D2172EE2-CC9E-43EC-8C00-080A388CF3C0}" dt="2026-02-20T10:32:14.386" v="373" actId="6549"/>
        <pc:sldMkLst>
          <pc:docMk/>
          <pc:sldMk cId="0" sldId="595"/>
        </pc:sldMkLst>
        <pc:spChg chg="mod">
          <ac:chgData name="Lepori Angelica" userId="55a5bc30-81af-4e93-b812-e5e14fd30480" providerId="ADAL" clId="{D2172EE2-CC9E-43EC-8C00-080A388CF3C0}" dt="2026-02-20T10:32:14.386" v="373" actId="6549"/>
          <ac:spMkLst>
            <pc:docMk/>
            <pc:sldMk cId="0" sldId="595"/>
            <ac:spMk id="45060" creationId="{AF1F4813-4516-7FE6-0D51-6FFC8D5BCE43}"/>
          </ac:spMkLst>
        </pc:spChg>
      </pc:sldChg>
      <pc:sldChg chg="add del">
        <pc:chgData name="Lepori Angelica" userId="55a5bc30-81af-4e93-b812-e5e14fd30480" providerId="ADAL" clId="{D2172EE2-CC9E-43EC-8C00-080A388CF3C0}" dt="2026-02-20T10:38:03.830" v="444" actId="47"/>
        <pc:sldMkLst>
          <pc:docMk/>
          <pc:sldMk cId="0" sldId="601"/>
        </pc:sldMkLst>
      </pc:sldChg>
      <pc:sldChg chg="addSp delSp modSp add mod modClrScheme chgLayout">
        <pc:chgData name="Lepori Angelica" userId="55a5bc30-81af-4e93-b812-e5e14fd30480" providerId="ADAL" clId="{D2172EE2-CC9E-43EC-8C00-080A388CF3C0}" dt="2026-02-20T10:37:47.793" v="443" actId="113"/>
        <pc:sldMkLst>
          <pc:docMk/>
          <pc:sldMk cId="0" sldId="608"/>
        </pc:sldMkLst>
        <pc:spChg chg="mod">
          <ac:chgData name="Lepori Angelica" userId="55a5bc30-81af-4e93-b812-e5e14fd30480" providerId="ADAL" clId="{D2172EE2-CC9E-43EC-8C00-080A388CF3C0}" dt="2026-02-20T10:35:01.926" v="408" actId="26606"/>
          <ac:spMkLst>
            <pc:docMk/>
            <pc:sldMk cId="0" sldId="608"/>
            <ac:spMk id="31746" creationId="{585D3D8E-8AEB-A01F-B9EC-58725E0C28D5}"/>
          </ac:spMkLst>
        </pc:spChg>
        <pc:spChg chg="mod">
          <ac:chgData name="Lepori Angelica" userId="55a5bc30-81af-4e93-b812-e5e14fd30480" providerId="ADAL" clId="{D2172EE2-CC9E-43EC-8C00-080A388CF3C0}" dt="2026-02-20T10:37:47.793" v="443" actId="113"/>
          <ac:spMkLst>
            <pc:docMk/>
            <pc:sldMk cId="0" sldId="608"/>
            <ac:spMk id="31747" creationId="{E251A1D9-E2DC-F16B-54A6-3A7BC6C53416}"/>
          </ac:spMkLst>
        </pc:spChg>
        <pc:spChg chg="del mod">
          <ac:chgData name="Lepori Angelica" userId="55a5bc30-81af-4e93-b812-e5e14fd30480" providerId="ADAL" clId="{D2172EE2-CC9E-43EC-8C00-080A388CF3C0}" dt="2026-02-20T10:35:01.926" v="408" actId="26606"/>
          <ac:spMkLst>
            <pc:docMk/>
            <pc:sldMk cId="0" sldId="608"/>
            <ac:spMk id="31748" creationId="{3BEE60BF-9157-480F-2C34-4D1C203F1331}"/>
          </ac:spMkLst>
        </pc:spChg>
        <pc:spChg chg="mod modVis">
          <ac:chgData name="Lepori Angelica" userId="55a5bc30-81af-4e93-b812-e5e14fd30480" providerId="ADAL" clId="{D2172EE2-CC9E-43EC-8C00-080A388CF3C0}" dt="2026-02-20T10:35:01.926" v="408" actId="26606"/>
          <ac:spMkLst>
            <pc:docMk/>
            <pc:sldMk cId="0" sldId="608"/>
            <ac:spMk id="31749" creationId="{B1C27F18-E311-4285-8AC2-5FF461B01884}"/>
          </ac:spMkLst>
        </pc:spChg>
        <pc:picChg chg="add mod ord">
          <ac:chgData name="Lepori Angelica" userId="55a5bc30-81af-4e93-b812-e5e14fd30480" providerId="ADAL" clId="{D2172EE2-CC9E-43EC-8C00-080A388CF3C0}" dt="2026-02-20T10:35:28.033" v="416" actId="14100"/>
          <ac:picMkLst>
            <pc:docMk/>
            <pc:sldMk cId="0" sldId="608"/>
            <ac:picMk id="2" creationId="{3E422937-FF7A-AAA0-0FB9-B29BFEB60CA4}"/>
          </ac:picMkLst>
        </pc:picChg>
        <pc:picChg chg="del">
          <ac:chgData name="Lepori Angelica" userId="55a5bc30-81af-4e93-b812-e5e14fd30480" providerId="ADAL" clId="{D2172EE2-CC9E-43EC-8C00-080A388CF3C0}" dt="2026-02-20T10:34:53.763" v="405" actId="478"/>
          <ac:picMkLst>
            <pc:docMk/>
            <pc:sldMk cId="0" sldId="608"/>
            <ac:picMk id="31750" creationId="{7C199AEB-A876-A53C-2E16-9CF8835F2DF4}"/>
          </ac:picMkLst>
        </pc:picChg>
      </pc:sldChg>
      <pc:sldChg chg="modSp add mod ord">
        <pc:chgData name="Lepori Angelica" userId="55a5bc30-81af-4e93-b812-e5e14fd30480" providerId="ADAL" clId="{D2172EE2-CC9E-43EC-8C00-080A388CF3C0}" dt="2026-02-20T10:33:33.330" v="403" actId="5793"/>
        <pc:sldMkLst>
          <pc:docMk/>
          <pc:sldMk cId="849826778" sldId="609"/>
        </pc:sldMkLst>
        <pc:spChg chg="mod">
          <ac:chgData name="Lepori Angelica" userId="55a5bc30-81af-4e93-b812-e5e14fd30480" providerId="ADAL" clId="{D2172EE2-CC9E-43EC-8C00-080A388CF3C0}" dt="2026-02-20T10:33:33.330" v="403" actId="5793"/>
          <ac:spMkLst>
            <pc:docMk/>
            <pc:sldMk cId="849826778" sldId="609"/>
            <ac:spMk id="4" creationId="{18058CB8-F597-6C3C-9F19-A06054508E13}"/>
          </ac:spMkLst>
        </pc:spChg>
      </pc:sldChg>
      <pc:sldChg chg="new del">
        <pc:chgData name="Lepori Angelica" userId="55a5bc30-81af-4e93-b812-e5e14fd30480" providerId="ADAL" clId="{D2172EE2-CC9E-43EC-8C00-080A388CF3C0}" dt="2026-02-20T13:37:02.525" v="533" actId="47"/>
        <pc:sldMkLst>
          <pc:docMk/>
          <pc:sldMk cId="1135912928" sldId="610"/>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87324" y="237942"/>
            <a:ext cx="498968" cy="138485"/>
          </a:xfrm>
          <a:prstGeom prst="rect">
            <a:avLst/>
          </a:prstGeom>
        </p:spPr>
      </p:pic>
      <p:sp>
        <p:nvSpPr>
          <p:cNvPr id="17" name="bg object 17"/>
          <p:cNvSpPr/>
          <p:nvPr/>
        </p:nvSpPr>
        <p:spPr>
          <a:xfrm>
            <a:off x="304800" y="0"/>
            <a:ext cx="10081260" cy="1932939"/>
          </a:xfrm>
          <a:custGeom>
            <a:avLst/>
            <a:gdLst/>
            <a:ahLst/>
            <a:cxnLst/>
            <a:rect l="l" t="t" r="r" b="b"/>
            <a:pathLst>
              <a:path w="10081260" h="1932939">
                <a:moveTo>
                  <a:pt x="10081260" y="1932432"/>
                </a:moveTo>
                <a:lnTo>
                  <a:pt x="0" y="1932432"/>
                </a:lnTo>
                <a:lnTo>
                  <a:pt x="0" y="0"/>
                </a:lnTo>
                <a:lnTo>
                  <a:pt x="10081260" y="0"/>
                </a:lnTo>
                <a:lnTo>
                  <a:pt x="10081260" y="1932432"/>
                </a:lnTo>
                <a:close/>
              </a:path>
            </a:pathLst>
          </a:custGeom>
          <a:solidFill>
            <a:srgbClr val="FFFFFF"/>
          </a:solidFill>
        </p:spPr>
        <p:txBody>
          <a:bodyPr wrap="square" lIns="0" tIns="0" rIns="0" bIns="0" rtlCol="0"/>
          <a:lstStyle/>
          <a:p>
            <a:endParaRPr/>
          </a:p>
        </p:txBody>
      </p:sp>
      <p:pic>
        <p:nvPicPr>
          <p:cNvPr id="18" name="bg object 18"/>
          <p:cNvPicPr/>
          <p:nvPr/>
        </p:nvPicPr>
        <p:blipFill>
          <a:blip r:embed="rId3" cstate="print"/>
          <a:stretch>
            <a:fillRect/>
          </a:stretch>
        </p:blipFill>
        <p:spPr>
          <a:xfrm>
            <a:off x="681227" y="198120"/>
            <a:ext cx="4419600" cy="1623059"/>
          </a:xfrm>
          <a:prstGeom prst="rect">
            <a:avLst/>
          </a:prstGeom>
        </p:spPr>
      </p:pic>
      <p:pic>
        <p:nvPicPr>
          <p:cNvPr id="19" name="bg object 19"/>
          <p:cNvPicPr/>
          <p:nvPr/>
        </p:nvPicPr>
        <p:blipFill>
          <a:blip r:embed="rId4" cstate="print"/>
          <a:stretch>
            <a:fillRect/>
          </a:stretch>
        </p:blipFill>
        <p:spPr>
          <a:xfrm>
            <a:off x="623316" y="205740"/>
            <a:ext cx="7240523" cy="1749551"/>
          </a:xfrm>
          <a:prstGeom prst="rect">
            <a:avLst/>
          </a:prstGeom>
        </p:spPr>
      </p:pic>
      <p:sp>
        <p:nvSpPr>
          <p:cNvPr id="2" name="Holder 2"/>
          <p:cNvSpPr>
            <a:spLocks noGrp="1"/>
          </p:cNvSpPr>
          <p:nvPr>
            <p:ph type="ctrTitle"/>
          </p:nvPr>
        </p:nvSpPr>
        <p:spPr>
          <a:xfrm>
            <a:off x="648693" y="2239645"/>
            <a:ext cx="7776209" cy="2244725"/>
          </a:xfrm>
          <a:prstGeom prst="rect">
            <a:avLst/>
          </a:prstGeom>
        </p:spPr>
        <p:txBody>
          <a:bodyPr wrap="square" lIns="0" tIns="0" rIns="0" bIns="0">
            <a:spAutoFit/>
          </a:bodyPr>
          <a:lstStyle>
            <a:lvl1pPr>
              <a:defRPr sz="2650" b="0" i="0">
                <a:solidFill>
                  <a:srgbClr val="2838C8"/>
                </a:solidFill>
                <a:latin typeface="Times New Roman"/>
                <a:cs typeface="Times New Roman"/>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19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50" b="0" i="0">
                <a:solidFill>
                  <a:srgbClr val="2838C8"/>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9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50" b="0" i="0">
                <a:solidFill>
                  <a:srgbClr val="2838C8"/>
                </a:solidFill>
                <a:latin typeface="Times New Roman"/>
                <a:cs typeface="Times New Roman"/>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800" y="0"/>
            <a:ext cx="10081260" cy="7560945"/>
          </a:xfrm>
          <a:custGeom>
            <a:avLst/>
            <a:gdLst/>
            <a:ahLst/>
            <a:cxnLst/>
            <a:rect l="l" t="t" r="r" b="b"/>
            <a:pathLst>
              <a:path w="10081260" h="7560945">
                <a:moveTo>
                  <a:pt x="10081260" y="7560564"/>
                </a:moveTo>
                <a:lnTo>
                  <a:pt x="0" y="7560564"/>
                </a:lnTo>
                <a:lnTo>
                  <a:pt x="0" y="0"/>
                </a:lnTo>
                <a:lnTo>
                  <a:pt x="10081260" y="0"/>
                </a:lnTo>
                <a:lnTo>
                  <a:pt x="10081260" y="7560564"/>
                </a:lnTo>
                <a:close/>
              </a:path>
            </a:pathLst>
          </a:custGeom>
          <a:solidFill>
            <a:srgbClr val="0095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650" b="0" i="0">
                <a:solidFill>
                  <a:srgbClr val="2838C8"/>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648643" y="724999"/>
            <a:ext cx="9396113" cy="407804"/>
          </a:xfrm>
        </p:spPr>
        <p:txBody>
          <a:bodyPr/>
          <a:lstStyle/>
          <a:p>
            <a:r>
              <a:rPr lang="it-IT"/>
              <a:t>Fare clic per modificare lo stile del titolo</a:t>
            </a:r>
            <a:endParaRPr lang="it-CH"/>
          </a:p>
        </p:txBody>
      </p:sp>
      <p:sp>
        <p:nvSpPr>
          <p:cNvPr id="3" name="Segnaposto data 2">
            <a:extLst>
              <a:ext uri="{FF2B5EF4-FFF2-40B4-BE49-F238E27FC236}">
                <a16:creationId xmlns:a16="http://schemas.microsoft.com/office/drawing/2014/main" id="{CEA83BF3-09CD-1A71-1704-07EA95832BD9}"/>
              </a:ext>
            </a:extLst>
          </p:cNvPr>
          <p:cNvSpPr>
            <a:spLocks noGrp="1"/>
          </p:cNvSpPr>
          <p:nvPr>
            <p:ph type="dt" sz="half" idx="10"/>
          </p:nvPr>
        </p:nvSpPr>
        <p:spPr>
          <a:xfrm>
            <a:off x="534670" y="7033450"/>
            <a:ext cx="2459482" cy="257635"/>
          </a:xfrm>
        </p:spPr>
        <p:txBody>
          <a:bodyPr/>
          <a:lstStyle>
            <a:lvl1pPr defTabSz="495447" fontAlgn="base" hangingPunct="0">
              <a:lnSpc>
                <a:spcPct val="93000"/>
              </a:lnSpc>
              <a:spcBef>
                <a:spcPct val="0"/>
              </a:spcBef>
              <a:spcAft>
                <a:spcPct val="0"/>
              </a:spcAft>
              <a:buClr>
                <a:srgbClr val="000000"/>
              </a:buClr>
              <a:buSzPct val="100000"/>
              <a:buFont typeface="Times New Roman" pitchFamily="16" charset="0"/>
              <a:buNone/>
              <a:defRPr>
                <a:latin typeface="Arial" charset="0"/>
                <a:ea typeface="Microsoft YaHei" charset="-122"/>
              </a:defRPr>
            </a:lvl1pPr>
          </a:lstStyle>
          <a:p>
            <a:pPr>
              <a:defRPr/>
            </a:pPr>
            <a:fld id="{9551AF97-E628-41AE-AB29-2E97E850BAE9}" type="datetimeFigureOut">
              <a:rPr lang="it-CH"/>
              <a:pPr>
                <a:defRPr/>
              </a:pPr>
              <a:t>20.02.2026</a:t>
            </a:fld>
            <a:endParaRPr lang="it-CH"/>
          </a:p>
        </p:txBody>
      </p:sp>
      <p:sp>
        <p:nvSpPr>
          <p:cNvPr id="4" name="Segnaposto piè di pagina 3">
            <a:extLst>
              <a:ext uri="{FF2B5EF4-FFF2-40B4-BE49-F238E27FC236}">
                <a16:creationId xmlns:a16="http://schemas.microsoft.com/office/drawing/2014/main" id="{4993C21C-4BC5-0175-35F9-798525A60ED0}"/>
              </a:ext>
            </a:extLst>
          </p:cNvPr>
          <p:cNvSpPr>
            <a:spLocks noGrp="1"/>
          </p:cNvSpPr>
          <p:nvPr>
            <p:ph type="ftr" sz="quarter" idx="11"/>
          </p:nvPr>
        </p:nvSpPr>
        <p:spPr>
          <a:xfrm>
            <a:off x="3635756" y="7033450"/>
            <a:ext cx="3421888" cy="257635"/>
          </a:xfrm>
        </p:spPr>
        <p:txBody>
          <a:bodyPr/>
          <a:lstStyle>
            <a:lvl1pPr defTabSz="495447" fontAlgn="base" hangingPunct="0">
              <a:lnSpc>
                <a:spcPct val="93000"/>
              </a:lnSpc>
              <a:spcBef>
                <a:spcPct val="0"/>
              </a:spcBef>
              <a:spcAft>
                <a:spcPct val="0"/>
              </a:spcAft>
              <a:buClr>
                <a:srgbClr val="000000"/>
              </a:buClr>
              <a:buSzPct val="100000"/>
              <a:buFont typeface="Times New Roman" pitchFamily="16" charset="0"/>
              <a:buNone/>
              <a:defRPr>
                <a:latin typeface="Arial" charset="0"/>
                <a:ea typeface="Microsoft YaHei" charset="-122"/>
              </a:defRPr>
            </a:lvl1pPr>
          </a:lstStyle>
          <a:p>
            <a:pPr>
              <a:defRPr/>
            </a:pPr>
            <a:endParaRPr lang="it-CH"/>
          </a:p>
        </p:txBody>
      </p:sp>
      <p:sp>
        <p:nvSpPr>
          <p:cNvPr id="5" name="Segnaposto numero diapositiva 4">
            <a:extLst>
              <a:ext uri="{FF2B5EF4-FFF2-40B4-BE49-F238E27FC236}">
                <a16:creationId xmlns:a16="http://schemas.microsoft.com/office/drawing/2014/main" id="{4DDA7228-944D-8C66-DD10-00A03E99DEE9}"/>
              </a:ext>
            </a:extLst>
          </p:cNvPr>
          <p:cNvSpPr>
            <a:spLocks noGrp="1"/>
          </p:cNvSpPr>
          <p:nvPr>
            <p:ph type="sldNum" sz="quarter" idx="12"/>
          </p:nvPr>
        </p:nvSpPr>
        <p:spPr>
          <a:xfrm>
            <a:off x="7699248" y="7033450"/>
            <a:ext cx="2459482" cy="257635"/>
          </a:xfrm>
        </p:spPr>
        <p:txBody>
          <a:bodyPr/>
          <a:lstStyle>
            <a:lvl1pPr defTabSz="495447" hangingPunct="0">
              <a:lnSpc>
                <a:spcPct val="93000"/>
              </a:lnSpc>
              <a:buClr>
                <a:srgbClr val="000000"/>
              </a:buClr>
              <a:buSzPct val="100000"/>
              <a:buFont typeface="Times New Roman" panose="02020603050405020304" pitchFamily="18" charset="0"/>
              <a:buNone/>
              <a:defRPr>
                <a:latin typeface="Arial" panose="020B0604020202020204" pitchFamily="34" charset="0"/>
              </a:defRPr>
            </a:lvl1pPr>
          </a:lstStyle>
          <a:p>
            <a:pPr>
              <a:defRPr/>
            </a:pPr>
            <a:fld id="{A93FBBD9-2EB9-457E-AA56-0B52D7195AA7}" type="slidenum">
              <a:rPr lang="it-CH" altLang="it-CH"/>
              <a:pPr>
                <a:defRPr/>
              </a:pPr>
              <a:t>‹N›</a:t>
            </a:fld>
            <a:endParaRPr lang="it-CH" altLang="it-CH"/>
          </a:p>
        </p:txBody>
      </p:sp>
    </p:spTree>
    <p:extLst>
      <p:ext uri="{BB962C8B-B14F-4D97-AF65-F5344CB8AC3E}">
        <p14:creationId xmlns:p14="http://schemas.microsoft.com/office/powerpoint/2010/main" val="1142645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648643" y="724999"/>
            <a:ext cx="9396113" cy="407356"/>
          </a:xfrm>
        </p:spPr>
        <p:txBody>
          <a:bodyPr/>
          <a:lstStyle>
            <a:lvl1pPr>
              <a:defRPr sz="2647"/>
            </a:lvl1pPr>
          </a:lstStyle>
          <a:p>
            <a:r>
              <a:rPr lang="fr-CH"/>
              <a:t>Fare clic per modificare stile</a:t>
            </a:r>
            <a:endParaRPr lang="it-IT" dirty="0"/>
          </a:p>
        </p:txBody>
      </p:sp>
      <p:sp>
        <p:nvSpPr>
          <p:cNvPr id="3" name="Segnaposto contenuto 2"/>
          <p:cNvSpPr>
            <a:spLocks noGrp="1"/>
          </p:cNvSpPr>
          <p:nvPr>
            <p:ph idx="1"/>
          </p:nvPr>
        </p:nvSpPr>
        <p:spPr>
          <a:xfrm>
            <a:off x="645400" y="2009652"/>
            <a:ext cx="9402599" cy="1527341"/>
          </a:xfrm>
        </p:spPr>
        <p:txBody>
          <a:bodyPr/>
          <a:lstStyle>
            <a:lvl1pPr>
              <a:defRPr sz="1985"/>
            </a:lvl1pPr>
            <a:lvl2pPr>
              <a:defRPr sz="1985"/>
            </a:lvl2pPr>
            <a:lvl3pPr>
              <a:defRPr sz="1985"/>
            </a:lvl3pPr>
            <a:lvl4pPr>
              <a:defRPr sz="1985"/>
            </a:lvl4pPr>
            <a:lvl5pPr>
              <a:defRPr sz="1985"/>
            </a:lvl5pPr>
          </a:lstStyle>
          <a:p>
            <a:pPr lvl="0"/>
            <a:r>
              <a:rPr lang="fr-CH"/>
              <a:t>Fare clic per modificare gli stili del testo dello schema</a:t>
            </a:r>
          </a:p>
          <a:p>
            <a:pPr lvl="1"/>
            <a:r>
              <a:rPr lang="fr-CH"/>
              <a:t>Secondo livello</a:t>
            </a:r>
          </a:p>
          <a:p>
            <a:pPr lvl="2"/>
            <a:r>
              <a:rPr lang="fr-CH"/>
              <a:t>Terzo livello</a:t>
            </a:r>
          </a:p>
          <a:p>
            <a:pPr lvl="3"/>
            <a:r>
              <a:rPr lang="fr-CH"/>
              <a:t>Quarto livello</a:t>
            </a:r>
          </a:p>
          <a:p>
            <a:pPr lvl="4"/>
            <a:r>
              <a:rPr lang="fr-CH"/>
              <a:t>Quinto livello</a:t>
            </a:r>
            <a:endParaRPr lang="it-IT" dirty="0"/>
          </a:p>
        </p:txBody>
      </p:sp>
      <p:sp>
        <p:nvSpPr>
          <p:cNvPr id="4" name="Rectangle 4">
            <a:extLst>
              <a:ext uri="{FF2B5EF4-FFF2-40B4-BE49-F238E27FC236}">
                <a16:creationId xmlns:a16="http://schemas.microsoft.com/office/drawing/2014/main" id="{AFA6FC68-782D-AFC2-9E2F-F9811BA0F43E}"/>
              </a:ext>
            </a:extLst>
          </p:cNvPr>
          <p:cNvSpPr>
            <a:spLocks noGrp="1" noChangeArrowheads="1"/>
          </p:cNvSpPr>
          <p:nvPr>
            <p:ph type="dt" sz="half" idx="10"/>
          </p:nvPr>
        </p:nvSpPr>
        <p:spPr>
          <a:xfrm>
            <a:off x="534670" y="7033450"/>
            <a:ext cx="2459482" cy="257635"/>
          </a:xfrm>
        </p:spPr>
        <p:txBody>
          <a:bodyPr/>
          <a:lstStyle>
            <a:lvl1pPr defTabSz="495447" hangingPunct="0">
              <a:lnSpc>
                <a:spcPct val="93000"/>
              </a:lnSpc>
              <a:buClr>
                <a:srgbClr val="000000"/>
              </a:buClr>
              <a:buSzPct val="100000"/>
              <a:buFont typeface="Times New Roman" pitchFamily="16" charset="0"/>
              <a:buNone/>
              <a:defRPr>
                <a:ea typeface="Microsoft YaHei" charset="-122"/>
              </a:defRPr>
            </a:lvl1pPr>
          </a:lstStyle>
          <a:p>
            <a:pPr>
              <a:defRPr/>
            </a:pPr>
            <a:fld id="{97BA39A1-95FA-4B97-945B-1B19C64B4E51}" type="datetime1">
              <a:rPr lang="it-IT" altLang="it-CH"/>
              <a:pPr>
                <a:defRPr/>
              </a:pPr>
              <a:t>20/02/2026</a:t>
            </a:fld>
            <a:endParaRPr lang="it-IT" altLang="it-CH"/>
          </a:p>
        </p:txBody>
      </p:sp>
      <p:sp>
        <p:nvSpPr>
          <p:cNvPr id="5" name="Rectangle 5">
            <a:extLst>
              <a:ext uri="{FF2B5EF4-FFF2-40B4-BE49-F238E27FC236}">
                <a16:creationId xmlns:a16="http://schemas.microsoft.com/office/drawing/2014/main" id="{2AC738BF-80D7-D94C-7652-054E72F13D42}"/>
              </a:ext>
            </a:extLst>
          </p:cNvPr>
          <p:cNvSpPr>
            <a:spLocks noGrp="1" noChangeArrowheads="1"/>
          </p:cNvSpPr>
          <p:nvPr>
            <p:ph type="ftr" sz="quarter" idx="11"/>
          </p:nvPr>
        </p:nvSpPr>
        <p:spPr>
          <a:xfrm>
            <a:off x="3635756" y="7033450"/>
            <a:ext cx="3421888" cy="257635"/>
          </a:xfrm>
        </p:spPr>
        <p:txBody>
          <a:bodyPr/>
          <a:lstStyle>
            <a:lvl1pPr defTabSz="495447" hangingPunct="0">
              <a:lnSpc>
                <a:spcPct val="93000"/>
              </a:lnSpc>
              <a:buClr>
                <a:srgbClr val="000000"/>
              </a:buClr>
              <a:buSzPct val="100000"/>
              <a:buFont typeface="Times New Roman" pitchFamily="16" charset="0"/>
              <a:buNone/>
              <a:defRPr/>
            </a:lvl1pPr>
          </a:lstStyle>
          <a:p>
            <a:pPr>
              <a:defRPr/>
            </a:pPr>
            <a:endParaRPr lang="it-IT"/>
          </a:p>
        </p:txBody>
      </p:sp>
      <p:sp>
        <p:nvSpPr>
          <p:cNvPr id="6" name="Rectangle 6">
            <a:extLst>
              <a:ext uri="{FF2B5EF4-FFF2-40B4-BE49-F238E27FC236}">
                <a16:creationId xmlns:a16="http://schemas.microsoft.com/office/drawing/2014/main" id="{4467201F-43CB-6D7B-C9D1-CA4F24F2BF6F}"/>
              </a:ext>
            </a:extLst>
          </p:cNvPr>
          <p:cNvSpPr>
            <a:spLocks noGrp="1" noChangeArrowheads="1"/>
          </p:cNvSpPr>
          <p:nvPr>
            <p:ph type="sldNum" sz="quarter" idx="12"/>
          </p:nvPr>
        </p:nvSpPr>
        <p:spPr>
          <a:xfrm>
            <a:off x="7699248" y="7033450"/>
            <a:ext cx="2459482" cy="257635"/>
          </a:xfrm>
        </p:spPr>
        <p:txBody>
          <a:bodyPr/>
          <a:lstStyle>
            <a:lvl1pPr defTabSz="495447" hangingPunct="0">
              <a:lnSpc>
                <a:spcPct val="93000"/>
              </a:lnSpc>
              <a:buClr>
                <a:srgbClr val="000000"/>
              </a:buClr>
              <a:buSzPct val="100000"/>
              <a:buFont typeface="Times New Roman" panose="02020603050405020304" pitchFamily="18" charset="0"/>
              <a:buNone/>
              <a:defRPr>
                <a:ea typeface="Microsoft YaHei" panose="020B0503020204020204" pitchFamily="34" charset="-122"/>
              </a:defRPr>
            </a:lvl1pPr>
          </a:lstStyle>
          <a:p>
            <a:pPr>
              <a:defRPr/>
            </a:pPr>
            <a:fld id="{67B8B94D-B85B-4233-9333-75F9CCB534B7}" type="slidenum">
              <a:rPr lang="it-IT" altLang="it-CH"/>
              <a:pPr>
                <a:defRPr/>
              </a:pPr>
              <a:t>‹N›</a:t>
            </a:fld>
            <a:endParaRPr lang="it-IT" altLang="it-CH"/>
          </a:p>
        </p:txBody>
      </p:sp>
    </p:spTree>
    <p:extLst>
      <p:ext uri="{BB962C8B-B14F-4D97-AF65-F5344CB8AC3E}">
        <p14:creationId xmlns:p14="http://schemas.microsoft.com/office/powerpoint/2010/main" val="4001563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094A48C5-CD8A-D538-7680-39375AEF52A4}"/>
              </a:ext>
            </a:extLst>
          </p:cNvPr>
          <p:cNvSpPr/>
          <p:nvPr/>
        </p:nvSpPr>
        <p:spPr>
          <a:xfrm>
            <a:off x="0" y="0"/>
            <a:ext cx="10693400" cy="19327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it-IT">
              <a:solidFill>
                <a:srgbClr val="FFFFFF"/>
              </a:solidFill>
            </a:endParaRPr>
          </a:p>
        </p:txBody>
      </p:sp>
      <p:pic>
        <p:nvPicPr>
          <p:cNvPr id="3" name="Immagine 9" descr="140925 DEASS_PowerPoint_Pagina_1.bmp">
            <a:extLst>
              <a:ext uri="{FF2B5EF4-FFF2-40B4-BE49-F238E27FC236}">
                <a16:creationId xmlns:a16="http://schemas.microsoft.com/office/drawing/2014/main" id="{A786BA9E-50F6-1900-E60B-CBAB1D631FE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7882" y="204828"/>
            <a:ext cx="7678455" cy="175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p:cNvSpPr>
            <a:spLocks noGrp="1" noChangeArrowheads="1"/>
          </p:cNvSpPr>
          <p:nvPr>
            <p:ph type="ctrTitle"/>
          </p:nvPr>
        </p:nvSpPr>
        <p:spPr>
          <a:xfrm>
            <a:off x="378725" y="1955488"/>
            <a:ext cx="9935951" cy="1747158"/>
          </a:xfrm>
        </p:spPr>
        <p:txBody>
          <a:bodyPr/>
          <a:lstStyle>
            <a:lvl1pPr>
              <a:defRPr sz="5293"/>
            </a:lvl1pPr>
          </a:lstStyle>
          <a:p>
            <a:r>
              <a:rPr lang="it-IT"/>
              <a:t>Fare clic per modificare lo stile del titolo</a:t>
            </a:r>
          </a:p>
        </p:txBody>
      </p:sp>
      <p:sp>
        <p:nvSpPr>
          <p:cNvPr id="5123" name="Rectangle 3"/>
          <p:cNvSpPr>
            <a:spLocks noGrp="1" noChangeArrowheads="1"/>
          </p:cNvSpPr>
          <p:nvPr>
            <p:ph type="subTitle" idx="1"/>
          </p:nvPr>
        </p:nvSpPr>
        <p:spPr>
          <a:xfrm>
            <a:off x="378725" y="3702646"/>
            <a:ext cx="9935951" cy="2095539"/>
          </a:xfrm>
        </p:spPr>
        <p:txBody>
          <a:bodyPr/>
          <a:lstStyle>
            <a:lvl1pPr marL="0" indent="0">
              <a:buFontTx/>
              <a:buNone/>
              <a:defRPr/>
            </a:lvl1pPr>
          </a:lstStyle>
          <a:p>
            <a:r>
              <a:rPr lang="it-IT"/>
              <a:t>Fare clic per modificare lo stile del sottotitolo dello schema</a:t>
            </a:r>
            <a:endParaRPr lang="it-IT" dirty="0"/>
          </a:p>
        </p:txBody>
      </p:sp>
      <p:sp>
        <p:nvSpPr>
          <p:cNvPr id="13" name="Segnaposto testo 12"/>
          <p:cNvSpPr>
            <a:spLocks noGrp="1"/>
          </p:cNvSpPr>
          <p:nvPr>
            <p:ph type="body" sz="quarter" idx="13"/>
          </p:nvPr>
        </p:nvSpPr>
        <p:spPr>
          <a:xfrm>
            <a:off x="382328" y="5924022"/>
            <a:ext cx="9936983" cy="1050606"/>
          </a:xfrm>
        </p:spPr>
        <p:txBody>
          <a:bodyPr/>
          <a:lstStyle>
            <a:lvl1pPr algn="l">
              <a:buNone/>
              <a:defRPr sz="1985"/>
            </a:lvl1pPr>
          </a:lstStyle>
          <a:p>
            <a:pPr lvl="0"/>
            <a:r>
              <a:rPr lang="it-IT"/>
              <a:t>Modifica gli stili del testo dello schema</a:t>
            </a:r>
          </a:p>
        </p:txBody>
      </p:sp>
      <p:sp>
        <p:nvSpPr>
          <p:cNvPr id="4" name="Rectangle 4">
            <a:extLst>
              <a:ext uri="{FF2B5EF4-FFF2-40B4-BE49-F238E27FC236}">
                <a16:creationId xmlns:a16="http://schemas.microsoft.com/office/drawing/2014/main" id="{71DADD95-A5F1-BD7E-6A2A-D5364689D11F}"/>
              </a:ext>
            </a:extLst>
          </p:cNvPr>
          <p:cNvSpPr>
            <a:spLocks noGrp="1" noChangeArrowheads="1"/>
          </p:cNvSpPr>
          <p:nvPr>
            <p:ph type="dt" sz="half" idx="14"/>
          </p:nvPr>
        </p:nvSpPr>
        <p:spPr>
          <a:xfrm>
            <a:off x="378724" y="7118183"/>
            <a:ext cx="2495127" cy="444668"/>
          </a:xfrm>
        </p:spPr>
        <p:txBody>
          <a:bodyPr/>
          <a:lstStyle>
            <a:lvl1pPr>
              <a:defRPr/>
            </a:lvl1pPr>
          </a:lstStyle>
          <a:p>
            <a:pPr>
              <a:defRPr/>
            </a:pPr>
            <a:fld id="{A8E5C8A6-4875-4F18-9597-36FEC6C70DF0}" type="datetime1">
              <a:rPr lang="it-IT" altLang="it-CH"/>
              <a:pPr>
                <a:defRPr/>
              </a:pPr>
              <a:t>20/02/2026</a:t>
            </a:fld>
            <a:endParaRPr lang="it-IT" altLang="it-CH"/>
          </a:p>
        </p:txBody>
      </p:sp>
      <p:sp>
        <p:nvSpPr>
          <p:cNvPr id="5" name="Rectangle 5">
            <a:extLst>
              <a:ext uri="{FF2B5EF4-FFF2-40B4-BE49-F238E27FC236}">
                <a16:creationId xmlns:a16="http://schemas.microsoft.com/office/drawing/2014/main" id="{DA61FD92-D0DD-1ABE-A7A1-D39BB1DAF42A}"/>
              </a:ext>
            </a:extLst>
          </p:cNvPr>
          <p:cNvSpPr>
            <a:spLocks noGrp="1" noChangeArrowheads="1"/>
          </p:cNvSpPr>
          <p:nvPr>
            <p:ph type="ftr" sz="quarter" idx="15"/>
          </p:nvPr>
        </p:nvSpPr>
        <p:spPr>
          <a:xfrm>
            <a:off x="2905412" y="7118183"/>
            <a:ext cx="7409263" cy="444668"/>
          </a:xfrm>
        </p:spPr>
        <p:txBody>
          <a:bodyPr/>
          <a:lstStyle>
            <a:lvl1pPr>
              <a:defRPr/>
            </a:lvl1pPr>
          </a:lstStyle>
          <a:p>
            <a:pPr>
              <a:defRPr/>
            </a:pPr>
            <a:endParaRPr lang="it-IT"/>
          </a:p>
        </p:txBody>
      </p:sp>
      <p:sp>
        <p:nvSpPr>
          <p:cNvPr id="6" name="Rectangle 6">
            <a:extLst>
              <a:ext uri="{FF2B5EF4-FFF2-40B4-BE49-F238E27FC236}">
                <a16:creationId xmlns:a16="http://schemas.microsoft.com/office/drawing/2014/main" id="{A2612151-5078-17F1-3109-11B85BDFB33F}"/>
              </a:ext>
            </a:extLst>
          </p:cNvPr>
          <p:cNvSpPr>
            <a:spLocks noGrp="1" noChangeArrowheads="1"/>
          </p:cNvSpPr>
          <p:nvPr>
            <p:ph type="sldNum" sz="quarter" idx="16"/>
          </p:nvPr>
        </p:nvSpPr>
        <p:spPr/>
        <p:txBody>
          <a:bodyPr/>
          <a:lstStyle>
            <a:lvl1pPr>
              <a:defRPr/>
            </a:lvl1pPr>
          </a:lstStyle>
          <a:p>
            <a:pPr>
              <a:defRPr/>
            </a:pPr>
            <a:fld id="{09DE8F46-776B-454A-8C12-4CEE967F53C8}" type="slidenum">
              <a:rPr lang="it-IT" altLang="it-CH"/>
              <a:pPr>
                <a:defRPr/>
              </a:pPr>
              <a:t>‹N›</a:t>
            </a:fld>
            <a:endParaRPr lang="it-IT" altLang="it-CH"/>
          </a:p>
        </p:txBody>
      </p:sp>
    </p:spTree>
    <p:extLst>
      <p:ext uri="{BB962C8B-B14F-4D97-AF65-F5344CB8AC3E}">
        <p14:creationId xmlns:p14="http://schemas.microsoft.com/office/powerpoint/2010/main" val="1126986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sz="2647"/>
            </a:lvl1pPr>
          </a:lstStyle>
          <a:p>
            <a:r>
              <a:rPr lang="it-IT"/>
              <a:t>Fare clic per modificare lo stile del titolo</a:t>
            </a:r>
            <a:endParaRPr lang="it-IT" dirty="0"/>
          </a:p>
        </p:txBody>
      </p:sp>
      <p:sp>
        <p:nvSpPr>
          <p:cNvPr id="3" name="Segnaposto contenuto 2"/>
          <p:cNvSpPr>
            <a:spLocks noGrp="1"/>
          </p:cNvSpPr>
          <p:nvPr>
            <p:ph idx="1"/>
          </p:nvPr>
        </p:nvSpPr>
        <p:spPr/>
        <p:txBody>
          <a:bodyPr/>
          <a:lstStyle>
            <a:lvl1pPr>
              <a:defRPr sz="1985"/>
            </a:lvl1pPr>
            <a:lvl2pPr>
              <a:defRPr sz="1985"/>
            </a:lvl2pPr>
            <a:lvl3pPr>
              <a:defRPr sz="1985"/>
            </a:lvl3pPr>
            <a:lvl4pPr>
              <a:defRPr sz="1985"/>
            </a:lvl4pPr>
            <a:lvl5pPr>
              <a:defRPr sz="1985"/>
            </a:lvl5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it-IT" dirty="0"/>
          </a:p>
        </p:txBody>
      </p:sp>
      <p:sp>
        <p:nvSpPr>
          <p:cNvPr id="4" name="Rectangle 4">
            <a:extLst>
              <a:ext uri="{FF2B5EF4-FFF2-40B4-BE49-F238E27FC236}">
                <a16:creationId xmlns:a16="http://schemas.microsoft.com/office/drawing/2014/main" id="{9D3AE0FA-55D8-4B25-3C77-DEFC8707DA6F}"/>
              </a:ext>
            </a:extLst>
          </p:cNvPr>
          <p:cNvSpPr>
            <a:spLocks noGrp="1" noChangeArrowheads="1"/>
          </p:cNvSpPr>
          <p:nvPr>
            <p:ph type="dt" sz="half" idx="10"/>
          </p:nvPr>
        </p:nvSpPr>
        <p:spPr>
          <a:ln/>
        </p:spPr>
        <p:txBody>
          <a:bodyPr/>
          <a:lstStyle>
            <a:lvl1pPr>
              <a:defRPr/>
            </a:lvl1pPr>
          </a:lstStyle>
          <a:p>
            <a:pPr>
              <a:defRPr/>
            </a:pPr>
            <a:fld id="{37FFCCC6-70A9-47A1-B8F9-DC9F18741DF3}" type="datetime1">
              <a:rPr lang="it-IT" altLang="it-CH"/>
              <a:pPr>
                <a:defRPr/>
              </a:pPr>
              <a:t>20/02/2026</a:t>
            </a:fld>
            <a:endParaRPr lang="it-IT" altLang="it-CH"/>
          </a:p>
        </p:txBody>
      </p:sp>
      <p:sp>
        <p:nvSpPr>
          <p:cNvPr id="5" name="Rectangle 5">
            <a:extLst>
              <a:ext uri="{FF2B5EF4-FFF2-40B4-BE49-F238E27FC236}">
                <a16:creationId xmlns:a16="http://schemas.microsoft.com/office/drawing/2014/main" id="{6A75244D-5C20-6AB2-F709-EF2703F11A4F}"/>
              </a:ext>
            </a:extLst>
          </p:cNvPr>
          <p:cNvSpPr>
            <a:spLocks noGrp="1" noChangeArrowheads="1"/>
          </p:cNvSpPr>
          <p:nvPr>
            <p:ph type="ftr" sz="quarter" idx="11"/>
          </p:nvPr>
        </p:nvSpPr>
        <p:spPr>
          <a:ln/>
        </p:spPr>
        <p:txBody>
          <a:bodyPr/>
          <a:lstStyle>
            <a:lvl1pPr>
              <a:defRPr/>
            </a:lvl1pPr>
          </a:lstStyle>
          <a:p>
            <a:pPr>
              <a:defRPr/>
            </a:pPr>
            <a:endParaRPr lang="it-IT"/>
          </a:p>
        </p:txBody>
      </p:sp>
      <p:sp>
        <p:nvSpPr>
          <p:cNvPr id="6" name="Rectangle 6">
            <a:extLst>
              <a:ext uri="{FF2B5EF4-FFF2-40B4-BE49-F238E27FC236}">
                <a16:creationId xmlns:a16="http://schemas.microsoft.com/office/drawing/2014/main" id="{A0D71ED7-DB0E-465A-CEE6-82662BC0C60D}"/>
              </a:ext>
            </a:extLst>
          </p:cNvPr>
          <p:cNvSpPr>
            <a:spLocks noGrp="1" noChangeArrowheads="1"/>
          </p:cNvSpPr>
          <p:nvPr>
            <p:ph type="sldNum" sz="quarter" idx="12"/>
          </p:nvPr>
        </p:nvSpPr>
        <p:spPr>
          <a:ln/>
        </p:spPr>
        <p:txBody>
          <a:bodyPr/>
          <a:lstStyle>
            <a:lvl1pPr>
              <a:defRPr/>
            </a:lvl1pPr>
          </a:lstStyle>
          <a:p>
            <a:pPr>
              <a:defRPr/>
            </a:pPr>
            <a:fld id="{377B99B3-EB5B-4E2E-93AA-F6BD27DDD55D}" type="slidenum">
              <a:rPr lang="it-IT" altLang="it-CH"/>
              <a:pPr>
                <a:defRPr/>
              </a:pPr>
              <a:t>‹N›</a:t>
            </a:fld>
            <a:endParaRPr lang="it-IT" altLang="it-CH"/>
          </a:p>
        </p:txBody>
      </p:sp>
    </p:spTree>
    <p:extLst>
      <p:ext uri="{BB962C8B-B14F-4D97-AF65-F5344CB8AC3E}">
        <p14:creationId xmlns:p14="http://schemas.microsoft.com/office/powerpoint/2010/main" val="17409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sz="2647"/>
            </a:lvl1pPr>
          </a:lstStyle>
          <a:p>
            <a:r>
              <a:rPr lang="it-IT"/>
              <a:t>Fare clic per modificare lo stile del titolo</a:t>
            </a:r>
            <a:endParaRPr lang="it-IT" dirty="0"/>
          </a:p>
        </p:txBody>
      </p:sp>
      <p:sp>
        <p:nvSpPr>
          <p:cNvPr id="3" name="Segnaposto contenuto 2"/>
          <p:cNvSpPr>
            <a:spLocks noGrp="1"/>
          </p:cNvSpPr>
          <p:nvPr>
            <p:ph sz="half" idx="1"/>
          </p:nvPr>
        </p:nvSpPr>
        <p:spPr>
          <a:xfrm>
            <a:off x="378724" y="2113047"/>
            <a:ext cx="4878864" cy="4765296"/>
          </a:xfrm>
        </p:spPr>
        <p:txBody>
          <a:bodyPr/>
          <a:lstStyle>
            <a:lvl1pPr>
              <a:defRPr sz="1985"/>
            </a:lvl1pPr>
            <a:lvl2pPr>
              <a:defRPr sz="1985"/>
            </a:lvl2pPr>
            <a:lvl3pPr>
              <a:defRPr sz="1985"/>
            </a:lvl3pPr>
            <a:lvl4pPr>
              <a:defRPr sz="1985"/>
            </a:lvl4pPr>
            <a:lvl5pPr>
              <a:defRPr sz="1985"/>
            </a:lvl5pPr>
            <a:lvl6pPr>
              <a:defRPr sz="1985"/>
            </a:lvl6pPr>
            <a:lvl7pPr>
              <a:defRPr sz="1985"/>
            </a:lvl7pPr>
            <a:lvl8pPr>
              <a:defRPr sz="1985"/>
            </a:lvl8pPr>
            <a:lvl9pPr>
              <a:defRPr sz="1985"/>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it-IT" dirty="0"/>
          </a:p>
        </p:txBody>
      </p:sp>
      <p:sp>
        <p:nvSpPr>
          <p:cNvPr id="4" name="Segnaposto contenuto 3"/>
          <p:cNvSpPr>
            <a:spLocks noGrp="1"/>
          </p:cNvSpPr>
          <p:nvPr>
            <p:ph sz="half" idx="2"/>
          </p:nvPr>
        </p:nvSpPr>
        <p:spPr>
          <a:xfrm>
            <a:off x="5435812" y="2113047"/>
            <a:ext cx="4878864" cy="4765296"/>
          </a:xfrm>
        </p:spPr>
        <p:txBody>
          <a:bodyPr/>
          <a:lstStyle>
            <a:lvl1pPr>
              <a:defRPr sz="1985"/>
            </a:lvl1pPr>
            <a:lvl2pPr>
              <a:defRPr sz="1985"/>
            </a:lvl2pPr>
            <a:lvl3pPr>
              <a:defRPr sz="1985"/>
            </a:lvl3pPr>
            <a:lvl4pPr>
              <a:defRPr sz="1985"/>
            </a:lvl4pPr>
            <a:lvl5pPr>
              <a:defRPr sz="1985"/>
            </a:lvl5pPr>
            <a:lvl6pPr>
              <a:defRPr sz="1985"/>
            </a:lvl6pPr>
            <a:lvl7pPr>
              <a:defRPr sz="1985"/>
            </a:lvl7pPr>
            <a:lvl8pPr>
              <a:defRPr sz="1985"/>
            </a:lvl8pPr>
            <a:lvl9pPr>
              <a:defRPr sz="1985"/>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it-IT" dirty="0"/>
          </a:p>
        </p:txBody>
      </p:sp>
      <p:sp>
        <p:nvSpPr>
          <p:cNvPr id="5" name="Rectangle 4">
            <a:extLst>
              <a:ext uri="{FF2B5EF4-FFF2-40B4-BE49-F238E27FC236}">
                <a16:creationId xmlns:a16="http://schemas.microsoft.com/office/drawing/2014/main" id="{2366867D-4C38-8F71-C928-838CE574CB60}"/>
              </a:ext>
            </a:extLst>
          </p:cNvPr>
          <p:cNvSpPr>
            <a:spLocks noGrp="1" noChangeArrowheads="1"/>
          </p:cNvSpPr>
          <p:nvPr>
            <p:ph type="dt" sz="half" idx="10"/>
          </p:nvPr>
        </p:nvSpPr>
        <p:spPr>
          <a:ln/>
        </p:spPr>
        <p:txBody>
          <a:bodyPr/>
          <a:lstStyle>
            <a:lvl1pPr>
              <a:defRPr/>
            </a:lvl1pPr>
          </a:lstStyle>
          <a:p>
            <a:pPr>
              <a:defRPr/>
            </a:pPr>
            <a:fld id="{4E9EDBBF-FB0F-4D61-8C98-7ECAD6E6121A}" type="datetime1">
              <a:rPr lang="it-IT" altLang="it-CH"/>
              <a:pPr>
                <a:defRPr/>
              </a:pPr>
              <a:t>20/02/2026</a:t>
            </a:fld>
            <a:endParaRPr lang="it-IT" altLang="it-CH"/>
          </a:p>
        </p:txBody>
      </p:sp>
      <p:sp>
        <p:nvSpPr>
          <p:cNvPr id="6" name="Rectangle 5">
            <a:extLst>
              <a:ext uri="{FF2B5EF4-FFF2-40B4-BE49-F238E27FC236}">
                <a16:creationId xmlns:a16="http://schemas.microsoft.com/office/drawing/2014/main" id="{87BE2101-2757-F1D0-EFEA-1FA7F4F68942}"/>
              </a:ext>
            </a:extLst>
          </p:cNvPr>
          <p:cNvSpPr>
            <a:spLocks noGrp="1" noChangeArrowheads="1"/>
          </p:cNvSpPr>
          <p:nvPr>
            <p:ph type="ftr" sz="quarter" idx="11"/>
          </p:nvPr>
        </p:nvSpPr>
        <p:spPr>
          <a:ln/>
        </p:spPr>
        <p:txBody>
          <a:bodyPr/>
          <a:lstStyle>
            <a:lvl1pPr>
              <a:defRPr/>
            </a:lvl1pPr>
          </a:lstStyle>
          <a:p>
            <a:pPr>
              <a:defRPr/>
            </a:pPr>
            <a:endParaRPr lang="it-IT"/>
          </a:p>
        </p:txBody>
      </p:sp>
      <p:sp>
        <p:nvSpPr>
          <p:cNvPr id="7" name="Rectangle 6">
            <a:extLst>
              <a:ext uri="{FF2B5EF4-FFF2-40B4-BE49-F238E27FC236}">
                <a16:creationId xmlns:a16="http://schemas.microsoft.com/office/drawing/2014/main" id="{10E73174-0974-C914-1337-411D8EDE15DF}"/>
              </a:ext>
            </a:extLst>
          </p:cNvPr>
          <p:cNvSpPr>
            <a:spLocks noGrp="1" noChangeArrowheads="1"/>
          </p:cNvSpPr>
          <p:nvPr>
            <p:ph type="sldNum" sz="quarter" idx="12"/>
          </p:nvPr>
        </p:nvSpPr>
        <p:spPr>
          <a:ln/>
        </p:spPr>
        <p:txBody>
          <a:bodyPr/>
          <a:lstStyle>
            <a:lvl1pPr>
              <a:defRPr/>
            </a:lvl1pPr>
          </a:lstStyle>
          <a:p>
            <a:pPr>
              <a:defRPr/>
            </a:pPr>
            <a:fld id="{541ACDAA-EA99-4A07-A18A-F9D8C7F597CC}" type="slidenum">
              <a:rPr lang="it-IT" altLang="it-CH"/>
              <a:pPr>
                <a:defRPr/>
              </a:pPr>
              <a:t>‹N›</a:t>
            </a:fld>
            <a:endParaRPr lang="it-IT" altLang="it-CH"/>
          </a:p>
        </p:txBody>
      </p:sp>
    </p:spTree>
    <p:extLst>
      <p:ext uri="{BB962C8B-B14F-4D97-AF65-F5344CB8AC3E}">
        <p14:creationId xmlns:p14="http://schemas.microsoft.com/office/powerpoint/2010/main" val="2838316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356447" y="1242610"/>
            <a:ext cx="9980507" cy="638991"/>
          </a:xfrm>
        </p:spPr>
        <p:txBody>
          <a:bodyPr/>
          <a:lstStyle>
            <a:lvl1pPr>
              <a:defRPr sz="2647"/>
            </a:lvl1pPr>
          </a:lstStyle>
          <a:p>
            <a:r>
              <a:rPr lang="it-IT"/>
              <a:t>Fare clic per modificare lo stile del titolo</a:t>
            </a:r>
            <a:endParaRPr lang="it-IT" dirty="0"/>
          </a:p>
        </p:txBody>
      </p:sp>
      <p:sp>
        <p:nvSpPr>
          <p:cNvPr id="3" name="Segnaposto testo 2"/>
          <p:cNvSpPr>
            <a:spLocks noGrp="1"/>
          </p:cNvSpPr>
          <p:nvPr>
            <p:ph type="body" idx="1"/>
          </p:nvPr>
        </p:nvSpPr>
        <p:spPr>
          <a:xfrm>
            <a:off x="356447" y="1932728"/>
            <a:ext cx="4902999" cy="705515"/>
          </a:xfrm>
        </p:spPr>
        <p:txBody>
          <a:bodyPr/>
          <a:lstStyle>
            <a:lvl1pPr marL="0" indent="0">
              <a:buNone/>
              <a:defRPr sz="1985" b="1"/>
            </a:lvl1pPr>
            <a:lvl2pPr marL="504200" indent="0">
              <a:buNone/>
              <a:defRPr sz="2206" b="1"/>
            </a:lvl2pPr>
            <a:lvl3pPr marL="1008400" indent="0">
              <a:buNone/>
              <a:defRPr sz="1985" b="1"/>
            </a:lvl3pPr>
            <a:lvl4pPr marL="1512600" indent="0">
              <a:buNone/>
              <a:defRPr sz="1764" b="1"/>
            </a:lvl4pPr>
            <a:lvl5pPr marL="2016801" indent="0">
              <a:buNone/>
              <a:defRPr sz="1764" b="1"/>
            </a:lvl5pPr>
            <a:lvl6pPr marL="2521001" indent="0">
              <a:buNone/>
              <a:defRPr sz="1764" b="1"/>
            </a:lvl6pPr>
            <a:lvl7pPr marL="3025201" indent="0">
              <a:buNone/>
              <a:defRPr sz="1764" b="1"/>
            </a:lvl7pPr>
            <a:lvl8pPr marL="3529401" indent="0">
              <a:buNone/>
              <a:defRPr sz="1764" b="1"/>
            </a:lvl8pPr>
            <a:lvl9pPr marL="4033601" indent="0">
              <a:buNone/>
              <a:defRPr sz="1764" b="1"/>
            </a:lvl9pPr>
          </a:lstStyle>
          <a:p>
            <a:pPr lvl="0"/>
            <a:r>
              <a:rPr lang="it-IT"/>
              <a:t>Modifica gli stili del testo dello schema</a:t>
            </a:r>
          </a:p>
        </p:txBody>
      </p:sp>
      <p:sp>
        <p:nvSpPr>
          <p:cNvPr id="4" name="Segnaposto contenuto 3"/>
          <p:cNvSpPr>
            <a:spLocks noGrp="1"/>
          </p:cNvSpPr>
          <p:nvPr>
            <p:ph sz="half" idx="2"/>
          </p:nvPr>
        </p:nvSpPr>
        <p:spPr>
          <a:xfrm>
            <a:off x="356447" y="2689013"/>
            <a:ext cx="4902999" cy="4066783"/>
          </a:xfrm>
        </p:spPr>
        <p:txBody>
          <a:bodyPr/>
          <a:lstStyle>
            <a:lvl1pPr>
              <a:defRPr sz="1985"/>
            </a:lvl1pPr>
            <a:lvl2pPr>
              <a:defRPr sz="1985"/>
            </a:lvl2pPr>
            <a:lvl3pPr>
              <a:defRPr sz="1985"/>
            </a:lvl3pPr>
            <a:lvl4pPr>
              <a:defRPr sz="1985"/>
            </a:lvl4pPr>
            <a:lvl5pPr>
              <a:defRPr sz="1985"/>
            </a:lvl5pPr>
            <a:lvl6pPr>
              <a:defRPr sz="1764"/>
            </a:lvl6pPr>
            <a:lvl7pPr>
              <a:defRPr sz="1764"/>
            </a:lvl7pPr>
            <a:lvl8pPr>
              <a:defRPr sz="1764"/>
            </a:lvl8pPr>
            <a:lvl9pPr>
              <a:defRPr sz="1764"/>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it-IT" dirty="0"/>
          </a:p>
        </p:txBody>
      </p:sp>
      <p:sp>
        <p:nvSpPr>
          <p:cNvPr id="5" name="Segnaposto testo 4"/>
          <p:cNvSpPr>
            <a:spLocks noGrp="1"/>
          </p:cNvSpPr>
          <p:nvPr>
            <p:ph type="body" sz="quarter" idx="3"/>
          </p:nvPr>
        </p:nvSpPr>
        <p:spPr>
          <a:xfrm>
            <a:off x="5432099" y="1932728"/>
            <a:ext cx="4904855" cy="705515"/>
          </a:xfrm>
        </p:spPr>
        <p:txBody>
          <a:bodyPr/>
          <a:lstStyle>
            <a:lvl1pPr marL="0" indent="0">
              <a:buNone/>
              <a:defRPr sz="1985" b="1"/>
            </a:lvl1pPr>
            <a:lvl2pPr marL="504200" indent="0">
              <a:buNone/>
              <a:defRPr sz="2206" b="1"/>
            </a:lvl2pPr>
            <a:lvl3pPr marL="1008400" indent="0">
              <a:buNone/>
              <a:defRPr sz="1985" b="1"/>
            </a:lvl3pPr>
            <a:lvl4pPr marL="1512600" indent="0">
              <a:buNone/>
              <a:defRPr sz="1764" b="1"/>
            </a:lvl4pPr>
            <a:lvl5pPr marL="2016801" indent="0">
              <a:buNone/>
              <a:defRPr sz="1764" b="1"/>
            </a:lvl5pPr>
            <a:lvl6pPr marL="2521001" indent="0">
              <a:buNone/>
              <a:defRPr sz="1764" b="1"/>
            </a:lvl6pPr>
            <a:lvl7pPr marL="3025201" indent="0">
              <a:buNone/>
              <a:defRPr sz="1764" b="1"/>
            </a:lvl7pPr>
            <a:lvl8pPr marL="3529401" indent="0">
              <a:buNone/>
              <a:defRPr sz="1764" b="1"/>
            </a:lvl8pPr>
            <a:lvl9pPr marL="4033601" indent="0">
              <a:buNone/>
              <a:defRPr sz="1764" b="1"/>
            </a:lvl9pPr>
          </a:lstStyle>
          <a:p>
            <a:pPr lvl="0"/>
            <a:r>
              <a:rPr lang="it-IT"/>
              <a:t>Modifica gli stili del testo dello schema</a:t>
            </a:r>
          </a:p>
        </p:txBody>
      </p:sp>
      <p:sp>
        <p:nvSpPr>
          <p:cNvPr id="6" name="Segnaposto contenuto 5"/>
          <p:cNvSpPr>
            <a:spLocks noGrp="1"/>
          </p:cNvSpPr>
          <p:nvPr>
            <p:ph sz="quarter" idx="4"/>
          </p:nvPr>
        </p:nvSpPr>
        <p:spPr>
          <a:xfrm>
            <a:off x="5432099" y="2689013"/>
            <a:ext cx="4904855" cy="4066783"/>
          </a:xfrm>
        </p:spPr>
        <p:txBody>
          <a:bodyPr>
            <a:noAutofit/>
          </a:bodyPr>
          <a:lstStyle>
            <a:lvl1pPr>
              <a:defRPr sz="1985"/>
            </a:lvl1pPr>
            <a:lvl2pPr>
              <a:defRPr sz="1985"/>
            </a:lvl2pPr>
            <a:lvl3pPr>
              <a:defRPr sz="1985"/>
            </a:lvl3pPr>
            <a:lvl4pPr>
              <a:defRPr sz="1985"/>
            </a:lvl4pPr>
            <a:lvl5pPr>
              <a:buNone/>
              <a:defRPr sz="1985"/>
            </a:lvl5pPr>
            <a:lvl6pPr>
              <a:defRPr sz="1764"/>
            </a:lvl6pPr>
            <a:lvl7pPr>
              <a:defRPr sz="1764"/>
            </a:lvl7pPr>
            <a:lvl8pPr>
              <a:defRPr sz="1764"/>
            </a:lvl8pPr>
            <a:lvl9pPr>
              <a:defRPr sz="1764"/>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fr-CH" dirty="0"/>
          </a:p>
        </p:txBody>
      </p:sp>
      <p:sp>
        <p:nvSpPr>
          <p:cNvPr id="7" name="Rectangle 4">
            <a:extLst>
              <a:ext uri="{FF2B5EF4-FFF2-40B4-BE49-F238E27FC236}">
                <a16:creationId xmlns:a16="http://schemas.microsoft.com/office/drawing/2014/main" id="{C7E4D8F5-8AEB-5563-F0E2-29FFAA75D2D9}"/>
              </a:ext>
            </a:extLst>
          </p:cNvPr>
          <p:cNvSpPr>
            <a:spLocks noGrp="1" noChangeArrowheads="1"/>
          </p:cNvSpPr>
          <p:nvPr>
            <p:ph type="dt" sz="half" idx="10"/>
          </p:nvPr>
        </p:nvSpPr>
        <p:spPr>
          <a:ln/>
        </p:spPr>
        <p:txBody>
          <a:bodyPr/>
          <a:lstStyle>
            <a:lvl1pPr>
              <a:defRPr/>
            </a:lvl1pPr>
          </a:lstStyle>
          <a:p>
            <a:pPr>
              <a:defRPr/>
            </a:pPr>
            <a:fld id="{FDACD069-73FB-435F-B92B-D4A6004B2F0C}" type="datetime1">
              <a:rPr lang="it-IT" altLang="it-CH"/>
              <a:pPr>
                <a:defRPr/>
              </a:pPr>
              <a:t>20/02/2026</a:t>
            </a:fld>
            <a:endParaRPr lang="it-IT" altLang="it-CH"/>
          </a:p>
        </p:txBody>
      </p:sp>
      <p:sp>
        <p:nvSpPr>
          <p:cNvPr id="8" name="Rectangle 5">
            <a:extLst>
              <a:ext uri="{FF2B5EF4-FFF2-40B4-BE49-F238E27FC236}">
                <a16:creationId xmlns:a16="http://schemas.microsoft.com/office/drawing/2014/main" id="{B5543046-9522-2A9E-EBE7-5983A9D83E90}"/>
              </a:ext>
            </a:extLst>
          </p:cNvPr>
          <p:cNvSpPr>
            <a:spLocks noGrp="1" noChangeArrowheads="1"/>
          </p:cNvSpPr>
          <p:nvPr>
            <p:ph type="ftr" sz="quarter" idx="11"/>
          </p:nvPr>
        </p:nvSpPr>
        <p:spPr>
          <a:ln/>
        </p:spPr>
        <p:txBody>
          <a:bodyPr/>
          <a:lstStyle>
            <a:lvl1pPr>
              <a:defRPr/>
            </a:lvl1pPr>
          </a:lstStyle>
          <a:p>
            <a:pPr>
              <a:defRPr/>
            </a:pPr>
            <a:endParaRPr lang="it-IT"/>
          </a:p>
        </p:txBody>
      </p:sp>
      <p:sp>
        <p:nvSpPr>
          <p:cNvPr id="9" name="Rectangle 6">
            <a:extLst>
              <a:ext uri="{FF2B5EF4-FFF2-40B4-BE49-F238E27FC236}">
                <a16:creationId xmlns:a16="http://schemas.microsoft.com/office/drawing/2014/main" id="{8B89CD3B-F759-2AD8-587B-75D36064B6DE}"/>
              </a:ext>
            </a:extLst>
          </p:cNvPr>
          <p:cNvSpPr>
            <a:spLocks noGrp="1" noChangeArrowheads="1"/>
          </p:cNvSpPr>
          <p:nvPr>
            <p:ph type="sldNum" sz="quarter" idx="12"/>
          </p:nvPr>
        </p:nvSpPr>
        <p:spPr>
          <a:ln/>
        </p:spPr>
        <p:txBody>
          <a:bodyPr/>
          <a:lstStyle>
            <a:lvl1pPr>
              <a:defRPr/>
            </a:lvl1pPr>
          </a:lstStyle>
          <a:p>
            <a:pPr>
              <a:defRPr/>
            </a:pPr>
            <a:fld id="{FBEAC0B3-DAD5-4AC5-A574-E1DC405997C6}" type="slidenum">
              <a:rPr lang="it-IT" altLang="it-CH"/>
              <a:pPr>
                <a:defRPr/>
              </a:pPr>
              <a:t>‹N›</a:t>
            </a:fld>
            <a:endParaRPr lang="it-IT" altLang="it-CH"/>
          </a:p>
        </p:txBody>
      </p:sp>
    </p:spTree>
    <p:extLst>
      <p:ext uri="{BB962C8B-B14F-4D97-AF65-F5344CB8AC3E}">
        <p14:creationId xmlns:p14="http://schemas.microsoft.com/office/powerpoint/2010/main" val="1935999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357849" y="1241219"/>
            <a:ext cx="9959301" cy="793048"/>
          </a:xfrm>
        </p:spPr>
        <p:txBody>
          <a:bodyPr/>
          <a:lstStyle>
            <a:lvl1pPr>
              <a:defRPr sz="2647"/>
            </a:lvl1pPr>
          </a:lstStyle>
          <a:p>
            <a:r>
              <a:rPr lang="it-IT"/>
              <a:t>Fare clic per modificare lo stile del titolo</a:t>
            </a:r>
            <a:endParaRPr lang="it-IT" dirty="0"/>
          </a:p>
        </p:txBody>
      </p:sp>
      <p:sp>
        <p:nvSpPr>
          <p:cNvPr id="3" name="Rectangle 4">
            <a:extLst>
              <a:ext uri="{FF2B5EF4-FFF2-40B4-BE49-F238E27FC236}">
                <a16:creationId xmlns:a16="http://schemas.microsoft.com/office/drawing/2014/main" id="{8D9B636F-647F-79EC-92E9-BD5BAD3923DA}"/>
              </a:ext>
            </a:extLst>
          </p:cNvPr>
          <p:cNvSpPr>
            <a:spLocks noGrp="1" noChangeArrowheads="1"/>
          </p:cNvSpPr>
          <p:nvPr>
            <p:ph type="dt" sz="half" idx="10"/>
          </p:nvPr>
        </p:nvSpPr>
        <p:spPr>
          <a:ln/>
        </p:spPr>
        <p:txBody>
          <a:bodyPr/>
          <a:lstStyle>
            <a:lvl1pPr>
              <a:defRPr/>
            </a:lvl1pPr>
          </a:lstStyle>
          <a:p>
            <a:pPr>
              <a:defRPr/>
            </a:pPr>
            <a:fld id="{20BAF5F8-5CCF-485C-9675-671504865334}" type="datetime1">
              <a:rPr lang="it-IT" altLang="it-CH"/>
              <a:pPr>
                <a:defRPr/>
              </a:pPr>
              <a:t>20/02/2026</a:t>
            </a:fld>
            <a:endParaRPr lang="it-IT" altLang="it-CH"/>
          </a:p>
        </p:txBody>
      </p:sp>
      <p:sp>
        <p:nvSpPr>
          <p:cNvPr id="4" name="Rectangle 5">
            <a:extLst>
              <a:ext uri="{FF2B5EF4-FFF2-40B4-BE49-F238E27FC236}">
                <a16:creationId xmlns:a16="http://schemas.microsoft.com/office/drawing/2014/main" id="{F952BE01-CAEC-9B86-673F-83D267711677}"/>
              </a:ext>
            </a:extLst>
          </p:cNvPr>
          <p:cNvSpPr>
            <a:spLocks noGrp="1" noChangeArrowheads="1"/>
          </p:cNvSpPr>
          <p:nvPr>
            <p:ph type="ftr" sz="quarter" idx="11"/>
          </p:nvPr>
        </p:nvSpPr>
        <p:spPr>
          <a:ln/>
        </p:spPr>
        <p:txBody>
          <a:bodyPr/>
          <a:lstStyle>
            <a:lvl1pPr>
              <a:defRPr/>
            </a:lvl1pPr>
          </a:lstStyle>
          <a:p>
            <a:pPr>
              <a:defRPr/>
            </a:pPr>
            <a:endParaRPr lang="it-IT"/>
          </a:p>
        </p:txBody>
      </p:sp>
      <p:sp>
        <p:nvSpPr>
          <p:cNvPr id="5" name="Rectangle 6">
            <a:extLst>
              <a:ext uri="{FF2B5EF4-FFF2-40B4-BE49-F238E27FC236}">
                <a16:creationId xmlns:a16="http://schemas.microsoft.com/office/drawing/2014/main" id="{44823D65-E26B-066E-9E6C-ECDD1B493DB2}"/>
              </a:ext>
            </a:extLst>
          </p:cNvPr>
          <p:cNvSpPr>
            <a:spLocks noGrp="1" noChangeArrowheads="1"/>
          </p:cNvSpPr>
          <p:nvPr>
            <p:ph type="sldNum" sz="quarter" idx="12"/>
          </p:nvPr>
        </p:nvSpPr>
        <p:spPr>
          <a:ln/>
        </p:spPr>
        <p:txBody>
          <a:bodyPr/>
          <a:lstStyle>
            <a:lvl1pPr>
              <a:defRPr/>
            </a:lvl1pPr>
          </a:lstStyle>
          <a:p>
            <a:pPr>
              <a:defRPr/>
            </a:pPr>
            <a:fld id="{09607ACE-0B86-4369-B797-8369CA9132C2}" type="slidenum">
              <a:rPr lang="it-IT" altLang="it-CH"/>
              <a:pPr>
                <a:defRPr/>
              </a:pPr>
              <a:t>‹N›</a:t>
            </a:fld>
            <a:endParaRPr lang="it-IT" altLang="it-CH"/>
          </a:p>
        </p:txBody>
      </p:sp>
    </p:spTree>
    <p:extLst>
      <p:ext uri="{BB962C8B-B14F-4D97-AF65-F5344CB8AC3E}">
        <p14:creationId xmlns:p14="http://schemas.microsoft.com/office/powerpoint/2010/main" val="40683260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uot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F4C1FA4-3FBF-E343-F38A-C1B6FA34297A}"/>
              </a:ext>
            </a:extLst>
          </p:cNvPr>
          <p:cNvSpPr>
            <a:spLocks noGrp="1" noChangeArrowheads="1"/>
          </p:cNvSpPr>
          <p:nvPr>
            <p:ph type="dt" sz="half" idx="10"/>
          </p:nvPr>
        </p:nvSpPr>
        <p:spPr>
          <a:ln/>
        </p:spPr>
        <p:txBody>
          <a:bodyPr/>
          <a:lstStyle>
            <a:lvl1pPr>
              <a:defRPr/>
            </a:lvl1pPr>
          </a:lstStyle>
          <a:p>
            <a:pPr>
              <a:defRPr/>
            </a:pPr>
            <a:fld id="{7EA95E43-4667-4603-BCDF-C1D6816FB1CB}" type="datetime1">
              <a:rPr lang="it-IT" altLang="it-CH"/>
              <a:pPr>
                <a:defRPr/>
              </a:pPr>
              <a:t>20/02/2026</a:t>
            </a:fld>
            <a:endParaRPr lang="it-IT" altLang="it-CH"/>
          </a:p>
        </p:txBody>
      </p:sp>
      <p:sp>
        <p:nvSpPr>
          <p:cNvPr id="3" name="Rectangle 5">
            <a:extLst>
              <a:ext uri="{FF2B5EF4-FFF2-40B4-BE49-F238E27FC236}">
                <a16:creationId xmlns:a16="http://schemas.microsoft.com/office/drawing/2014/main" id="{DBEC2546-5F3B-CDB6-72BB-A1D02FA3A1CE}"/>
              </a:ext>
            </a:extLst>
          </p:cNvPr>
          <p:cNvSpPr>
            <a:spLocks noGrp="1" noChangeArrowheads="1"/>
          </p:cNvSpPr>
          <p:nvPr>
            <p:ph type="ftr" sz="quarter" idx="11"/>
          </p:nvPr>
        </p:nvSpPr>
        <p:spPr>
          <a:ln/>
        </p:spPr>
        <p:txBody>
          <a:bodyPr/>
          <a:lstStyle>
            <a:lvl1pPr>
              <a:defRPr/>
            </a:lvl1pPr>
          </a:lstStyle>
          <a:p>
            <a:pPr>
              <a:defRPr/>
            </a:pPr>
            <a:endParaRPr lang="it-IT"/>
          </a:p>
        </p:txBody>
      </p:sp>
      <p:sp>
        <p:nvSpPr>
          <p:cNvPr id="4" name="Rectangle 6">
            <a:extLst>
              <a:ext uri="{FF2B5EF4-FFF2-40B4-BE49-F238E27FC236}">
                <a16:creationId xmlns:a16="http://schemas.microsoft.com/office/drawing/2014/main" id="{9E756169-3369-A8FE-51B3-84EBE4ECA84E}"/>
              </a:ext>
            </a:extLst>
          </p:cNvPr>
          <p:cNvSpPr>
            <a:spLocks noGrp="1" noChangeArrowheads="1"/>
          </p:cNvSpPr>
          <p:nvPr>
            <p:ph type="sldNum" sz="quarter" idx="12"/>
          </p:nvPr>
        </p:nvSpPr>
        <p:spPr>
          <a:ln/>
        </p:spPr>
        <p:txBody>
          <a:bodyPr/>
          <a:lstStyle>
            <a:lvl1pPr>
              <a:defRPr/>
            </a:lvl1pPr>
          </a:lstStyle>
          <a:p>
            <a:pPr>
              <a:defRPr/>
            </a:pPr>
            <a:fld id="{CD468742-6CCD-48F8-B1BA-AB2E2AA314AE}" type="slidenum">
              <a:rPr lang="it-IT" altLang="it-CH"/>
              <a:pPr>
                <a:defRPr/>
              </a:pPr>
              <a:t>‹N›</a:t>
            </a:fld>
            <a:endParaRPr lang="it-IT" altLang="it-CH"/>
          </a:p>
        </p:txBody>
      </p:sp>
    </p:spTree>
    <p:extLst>
      <p:ext uri="{BB962C8B-B14F-4D97-AF65-F5344CB8AC3E}">
        <p14:creationId xmlns:p14="http://schemas.microsoft.com/office/powerpoint/2010/main" val="974417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381631" y="1243709"/>
            <a:ext cx="3539283" cy="1008380"/>
          </a:xfrm>
        </p:spPr>
        <p:txBody>
          <a:bodyPr/>
          <a:lstStyle>
            <a:lvl1pPr algn="l">
              <a:defRPr sz="2647" b="0"/>
            </a:lvl1pPr>
          </a:lstStyle>
          <a:p>
            <a:r>
              <a:rPr lang="it-IT"/>
              <a:t>Fare clic per modificare lo stile del titolo</a:t>
            </a:r>
            <a:endParaRPr lang="it-IT" dirty="0"/>
          </a:p>
        </p:txBody>
      </p:sp>
      <p:sp>
        <p:nvSpPr>
          <p:cNvPr id="3" name="Segnaposto contenuto 2"/>
          <p:cNvSpPr>
            <a:spLocks noGrp="1"/>
          </p:cNvSpPr>
          <p:nvPr>
            <p:ph idx="1"/>
          </p:nvPr>
        </p:nvSpPr>
        <p:spPr>
          <a:xfrm>
            <a:off x="4180822" y="1242611"/>
            <a:ext cx="6133526" cy="5508954"/>
          </a:xfrm>
        </p:spPr>
        <p:txBody>
          <a:bodyPr/>
          <a:lstStyle>
            <a:lvl1pPr>
              <a:defRPr sz="1985"/>
            </a:lvl1pPr>
            <a:lvl2pPr>
              <a:defRPr sz="1985"/>
            </a:lvl2pPr>
            <a:lvl3pPr>
              <a:defRPr sz="1985"/>
            </a:lvl3pPr>
            <a:lvl4pPr>
              <a:defRPr sz="1985"/>
            </a:lvl4pPr>
            <a:lvl5pPr>
              <a:defRPr sz="1985"/>
            </a:lvl5pPr>
            <a:lvl6pPr>
              <a:defRPr sz="2206"/>
            </a:lvl6pPr>
            <a:lvl7pPr>
              <a:defRPr sz="2206"/>
            </a:lvl7pPr>
            <a:lvl8pPr>
              <a:defRPr sz="2206"/>
            </a:lvl8pPr>
            <a:lvl9pPr>
              <a:defRPr sz="2206"/>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it-IT" dirty="0"/>
          </a:p>
        </p:txBody>
      </p:sp>
      <p:sp>
        <p:nvSpPr>
          <p:cNvPr id="4" name="Segnaposto testo 3"/>
          <p:cNvSpPr>
            <a:spLocks noGrp="1"/>
          </p:cNvSpPr>
          <p:nvPr>
            <p:ph type="body" sz="half" idx="2"/>
          </p:nvPr>
        </p:nvSpPr>
        <p:spPr>
          <a:xfrm>
            <a:off x="381632" y="2352887"/>
            <a:ext cx="3539282" cy="4402910"/>
          </a:xfrm>
        </p:spPr>
        <p:txBody>
          <a:bodyPr/>
          <a:lstStyle>
            <a:lvl1pPr marL="0" indent="0">
              <a:buNone/>
              <a:defRPr sz="1985"/>
            </a:lvl1pPr>
            <a:lvl2pPr marL="504200" indent="0">
              <a:buNone/>
              <a:defRPr sz="1323"/>
            </a:lvl2pPr>
            <a:lvl3pPr marL="1008400" indent="0">
              <a:buNone/>
              <a:defRPr sz="1103"/>
            </a:lvl3pPr>
            <a:lvl4pPr marL="1512600" indent="0">
              <a:buNone/>
              <a:defRPr sz="993"/>
            </a:lvl4pPr>
            <a:lvl5pPr marL="2016801" indent="0">
              <a:buNone/>
              <a:defRPr sz="993"/>
            </a:lvl5pPr>
            <a:lvl6pPr marL="2521001" indent="0">
              <a:buNone/>
              <a:defRPr sz="993"/>
            </a:lvl6pPr>
            <a:lvl7pPr marL="3025201" indent="0">
              <a:buNone/>
              <a:defRPr sz="993"/>
            </a:lvl7pPr>
            <a:lvl8pPr marL="3529401" indent="0">
              <a:buNone/>
              <a:defRPr sz="993"/>
            </a:lvl8pPr>
            <a:lvl9pPr marL="4033601" indent="0">
              <a:buNone/>
              <a:defRPr sz="993"/>
            </a:lvl9pPr>
          </a:lstStyle>
          <a:p>
            <a:pPr lvl="0"/>
            <a:r>
              <a:rPr lang="it-IT"/>
              <a:t>Modifica gli stili del testo dello schema</a:t>
            </a:r>
          </a:p>
        </p:txBody>
      </p:sp>
      <p:sp>
        <p:nvSpPr>
          <p:cNvPr id="5" name="Rectangle 4">
            <a:extLst>
              <a:ext uri="{FF2B5EF4-FFF2-40B4-BE49-F238E27FC236}">
                <a16:creationId xmlns:a16="http://schemas.microsoft.com/office/drawing/2014/main" id="{87EB483F-CAA4-C90C-657B-F29EFE4C5ACF}"/>
              </a:ext>
            </a:extLst>
          </p:cNvPr>
          <p:cNvSpPr>
            <a:spLocks noGrp="1" noChangeArrowheads="1"/>
          </p:cNvSpPr>
          <p:nvPr>
            <p:ph type="dt" sz="half" idx="10"/>
          </p:nvPr>
        </p:nvSpPr>
        <p:spPr>
          <a:ln/>
        </p:spPr>
        <p:txBody>
          <a:bodyPr/>
          <a:lstStyle>
            <a:lvl1pPr>
              <a:defRPr/>
            </a:lvl1pPr>
          </a:lstStyle>
          <a:p>
            <a:pPr>
              <a:defRPr/>
            </a:pPr>
            <a:fld id="{99CB80AD-A70C-4C44-A3CE-7B4C5599ABF6}" type="datetime1">
              <a:rPr lang="it-IT" altLang="it-CH"/>
              <a:pPr>
                <a:defRPr/>
              </a:pPr>
              <a:t>20/02/2026</a:t>
            </a:fld>
            <a:endParaRPr lang="it-IT" altLang="it-CH"/>
          </a:p>
        </p:txBody>
      </p:sp>
      <p:sp>
        <p:nvSpPr>
          <p:cNvPr id="6" name="Rectangle 5">
            <a:extLst>
              <a:ext uri="{FF2B5EF4-FFF2-40B4-BE49-F238E27FC236}">
                <a16:creationId xmlns:a16="http://schemas.microsoft.com/office/drawing/2014/main" id="{7C90631E-19FE-2DDD-FE57-5A6E660ED2B8}"/>
              </a:ext>
            </a:extLst>
          </p:cNvPr>
          <p:cNvSpPr>
            <a:spLocks noGrp="1" noChangeArrowheads="1"/>
          </p:cNvSpPr>
          <p:nvPr>
            <p:ph type="ftr" sz="quarter" idx="11"/>
          </p:nvPr>
        </p:nvSpPr>
        <p:spPr>
          <a:ln/>
        </p:spPr>
        <p:txBody>
          <a:bodyPr/>
          <a:lstStyle>
            <a:lvl1pPr>
              <a:defRPr/>
            </a:lvl1pPr>
          </a:lstStyle>
          <a:p>
            <a:pPr>
              <a:defRPr/>
            </a:pPr>
            <a:endParaRPr lang="it-IT"/>
          </a:p>
        </p:txBody>
      </p:sp>
      <p:sp>
        <p:nvSpPr>
          <p:cNvPr id="7" name="Rectangle 6">
            <a:extLst>
              <a:ext uri="{FF2B5EF4-FFF2-40B4-BE49-F238E27FC236}">
                <a16:creationId xmlns:a16="http://schemas.microsoft.com/office/drawing/2014/main" id="{DF4AC822-B13D-37E2-DE94-341758D9A629}"/>
              </a:ext>
            </a:extLst>
          </p:cNvPr>
          <p:cNvSpPr>
            <a:spLocks noGrp="1" noChangeArrowheads="1"/>
          </p:cNvSpPr>
          <p:nvPr>
            <p:ph type="sldNum" sz="quarter" idx="12"/>
          </p:nvPr>
        </p:nvSpPr>
        <p:spPr>
          <a:ln/>
        </p:spPr>
        <p:txBody>
          <a:bodyPr/>
          <a:lstStyle>
            <a:lvl1pPr>
              <a:defRPr/>
            </a:lvl1pPr>
          </a:lstStyle>
          <a:p>
            <a:pPr>
              <a:defRPr/>
            </a:pPr>
            <a:fld id="{16CE2777-A32C-4171-9C6B-302E6CE55B9B}" type="slidenum">
              <a:rPr lang="it-IT" altLang="it-CH"/>
              <a:pPr>
                <a:defRPr/>
              </a:pPr>
              <a:t>‹N›</a:t>
            </a:fld>
            <a:endParaRPr lang="it-IT" altLang="it-CH"/>
          </a:p>
        </p:txBody>
      </p:sp>
    </p:spTree>
    <p:extLst>
      <p:ext uri="{BB962C8B-B14F-4D97-AF65-F5344CB8AC3E}">
        <p14:creationId xmlns:p14="http://schemas.microsoft.com/office/powerpoint/2010/main" val="3177258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356447" y="5293995"/>
            <a:ext cx="9962864" cy="624986"/>
          </a:xfrm>
        </p:spPr>
        <p:txBody>
          <a:bodyPr/>
          <a:lstStyle>
            <a:lvl1pPr algn="l">
              <a:defRPr sz="2647" b="0"/>
            </a:lvl1pPr>
          </a:lstStyle>
          <a:p>
            <a:r>
              <a:rPr lang="it-IT"/>
              <a:t>Fare clic per modificare lo stile del titolo</a:t>
            </a:r>
            <a:endParaRPr lang="it-IT" dirty="0"/>
          </a:p>
        </p:txBody>
      </p:sp>
      <p:sp>
        <p:nvSpPr>
          <p:cNvPr id="3" name="Segnaposto immagine 2"/>
          <p:cNvSpPr>
            <a:spLocks noGrp="1"/>
          </p:cNvSpPr>
          <p:nvPr>
            <p:ph type="pic" idx="1"/>
          </p:nvPr>
        </p:nvSpPr>
        <p:spPr>
          <a:xfrm>
            <a:off x="2095981" y="675755"/>
            <a:ext cx="6416040" cy="4537710"/>
          </a:xfrm>
        </p:spPr>
        <p:txBody>
          <a:bodyPr/>
          <a:lstStyle>
            <a:lvl1pPr marL="0" indent="0">
              <a:buNone/>
              <a:defRPr sz="3529"/>
            </a:lvl1pPr>
            <a:lvl2pPr marL="504200" indent="0">
              <a:buNone/>
              <a:defRPr sz="3088"/>
            </a:lvl2pPr>
            <a:lvl3pPr marL="1008400" indent="0">
              <a:buNone/>
              <a:defRPr sz="2647"/>
            </a:lvl3pPr>
            <a:lvl4pPr marL="1512600" indent="0">
              <a:buNone/>
              <a:defRPr sz="2206"/>
            </a:lvl4pPr>
            <a:lvl5pPr marL="2016801" indent="0">
              <a:buNone/>
              <a:defRPr sz="2206"/>
            </a:lvl5pPr>
            <a:lvl6pPr marL="2521001" indent="0">
              <a:buNone/>
              <a:defRPr sz="2206"/>
            </a:lvl6pPr>
            <a:lvl7pPr marL="3025201" indent="0">
              <a:buNone/>
              <a:defRPr sz="2206"/>
            </a:lvl7pPr>
            <a:lvl8pPr marL="3529401" indent="0">
              <a:buNone/>
              <a:defRPr sz="2206"/>
            </a:lvl8pPr>
            <a:lvl9pPr marL="4033601" indent="0">
              <a:buNone/>
              <a:defRPr sz="2206"/>
            </a:lvl9pPr>
          </a:lstStyle>
          <a:p>
            <a:pPr lvl="0"/>
            <a:r>
              <a:rPr lang="it-IT" noProof="0"/>
              <a:t>Fare clic sull'icona per inserire un'immagine</a:t>
            </a:r>
          </a:p>
        </p:txBody>
      </p:sp>
      <p:sp>
        <p:nvSpPr>
          <p:cNvPr id="4" name="Segnaposto testo 3"/>
          <p:cNvSpPr>
            <a:spLocks noGrp="1"/>
          </p:cNvSpPr>
          <p:nvPr>
            <p:ph type="body" sz="half" idx="2"/>
          </p:nvPr>
        </p:nvSpPr>
        <p:spPr>
          <a:xfrm>
            <a:off x="356447" y="5918981"/>
            <a:ext cx="9962864" cy="887584"/>
          </a:xfrm>
        </p:spPr>
        <p:txBody>
          <a:bodyPr/>
          <a:lstStyle>
            <a:lvl1pPr marL="0" indent="0">
              <a:buNone/>
              <a:defRPr sz="1985"/>
            </a:lvl1pPr>
            <a:lvl2pPr marL="504200" indent="0">
              <a:buNone/>
              <a:defRPr sz="1323"/>
            </a:lvl2pPr>
            <a:lvl3pPr marL="1008400" indent="0">
              <a:buNone/>
              <a:defRPr sz="1103"/>
            </a:lvl3pPr>
            <a:lvl4pPr marL="1512600" indent="0">
              <a:buNone/>
              <a:defRPr sz="993"/>
            </a:lvl4pPr>
            <a:lvl5pPr marL="2016801" indent="0">
              <a:buNone/>
              <a:defRPr sz="993"/>
            </a:lvl5pPr>
            <a:lvl6pPr marL="2521001" indent="0">
              <a:buNone/>
              <a:defRPr sz="993"/>
            </a:lvl6pPr>
            <a:lvl7pPr marL="3025201" indent="0">
              <a:buNone/>
              <a:defRPr sz="993"/>
            </a:lvl7pPr>
            <a:lvl8pPr marL="3529401" indent="0">
              <a:buNone/>
              <a:defRPr sz="993"/>
            </a:lvl8pPr>
            <a:lvl9pPr marL="4033601" indent="0">
              <a:buNone/>
              <a:defRPr sz="993"/>
            </a:lvl9pPr>
          </a:lstStyle>
          <a:p>
            <a:pPr lvl="0"/>
            <a:r>
              <a:rPr lang="it-IT"/>
              <a:t>Modifica gli stili del testo dello schema</a:t>
            </a:r>
          </a:p>
        </p:txBody>
      </p:sp>
      <p:sp>
        <p:nvSpPr>
          <p:cNvPr id="5" name="Rectangle 4">
            <a:extLst>
              <a:ext uri="{FF2B5EF4-FFF2-40B4-BE49-F238E27FC236}">
                <a16:creationId xmlns:a16="http://schemas.microsoft.com/office/drawing/2014/main" id="{D7AD0298-BBE9-3FE6-0DFA-9CAE280BAAFC}"/>
              </a:ext>
            </a:extLst>
          </p:cNvPr>
          <p:cNvSpPr>
            <a:spLocks noGrp="1" noChangeArrowheads="1"/>
          </p:cNvSpPr>
          <p:nvPr>
            <p:ph type="dt" sz="half" idx="10"/>
          </p:nvPr>
        </p:nvSpPr>
        <p:spPr>
          <a:ln/>
        </p:spPr>
        <p:txBody>
          <a:bodyPr/>
          <a:lstStyle>
            <a:lvl1pPr>
              <a:defRPr/>
            </a:lvl1pPr>
          </a:lstStyle>
          <a:p>
            <a:pPr>
              <a:defRPr/>
            </a:pPr>
            <a:fld id="{D9F9A5C2-22E5-4D20-A462-054B5A844315}" type="datetime1">
              <a:rPr lang="it-IT" altLang="it-CH"/>
              <a:pPr>
                <a:defRPr/>
              </a:pPr>
              <a:t>20/02/2026</a:t>
            </a:fld>
            <a:endParaRPr lang="it-IT" altLang="it-CH"/>
          </a:p>
        </p:txBody>
      </p:sp>
      <p:sp>
        <p:nvSpPr>
          <p:cNvPr id="6" name="Rectangle 5">
            <a:extLst>
              <a:ext uri="{FF2B5EF4-FFF2-40B4-BE49-F238E27FC236}">
                <a16:creationId xmlns:a16="http://schemas.microsoft.com/office/drawing/2014/main" id="{CFB880EE-8B2C-1F08-CAE9-2CD14C8FF498}"/>
              </a:ext>
            </a:extLst>
          </p:cNvPr>
          <p:cNvSpPr>
            <a:spLocks noGrp="1" noChangeArrowheads="1"/>
          </p:cNvSpPr>
          <p:nvPr>
            <p:ph type="ftr" sz="quarter" idx="11"/>
          </p:nvPr>
        </p:nvSpPr>
        <p:spPr>
          <a:ln/>
        </p:spPr>
        <p:txBody>
          <a:bodyPr/>
          <a:lstStyle>
            <a:lvl1pPr>
              <a:defRPr/>
            </a:lvl1pPr>
          </a:lstStyle>
          <a:p>
            <a:pPr>
              <a:defRPr/>
            </a:pPr>
            <a:endParaRPr lang="it-IT"/>
          </a:p>
        </p:txBody>
      </p:sp>
      <p:sp>
        <p:nvSpPr>
          <p:cNvPr id="7" name="Rectangle 6">
            <a:extLst>
              <a:ext uri="{FF2B5EF4-FFF2-40B4-BE49-F238E27FC236}">
                <a16:creationId xmlns:a16="http://schemas.microsoft.com/office/drawing/2014/main" id="{8919E1E7-527D-7034-41CB-C4E5199D0CF2}"/>
              </a:ext>
            </a:extLst>
          </p:cNvPr>
          <p:cNvSpPr>
            <a:spLocks noGrp="1" noChangeArrowheads="1"/>
          </p:cNvSpPr>
          <p:nvPr>
            <p:ph type="sldNum" sz="quarter" idx="12"/>
          </p:nvPr>
        </p:nvSpPr>
        <p:spPr>
          <a:ln/>
        </p:spPr>
        <p:txBody>
          <a:bodyPr/>
          <a:lstStyle>
            <a:lvl1pPr>
              <a:defRPr/>
            </a:lvl1pPr>
          </a:lstStyle>
          <a:p>
            <a:pPr>
              <a:defRPr/>
            </a:pPr>
            <a:fld id="{1A8E897E-D03E-452D-84D9-002DFB25510C}" type="slidenum">
              <a:rPr lang="it-IT" altLang="it-CH"/>
              <a:pPr>
                <a:defRPr/>
              </a:pPr>
              <a:t>‹N›</a:t>
            </a:fld>
            <a:endParaRPr lang="it-IT" altLang="it-CH"/>
          </a:p>
        </p:txBody>
      </p:sp>
    </p:spTree>
    <p:extLst>
      <p:ext uri="{BB962C8B-B14F-4D97-AF65-F5344CB8AC3E}">
        <p14:creationId xmlns:p14="http://schemas.microsoft.com/office/powerpoint/2010/main" val="1979285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Vuota">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9103D17D-9AD8-096F-B64E-8D3FB9BC4A7F}"/>
              </a:ext>
            </a:extLst>
          </p:cNvPr>
          <p:cNvSpPr>
            <a:spLocks noGrp="1" noChangeArrowheads="1"/>
          </p:cNvSpPr>
          <p:nvPr>
            <p:ph type="dt" idx="10"/>
          </p:nvPr>
        </p:nvSpPr>
        <p:spPr/>
        <p:txBody>
          <a:bodyPr/>
          <a:lstStyle>
            <a:lvl1pPr>
              <a:defRPr/>
            </a:lvl1pPr>
          </a:lstStyle>
          <a:p>
            <a:pPr>
              <a:defRPr/>
            </a:pPr>
            <a:r>
              <a:rPr lang="it-IT"/>
              <a:t>03/06/14</a:t>
            </a:r>
          </a:p>
        </p:txBody>
      </p:sp>
      <p:sp>
        <p:nvSpPr>
          <p:cNvPr id="3" name="Rectangle 4">
            <a:extLst>
              <a:ext uri="{FF2B5EF4-FFF2-40B4-BE49-F238E27FC236}">
                <a16:creationId xmlns:a16="http://schemas.microsoft.com/office/drawing/2014/main" id="{3811AD1D-D6B9-B9C1-6EAE-AC7AD8833BBE}"/>
              </a:ext>
            </a:extLst>
          </p:cNvPr>
          <p:cNvSpPr>
            <a:spLocks noGrp="1" noChangeArrowheads="1"/>
          </p:cNvSpPr>
          <p:nvPr>
            <p:ph type="sldNum" idx="11"/>
          </p:nvPr>
        </p:nvSpPr>
        <p:spPr/>
        <p:txBody>
          <a:bodyPr/>
          <a:lstStyle>
            <a:lvl1pPr>
              <a:defRPr/>
            </a:lvl1pPr>
          </a:lstStyle>
          <a:p>
            <a:pPr>
              <a:defRPr/>
            </a:pPr>
            <a:fld id="{592AEBBB-158A-4347-BD02-5CAD5384E4E3}" type="slidenum">
              <a:rPr lang="it-IT" altLang="it-CH"/>
              <a:pPr>
                <a:defRPr/>
              </a:pPr>
              <a:t>‹N›</a:t>
            </a:fld>
            <a:endParaRPr lang="it-IT" altLang="it-CH"/>
          </a:p>
        </p:txBody>
      </p:sp>
    </p:spTree>
    <p:extLst>
      <p:ext uri="{BB962C8B-B14F-4D97-AF65-F5344CB8AC3E}">
        <p14:creationId xmlns:p14="http://schemas.microsoft.com/office/powerpoint/2010/main" val="1333810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image" Target="../media/image5.png"/><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9" cstate="print"/>
          <a:stretch>
            <a:fillRect/>
          </a:stretch>
        </p:blipFill>
        <p:spPr>
          <a:xfrm>
            <a:off x="684275" y="225552"/>
            <a:ext cx="527304" cy="156972"/>
          </a:xfrm>
          <a:prstGeom prst="rect">
            <a:avLst/>
          </a:prstGeom>
        </p:spPr>
      </p:pic>
      <p:sp>
        <p:nvSpPr>
          <p:cNvPr id="2" name="Holder 2"/>
          <p:cNvSpPr>
            <a:spLocks noGrp="1"/>
          </p:cNvSpPr>
          <p:nvPr>
            <p:ph type="title"/>
          </p:nvPr>
        </p:nvSpPr>
        <p:spPr>
          <a:xfrm>
            <a:off x="648643" y="724999"/>
            <a:ext cx="9396113" cy="1235710"/>
          </a:xfrm>
          <a:prstGeom prst="rect">
            <a:avLst/>
          </a:prstGeom>
        </p:spPr>
        <p:txBody>
          <a:bodyPr wrap="square" lIns="0" tIns="0" rIns="0" bIns="0">
            <a:spAutoFit/>
          </a:bodyPr>
          <a:lstStyle>
            <a:lvl1pPr>
              <a:defRPr sz="2650" b="0" i="0">
                <a:solidFill>
                  <a:srgbClr val="2838C8"/>
                </a:solidFill>
                <a:latin typeface="Times New Roman"/>
                <a:cs typeface="Times New Roman"/>
              </a:defRPr>
            </a:lvl1pPr>
          </a:lstStyle>
          <a:p>
            <a:endParaRPr/>
          </a:p>
        </p:txBody>
      </p:sp>
      <p:sp>
        <p:nvSpPr>
          <p:cNvPr id="3" name="Holder 3"/>
          <p:cNvSpPr>
            <a:spLocks noGrp="1"/>
          </p:cNvSpPr>
          <p:nvPr>
            <p:ph type="body" idx="1"/>
          </p:nvPr>
        </p:nvSpPr>
        <p:spPr>
          <a:xfrm>
            <a:off x="645400" y="2009652"/>
            <a:ext cx="9402599" cy="4146550"/>
          </a:xfrm>
          <a:prstGeom prst="rect">
            <a:avLst/>
          </a:prstGeom>
        </p:spPr>
        <p:txBody>
          <a:bodyPr wrap="square" lIns="0" tIns="0" rIns="0" bIns="0">
            <a:spAutoFit/>
          </a:bodyPr>
          <a:lstStyle>
            <a:lvl1pPr>
              <a:defRPr sz="195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2/20/2026</a:t>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6" r:id="rId6"/>
    <p:sldLayoutId id="2147483677"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572359E-4169-E166-E688-36E5B8746492}"/>
              </a:ext>
            </a:extLst>
          </p:cNvPr>
          <p:cNvSpPr>
            <a:spLocks noGrp="1" noChangeArrowheads="1"/>
          </p:cNvSpPr>
          <p:nvPr>
            <p:ph type="title"/>
          </p:nvPr>
        </p:nvSpPr>
        <p:spPr bwMode="auto">
          <a:xfrm>
            <a:off x="378725" y="1241219"/>
            <a:ext cx="9935951" cy="793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fr-CH" altLang="it-CH"/>
              <a:t>Fare clic per modificare stile</a:t>
            </a:r>
            <a:endParaRPr lang="it-IT" altLang="it-CH"/>
          </a:p>
        </p:txBody>
      </p:sp>
      <p:sp>
        <p:nvSpPr>
          <p:cNvPr id="2051" name="Rectangle 3">
            <a:extLst>
              <a:ext uri="{FF2B5EF4-FFF2-40B4-BE49-F238E27FC236}">
                <a16:creationId xmlns:a16="http://schemas.microsoft.com/office/drawing/2014/main" id="{19059D56-7527-1022-0B06-CE7DCFA480DB}"/>
              </a:ext>
            </a:extLst>
          </p:cNvPr>
          <p:cNvSpPr>
            <a:spLocks noGrp="1" noChangeArrowheads="1"/>
          </p:cNvSpPr>
          <p:nvPr>
            <p:ph type="body" idx="1"/>
          </p:nvPr>
        </p:nvSpPr>
        <p:spPr bwMode="auto">
          <a:xfrm>
            <a:off x="378725" y="2113047"/>
            <a:ext cx="9935951" cy="4765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fr-CH" altLang="it-CH"/>
              <a:t>Fare clic per modificare gli stili del testo dello schema</a:t>
            </a:r>
          </a:p>
          <a:p>
            <a:pPr lvl="1"/>
            <a:r>
              <a:rPr lang="fr-CH" altLang="it-CH"/>
              <a:t>Secondo livello</a:t>
            </a:r>
          </a:p>
          <a:p>
            <a:pPr lvl="2"/>
            <a:r>
              <a:rPr lang="fr-CH" altLang="it-CH"/>
              <a:t>Terzo livello</a:t>
            </a:r>
          </a:p>
          <a:p>
            <a:pPr lvl="3"/>
            <a:r>
              <a:rPr lang="fr-CH" altLang="it-CH"/>
              <a:t>Quarto livello</a:t>
            </a:r>
          </a:p>
          <a:p>
            <a:pPr lvl="4"/>
            <a:r>
              <a:rPr lang="fr-CH" altLang="it-CH"/>
              <a:t>Quinto livello</a:t>
            </a:r>
            <a:endParaRPr lang="it-IT" altLang="it-CH"/>
          </a:p>
        </p:txBody>
      </p:sp>
      <p:sp>
        <p:nvSpPr>
          <p:cNvPr id="4100" name="Rectangle 4">
            <a:extLst>
              <a:ext uri="{FF2B5EF4-FFF2-40B4-BE49-F238E27FC236}">
                <a16:creationId xmlns:a16="http://schemas.microsoft.com/office/drawing/2014/main" id="{12A5F6EB-ACB1-3C1D-8C41-4DB36ACE8AB7}"/>
              </a:ext>
            </a:extLst>
          </p:cNvPr>
          <p:cNvSpPr>
            <a:spLocks noGrp="1" noChangeArrowheads="1"/>
          </p:cNvSpPr>
          <p:nvPr>
            <p:ph type="dt" sz="half" idx="2"/>
          </p:nvPr>
        </p:nvSpPr>
        <p:spPr bwMode="auto">
          <a:xfrm>
            <a:off x="378724" y="7116432"/>
            <a:ext cx="2495127" cy="44641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1" hangingPunct="1">
              <a:defRPr sz="1103"/>
            </a:lvl1pPr>
          </a:lstStyle>
          <a:p>
            <a:pPr>
              <a:defRPr/>
            </a:pPr>
            <a:fld id="{765BB6E1-6839-4E82-8964-C6C87846DAB6}" type="datetime1">
              <a:rPr lang="it-IT" altLang="it-CH"/>
              <a:pPr>
                <a:defRPr/>
              </a:pPr>
              <a:t>20/02/2026</a:t>
            </a:fld>
            <a:endParaRPr lang="it-IT" altLang="it-CH"/>
          </a:p>
        </p:txBody>
      </p:sp>
      <p:sp>
        <p:nvSpPr>
          <p:cNvPr id="4101" name="Rectangle 5">
            <a:extLst>
              <a:ext uri="{FF2B5EF4-FFF2-40B4-BE49-F238E27FC236}">
                <a16:creationId xmlns:a16="http://schemas.microsoft.com/office/drawing/2014/main" id="{572DF124-6E81-9C0C-F29B-B40FC57A3A63}"/>
              </a:ext>
            </a:extLst>
          </p:cNvPr>
          <p:cNvSpPr>
            <a:spLocks noGrp="1" noChangeArrowheads="1"/>
          </p:cNvSpPr>
          <p:nvPr>
            <p:ph type="ftr" sz="quarter" idx="3"/>
          </p:nvPr>
        </p:nvSpPr>
        <p:spPr bwMode="auto">
          <a:xfrm>
            <a:off x="2905412" y="7116432"/>
            <a:ext cx="7409263" cy="44641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1" hangingPunct="1">
              <a:defRPr sz="1103">
                <a:latin typeface="Arial" charset="0"/>
                <a:ea typeface="+mn-ea"/>
                <a:cs typeface="+mn-cs"/>
              </a:defRPr>
            </a:lvl1pPr>
          </a:lstStyle>
          <a:p>
            <a:pPr>
              <a:defRPr/>
            </a:pPr>
            <a:endParaRPr lang="it-IT"/>
          </a:p>
        </p:txBody>
      </p:sp>
      <p:sp>
        <p:nvSpPr>
          <p:cNvPr id="4102" name="Rectangle 6">
            <a:extLst>
              <a:ext uri="{FF2B5EF4-FFF2-40B4-BE49-F238E27FC236}">
                <a16:creationId xmlns:a16="http://schemas.microsoft.com/office/drawing/2014/main" id="{84C079ED-23CE-C7AC-9E40-87A19B9BAEBC}"/>
              </a:ext>
            </a:extLst>
          </p:cNvPr>
          <p:cNvSpPr>
            <a:spLocks noGrp="1" noChangeArrowheads="1"/>
          </p:cNvSpPr>
          <p:nvPr>
            <p:ph type="sldNum" sz="quarter" idx="4"/>
          </p:nvPr>
        </p:nvSpPr>
        <p:spPr bwMode="auto">
          <a:xfrm>
            <a:off x="9356725" y="208329"/>
            <a:ext cx="957950" cy="525198"/>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r" eaLnBrk="1" hangingPunct="1">
              <a:defRPr sz="1323"/>
            </a:lvl1pPr>
          </a:lstStyle>
          <a:p>
            <a:pPr>
              <a:defRPr/>
            </a:pPr>
            <a:fld id="{B3C73D34-8BD9-4BE8-9103-7A805CBFB073}" type="slidenum">
              <a:rPr lang="it-IT" altLang="it-CH"/>
              <a:pPr>
                <a:defRPr/>
              </a:pPr>
              <a:t>‹N›</a:t>
            </a:fld>
            <a:endParaRPr lang="it-IT" altLang="it-CH"/>
          </a:p>
        </p:txBody>
      </p:sp>
      <p:sp>
        <p:nvSpPr>
          <p:cNvPr id="1031" name="Rectangle 3">
            <a:extLst>
              <a:ext uri="{FF2B5EF4-FFF2-40B4-BE49-F238E27FC236}">
                <a16:creationId xmlns:a16="http://schemas.microsoft.com/office/drawing/2014/main" id="{00F2A5FD-021B-72A1-FC75-2FB600425704}"/>
              </a:ext>
            </a:extLst>
          </p:cNvPr>
          <p:cNvSpPr>
            <a:spLocks noGrp="1" noChangeArrowheads="1"/>
          </p:cNvSpPr>
          <p:nvPr/>
        </p:nvSpPr>
        <p:spPr bwMode="auto">
          <a:xfrm>
            <a:off x="1306971" y="204828"/>
            <a:ext cx="7960642" cy="525198"/>
          </a:xfrm>
          <a:prstGeom prst="rect">
            <a:avLst/>
          </a:prstGeom>
          <a:noFill/>
          <a:ln>
            <a:noFill/>
          </a:ln>
        </p:spPr>
        <p:txBody>
          <a:bodyPr lIns="0" tIns="0" rIns="0" bIns="0"/>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it-IT" altLang="it-CH" sz="1323"/>
              <a:t>DEASS / Titolo principale della presentazione</a:t>
            </a:r>
          </a:p>
          <a:p>
            <a:pPr>
              <a:defRPr/>
            </a:pPr>
            <a:endParaRPr lang="it-IT" altLang="it-CH" sz="1323"/>
          </a:p>
          <a:p>
            <a:pPr>
              <a:defRPr/>
            </a:pPr>
            <a:endParaRPr lang="it-IT" altLang="it-CH" sz="1323"/>
          </a:p>
        </p:txBody>
      </p:sp>
      <p:pic>
        <p:nvPicPr>
          <p:cNvPr id="2056" name="Immagine 6" descr="logo_SUPSI_acr.gif">
            <a:extLst>
              <a:ext uri="{FF2B5EF4-FFF2-40B4-BE49-F238E27FC236}">
                <a16:creationId xmlns:a16="http://schemas.microsoft.com/office/drawing/2014/main" id="{92E96CFE-6D90-B8A7-C03D-791EC02833B3}"/>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404715" y="231088"/>
            <a:ext cx="549522" cy="145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597427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Lst>
  <p:hf hdr="0" ftr="0"/>
  <p:txStyles>
    <p:titleStyle>
      <a:lvl1pPr algn="l" rtl="0" eaLnBrk="0" fontAlgn="base" hangingPunct="0">
        <a:spcBef>
          <a:spcPct val="0"/>
        </a:spcBef>
        <a:spcAft>
          <a:spcPct val="0"/>
        </a:spcAft>
        <a:defRPr sz="2647">
          <a:solidFill>
            <a:schemeClr val="accent2"/>
          </a:solidFill>
          <a:latin typeface="+mj-lt"/>
          <a:ea typeface="MS PGothic" panose="020B0600070205080204" pitchFamily="34" charset="-128"/>
          <a:cs typeface="MS PGothic" charset="0"/>
        </a:defRPr>
      </a:lvl1pPr>
      <a:lvl2pPr algn="l" rtl="0" eaLnBrk="0" fontAlgn="base" hangingPunct="0">
        <a:spcBef>
          <a:spcPct val="0"/>
        </a:spcBef>
        <a:spcAft>
          <a:spcPct val="0"/>
        </a:spcAft>
        <a:defRPr sz="2647">
          <a:solidFill>
            <a:schemeClr val="accent2"/>
          </a:solidFill>
          <a:latin typeface="Times New Roman" pitchFamily="-112" charset="-52"/>
          <a:ea typeface="MS PGothic" panose="020B0600070205080204" pitchFamily="34" charset="-128"/>
          <a:cs typeface="MS PGothic" charset="0"/>
        </a:defRPr>
      </a:lvl2pPr>
      <a:lvl3pPr algn="l" rtl="0" eaLnBrk="0" fontAlgn="base" hangingPunct="0">
        <a:spcBef>
          <a:spcPct val="0"/>
        </a:spcBef>
        <a:spcAft>
          <a:spcPct val="0"/>
        </a:spcAft>
        <a:defRPr sz="2647">
          <a:solidFill>
            <a:schemeClr val="accent2"/>
          </a:solidFill>
          <a:latin typeface="Times New Roman" pitchFamily="-112" charset="-52"/>
          <a:ea typeface="MS PGothic" panose="020B0600070205080204" pitchFamily="34" charset="-128"/>
          <a:cs typeface="MS PGothic" charset="0"/>
        </a:defRPr>
      </a:lvl3pPr>
      <a:lvl4pPr algn="l" rtl="0" eaLnBrk="0" fontAlgn="base" hangingPunct="0">
        <a:spcBef>
          <a:spcPct val="0"/>
        </a:spcBef>
        <a:spcAft>
          <a:spcPct val="0"/>
        </a:spcAft>
        <a:defRPr sz="2647">
          <a:solidFill>
            <a:schemeClr val="accent2"/>
          </a:solidFill>
          <a:latin typeface="Times New Roman" pitchFamily="-112" charset="-52"/>
          <a:ea typeface="MS PGothic" panose="020B0600070205080204" pitchFamily="34" charset="-128"/>
          <a:cs typeface="MS PGothic" charset="0"/>
        </a:defRPr>
      </a:lvl4pPr>
      <a:lvl5pPr algn="l" rtl="0" eaLnBrk="0" fontAlgn="base" hangingPunct="0">
        <a:spcBef>
          <a:spcPct val="0"/>
        </a:spcBef>
        <a:spcAft>
          <a:spcPct val="0"/>
        </a:spcAft>
        <a:defRPr sz="2647">
          <a:solidFill>
            <a:schemeClr val="accent2"/>
          </a:solidFill>
          <a:latin typeface="Times New Roman" pitchFamily="-112" charset="-52"/>
          <a:ea typeface="MS PGothic" panose="020B0600070205080204" pitchFamily="34" charset="-128"/>
          <a:cs typeface="MS PGothic" charset="0"/>
        </a:defRPr>
      </a:lvl5pPr>
      <a:lvl6pPr marL="504200" algn="l" rtl="0" eaLnBrk="1" fontAlgn="base" hangingPunct="1">
        <a:spcBef>
          <a:spcPct val="0"/>
        </a:spcBef>
        <a:spcAft>
          <a:spcPct val="0"/>
        </a:spcAft>
        <a:defRPr sz="3088">
          <a:solidFill>
            <a:schemeClr val="accent2"/>
          </a:solidFill>
          <a:latin typeface="Times New Roman" pitchFamily="-112" charset="-52"/>
        </a:defRPr>
      </a:lvl6pPr>
      <a:lvl7pPr marL="1008400" algn="l" rtl="0" eaLnBrk="1" fontAlgn="base" hangingPunct="1">
        <a:spcBef>
          <a:spcPct val="0"/>
        </a:spcBef>
        <a:spcAft>
          <a:spcPct val="0"/>
        </a:spcAft>
        <a:defRPr sz="3088">
          <a:solidFill>
            <a:schemeClr val="accent2"/>
          </a:solidFill>
          <a:latin typeface="Times New Roman" pitchFamily="-112" charset="-52"/>
        </a:defRPr>
      </a:lvl7pPr>
      <a:lvl8pPr marL="1512600" algn="l" rtl="0" eaLnBrk="1" fontAlgn="base" hangingPunct="1">
        <a:spcBef>
          <a:spcPct val="0"/>
        </a:spcBef>
        <a:spcAft>
          <a:spcPct val="0"/>
        </a:spcAft>
        <a:defRPr sz="3088">
          <a:solidFill>
            <a:schemeClr val="accent2"/>
          </a:solidFill>
          <a:latin typeface="Times New Roman" pitchFamily="-112" charset="-52"/>
        </a:defRPr>
      </a:lvl8pPr>
      <a:lvl9pPr marL="2016801" algn="l" rtl="0" eaLnBrk="1" fontAlgn="base" hangingPunct="1">
        <a:spcBef>
          <a:spcPct val="0"/>
        </a:spcBef>
        <a:spcAft>
          <a:spcPct val="0"/>
        </a:spcAft>
        <a:defRPr sz="3088">
          <a:solidFill>
            <a:schemeClr val="accent2"/>
          </a:solidFill>
          <a:latin typeface="Times New Roman" pitchFamily="-112" charset="-52"/>
        </a:defRPr>
      </a:lvl9pPr>
    </p:titleStyle>
    <p:bodyStyle>
      <a:lvl1pPr marL="378150" indent="-378150" algn="l" rtl="0" eaLnBrk="0" fontAlgn="base" hangingPunct="0">
        <a:spcBef>
          <a:spcPct val="20000"/>
        </a:spcBef>
        <a:spcAft>
          <a:spcPct val="0"/>
        </a:spcAft>
        <a:buChar char="•"/>
        <a:defRPr>
          <a:solidFill>
            <a:schemeClr val="tx1"/>
          </a:solidFill>
          <a:latin typeface="+mn-lt"/>
          <a:ea typeface="MS PGothic" panose="020B0600070205080204" pitchFamily="34" charset="-128"/>
          <a:cs typeface="MS PGothic" charset="0"/>
        </a:defRPr>
      </a:lvl1pPr>
      <a:lvl2pPr marL="819325" indent="-315125" algn="l" rtl="0" eaLnBrk="0" fontAlgn="base" hangingPunct="0">
        <a:spcBef>
          <a:spcPct val="20000"/>
        </a:spcBef>
        <a:spcAft>
          <a:spcPct val="0"/>
        </a:spcAft>
        <a:buChar char="–"/>
        <a:defRPr>
          <a:solidFill>
            <a:schemeClr val="tx1"/>
          </a:solidFill>
          <a:latin typeface="+mn-lt"/>
          <a:ea typeface="MS PGothic" panose="020B0600070205080204" pitchFamily="34" charset="-128"/>
          <a:cs typeface="MS PGothic" charset="0"/>
        </a:defRPr>
      </a:lvl2pPr>
      <a:lvl3pPr marL="1260500" indent="-252100" algn="l" rtl="0" eaLnBrk="0" fontAlgn="base" hangingPunct="0">
        <a:spcBef>
          <a:spcPct val="20000"/>
        </a:spcBef>
        <a:spcAft>
          <a:spcPct val="0"/>
        </a:spcAft>
        <a:buChar char="•"/>
        <a:defRPr>
          <a:solidFill>
            <a:schemeClr val="tx1"/>
          </a:solidFill>
          <a:latin typeface="+mn-lt"/>
          <a:ea typeface="MS PGothic" panose="020B0600070205080204" pitchFamily="34" charset="-128"/>
          <a:cs typeface="MS PGothic" charset="0"/>
        </a:defRPr>
      </a:lvl3pPr>
      <a:lvl4pPr marL="1764701" indent="-252100" algn="l" rtl="0" eaLnBrk="0" fontAlgn="base" hangingPunct="0">
        <a:spcBef>
          <a:spcPct val="20000"/>
        </a:spcBef>
        <a:spcAft>
          <a:spcPct val="0"/>
        </a:spcAft>
        <a:buChar char="–"/>
        <a:defRPr>
          <a:solidFill>
            <a:schemeClr val="tx1"/>
          </a:solidFill>
          <a:latin typeface="+mn-lt"/>
          <a:ea typeface="MS PGothic" panose="020B0600070205080204" pitchFamily="34" charset="-128"/>
          <a:cs typeface="MS PGothic" charset="0"/>
        </a:defRPr>
      </a:lvl4pPr>
      <a:lvl5pPr marL="2268901" indent="-252100" algn="l" rtl="0" eaLnBrk="0" fontAlgn="base" hangingPunct="0">
        <a:spcBef>
          <a:spcPct val="20000"/>
        </a:spcBef>
        <a:spcAft>
          <a:spcPct val="0"/>
        </a:spcAft>
        <a:buChar char="»"/>
        <a:defRPr>
          <a:solidFill>
            <a:schemeClr val="tx1"/>
          </a:solidFill>
          <a:latin typeface="+mn-lt"/>
          <a:ea typeface="MS PGothic" panose="020B0600070205080204" pitchFamily="34" charset="-128"/>
          <a:cs typeface="MS PGothic" charset="0"/>
        </a:defRPr>
      </a:lvl5pPr>
      <a:lvl6pPr marL="2773101" indent="-252100" algn="l" rtl="0" eaLnBrk="1" fontAlgn="base" hangingPunct="1">
        <a:spcBef>
          <a:spcPct val="20000"/>
        </a:spcBef>
        <a:spcAft>
          <a:spcPct val="0"/>
        </a:spcAft>
        <a:buChar char="»"/>
        <a:defRPr sz="1323">
          <a:solidFill>
            <a:schemeClr val="tx1"/>
          </a:solidFill>
          <a:latin typeface="+mn-lt"/>
          <a:ea typeface="ＭＳ Ｐゴシック" pitchFamily="-112" charset="-128"/>
        </a:defRPr>
      </a:lvl6pPr>
      <a:lvl7pPr marL="3277301" indent="-252100" algn="l" rtl="0" eaLnBrk="1" fontAlgn="base" hangingPunct="1">
        <a:spcBef>
          <a:spcPct val="20000"/>
        </a:spcBef>
        <a:spcAft>
          <a:spcPct val="0"/>
        </a:spcAft>
        <a:buChar char="»"/>
        <a:defRPr sz="1323">
          <a:solidFill>
            <a:schemeClr val="tx1"/>
          </a:solidFill>
          <a:latin typeface="+mn-lt"/>
          <a:ea typeface="ＭＳ Ｐゴシック" pitchFamily="-112" charset="-128"/>
        </a:defRPr>
      </a:lvl7pPr>
      <a:lvl8pPr marL="3781501" indent="-252100" algn="l" rtl="0" eaLnBrk="1" fontAlgn="base" hangingPunct="1">
        <a:spcBef>
          <a:spcPct val="20000"/>
        </a:spcBef>
        <a:spcAft>
          <a:spcPct val="0"/>
        </a:spcAft>
        <a:buChar char="»"/>
        <a:defRPr sz="1323">
          <a:solidFill>
            <a:schemeClr val="tx1"/>
          </a:solidFill>
          <a:latin typeface="+mn-lt"/>
          <a:ea typeface="ＭＳ Ｐゴシック" pitchFamily="-112" charset="-128"/>
        </a:defRPr>
      </a:lvl8pPr>
      <a:lvl9pPr marL="4285701" indent="-252100" algn="l" rtl="0" eaLnBrk="1" fontAlgn="base" hangingPunct="1">
        <a:spcBef>
          <a:spcPct val="20000"/>
        </a:spcBef>
        <a:spcAft>
          <a:spcPct val="0"/>
        </a:spcAft>
        <a:buChar char="»"/>
        <a:defRPr sz="1323">
          <a:solidFill>
            <a:schemeClr val="tx1"/>
          </a:solidFill>
          <a:latin typeface="+mn-lt"/>
          <a:ea typeface="ＭＳ Ｐゴシック" pitchFamily="-112" charset="-128"/>
        </a:defRPr>
      </a:lvl9pPr>
    </p:bodyStyle>
    <p:otherStyle>
      <a:defPPr>
        <a:defRPr lang="it-IT"/>
      </a:defPPr>
      <a:lvl1pPr marL="0" algn="l" defTabSz="504200" rtl="0" eaLnBrk="1" latinLnBrk="0" hangingPunct="1">
        <a:defRPr sz="1985" kern="1200">
          <a:solidFill>
            <a:schemeClr val="tx1"/>
          </a:solidFill>
          <a:latin typeface="+mn-lt"/>
          <a:ea typeface="+mn-ea"/>
          <a:cs typeface="+mn-cs"/>
        </a:defRPr>
      </a:lvl1pPr>
      <a:lvl2pPr marL="504200" algn="l" defTabSz="504200" rtl="0" eaLnBrk="1" latinLnBrk="0" hangingPunct="1">
        <a:defRPr sz="1985" kern="1200">
          <a:solidFill>
            <a:schemeClr val="tx1"/>
          </a:solidFill>
          <a:latin typeface="+mn-lt"/>
          <a:ea typeface="+mn-ea"/>
          <a:cs typeface="+mn-cs"/>
        </a:defRPr>
      </a:lvl2pPr>
      <a:lvl3pPr marL="1008400" algn="l" defTabSz="504200" rtl="0" eaLnBrk="1" latinLnBrk="0" hangingPunct="1">
        <a:defRPr sz="1985" kern="1200">
          <a:solidFill>
            <a:schemeClr val="tx1"/>
          </a:solidFill>
          <a:latin typeface="+mn-lt"/>
          <a:ea typeface="+mn-ea"/>
          <a:cs typeface="+mn-cs"/>
        </a:defRPr>
      </a:lvl3pPr>
      <a:lvl4pPr marL="1512600" algn="l" defTabSz="504200" rtl="0" eaLnBrk="1" latinLnBrk="0" hangingPunct="1">
        <a:defRPr sz="1985" kern="1200">
          <a:solidFill>
            <a:schemeClr val="tx1"/>
          </a:solidFill>
          <a:latin typeface="+mn-lt"/>
          <a:ea typeface="+mn-ea"/>
          <a:cs typeface="+mn-cs"/>
        </a:defRPr>
      </a:lvl4pPr>
      <a:lvl5pPr marL="2016801" algn="l" defTabSz="504200" rtl="0" eaLnBrk="1" latinLnBrk="0" hangingPunct="1">
        <a:defRPr sz="1985" kern="1200">
          <a:solidFill>
            <a:schemeClr val="tx1"/>
          </a:solidFill>
          <a:latin typeface="+mn-lt"/>
          <a:ea typeface="+mn-ea"/>
          <a:cs typeface="+mn-cs"/>
        </a:defRPr>
      </a:lvl5pPr>
      <a:lvl6pPr marL="2521001" algn="l" defTabSz="504200" rtl="0" eaLnBrk="1" latinLnBrk="0" hangingPunct="1">
        <a:defRPr sz="1985" kern="1200">
          <a:solidFill>
            <a:schemeClr val="tx1"/>
          </a:solidFill>
          <a:latin typeface="+mn-lt"/>
          <a:ea typeface="+mn-ea"/>
          <a:cs typeface="+mn-cs"/>
        </a:defRPr>
      </a:lvl6pPr>
      <a:lvl7pPr marL="3025201" algn="l" defTabSz="504200" rtl="0" eaLnBrk="1" latinLnBrk="0" hangingPunct="1">
        <a:defRPr sz="1985" kern="1200">
          <a:solidFill>
            <a:schemeClr val="tx1"/>
          </a:solidFill>
          <a:latin typeface="+mn-lt"/>
          <a:ea typeface="+mn-ea"/>
          <a:cs typeface="+mn-cs"/>
        </a:defRPr>
      </a:lvl7pPr>
      <a:lvl8pPr marL="3529401" algn="l" defTabSz="504200" rtl="0" eaLnBrk="1" latinLnBrk="0" hangingPunct="1">
        <a:defRPr sz="1985" kern="1200">
          <a:solidFill>
            <a:schemeClr val="tx1"/>
          </a:solidFill>
          <a:latin typeface="+mn-lt"/>
          <a:ea typeface="+mn-ea"/>
          <a:cs typeface="+mn-cs"/>
        </a:defRPr>
      </a:lvl8pPr>
      <a:lvl9pPr marL="4033601" algn="l" defTabSz="504200" rtl="0" eaLnBrk="1" latinLnBrk="0" hangingPunct="1">
        <a:defRPr sz="19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648693" y="2239645"/>
            <a:ext cx="7776209" cy="2251257"/>
          </a:xfrm>
          <a:prstGeom prst="rect">
            <a:avLst/>
          </a:prstGeom>
        </p:spPr>
        <p:txBody>
          <a:bodyPr vert="horz" wrap="square" lIns="0" tIns="12065" rIns="0" bIns="0" rtlCol="0">
            <a:spAutoFit/>
          </a:bodyPr>
          <a:lstStyle/>
          <a:p>
            <a:pPr marL="12700" marR="5080">
              <a:lnSpc>
                <a:spcPct val="100000"/>
              </a:lnSpc>
              <a:spcBef>
                <a:spcPts val="95"/>
              </a:spcBef>
            </a:pPr>
            <a:r>
              <a:rPr lang="it-CH" sz="4850" dirty="0"/>
              <a:t>Il lavoro e le sue trasformazioni: una prospettiva storica 2</a:t>
            </a:r>
            <a:endParaRPr sz="4850" dirty="0"/>
          </a:p>
        </p:txBody>
      </p:sp>
      <p:sp>
        <p:nvSpPr>
          <p:cNvPr id="3" name="object 3"/>
          <p:cNvSpPr txBox="1"/>
          <p:nvPr/>
        </p:nvSpPr>
        <p:spPr>
          <a:xfrm>
            <a:off x="648737" y="5661156"/>
            <a:ext cx="3117850" cy="429895"/>
          </a:xfrm>
          <a:prstGeom prst="rect">
            <a:avLst/>
          </a:prstGeom>
        </p:spPr>
        <p:txBody>
          <a:bodyPr vert="horz" wrap="square" lIns="0" tIns="12700" rIns="0" bIns="0" rtlCol="0">
            <a:spAutoFit/>
          </a:bodyPr>
          <a:lstStyle/>
          <a:p>
            <a:pPr marL="12700">
              <a:lnSpc>
                <a:spcPct val="100000"/>
              </a:lnSpc>
              <a:spcBef>
                <a:spcPts val="100"/>
              </a:spcBef>
            </a:pPr>
            <a:r>
              <a:rPr sz="2650" dirty="0">
                <a:solidFill>
                  <a:srgbClr val="3333CC"/>
                </a:solidFill>
                <a:latin typeface="Times New Roman"/>
                <a:cs typeface="Times New Roman"/>
              </a:rPr>
              <a:t>Mondi</a:t>
            </a:r>
            <a:r>
              <a:rPr sz="2650" spc="-55" dirty="0">
                <a:solidFill>
                  <a:srgbClr val="3333CC"/>
                </a:solidFill>
                <a:latin typeface="Times New Roman"/>
                <a:cs typeface="Times New Roman"/>
              </a:rPr>
              <a:t> </a:t>
            </a:r>
            <a:r>
              <a:rPr sz="2650" dirty="0">
                <a:solidFill>
                  <a:srgbClr val="3333CC"/>
                </a:solidFill>
                <a:latin typeface="Times New Roman"/>
                <a:cs typeface="Times New Roman"/>
              </a:rPr>
              <a:t>del</a:t>
            </a:r>
            <a:r>
              <a:rPr sz="2650" spc="-30" dirty="0">
                <a:solidFill>
                  <a:srgbClr val="3333CC"/>
                </a:solidFill>
                <a:latin typeface="Times New Roman"/>
                <a:cs typeface="Times New Roman"/>
              </a:rPr>
              <a:t> </a:t>
            </a:r>
            <a:r>
              <a:rPr sz="2650" dirty="0" err="1">
                <a:solidFill>
                  <a:srgbClr val="3333CC"/>
                </a:solidFill>
                <a:latin typeface="Times New Roman"/>
                <a:cs typeface="Times New Roman"/>
              </a:rPr>
              <a:t>lavoro</a:t>
            </a:r>
            <a:r>
              <a:rPr sz="2650" spc="-35" dirty="0">
                <a:solidFill>
                  <a:srgbClr val="3333CC"/>
                </a:solidFill>
                <a:latin typeface="Times New Roman"/>
                <a:cs typeface="Times New Roman"/>
              </a:rPr>
              <a:t> </a:t>
            </a:r>
            <a:r>
              <a:rPr lang="it-CH" sz="2650" spc="-20">
                <a:solidFill>
                  <a:srgbClr val="3333CC"/>
                </a:solidFill>
                <a:latin typeface="Times New Roman"/>
                <a:cs typeface="Times New Roman"/>
              </a:rPr>
              <a:t>2026</a:t>
            </a:r>
            <a:endParaRPr sz="2650" dirty="0">
              <a:latin typeface="Times New Roman"/>
              <a:cs typeface="Times New Roman"/>
            </a:endParaRPr>
          </a:p>
        </p:txBody>
      </p:sp>
      <p:sp>
        <p:nvSpPr>
          <p:cNvPr id="4" name="object 4"/>
          <p:cNvSpPr txBox="1"/>
          <p:nvPr/>
        </p:nvSpPr>
        <p:spPr>
          <a:xfrm>
            <a:off x="9916124" y="191529"/>
            <a:ext cx="118745" cy="226695"/>
          </a:xfrm>
          <a:prstGeom prst="rect">
            <a:avLst/>
          </a:prstGeom>
        </p:spPr>
        <p:txBody>
          <a:bodyPr vert="horz" wrap="square" lIns="0" tIns="15240" rIns="0" bIns="0" rtlCol="0">
            <a:spAutoFit/>
          </a:bodyPr>
          <a:lstStyle/>
          <a:p>
            <a:pPr marL="12700">
              <a:lnSpc>
                <a:spcPct val="100000"/>
              </a:lnSpc>
              <a:spcBef>
                <a:spcPts val="120"/>
              </a:spcBef>
            </a:pPr>
            <a:r>
              <a:rPr sz="1300" spc="-50" dirty="0">
                <a:latin typeface="Arial MT"/>
                <a:cs typeface="Arial MT"/>
              </a:rPr>
              <a:t>1</a:t>
            </a:r>
            <a:endParaRPr sz="130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7862" y="816249"/>
            <a:ext cx="5946140" cy="563245"/>
          </a:xfrm>
          <a:prstGeom prst="rect">
            <a:avLst/>
          </a:prstGeom>
        </p:spPr>
        <p:txBody>
          <a:bodyPr vert="horz" wrap="square" lIns="0" tIns="15875" rIns="0" bIns="0" rtlCol="0">
            <a:spAutoFit/>
          </a:bodyPr>
          <a:lstStyle/>
          <a:p>
            <a:pPr marL="12700">
              <a:lnSpc>
                <a:spcPct val="100000"/>
              </a:lnSpc>
              <a:spcBef>
                <a:spcPts val="125"/>
              </a:spcBef>
            </a:pPr>
            <a:r>
              <a:rPr sz="3500" dirty="0"/>
              <a:t>Lavoro</a:t>
            </a:r>
            <a:r>
              <a:rPr sz="3500" spc="35" dirty="0"/>
              <a:t> </a:t>
            </a:r>
            <a:r>
              <a:rPr sz="3500" dirty="0"/>
              <a:t>(“lavoro</a:t>
            </a:r>
            <a:r>
              <a:rPr sz="3500" spc="35" dirty="0"/>
              <a:t> </a:t>
            </a:r>
            <a:r>
              <a:rPr sz="3500" spc="-10" dirty="0"/>
              <a:t>occupazionale”)</a:t>
            </a:r>
            <a:endParaRPr sz="3500"/>
          </a:p>
        </p:txBody>
      </p:sp>
      <p:sp>
        <p:nvSpPr>
          <p:cNvPr id="3" name="object 3"/>
          <p:cNvSpPr txBox="1"/>
          <p:nvPr/>
        </p:nvSpPr>
        <p:spPr>
          <a:xfrm>
            <a:off x="727924" y="1936473"/>
            <a:ext cx="9571776" cy="3830023"/>
          </a:xfrm>
          <a:prstGeom prst="rect">
            <a:avLst/>
          </a:prstGeom>
        </p:spPr>
        <p:txBody>
          <a:bodyPr vert="horz" wrap="square" lIns="0" tIns="16510" rIns="0" bIns="0" rtlCol="0">
            <a:spAutoFit/>
          </a:bodyPr>
          <a:lstStyle/>
          <a:p>
            <a:pPr marL="326390" indent="-313690">
              <a:lnSpc>
                <a:spcPct val="100000"/>
              </a:lnSpc>
              <a:spcBef>
                <a:spcPts val="130"/>
              </a:spcBef>
              <a:buChar char="•"/>
              <a:tabLst>
                <a:tab pos="326390" algn="l"/>
              </a:tabLst>
            </a:pPr>
            <a:r>
              <a:rPr sz="2000" dirty="0">
                <a:latin typeface="Arial" panose="020B0604020202020204" pitchFamily="34" charset="0"/>
                <a:cs typeface="Arial" panose="020B0604020202020204" pitchFamily="34" charset="0"/>
              </a:rPr>
              <a:t>Termine</a:t>
            </a:r>
            <a:r>
              <a:rPr sz="2000" spc="8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che</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interessa</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le</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scienze</a:t>
            </a:r>
            <a:r>
              <a:rPr sz="2000" spc="60"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sociali.</a:t>
            </a:r>
            <a:endParaRPr sz="2000" dirty="0">
              <a:latin typeface="Arial" panose="020B0604020202020204" pitchFamily="34" charset="0"/>
              <a:cs typeface="Arial" panose="020B0604020202020204" pitchFamily="34" charset="0"/>
            </a:endParaRPr>
          </a:p>
          <a:p>
            <a:pPr>
              <a:lnSpc>
                <a:spcPct val="100000"/>
              </a:lnSpc>
              <a:spcBef>
                <a:spcPts val="1240"/>
              </a:spcBef>
              <a:buFont typeface="Arial MT"/>
              <a:buChar char="•"/>
            </a:pPr>
            <a:endParaRPr sz="2000" dirty="0">
              <a:latin typeface="Arial" panose="020B0604020202020204" pitchFamily="34" charset="0"/>
              <a:cs typeface="Arial" panose="020B0604020202020204" pitchFamily="34" charset="0"/>
            </a:endParaRPr>
          </a:p>
          <a:p>
            <a:pPr marL="326390" marR="101600" indent="-314325">
              <a:lnSpc>
                <a:spcPct val="101800"/>
              </a:lnSpc>
              <a:buChar char="•"/>
              <a:tabLst>
                <a:tab pos="327660" algn="l"/>
              </a:tabLst>
            </a:pPr>
            <a:r>
              <a:rPr sz="2000" dirty="0">
                <a:latin typeface="Arial" panose="020B0604020202020204" pitchFamily="34" charset="0"/>
                <a:cs typeface="Arial" panose="020B0604020202020204" pitchFamily="34" charset="0"/>
              </a:rPr>
              <a:t>Attività</a:t>
            </a:r>
            <a:r>
              <a:rPr sz="2000" spc="7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sistematica</a:t>
            </a:r>
            <a:r>
              <a:rPr sz="2000" spc="9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a:t>
            </a:r>
            <a:r>
              <a:rPr sz="2000" spc="7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specializzata</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svolta</a:t>
            </a:r>
            <a:r>
              <a:rPr sz="2000" spc="7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in</a:t>
            </a:r>
            <a:r>
              <a:rPr sz="2000" spc="9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un</a:t>
            </a:r>
            <a:r>
              <a:rPr sz="2000" spc="7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determinato</a:t>
            </a:r>
            <a:r>
              <a:rPr sz="2000" spc="7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contesto,</a:t>
            </a:r>
            <a:r>
              <a:rPr sz="2000" spc="6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sottoposta 	</a:t>
            </a:r>
            <a:r>
              <a:rPr sz="2000" dirty="0">
                <a:latin typeface="Arial" panose="020B0604020202020204" pitchFamily="34" charset="0"/>
                <a:cs typeface="Arial" panose="020B0604020202020204" pitchFamily="34" charset="0"/>
              </a:rPr>
              <a:t>a</a:t>
            </a:r>
            <a:r>
              <a:rPr sz="2000" spc="6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determinate</a:t>
            </a:r>
            <a:r>
              <a:rPr sz="2000" spc="7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regole</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a:t>
            </a:r>
            <a:r>
              <a:rPr sz="2000" spc="7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che</a:t>
            </a:r>
            <a:r>
              <a:rPr sz="2000" spc="7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garantisce</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una</a:t>
            </a:r>
            <a:r>
              <a:rPr sz="2000" spc="7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retribuzione</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(salario</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nel</a:t>
            </a:r>
            <a:r>
              <a:rPr sz="2000" spc="75" dirty="0">
                <a:latin typeface="Arial" panose="020B0604020202020204" pitchFamily="34" charset="0"/>
                <a:cs typeface="Arial" panose="020B0604020202020204" pitchFamily="34" charset="0"/>
              </a:rPr>
              <a:t> </a:t>
            </a:r>
            <a:r>
              <a:rPr sz="2000" spc="-20" dirty="0">
                <a:latin typeface="Arial" panose="020B0604020202020204" pitchFamily="34" charset="0"/>
                <a:cs typeface="Arial" panose="020B0604020202020204" pitchFamily="34" charset="0"/>
              </a:rPr>
              <a:t>caso 	</a:t>
            </a:r>
            <a:r>
              <a:rPr sz="2000" dirty="0">
                <a:latin typeface="Arial" panose="020B0604020202020204" pitchFamily="34" charset="0"/>
                <a:cs typeface="Arial" panose="020B0604020202020204" pitchFamily="34" charset="0"/>
              </a:rPr>
              <a:t>dell’impiego</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salariato</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a:t>
            </a:r>
            <a:r>
              <a:rPr sz="2000" spc="7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rendita</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nel</a:t>
            </a:r>
            <a:r>
              <a:rPr sz="2000" spc="8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caso</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dell’impiego</a:t>
            </a:r>
            <a:r>
              <a:rPr sz="2000" spc="7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indipendente/autonomo)</a:t>
            </a:r>
            <a:endParaRPr sz="2000" dirty="0">
              <a:latin typeface="Arial" panose="020B0604020202020204" pitchFamily="34" charset="0"/>
              <a:cs typeface="Arial" panose="020B0604020202020204" pitchFamily="34" charset="0"/>
            </a:endParaRPr>
          </a:p>
          <a:p>
            <a:pPr>
              <a:lnSpc>
                <a:spcPct val="100000"/>
              </a:lnSpc>
              <a:spcBef>
                <a:spcPts val="1245"/>
              </a:spcBef>
              <a:buFont typeface="Arial MT"/>
              <a:buChar char="•"/>
            </a:pPr>
            <a:endParaRPr sz="2000" dirty="0">
              <a:latin typeface="Arial" panose="020B0604020202020204" pitchFamily="34" charset="0"/>
              <a:cs typeface="Arial" panose="020B0604020202020204" pitchFamily="34" charset="0"/>
            </a:endParaRPr>
          </a:p>
          <a:p>
            <a:pPr marL="326390" marR="5080" indent="-314325">
              <a:lnSpc>
                <a:spcPct val="101899"/>
              </a:lnSpc>
              <a:buChar char="•"/>
              <a:tabLst>
                <a:tab pos="327660" algn="l"/>
              </a:tabLst>
            </a:pPr>
            <a:r>
              <a:rPr sz="2000" dirty="0">
                <a:latin typeface="Arial" panose="020B0604020202020204" pitchFamily="34" charset="0"/>
                <a:cs typeface="Arial" panose="020B0604020202020204" pitchFamily="34" charset="0"/>
              </a:rPr>
              <a:t>Lavoro</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dipendente,</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eterodiretto</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(nel</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senso</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che</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mezzi</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fini</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del</a:t>
            </a:r>
            <a:r>
              <a:rPr sz="2000" spc="7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lavoro</a:t>
            </a:r>
            <a:r>
              <a:rPr sz="2000" spc="40" dirty="0">
                <a:latin typeface="Arial" panose="020B0604020202020204" pitchFamily="34" charset="0"/>
                <a:cs typeface="Arial" panose="020B0604020202020204" pitchFamily="34" charset="0"/>
              </a:rPr>
              <a:t> </a:t>
            </a:r>
            <a:r>
              <a:rPr sz="2000" spc="-20" dirty="0">
                <a:latin typeface="Arial" panose="020B0604020202020204" pitchFamily="34" charset="0"/>
                <a:cs typeface="Arial" panose="020B0604020202020204" pitchFamily="34" charset="0"/>
              </a:rPr>
              <a:t>sono 	</a:t>
            </a:r>
            <a:r>
              <a:rPr sz="2000" dirty="0">
                <a:latin typeface="Arial" panose="020B0604020202020204" pitchFamily="34" charset="0"/>
                <a:cs typeface="Arial" panose="020B0604020202020204" pitchFamily="34" charset="0"/>
              </a:rPr>
              <a:t>imposti</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dal</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management</a:t>
            </a:r>
            <a:r>
              <a:rPr sz="2000" spc="6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e/o</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dalla</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direzione)</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dove</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il</a:t>
            </a:r>
            <a:r>
              <a:rPr sz="2000" spc="7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lavoratore</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non</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è</a:t>
            </a:r>
            <a:r>
              <a:rPr sz="2000" spc="7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proprietario 	</a:t>
            </a:r>
            <a:r>
              <a:rPr sz="2000" dirty="0">
                <a:latin typeface="Arial" panose="020B0604020202020204" pitchFamily="34" charset="0"/>
                <a:cs typeface="Arial" panose="020B0604020202020204" pitchFamily="34" charset="0"/>
              </a:rPr>
              <a:t>dei</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mezzi</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di</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produzione</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dove</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non</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esiste</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un</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legame</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diretto</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tra</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quello</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che</a:t>
            </a:r>
            <a:r>
              <a:rPr sz="2000" spc="55" dirty="0">
                <a:latin typeface="Arial" panose="020B0604020202020204" pitchFamily="34" charset="0"/>
                <a:cs typeface="Arial" panose="020B0604020202020204" pitchFamily="34" charset="0"/>
              </a:rPr>
              <a:t> </a:t>
            </a:r>
            <a:r>
              <a:rPr sz="2000" spc="-25" dirty="0">
                <a:latin typeface="Arial" panose="020B0604020202020204" pitchFamily="34" charset="0"/>
                <a:cs typeface="Arial" panose="020B0604020202020204" pitchFamily="34" charset="0"/>
              </a:rPr>
              <a:t>si 	</a:t>
            </a:r>
            <a:r>
              <a:rPr sz="2000" dirty="0">
                <a:latin typeface="Arial" panose="020B0604020202020204" pitchFamily="34" charset="0"/>
                <a:cs typeface="Arial" panose="020B0604020202020204" pitchFamily="34" charset="0"/>
              </a:rPr>
              <a:t>produce</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a:t>
            </a:r>
            <a:r>
              <a:rPr sz="2000" spc="6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il</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bisogno</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immediato</a:t>
            </a:r>
            <a:r>
              <a:rPr sz="2000" spc="6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del</a:t>
            </a:r>
            <a:r>
              <a:rPr sz="2000" spc="4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lavoratore.</a:t>
            </a:r>
            <a:endParaRPr sz="2000" dirty="0">
              <a:latin typeface="Arial" panose="020B0604020202020204" pitchFamily="34" charset="0"/>
              <a:cs typeface="Arial" panose="020B0604020202020204" pitchFamily="34" charset="0"/>
            </a:endParaRPr>
          </a:p>
          <a:p>
            <a:pPr marL="292735">
              <a:lnSpc>
                <a:spcPct val="100000"/>
              </a:lnSpc>
              <a:spcBef>
                <a:spcPts val="600"/>
              </a:spcBef>
            </a:pPr>
            <a:r>
              <a:rPr sz="2000" dirty="0">
                <a:latin typeface="Arial" panose="020B0604020202020204" pitchFamily="34" charset="0"/>
                <a:cs typeface="Arial" panose="020B0604020202020204" pitchFamily="34" charset="0"/>
              </a:rPr>
              <a:t>(Reynaud,</a:t>
            </a:r>
            <a:r>
              <a:rPr sz="2000" spc="6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a:t>
            </a:r>
            <a:r>
              <a:rPr sz="2000" spc="6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Maruani,</a:t>
            </a:r>
            <a:r>
              <a:rPr sz="2000" spc="6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M.</a:t>
            </a:r>
            <a:r>
              <a:rPr sz="2000" spc="6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2004)</a:t>
            </a:r>
            <a:endParaRPr sz="20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5038" y="188500"/>
            <a:ext cx="339788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MT"/>
                <a:cs typeface="Arial MT"/>
              </a:rPr>
              <a:t>DEASS</a:t>
            </a:r>
            <a:r>
              <a:rPr sz="1300" spc="50" dirty="0">
                <a:latin typeface="Arial MT"/>
                <a:cs typeface="Arial MT"/>
              </a:rPr>
              <a:t> </a:t>
            </a:r>
            <a:r>
              <a:rPr sz="1300" dirty="0">
                <a:latin typeface="Arial MT"/>
                <a:cs typeface="Arial MT"/>
              </a:rPr>
              <a:t>/</a:t>
            </a:r>
            <a:r>
              <a:rPr sz="1300" spc="10" dirty="0">
                <a:latin typeface="Arial MT"/>
                <a:cs typeface="Arial MT"/>
              </a:rPr>
              <a:t> </a:t>
            </a:r>
            <a:r>
              <a:rPr sz="1300" dirty="0">
                <a:latin typeface="Arial MT"/>
                <a:cs typeface="Arial MT"/>
              </a:rPr>
              <a:t>Titolo</a:t>
            </a:r>
            <a:r>
              <a:rPr sz="1300" spc="15" dirty="0">
                <a:latin typeface="Arial MT"/>
                <a:cs typeface="Arial MT"/>
              </a:rPr>
              <a:t> </a:t>
            </a:r>
            <a:r>
              <a:rPr sz="1300" dirty="0">
                <a:latin typeface="Arial MT"/>
                <a:cs typeface="Arial MT"/>
              </a:rPr>
              <a:t>principale della</a:t>
            </a:r>
            <a:r>
              <a:rPr sz="1300" spc="40" dirty="0">
                <a:latin typeface="Arial MT"/>
                <a:cs typeface="Arial MT"/>
              </a:rPr>
              <a:t> </a:t>
            </a:r>
            <a:r>
              <a:rPr sz="1300" spc="-10" dirty="0">
                <a:latin typeface="Arial MT"/>
                <a:cs typeface="Arial MT"/>
              </a:rPr>
              <a:t>presentazione</a:t>
            </a:r>
            <a:endParaRPr sz="1300">
              <a:latin typeface="Arial MT"/>
              <a:cs typeface="Arial MT"/>
            </a:endParaRPr>
          </a:p>
        </p:txBody>
      </p:sp>
      <p:pic>
        <p:nvPicPr>
          <p:cNvPr id="3" name="object 3"/>
          <p:cNvPicPr/>
          <p:nvPr/>
        </p:nvPicPr>
        <p:blipFill>
          <a:blip r:embed="rId2" cstate="print"/>
          <a:stretch>
            <a:fillRect/>
          </a:stretch>
        </p:blipFill>
        <p:spPr>
          <a:xfrm>
            <a:off x="684275" y="225552"/>
            <a:ext cx="527304" cy="156972"/>
          </a:xfrm>
          <a:prstGeom prst="rect">
            <a:avLst/>
          </a:prstGeom>
        </p:spPr>
      </p:pic>
      <p:sp>
        <p:nvSpPr>
          <p:cNvPr id="4" name="object 4"/>
          <p:cNvSpPr txBox="1">
            <a:spLocks noGrp="1"/>
          </p:cNvSpPr>
          <p:nvPr>
            <p:ph type="title"/>
          </p:nvPr>
        </p:nvSpPr>
        <p:spPr>
          <a:xfrm>
            <a:off x="630505" y="1206436"/>
            <a:ext cx="8292465" cy="1640205"/>
          </a:xfrm>
          <a:prstGeom prst="rect">
            <a:avLst/>
          </a:prstGeom>
        </p:spPr>
        <p:txBody>
          <a:bodyPr vert="horz" wrap="square" lIns="0" tIns="11430" rIns="0" bIns="0" rtlCol="0">
            <a:spAutoFit/>
          </a:bodyPr>
          <a:lstStyle/>
          <a:p>
            <a:pPr marL="12700" marR="5080">
              <a:lnSpc>
                <a:spcPct val="100000"/>
              </a:lnSpc>
              <a:spcBef>
                <a:spcPts val="90"/>
              </a:spcBef>
            </a:pPr>
            <a:r>
              <a:rPr sz="5300" spc="-10" dirty="0">
                <a:solidFill>
                  <a:srgbClr val="FFFFFF"/>
                </a:solidFill>
              </a:rPr>
              <a:t>L’organizzazione</a:t>
            </a:r>
            <a:r>
              <a:rPr sz="5300" spc="-160" dirty="0">
                <a:solidFill>
                  <a:srgbClr val="FFFFFF"/>
                </a:solidFill>
              </a:rPr>
              <a:t> </a:t>
            </a:r>
            <a:r>
              <a:rPr sz="5300" dirty="0">
                <a:solidFill>
                  <a:srgbClr val="FFFFFF"/>
                </a:solidFill>
              </a:rPr>
              <a:t>del</a:t>
            </a:r>
            <a:r>
              <a:rPr sz="5300" spc="-135" dirty="0">
                <a:solidFill>
                  <a:srgbClr val="FFFFFF"/>
                </a:solidFill>
              </a:rPr>
              <a:t> </a:t>
            </a:r>
            <a:r>
              <a:rPr sz="5300" dirty="0">
                <a:solidFill>
                  <a:srgbClr val="FFFFFF"/>
                </a:solidFill>
              </a:rPr>
              <a:t>lavoro</a:t>
            </a:r>
            <a:r>
              <a:rPr sz="5300" spc="-140" dirty="0">
                <a:solidFill>
                  <a:srgbClr val="FFFFFF"/>
                </a:solidFill>
              </a:rPr>
              <a:t> </a:t>
            </a:r>
            <a:r>
              <a:rPr sz="5300" spc="-25" dirty="0">
                <a:solidFill>
                  <a:srgbClr val="FFFFFF"/>
                </a:solidFill>
              </a:rPr>
              <a:t>in </a:t>
            </a:r>
            <a:r>
              <a:rPr sz="5300" dirty="0" err="1">
                <a:solidFill>
                  <a:srgbClr val="FFFFFF"/>
                </a:solidFill>
              </a:rPr>
              <a:t>fabbric</a:t>
            </a:r>
            <a:r>
              <a:rPr lang="it-CH" sz="5300" dirty="0">
                <a:solidFill>
                  <a:srgbClr val="FFFFFF"/>
                </a:solidFill>
              </a:rPr>
              <a:t>a</a:t>
            </a:r>
            <a:endParaRPr sz="5300" dirty="0"/>
          </a:p>
        </p:txBody>
      </p:sp>
      <p:sp>
        <p:nvSpPr>
          <p:cNvPr id="5" name="object 5"/>
          <p:cNvSpPr txBox="1"/>
          <p:nvPr/>
        </p:nvSpPr>
        <p:spPr>
          <a:xfrm>
            <a:off x="9830841" y="193002"/>
            <a:ext cx="211454" cy="226695"/>
          </a:xfrm>
          <a:prstGeom prst="rect">
            <a:avLst/>
          </a:prstGeom>
        </p:spPr>
        <p:txBody>
          <a:bodyPr vert="horz" wrap="square" lIns="0" tIns="15240" rIns="0" bIns="0" rtlCol="0">
            <a:spAutoFit/>
          </a:bodyPr>
          <a:lstStyle/>
          <a:p>
            <a:pPr marL="12700">
              <a:lnSpc>
                <a:spcPct val="100000"/>
              </a:lnSpc>
              <a:spcBef>
                <a:spcPts val="120"/>
              </a:spcBef>
            </a:pPr>
            <a:r>
              <a:rPr sz="1300" spc="-25" dirty="0">
                <a:latin typeface="Arial MT"/>
                <a:cs typeface="Arial MT"/>
              </a:rPr>
              <a:t>19</a:t>
            </a:r>
            <a:endParaRPr sz="13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D0F8F2E-2553-FA32-4099-11CD46F7FCD9}"/>
              </a:ext>
            </a:extLst>
          </p:cNvPr>
          <p:cNvSpPr>
            <a:spLocks noGrp="1"/>
          </p:cNvSpPr>
          <p:nvPr>
            <p:ph type="title"/>
          </p:nvPr>
        </p:nvSpPr>
        <p:spPr>
          <a:xfrm>
            <a:off x="648643" y="521097"/>
            <a:ext cx="9396113" cy="407804"/>
          </a:xfrm>
        </p:spPr>
        <p:txBody>
          <a:bodyPr/>
          <a:lstStyle/>
          <a:p>
            <a:r>
              <a:rPr lang="it-CH" dirty="0"/>
              <a:t>Le quattro rivoluzioni industriali</a:t>
            </a:r>
          </a:p>
        </p:txBody>
      </p:sp>
      <p:pic>
        <p:nvPicPr>
          <p:cNvPr id="4" name="Immagine 3">
            <a:extLst>
              <a:ext uri="{FF2B5EF4-FFF2-40B4-BE49-F238E27FC236}">
                <a16:creationId xmlns:a16="http://schemas.microsoft.com/office/drawing/2014/main" id="{57D4C343-9EA6-3759-F3A2-1DA01F41FAAE}"/>
              </a:ext>
            </a:extLst>
          </p:cNvPr>
          <p:cNvPicPr>
            <a:picLocks noChangeAspect="1"/>
          </p:cNvPicPr>
          <p:nvPr/>
        </p:nvPicPr>
        <p:blipFill>
          <a:blip r:embed="rId2"/>
          <a:stretch>
            <a:fillRect/>
          </a:stretch>
        </p:blipFill>
        <p:spPr>
          <a:xfrm>
            <a:off x="548640" y="1190625"/>
            <a:ext cx="9067800" cy="2675744"/>
          </a:xfrm>
          <a:prstGeom prst="rect">
            <a:avLst/>
          </a:prstGeom>
        </p:spPr>
      </p:pic>
      <p:sp>
        <p:nvSpPr>
          <p:cNvPr id="5" name="CasellaDiTesto 4">
            <a:extLst>
              <a:ext uri="{FF2B5EF4-FFF2-40B4-BE49-F238E27FC236}">
                <a16:creationId xmlns:a16="http://schemas.microsoft.com/office/drawing/2014/main" id="{E9F9C049-4B55-9750-4FE5-79E69FED108C}"/>
              </a:ext>
            </a:extLst>
          </p:cNvPr>
          <p:cNvSpPr txBox="1"/>
          <p:nvPr/>
        </p:nvSpPr>
        <p:spPr>
          <a:xfrm>
            <a:off x="658802" y="4119838"/>
            <a:ext cx="2173297" cy="2862322"/>
          </a:xfrm>
          <a:prstGeom prst="rect">
            <a:avLst/>
          </a:prstGeom>
          <a:noFill/>
        </p:spPr>
        <p:txBody>
          <a:bodyPr wrap="square" rtlCol="0">
            <a:spAutoFit/>
          </a:bodyPr>
          <a:lstStyle/>
          <a:p>
            <a:r>
              <a:rPr lang="it-CH" dirty="0"/>
              <a:t>Fine 1700 –1800</a:t>
            </a:r>
          </a:p>
          <a:p>
            <a:r>
              <a:rPr lang="it-CH" dirty="0"/>
              <a:t>Carbone e macchina a vapore</a:t>
            </a:r>
          </a:p>
          <a:p>
            <a:r>
              <a:rPr lang="it-CH" dirty="0"/>
              <a:t>Condizioni di lavoro particolarmente dure</a:t>
            </a:r>
          </a:p>
          <a:p>
            <a:r>
              <a:rPr lang="it-CH" dirty="0"/>
              <a:t>Nascita delle prime organizzazioni sindacali</a:t>
            </a:r>
          </a:p>
        </p:txBody>
      </p:sp>
      <p:sp>
        <p:nvSpPr>
          <p:cNvPr id="6" name="CasellaDiTesto 5">
            <a:extLst>
              <a:ext uri="{FF2B5EF4-FFF2-40B4-BE49-F238E27FC236}">
                <a16:creationId xmlns:a16="http://schemas.microsoft.com/office/drawing/2014/main" id="{06075C69-84E3-4CAB-58C5-2F2D99153213}"/>
              </a:ext>
            </a:extLst>
          </p:cNvPr>
          <p:cNvSpPr txBox="1"/>
          <p:nvPr/>
        </p:nvSpPr>
        <p:spPr>
          <a:xfrm>
            <a:off x="3076882" y="4119838"/>
            <a:ext cx="1909140" cy="3139321"/>
          </a:xfrm>
          <a:prstGeom prst="rect">
            <a:avLst/>
          </a:prstGeom>
          <a:noFill/>
        </p:spPr>
        <p:txBody>
          <a:bodyPr wrap="square" rtlCol="0">
            <a:spAutoFit/>
          </a:bodyPr>
          <a:lstStyle/>
          <a:p>
            <a:r>
              <a:rPr lang="it-CH" dirty="0">
                <a:solidFill>
                  <a:srgbClr val="FF0000"/>
                </a:solidFill>
              </a:rPr>
              <a:t>Fine 1800-1980</a:t>
            </a:r>
          </a:p>
          <a:p>
            <a:r>
              <a:rPr lang="it-CH" dirty="0">
                <a:solidFill>
                  <a:srgbClr val="FF0000"/>
                </a:solidFill>
              </a:rPr>
              <a:t>Elettricità, petrolio e motore a scoppio</a:t>
            </a:r>
          </a:p>
          <a:p>
            <a:r>
              <a:rPr lang="it-CH" dirty="0">
                <a:solidFill>
                  <a:srgbClr val="FF0000"/>
                </a:solidFill>
              </a:rPr>
              <a:t>Produzione di massa</a:t>
            </a:r>
          </a:p>
          <a:p>
            <a:r>
              <a:rPr lang="it-CH" dirty="0">
                <a:solidFill>
                  <a:srgbClr val="FF0000"/>
                </a:solidFill>
              </a:rPr>
              <a:t>Crescita del movimento operaio e nascita del welfare</a:t>
            </a:r>
          </a:p>
        </p:txBody>
      </p:sp>
      <p:sp>
        <p:nvSpPr>
          <p:cNvPr id="7" name="CasellaDiTesto 6">
            <a:extLst>
              <a:ext uri="{FF2B5EF4-FFF2-40B4-BE49-F238E27FC236}">
                <a16:creationId xmlns:a16="http://schemas.microsoft.com/office/drawing/2014/main" id="{47D63915-290C-B7E6-9624-71E5E20C7B13}"/>
              </a:ext>
            </a:extLst>
          </p:cNvPr>
          <p:cNvSpPr txBox="1"/>
          <p:nvPr/>
        </p:nvSpPr>
        <p:spPr>
          <a:xfrm>
            <a:off x="5394961" y="4119838"/>
            <a:ext cx="2057400" cy="3416320"/>
          </a:xfrm>
          <a:prstGeom prst="rect">
            <a:avLst/>
          </a:prstGeom>
          <a:noFill/>
        </p:spPr>
        <p:txBody>
          <a:bodyPr wrap="square" rtlCol="0">
            <a:spAutoFit/>
          </a:bodyPr>
          <a:lstStyle/>
          <a:p>
            <a:r>
              <a:rPr lang="it-CH" dirty="0">
                <a:solidFill>
                  <a:srgbClr val="FF0000"/>
                </a:solidFill>
              </a:rPr>
              <a:t>Anni ’80 – 2008</a:t>
            </a:r>
          </a:p>
          <a:p>
            <a:r>
              <a:rPr lang="it-CH" dirty="0">
                <a:solidFill>
                  <a:srgbClr val="FF0000"/>
                </a:solidFill>
              </a:rPr>
              <a:t>Tecnologie dell’informazione e della comunicazione, globalizzazione, politiche neoliberiste di ridimensionamento dello stato sociale</a:t>
            </a:r>
          </a:p>
          <a:p>
            <a:endParaRPr lang="it-CH" dirty="0"/>
          </a:p>
        </p:txBody>
      </p:sp>
      <p:sp>
        <p:nvSpPr>
          <p:cNvPr id="8" name="CasellaDiTesto 7">
            <a:extLst>
              <a:ext uri="{FF2B5EF4-FFF2-40B4-BE49-F238E27FC236}">
                <a16:creationId xmlns:a16="http://schemas.microsoft.com/office/drawing/2014/main" id="{38FCFE29-B094-D56F-7421-F201A21635F3}"/>
              </a:ext>
            </a:extLst>
          </p:cNvPr>
          <p:cNvSpPr txBox="1"/>
          <p:nvPr/>
        </p:nvSpPr>
        <p:spPr>
          <a:xfrm>
            <a:off x="7632700" y="4128093"/>
            <a:ext cx="2286000" cy="2031325"/>
          </a:xfrm>
          <a:prstGeom prst="rect">
            <a:avLst/>
          </a:prstGeom>
          <a:noFill/>
        </p:spPr>
        <p:txBody>
          <a:bodyPr wrap="square" rtlCol="0">
            <a:spAutoFit/>
          </a:bodyPr>
          <a:lstStyle/>
          <a:p>
            <a:r>
              <a:rPr lang="it-CH" dirty="0"/>
              <a:t>2008 Digitalizzazione del lavoro e della vita in generale con impatti considerevoli su tutti gli ambiti della società</a:t>
            </a:r>
          </a:p>
        </p:txBody>
      </p:sp>
    </p:spTree>
    <p:extLst>
      <p:ext uri="{BB962C8B-B14F-4D97-AF65-F5344CB8AC3E}">
        <p14:creationId xmlns:p14="http://schemas.microsoft.com/office/powerpoint/2010/main" val="3502906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BFE34557-154A-DBE0-05E1-A2FFFB0A19C1}"/>
              </a:ext>
            </a:extLst>
          </p:cNvPr>
          <p:cNvSpPr>
            <a:spLocks noGrp="1"/>
          </p:cNvSpPr>
          <p:nvPr>
            <p:ph type="body" idx="1"/>
          </p:nvPr>
        </p:nvSpPr>
        <p:spPr>
          <a:xfrm>
            <a:off x="469900" y="1647825"/>
            <a:ext cx="9578099" cy="3985706"/>
          </a:xfrm>
        </p:spPr>
        <p:txBody>
          <a:bodyPr/>
          <a:lstStyle/>
          <a:p>
            <a:pPr algn="just"/>
            <a:r>
              <a:rPr lang="it-CH" sz="2000" dirty="0">
                <a:latin typeface="Arial" panose="020B0604020202020204" pitchFamily="34" charset="0"/>
                <a:cs typeface="Arial" panose="020B0604020202020204" pitchFamily="34" charset="0"/>
              </a:rPr>
              <a:t>Nascita delle grandi imprese mette in evidenza la necessità di organizzare il lavoro con l’obiettivo di aumentare la produttività del lavoro e la produzione.</a:t>
            </a:r>
          </a:p>
          <a:p>
            <a:pPr algn="just"/>
            <a:endParaRPr lang="it-CH" sz="2000" dirty="0">
              <a:latin typeface="Arial" panose="020B0604020202020204" pitchFamily="34" charset="0"/>
              <a:cs typeface="Arial" panose="020B0604020202020204" pitchFamily="34" charset="0"/>
            </a:endParaRPr>
          </a:p>
          <a:p>
            <a:pPr algn="just"/>
            <a:r>
              <a:rPr lang="it-CH" sz="2000" b="1" dirty="0">
                <a:latin typeface="Arial" panose="020B0604020202020204" pitchFamily="34" charset="0"/>
                <a:cs typeface="Arial" panose="020B0604020202020204" pitchFamily="34" charset="0"/>
              </a:rPr>
              <a:t>Meccanizzazione e parcellizzazione</a:t>
            </a:r>
            <a:r>
              <a:rPr lang="it-CH" sz="2000" dirty="0">
                <a:latin typeface="Arial" panose="020B0604020202020204" pitchFamily="34" charset="0"/>
                <a:cs typeface="Arial" panose="020B0604020202020204" pitchFamily="34" charset="0"/>
              </a:rPr>
              <a:t> del lavoro diventano i punti cardine attorno a cui ruota la riflessione sull’organizzazione del lavoro.</a:t>
            </a:r>
          </a:p>
          <a:p>
            <a:pPr algn="just"/>
            <a:endParaRPr lang="it-CH" sz="2000" dirty="0">
              <a:latin typeface="Arial" panose="020B0604020202020204" pitchFamily="34" charset="0"/>
              <a:cs typeface="Arial" panose="020B0604020202020204" pitchFamily="34" charset="0"/>
            </a:endParaRPr>
          </a:p>
          <a:p>
            <a:pPr algn="just"/>
            <a:r>
              <a:rPr lang="it-CH" sz="2000" dirty="0">
                <a:latin typeface="Arial" panose="020B0604020202020204" pitchFamily="34" charset="0"/>
                <a:cs typeface="Arial" panose="020B0604020202020204" pitchFamily="34" charset="0"/>
              </a:rPr>
              <a:t>Le fabbriche diventano sempre più grandi e il lavoro viene parcellizzato e ogni compito affidato ad un singolo operaio.</a:t>
            </a:r>
          </a:p>
          <a:p>
            <a:pPr algn="just"/>
            <a:endParaRPr lang="it-CH" sz="2000" dirty="0">
              <a:latin typeface="Arial" panose="020B0604020202020204" pitchFamily="34" charset="0"/>
              <a:cs typeface="Arial" panose="020B0604020202020204" pitchFamily="34" charset="0"/>
            </a:endParaRPr>
          </a:p>
          <a:p>
            <a:pPr algn="just"/>
            <a:r>
              <a:rPr lang="it-CH" sz="2000" dirty="0">
                <a:latin typeface="Arial" panose="020B0604020202020204" pitchFamily="34" charset="0"/>
                <a:cs typeface="Arial" panose="020B0604020202020204" pitchFamily="34" charset="0"/>
              </a:rPr>
              <a:t>Adam Smith  è tra i primi a descrivere questo processo nel suo testo </a:t>
            </a:r>
            <a:r>
              <a:rPr lang="it-CH" sz="2000" i="1" dirty="0">
                <a:latin typeface="Arial" panose="020B0604020202020204" pitchFamily="34" charset="0"/>
                <a:cs typeface="Arial" panose="020B0604020202020204" pitchFamily="34" charset="0"/>
              </a:rPr>
              <a:t>La ricchezza delle nazioni</a:t>
            </a:r>
            <a:r>
              <a:rPr lang="it-CH" sz="2000" dirty="0">
                <a:latin typeface="Arial" panose="020B0604020202020204" pitchFamily="34" charset="0"/>
                <a:cs typeface="Arial" panose="020B0604020202020204" pitchFamily="34" charset="0"/>
              </a:rPr>
              <a:t> del 1776. </a:t>
            </a:r>
          </a:p>
          <a:p>
            <a:endParaRPr lang="it-CH" dirty="0"/>
          </a:p>
          <a:p>
            <a:endParaRPr lang="it-CH" dirty="0"/>
          </a:p>
        </p:txBody>
      </p:sp>
    </p:spTree>
    <p:extLst>
      <p:ext uri="{BB962C8B-B14F-4D97-AF65-F5344CB8AC3E}">
        <p14:creationId xmlns:p14="http://schemas.microsoft.com/office/powerpoint/2010/main" val="2801975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8643" y="724999"/>
            <a:ext cx="9396113" cy="620042"/>
          </a:xfrm>
          <a:prstGeom prst="rect">
            <a:avLst/>
          </a:prstGeom>
        </p:spPr>
        <p:txBody>
          <a:bodyPr vert="horz" wrap="square" lIns="0" tIns="12065" rIns="0" bIns="0" rtlCol="0">
            <a:spAutoFit/>
          </a:bodyPr>
          <a:lstStyle/>
          <a:p>
            <a:pPr marL="12700" marR="5080">
              <a:lnSpc>
                <a:spcPct val="100499"/>
              </a:lnSpc>
              <a:spcBef>
                <a:spcPts val="95"/>
              </a:spcBef>
            </a:pPr>
            <a:r>
              <a:rPr lang="it-CH" sz="3950" dirty="0"/>
              <a:t>Nascita dei taylorismo</a:t>
            </a:r>
            <a:endParaRPr sz="3950" dirty="0"/>
          </a:p>
        </p:txBody>
      </p:sp>
      <p:sp>
        <p:nvSpPr>
          <p:cNvPr id="3" name="object 3"/>
          <p:cNvSpPr txBox="1"/>
          <p:nvPr/>
        </p:nvSpPr>
        <p:spPr>
          <a:xfrm>
            <a:off x="546099" y="1952625"/>
            <a:ext cx="9601200" cy="3920560"/>
          </a:xfrm>
          <a:prstGeom prst="rect">
            <a:avLst/>
          </a:prstGeom>
        </p:spPr>
        <p:txBody>
          <a:bodyPr vert="horz" wrap="square" lIns="0" tIns="12065" rIns="0" bIns="0" rtlCol="0">
            <a:spAutoFit/>
          </a:bodyPr>
          <a:lstStyle/>
          <a:p>
            <a:pPr marL="12700" marR="5080">
              <a:lnSpc>
                <a:spcPct val="100899"/>
              </a:lnSpc>
              <a:spcBef>
                <a:spcPts val="95"/>
              </a:spcBef>
            </a:pPr>
            <a:r>
              <a:rPr lang="it-CH" sz="2000" dirty="0">
                <a:latin typeface="Arial" panose="020B0604020202020204" pitchFamily="34" charset="0"/>
                <a:cs typeface="Arial" panose="020B0604020202020204" pitchFamily="34" charset="0"/>
              </a:rPr>
              <a:t>Frederick Taylor (1856 – 1915) pubblica la sua opera principale, «I principi dell’organizzazione scientifica del lavoro» nel 1911.</a:t>
            </a:r>
          </a:p>
          <a:p>
            <a:pPr marL="12700" marR="5080">
              <a:lnSpc>
                <a:spcPct val="100899"/>
              </a:lnSpc>
              <a:spcBef>
                <a:spcPts val="95"/>
              </a:spcBef>
            </a:pPr>
            <a:endParaRPr lang="it-CH" sz="2000" dirty="0">
              <a:latin typeface="Arial" panose="020B0604020202020204" pitchFamily="34" charset="0"/>
              <a:cs typeface="Arial" panose="020B0604020202020204" pitchFamily="34" charset="0"/>
            </a:endParaRPr>
          </a:p>
          <a:p>
            <a:pPr marL="12700" marR="5080">
              <a:lnSpc>
                <a:spcPct val="100899"/>
              </a:lnSpc>
              <a:spcBef>
                <a:spcPts val="95"/>
              </a:spcBef>
            </a:pPr>
            <a:r>
              <a:rPr lang="it-CH" sz="2000" dirty="0">
                <a:latin typeface="Arial" panose="020B0604020202020204" pitchFamily="34" charset="0"/>
                <a:cs typeface="Arial" panose="020B0604020202020204" pitchFamily="34" charset="0"/>
              </a:rPr>
              <a:t>Taylor in particolare critica l’idea della divisione del lavoro di Smith in quanto lascia ancora troppa autonomia all’operaio. Secondo lui «il lavoro intellettuale deve essere tolto dall’officina» (cit. in </a:t>
            </a:r>
            <a:r>
              <a:rPr lang="it-CH" sz="2000" dirty="0" err="1">
                <a:latin typeface="Arial" panose="020B0604020202020204" pitchFamily="34" charset="0"/>
                <a:cs typeface="Arial" panose="020B0604020202020204" pitchFamily="34" charset="0"/>
              </a:rPr>
              <a:t>Braverman</a:t>
            </a:r>
            <a:r>
              <a:rPr lang="it-CH" sz="2000" dirty="0">
                <a:latin typeface="Arial" panose="020B0604020202020204" pitchFamily="34" charset="0"/>
                <a:cs typeface="Arial" panose="020B0604020202020204" pitchFamily="34" charset="0"/>
              </a:rPr>
              <a:t>, 1978, p. 114) ed essere messo nelle mani delle direzioni aziendali.</a:t>
            </a:r>
          </a:p>
          <a:p>
            <a:pPr marL="12700" marR="5080">
              <a:lnSpc>
                <a:spcPct val="100899"/>
              </a:lnSpc>
              <a:spcBef>
                <a:spcPts val="95"/>
              </a:spcBef>
            </a:pPr>
            <a:endParaRPr lang="it-CH" sz="2000" dirty="0">
              <a:latin typeface="Arial" panose="020B0604020202020204" pitchFamily="34" charset="0"/>
              <a:cs typeface="Arial" panose="020B0604020202020204" pitchFamily="34" charset="0"/>
            </a:endParaRPr>
          </a:p>
          <a:p>
            <a:pPr marL="12700" marR="5080">
              <a:lnSpc>
                <a:spcPct val="100899"/>
              </a:lnSpc>
              <a:spcBef>
                <a:spcPts val="95"/>
              </a:spcBef>
            </a:pPr>
            <a:r>
              <a:rPr lang="it-CH" sz="2000" dirty="0">
                <a:latin typeface="Arial" panose="020B0604020202020204" pitchFamily="34" charset="0"/>
                <a:cs typeface="Arial" panose="020B0604020202020204" pitchFamily="34" charset="0"/>
              </a:rPr>
              <a:t>Taylor insiste sulla necessità del </a:t>
            </a:r>
            <a:r>
              <a:rPr lang="it-CH" sz="2000" b="1" dirty="0">
                <a:latin typeface="Arial" panose="020B0604020202020204" pitchFamily="34" charset="0"/>
                <a:cs typeface="Arial" panose="020B0604020202020204" pitchFamily="34" charset="0"/>
              </a:rPr>
              <a:t>controllo</a:t>
            </a:r>
            <a:r>
              <a:rPr lang="it-CH" sz="2000" dirty="0">
                <a:latin typeface="Arial" panose="020B0604020202020204" pitchFamily="34" charset="0"/>
                <a:cs typeface="Arial" panose="020B0604020202020204" pitchFamily="34" charset="0"/>
              </a:rPr>
              <a:t> da parte del management del lavoro operaio e della distinzione tra ideazione del lavoro e realizzazione dello stesso.</a:t>
            </a:r>
          </a:p>
          <a:p>
            <a:pPr marL="12700" marR="5080">
              <a:lnSpc>
                <a:spcPct val="100899"/>
              </a:lnSpc>
              <a:spcBef>
                <a:spcPts val="95"/>
              </a:spcBef>
            </a:pPr>
            <a:endParaRPr lang="it-CH" sz="2400" dirty="0">
              <a:latin typeface="Arial MT"/>
              <a:cs typeface="Arial MT"/>
            </a:endParaRPr>
          </a:p>
          <a:p>
            <a:pPr marL="12700" marR="5080">
              <a:lnSpc>
                <a:spcPct val="100899"/>
              </a:lnSpc>
              <a:spcBef>
                <a:spcPts val="95"/>
              </a:spcBef>
            </a:pPr>
            <a:endParaRPr sz="2400" dirty="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566509914"/>
              </p:ext>
            </p:extLst>
          </p:nvPr>
        </p:nvGraphicFramePr>
        <p:xfrm>
          <a:off x="850900" y="1571625"/>
          <a:ext cx="8579865" cy="5181600"/>
        </p:xfrm>
        <a:graphic>
          <a:graphicData uri="http://schemas.openxmlformats.org/drawingml/2006/table">
            <a:tbl>
              <a:tblPr firstRow="1" bandRow="1">
                <a:tableStyleId>{2D5ABB26-0587-4C30-8999-92F81FD0307C}</a:tableStyleId>
              </a:tblPr>
              <a:tblGrid>
                <a:gridCol w="2860387">
                  <a:extLst>
                    <a:ext uri="{9D8B030D-6E8A-4147-A177-3AD203B41FA5}">
                      <a16:colId xmlns:a16="http://schemas.microsoft.com/office/drawing/2014/main" val="20000"/>
                    </a:ext>
                  </a:extLst>
                </a:gridCol>
                <a:gridCol w="2859092">
                  <a:extLst>
                    <a:ext uri="{9D8B030D-6E8A-4147-A177-3AD203B41FA5}">
                      <a16:colId xmlns:a16="http://schemas.microsoft.com/office/drawing/2014/main" val="20001"/>
                    </a:ext>
                  </a:extLst>
                </a:gridCol>
                <a:gridCol w="2860386">
                  <a:extLst>
                    <a:ext uri="{9D8B030D-6E8A-4147-A177-3AD203B41FA5}">
                      <a16:colId xmlns:a16="http://schemas.microsoft.com/office/drawing/2014/main" val="20002"/>
                    </a:ext>
                  </a:extLst>
                </a:gridCol>
              </a:tblGrid>
              <a:tr h="387641">
                <a:tc>
                  <a:txBody>
                    <a:bodyPr/>
                    <a:lstStyle/>
                    <a:p>
                      <a:pPr marL="67945">
                        <a:lnSpc>
                          <a:spcPts val="2565"/>
                        </a:lnSpc>
                      </a:pPr>
                      <a:r>
                        <a:rPr sz="2200" b="1" i="1" spc="-10" dirty="0">
                          <a:solidFill>
                            <a:srgbClr val="FFFFFF"/>
                          </a:solidFill>
                          <a:latin typeface="Arial"/>
                          <a:cs typeface="Arial"/>
                        </a:rPr>
                        <a:t>Principi</a:t>
                      </a:r>
                      <a:endParaRPr sz="2200">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57150">
                      <a:solidFill>
                        <a:srgbClr val="FFFFFF"/>
                      </a:solidFill>
                      <a:prstDash val="solid"/>
                    </a:lnB>
                    <a:solidFill>
                      <a:srgbClr val="3333CC"/>
                    </a:solidFill>
                  </a:tcPr>
                </a:tc>
                <a:tc>
                  <a:txBody>
                    <a:bodyPr/>
                    <a:lstStyle/>
                    <a:p>
                      <a:pPr marL="68580">
                        <a:lnSpc>
                          <a:spcPts val="2565"/>
                        </a:lnSpc>
                      </a:pPr>
                      <a:r>
                        <a:rPr sz="2200" b="1" i="1" spc="-10" dirty="0">
                          <a:solidFill>
                            <a:srgbClr val="FFFFFF"/>
                          </a:solidFill>
                          <a:latin typeface="Arial"/>
                          <a:cs typeface="Arial"/>
                        </a:rPr>
                        <a:t>Definizioni</a:t>
                      </a:r>
                      <a:endParaRPr sz="2200">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57150">
                      <a:solidFill>
                        <a:srgbClr val="FFFFFF"/>
                      </a:solidFill>
                      <a:prstDash val="solid"/>
                    </a:lnB>
                    <a:solidFill>
                      <a:srgbClr val="3333CC"/>
                    </a:solidFill>
                  </a:tcPr>
                </a:tc>
                <a:tc>
                  <a:txBody>
                    <a:bodyPr/>
                    <a:lstStyle/>
                    <a:p>
                      <a:pPr marL="68580">
                        <a:lnSpc>
                          <a:spcPts val="2565"/>
                        </a:lnSpc>
                      </a:pPr>
                      <a:r>
                        <a:rPr sz="2200" b="1" i="1" spc="-10" dirty="0">
                          <a:solidFill>
                            <a:srgbClr val="FFFFFF"/>
                          </a:solidFill>
                          <a:latin typeface="Arial"/>
                          <a:cs typeface="Arial"/>
                        </a:rPr>
                        <a:t>Conseguenze</a:t>
                      </a:r>
                      <a:endParaRPr sz="2200">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57150">
                      <a:solidFill>
                        <a:srgbClr val="FFFFFF"/>
                      </a:solidFill>
                      <a:prstDash val="solid"/>
                    </a:lnB>
                    <a:solidFill>
                      <a:srgbClr val="3333CC"/>
                    </a:solidFill>
                  </a:tcPr>
                </a:tc>
                <a:extLst>
                  <a:ext uri="{0D108BD9-81ED-4DB2-BD59-A6C34878D82A}">
                    <a16:rowId xmlns:a16="http://schemas.microsoft.com/office/drawing/2014/main" val="10000"/>
                  </a:ext>
                </a:extLst>
              </a:tr>
              <a:tr h="2301660">
                <a:tc>
                  <a:txBody>
                    <a:bodyPr/>
                    <a:lstStyle/>
                    <a:p>
                      <a:pPr marL="67945">
                        <a:lnSpc>
                          <a:spcPts val="1810"/>
                        </a:lnSpc>
                      </a:pPr>
                      <a:endParaRPr lang="it-CH" sz="2000" b="1" dirty="0">
                        <a:solidFill>
                          <a:srgbClr val="FFFFFF"/>
                        </a:solidFill>
                        <a:latin typeface="Arial"/>
                        <a:cs typeface="Arial"/>
                      </a:endParaRPr>
                    </a:p>
                    <a:p>
                      <a:pPr marL="67945">
                        <a:lnSpc>
                          <a:spcPts val="1810"/>
                        </a:lnSpc>
                      </a:pPr>
                      <a:r>
                        <a:rPr sz="2000" b="1" dirty="0" err="1">
                          <a:solidFill>
                            <a:srgbClr val="FFFFFF"/>
                          </a:solidFill>
                          <a:latin typeface="Arial"/>
                          <a:cs typeface="Arial"/>
                        </a:rPr>
                        <a:t>Divisione</a:t>
                      </a:r>
                      <a:r>
                        <a:rPr sz="2000" b="1" spc="-100" dirty="0">
                          <a:solidFill>
                            <a:srgbClr val="FFFFFF"/>
                          </a:solidFill>
                          <a:latin typeface="Arial"/>
                          <a:cs typeface="Arial"/>
                        </a:rPr>
                        <a:t> </a:t>
                      </a:r>
                      <a:r>
                        <a:rPr sz="2000" b="1" dirty="0">
                          <a:solidFill>
                            <a:srgbClr val="FFFFFF"/>
                          </a:solidFill>
                          <a:latin typeface="Arial"/>
                          <a:cs typeface="Arial"/>
                        </a:rPr>
                        <a:t>verticale</a:t>
                      </a:r>
                      <a:r>
                        <a:rPr sz="2000" b="1" spc="-100" dirty="0">
                          <a:solidFill>
                            <a:srgbClr val="FFFFFF"/>
                          </a:solidFill>
                          <a:latin typeface="Arial"/>
                          <a:cs typeface="Arial"/>
                        </a:rPr>
                        <a:t> </a:t>
                      </a:r>
                      <a:r>
                        <a:rPr sz="2000" b="1" spc="-25" dirty="0">
                          <a:solidFill>
                            <a:srgbClr val="FFFFFF"/>
                          </a:solidFill>
                          <a:latin typeface="Arial"/>
                          <a:cs typeface="Arial"/>
                        </a:rPr>
                        <a:t>del</a:t>
                      </a:r>
                      <a:endParaRPr sz="2000" dirty="0">
                        <a:latin typeface="Arial"/>
                        <a:cs typeface="Arial"/>
                      </a:endParaRPr>
                    </a:p>
                    <a:p>
                      <a:pPr marL="67945">
                        <a:lnSpc>
                          <a:spcPct val="100000"/>
                        </a:lnSpc>
                        <a:spcBef>
                          <a:spcPts val="120"/>
                        </a:spcBef>
                      </a:pPr>
                      <a:r>
                        <a:rPr sz="2000" b="1" spc="-10" dirty="0">
                          <a:solidFill>
                            <a:srgbClr val="FFFFFF"/>
                          </a:solidFill>
                          <a:latin typeface="Arial"/>
                          <a:cs typeface="Arial"/>
                        </a:rPr>
                        <a:t>lavoro</a:t>
                      </a:r>
                      <a:endParaRPr sz="2000" dirty="0">
                        <a:latin typeface="Arial"/>
                        <a:cs typeface="Arial"/>
                      </a:endParaRPr>
                    </a:p>
                  </a:txBody>
                  <a:tcPr marL="0" marR="0" marT="0" marB="0">
                    <a:lnL w="19050">
                      <a:solidFill>
                        <a:srgbClr val="FFFFFF"/>
                      </a:solidFill>
                      <a:prstDash val="solid"/>
                    </a:lnL>
                    <a:lnR w="19050">
                      <a:solidFill>
                        <a:srgbClr val="FFFFFF"/>
                      </a:solidFill>
                      <a:prstDash val="solid"/>
                    </a:lnR>
                    <a:lnT w="57150">
                      <a:solidFill>
                        <a:srgbClr val="FFFFFF"/>
                      </a:solidFill>
                      <a:prstDash val="solid"/>
                    </a:lnT>
                    <a:lnB w="19050">
                      <a:solidFill>
                        <a:srgbClr val="FFFFFF"/>
                      </a:solidFill>
                      <a:prstDash val="solid"/>
                    </a:lnB>
                    <a:solidFill>
                      <a:srgbClr val="3333CC"/>
                    </a:solidFill>
                  </a:tcPr>
                </a:tc>
                <a:tc>
                  <a:txBody>
                    <a:bodyPr/>
                    <a:lstStyle/>
                    <a:p>
                      <a:pPr marL="67945">
                        <a:lnSpc>
                          <a:spcPts val="1810"/>
                        </a:lnSpc>
                      </a:pPr>
                      <a:r>
                        <a:rPr sz="1600" spc="-10" dirty="0">
                          <a:latin typeface="Arial" panose="020B0604020202020204" pitchFamily="34" charset="0"/>
                          <a:cs typeface="Arial" panose="020B0604020202020204" pitchFamily="34" charset="0"/>
                        </a:rPr>
                        <a:t>Separazione</a:t>
                      </a:r>
                      <a:r>
                        <a:rPr sz="1600" spc="-4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tra</a:t>
                      </a:r>
                      <a:r>
                        <a:rPr sz="1600" spc="-25" dirty="0">
                          <a:latin typeface="Arial" panose="020B0604020202020204" pitchFamily="34" charset="0"/>
                          <a:cs typeface="Arial" panose="020B0604020202020204" pitchFamily="34" charset="0"/>
                        </a:rPr>
                        <a:t> </a:t>
                      </a:r>
                      <a:r>
                        <a:rPr sz="1600" spc="-10" dirty="0">
                          <a:latin typeface="Arial" panose="020B0604020202020204" pitchFamily="34" charset="0"/>
                          <a:cs typeface="Arial" panose="020B0604020202020204" pitchFamily="34" charset="0"/>
                        </a:rPr>
                        <a:t>ideazione</a:t>
                      </a:r>
                      <a:r>
                        <a:rPr sz="1600" spc="-35" dirty="0">
                          <a:latin typeface="Arial" panose="020B0604020202020204" pitchFamily="34" charset="0"/>
                          <a:cs typeface="Arial" panose="020B0604020202020204" pitchFamily="34" charset="0"/>
                        </a:rPr>
                        <a:t> </a:t>
                      </a:r>
                      <a:r>
                        <a:rPr sz="1600" spc="-50" dirty="0">
                          <a:latin typeface="Arial" panose="020B0604020202020204" pitchFamily="34" charset="0"/>
                          <a:cs typeface="Arial" panose="020B0604020202020204" pitchFamily="34" charset="0"/>
                        </a:rPr>
                        <a:t>e</a:t>
                      </a:r>
                      <a:endParaRPr sz="1600" dirty="0">
                        <a:latin typeface="Arial" panose="020B0604020202020204" pitchFamily="34" charset="0"/>
                        <a:cs typeface="Arial" panose="020B0604020202020204" pitchFamily="34" charset="0"/>
                      </a:endParaRPr>
                    </a:p>
                    <a:p>
                      <a:pPr marL="67945">
                        <a:lnSpc>
                          <a:spcPct val="100000"/>
                        </a:lnSpc>
                        <a:spcBef>
                          <a:spcPts val="120"/>
                        </a:spcBef>
                      </a:pPr>
                      <a:r>
                        <a:rPr sz="1600" spc="-10" dirty="0">
                          <a:latin typeface="Arial" panose="020B0604020202020204" pitchFamily="34" charset="0"/>
                          <a:cs typeface="Arial" panose="020B0604020202020204" pitchFamily="34" charset="0"/>
                        </a:rPr>
                        <a:t>esecuzione</a:t>
                      </a:r>
                      <a:r>
                        <a:rPr sz="1600" spc="-4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del</a:t>
                      </a:r>
                      <a:r>
                        <a:rPr sz="1600" spc="-40" dirty="0">
                          <a:latin typeface="Arial" panose="020B0604020202020204" pitchFamily="34" charset="0"/>
                          <a:cs typeface="Arial" panose="020B0604020202020204" pitchFamily="34" charset="0"/>
                        </a:rPr>
                        <a:t> </a:t>
                      </a:r>
                      <a:r>
                        <a:rPr sz="1600" spc="-10" dirty="0">
                          <a:latin typeface="Arial" panose="020B0604020202020204" pitchFamily="34" charset="0"/>
                          <a:cs typeface="Arial" panose="020B0604020202020204" pitchFamily="34" charset="0"/>
                        </a:rPr>
                        <a:t>lavoro</a:t>
                      </a:r>
                      <a:endParaRPr sz="1600" dirty="0">
                        <a:latin typeface="Arial" panose="020B0604020202020204" pitchFamily="34" charset="0"/>
                        <a:cs typeface="Arial" panose="020B0604020202020204" pitchFamily="34" charset="0"/>
                      </a:endParaRPr>
                    </a:p>
                    <a:p>
                      <a:pPr marL="67945" marR="354330">
                        <a:lnSpc>
                          <a:spcPct val="106500"/>
                        </a:lnSpc>
                        <a:spcBef>
                          <a:spcPts val="10"/>
                        </a:spcBef>
                      </a:pPr>
                      <a:r>
                        <a:rPr sz="1600" dirty="0">
                          <a:latin typeface="Arial" panose="020B0604020202020204" pitchFamily="34" charset="0"/>
                          <a:cs typeface="Arial" panose="020B0604020202020204" pitchFamily="34" charset="0"/>
                        </a:rPr>
                        <a:t>studio</a:t>
                      </a:r>
                      <a:r>
                        <a:rPr sz="1600" spc="-9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sistematico</a:t>
                      </a:r>
                      <a:r>
                        <a:rPr sz="1600" spc="-85" dirty="0">
                          <a:latin typeface="Arial" panose="020B0604020202020204" pitchFamily="34" charset="0"/>
                          <a:cs typeface="Arial" panose="020B0604020202020204" pitchFamily="34" charset="0"/>
                        </a:rPr>
                        <a:t> </a:t>
                      </a:r>
                      <a:r>
                        <a:rPr sz="1600" spc="-25" dirty="0">
                          <a:latin typeface="Arial" panose="020B0604020202020204" pitchFamily="34" charset="0"/>
                          <a:cs typeface="Arial" panose="020B0604020202020204" pitchFamily="34" charset="0"/>
                        </a:rPr>
                        <a:t>del </a:t>
                      </a:r>
                      <a:r>
                        <a:rPr sz="1600" spc="-10" dirty="0">
                          <a:latin typeface="Arial" panose="020B0604020202020204" pitchFamily="34" charset="0"/>
                          <a:cs typeface="Arial" panose="020B0604020202020204" pitchFamily="34" charset="0"/>
                        </a:rPr>
                        <a:t>processo</a:t>
                      </a:r>
                      <a:r>
                        <a:rPr sz="1600" spc="-15" dirty="0">
                          <a:latin typeface="Arial" panose="020B0604020202020204" pitchFamily="34" charset="0"/>
                          <a:cs typeface="Arial" panose="020B0604020202020204" pitchFamily="34" charset="0"/>
                        </a:rPr>
                        <a:t> </a:t>
                      </a:r>
                      <a:r>
                        <a:rPr sz="1600" spc="-10" dirty="0">
                          <a:latin typeface="Arial" panose="020B0604020202020204" pitchFamily="34" charset="0"/>
                          <a:cs typeface="Arial" panose="020B0604020202020204" pitchFamily="34" charset="0"/>
                        </a:rPr>
                        <a:t>lavorativo</a:t>
                      </a:r>
                      <a:r>
                        <a:rPr sz="1600" spc="-30" dirty="0">
                          <a:latin typeface="Arial" panose="020B0604020202020204" pitchFamily="34" charset="0"/>
                          <a:cs typeface="Arial" panose="020B0604020202020204" pitchFamily="34" charset="0"/>
                        </a:rPr>
                        <a:t> </a:t>
                      </a:r>
                      <a:r>
                        <a:rPr sz="1600" spc="-50" dirty="0">
                          <a:latin typeface="Arial" panose="020B0604020202020204" pitchFamily="34" charset="0"/>
                          <a:cs typeface="Arial" panose="020B0604020202020204" pitchFamily="34" charset="0"/>
                        </a:rPr>
                        <a:t>e </a:t>
                      </a:r>
                      <a:r>
                        <a:rPr sz="1600" spc="-10" dirty="0">
                          <a:latin typeface="Arial" panose="020B0604020202020204" pitchFamily="34" charset="0"/>
                          <a:cs typeface="Arial" panose="020B0604020202020204" pitchFamily="34" charset="0"/>
                        </a:rPr>
                        <a:t>definizione</a:t>
                      </a:r>
                      <a:r>
                        <a:rPr sz="1600" spc="-5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di</a:t>
                      </a:r>
                      <a:r>
                        <a:rPr sz="1600" spc="-2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regole</a:t>
                      </a:r>
                      <a:r>
                        <a:rPr sz="1600" spc="-6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e</a:t>
                      </a:r>
                      <a:r>
                        <a:rPr sz="1600" spc="-20" dirty="0">
                          <a:latin typeface="Arial" panose="020B0604020202020204" pitchFamily="34" charset="0"/>
                          <a:cs typeface="Arial" panose="020B0604020202020204" pitchFamily="34" charset="0"/>
                        </a:rPr>
                        <a:t> leggi </a:t>
                      </a:r>
                      <a:r>
                        <a:rPr sz="1600" dirty="0">
                          <a:latin typeface="Arial" panose="020B0604020202020204" pitchFamily="34" charset="0"/>
                          <a:cs typeface="Arial" panose="020B0604020202020204" pitchFamily="34" charset="0"/>
                        </a:rPr>
                        <a:t>per</a:t>
                      </a:r>
                      <a:r>
                        <a:rPr sz="1600" spc="-40" dirty="0">
                          <a:latin typeface="Arial" panose="020B0604020202020204" pitchFamily="34" charset="0"/>
                          <a:cs typeface="Arial" panose="020B0604020202020204" pitchFamily="34" charset="0"/>
                        </a:rPr>
                        <a:t> </a:t>
                      </a:r>
                      <a:r>
                        <a:rPr sz="1600" spc="-10" dirty="0">
                          <a:latin typeface="Arial" panose="020B0604020202020204" pitchFamily="34" charset="0"/>
                          <a:cs typeface="Arial" panose="020B0604020202020204" pitchFamily="34" charset="0"/>
                        </a:rPr>
                        <a:t>eseguire</a:t>
                      </a:r>
                      <a:r>
                        <a:rPr sz="1600" spc="-4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il</a:t>
                      </a:r>
                      <a:r>
                        <a:rPr sz="1600" spc="-10" dirty="0">
                          <a:latin typeface="Arial" panose="020B0604020202020204" pitchFamily="34" charset="0"/>
                          <a:cs typeface="Arial" panose="020B0604020202020204" pitchFamily="34" charset="0"/>
                        </a:rPr>
                        <a:t> lavoro</a:t>
                      </a:r>
                      <a:endParaRPr sz="1600" dirty="0">
                        <a:latin typeface="Arial" panose="020B0604020202020204" pitchFamily="34" charset="0"/>
                        <a:cs typeface="Arial" panose="020B0604020202020204" pitchFamily="34" charset="0"/>
                      </a:endParaRPr>
                    </a:p>
                    <a:p>
                      <a:pPr marL="67945">
                        <a:lnSpc>
                          <a:spcPct val="100000"/>
                        </a:lnSpc>
                        <a:spcBef>
                          <a:spcPts val="130"/>
                        </a:spcBef>
                      </a:pPr>
                      <a:r>
                        <a:rPr lang="it-CH" sz="1600" b="1" dirty="0">
                          <a:latin typeface="Arial" panose="020B0604020202020204" pitchFamily="34" charset="0"/>
                          <a:cs typeface="Arial" panose="020B0604020202020204" pitchFamily="34" charset="0"/>
                        </a:rPr>
                        <a:t>«</a:t>
                      </a:r>
                      <a:r>
                        <a:rPr sz="1600" b="1" dirty="0">
                          <a:latin typeface="Arial" panose="020B0604020202020204" pitchFamily="34" charset="0"/>
                          <a:cs typeface="Arial" panose="020B0604020202020204" pitchFamily="34" charset="0"/>
                        </a:rPr>
                        <a:t>One</a:t>
                      </a:r>
                      <a:r>
                        <a:rPr sz="1600" b="1" spc="-40" dirty="0">
                          <a:latin typeface="Arial" panose="020B0604020202020204" pitchFamily="34" charset="0"/>
                          <a:cs typeface="Arial" panose="020B0604020202020204" pitchFamily="34" charset="0"/>
                        </a:rPr>
                        <a:t> </a:t>
                      </a:r>
                      <a:r>
                        <a:rPr sz="1600" b="1" dirty="0">
                          <a:latin typeface="Arial" panose="020B0604020202020204" pitchFamily="34" charset="0"/>
                          <a:cs typeface="Arial" panose="020B0604020202020204" pitchFamily="34" charset="0"/>
                        </a:rPr>
                        <a:t>best</a:t>
                      </a:r>
                      <a:r>
                        <a:rPr sz="1600" b="1" spc="-60" dirty="0">
                          <a:latin typeface="Arial" panose="020B0604020202020204" pitchFamily="34" charset="0"/>
                          <a:cs typeface="Arial" panose="020B0604020202020204" pitchFamily="34" charset="0"/>
                        </a:rPr>
                        <a:t> </a:t>
                      </a:r>
                      <a:r>
                        <a:rPr sz="1600" b="1" spc="-20" dirty="0">
                          <a:latin typeface="Arial" panose="020B0604020202020204" pitchFamily="34" charset="0"/>
                          <a:cs typeface="Arial" panose="020B0604020202020204" pitchFamily="34" charset="0"/>
                        </a:rPr>
                        <a:t>way</a:t>
                      </a:r>
                      <a:r>
                        <a:rPr lang="it-CH" sz="1600" b="1" spc="-20" dirty="0">
                          <a:latin typeface="Arial" panose="020B0604020202020204" pitchFamily="34" charset="0"/>
                          <a:cs typeface="Arial" panose="020B0604020202020204" pitchFamily="34" charset="0"/>
                        </a:rPr>
                        <a:t>»</a:t>
                      </a:r>
                      <a:endParaRPr sz="1600" b="1" dirty="0">
                        <a:latin typeface="Arial" panose="020B0604020202020204" pitchFamily="34" charset="0"/>
                        <a:cs typeface="Arial" panose="020B0604020202020204" pitchFamily="34" charset="0"/>
                      </a:endParaRPr>
                    </a:p>
                  </a:txBody>
                  <a:tcPr marL="0" marR="0" marT="0" marB="0">
                    <a:lnL w="19050">
                      <a:solidFill>
                        <a:srgbClr val="FFFFFF"/>
                      </a:solidFill>
                      <a:prstDash val="solid"/>
                    </a:lnL>
                    <a:lnR w="19050">
                      <a:solidFill>
                        <a:srgbClr val="FFFFFF"/>
                      </a:solidFill>
                      <a:prstDash val="solid"/>
                    </a:lnR>
                    <a:lnT w="57150">
                      <a:solidFill>
                        <a:srgbClr val="FFFFFF"/>
                      </a:solidFill>
                      <a:prstDash val="solid"/>
                    </a:lnT>
                    <a:lnB w="19050">
                      <a:solidFill>
                        <a:srgbClr val="FFFFFF"/>
                      </a:solidFill>
                      <a:prstDash val="solid"/>
                    </a:lnB>
                    <a:solidFill>
                      <a:srgbClr val="CCCCD6"/>
                    </a:solidFill>
                  </a:tcPr>
                </a:tc>
                <a:tc>
                  <a:txBody>
                    <a:bodyPr/>
                    <a:lstStyle/>
                    <a:p>
                      <a:pPr marL="67945">
                        <a:lnSpc>
                          <a:spcPts val="1810"/>
                        </a:lnSpc>
                      </a:pPr>
                      <a:r>
                        <a:rPr sz="1600" spc="-10" dirty="0">
                          <a:solidFill>
                            <a:schemeClr val="tx1"/>
                          </a:solidFill>
                          <a:latin typeface="Arial" panose="020B0604020202020204" pitchFamily="34" charset="0"/>
                          <a:ea typeface="+mn-ea"/>
                          <a:cs typeface="Arial" panose="020B0604020202020204" pitchFamily="34" charset="0"/>
                        </a:rPr>
                        <a:t>Tempi di apprendistato e di</a:t>
                      </a:r>
                    </a:p>
                    <a:p>
                      <a:pPr marL="67945">
                        <a:lnSpc>
                          <a:spcPct val="100000"/>
                        </a:lnSpc>
                        <a:spcBef>
                          <a:spcPts val="120"/>
                        </a:spcBef>
                      </a:pPr>
                      <a:r>
                        <a:rPr sz="1600" spc="-10" dirty="0">
                          <a:solidFill>
                            <a:schemeClr val="tx1"/>
                          </a:solidFill>
                          <a:latin typeface="Arial" panose="020B0604020202020204" pitchFamily="34" charset="0"/>
                          <a:ea typeface="+mn-ea"/>
                          <a:cs typeface="Arial" panose="020B0604020202020204" pitchFamily="34" charset="0"/>
                        </a:rPr>
                        <a:t>formazione ridotti, gesti</a:t>
                      </a:r>
                    </a:p>
                    <a:p>
                      <a:pPr marL="67945" marR="149225">
                        <a:lnSpc>
                          <a:spcPct val="106500"/>
                        </a:lnSpc>
                        <a:spcBef>
                          <a:spcPts val="10"/>
                        </a:spcBef>
                      </a:pPr>
                      <a:r>
                        <a:rPr sz="1600" spc="-10" dirty="0">
                          <a:solidFill>
                            <a:schemeClr val="tx1"/>
                          </a:solidFill>
                          <a:latin typeface="Arial" panose="020B0604020202020204" pitchFamily="34" charset="0"/>
                          <a:ea typeface="+mn-ea"/>
                          <a:cs typeface="Arial" panose="020B0604020202020204" pitchFamily="34" charset="0"/>
                        </a:rPr>
                        <a:t>monotoni e semplificati, tempi di esecuzione ottimizzati, utilizzo di manodopera poco qualificata e immigrata</a:t>
                      </a:r>
                    </a:p>
                  </a:txBody>
                  <a:tcPr marL="0" marR="0" marT="0" marB="0">
                    <a:lnL w="19050">
                      <a:solidFill>
                        <a:srgbClr val="FFFFFF"/>
                      </a:solidFill>
                      <a:prstDash val="solid"/>
                    </a:lnL>
                    <a:lnR w="19050">
                      <a:solidFill>
                        <a:srgbClr val="FFFFFF"/>
                      </a:solidFill>
                      <a:prstDash val="solid"/>
                    </a:lnR>
                    <a:lnT w="57150">
                      <a:solidFill>
                        <a:srgbClr val="FFFFFF"/>
                      </a:solidFill>
                      <a:prstDash val="solid"/>
                    </a:lnT>
                    <a:lnB w="19050">
                      <a:solidFill>
                        <a:srgbClr val="FFFFFF"/>
                      </a:solidFill>
                      <a:prstDash val="solid"/>
                    </a:lnB>
                    <a:solidFill>
                      <a:srgbClr val="CCCCD6"/>
                    </a:solidFill>
                  </a:tcPr>
                </a:tc>
                <a:extLst>
                  <a:ext uri="{0D108BD9-81ED-4DB2-BD59-A6C34878D82A}">
                    <a16:rowId xmlns:a16="http://schemas.microsoft.com/office/drawing/2014/main" val="10001"/>
                  </a:ext>
                </a:extLst>
              </a:tr>
              <a:tr h="1812399">
                <a:tc>
                  <a:txBody>
                    <a:bodyPr/>
                    <a:lstStyle/>
                    <a:p>
                      <a:pPr marL="67945">
                        <a:lnSpc>
                          <a:spcPts val="1810"/>
                        </a:lnSpc>
                      </a:pPr>
                      <a:endParaRPr lang="it-CH" sz="2000" b="1" dirty="0">
                        <a:solidFill>
                          <a:srgbClr val="FFFFFF"/>
                        </a:solidFill>
                        <a:latin typeface="Arial"/>
                        <a:ea typeface="+mn-ea"/>
                        <a:cs typeface="Arial"/>
                      </a:endParaRPr>
                    </a:p>
                    <a:p>
                      <a:pPr marL="67945">
                        <a:lnSpc>
                          <a:spcPts val="1810"/>
                        </a:lnSpc>
                      </a:pPr>
                      <a:r>
                        <a:rPr sz="2000" b="1" dirty="0" err="1">
                          <a:solidFill>
                            <a:srgbClr val="FFFFFF"/>
                          </a:solidFill>
                          <a:latin typeface="Arial"/>
                          <a:ea typeface="+mn-ea"/>
                          <a:cs typeface="Arial"/>
                        </a:rPr>
                        <a:t>Divisione</a:t>
                      </a:r>
                      <a:r>
                        <a:rPr sz="2000" b="1" dirty="0">
                          <a:solidFill>
                            <a:srgbClr val="FFFFFF"/>
                          </a:solidFill>
                          <a:latin typeface="Arial"/>
                          <a:ea typeface="+mn-ea"/>
                          <a:cs typeface="Arial"/>
                        </a:rPr>
                        <a:t> </a:t>
                      </a:r>
                      <a:r>
                        <a:rPr sz="2000" b="1" dirty="0" err="1">
                          <a:solidFill>
                            <a:srgbClr val="FFFFFF"/>
                          </a:solidFill>
                          <a:latin typeface="Arial"/>
                          <a:ea typeface="+mn-ea"/>
                          <a:cs typeface="Arial"/>
                        </a:rPr>
                        <a:t>orizzontale</a:t>
                      </a:r>
                      <a:r>
                        <a:rPr sz="2000" b="1" dirty="0">
                          <a:solidFill>
                            <a:srgbClr val="FFFFFF"/>
                          </a:solidFill>
                          <a:latin typeface="Arial"/>
                          <a:ea typeface="+mn-ea"/>
                          <a:cs typeface="Arial"/>
                        </a:rPr>
                        <a:t> del</a:t>
                      </a:r>
                      <a:r>
                        <a:rPr lang="it-CH" sz="2000" b="1" dirty="0">
                          <a:solidFill>
                            <a:srgbClr val="FFFFFF"/>
                          </a:solidFill>
                          <a:latin typeface="Arial"/>
                          <a:ea typeface="+mn-ea"/>
                          <a:cs typeface="Arial"/>
                        </a:rPr>
                        <a:t> </a:t>
                      </a:r>
                      <a:r>
                        <a:rPr sz="2000" b="1" dirty="0" err="1">
                          <a:solidFill>
                            <a:srgbClr val="FFFFFF"/>
                          </a:solidFill>
                          <a:latin typeface="Arial"/>
                          <a:ea typeface="+mn-ea"/>
                          <a:cs typeface="Arial"/>
                        </a:rPr>
                        <a:t>lavoro</a:t>
                      </a:r>
                      <a:endParaRPr sz="2000" b="1" dirty="0">
                        <a:solidFill>
                          <a:srgbClr val="FFFFFF"/>
                        </a:solidFill>
                        <a:latin typeface="Arial"/>
                        <a:ea typeface="+mn-ea"/>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3333CC"/>
                    </a:solidFill>
                  </a:tcPr>
                </a:tc>
                <a:tc>
                  <a:txBody>
                    <a:bodyPr/>
                    <a:lstStyle/>
                    <a:p>
                      <a:pPr marL="67945">
                        <a:lnSpc>
                          <a:spcPts val="1810"/>
                        </a:lnSpc>
                      </a:pPr>
                      <a:r>
                        <a:rPr sz="1600" spc="-10" dirty="0">
                          <a:solidFill>
                            <a:schemeClr val="tx1"/>
                          </a:solidFill>
                          <a:latin typeface="Arial" panose="020B0604020202020204" pitchFamily="34" charset="0"/>
                          <a:ea typeface="+mn-ea"/>
                          <a:cs typeface="Arial" panose="020B0604020202020204" pitchFamily="34" charset="0"/>
                        </a:rPr>
                        <a:t>Parcellizzazione e</a:t>
                      </a:r>
                    </a:p>
                    <a:p>
                      <a:pPr marL="67945">
                        <a:lnSpc>
                          <a:spcPct val="100000"/>
                        </a:lnSpc>
                        <a:spcBef>
                          <a:spcPts val="120"/>
                        </a:spcBef>
                      </a:pPr>
                      <a:r>
                        <a:rPr sz="1600" spc="-10" dirty="0">
                          <a:solidFill>
                            <a:schemeClr val="tx1"/>
                          </a:solidFill>
                          <a:latin typeface="Arial" panose="020B0604020202020204" pitchFamily="34" charset="0"/>
                          <a:ea typeface="+mn-ea"/>
                          <a:cs typeface="Arial" panose="020B0604020202020204" pitchFamily="34" charset="0"/>
                        </a:rPr>
                        <a:t>specializzazione dei compiti</a:t>
                      </a:r>
                    </a:p>
                    <a:p>
                      <a:pPr marL="67945" marR="299085">
                        <a:lnSpc>
                          <a:spcPct val="106400"/>
                        </a:lnSpc>
                        <a:spcBef>
                          <a:spcPts val="10"/>
                        </a:spcBef>
                      </a:pPr>
                      <a:r>
                        <a:rPr sz="1600" spc="-10" dirty="0">
                          <a:solidFill>
                            <a:schemeClr val="tx1"/>
                          </a:solidFill>
                          <a:latin typeface="Arial" panose="020B0604020202020204" pitchFamily="34" charset="0"/>
                          <a:ea typeface="+mn-ea"/>
                          <a:cs typeface="Arial" panose="020B0604020202020204" pitchFamily="34" charset="0"/>
                        </a:rPr>
                        <a:t>Selezione e reclutamento secondo attitudini </a:t>
                      </a:r>
                      <a:r>
                        <a:rPr sz="1600" spc="-10" dirty="0" err="1">
                          <a:solidFill>
                            <a:schemeClr val="tx1"/>
                          </a:solidFill>
                          <a:latin typeface="Arial" panose="020B0604020202020204" pitchFamily="34" charset="0"/>
                          <a:ea typeface="+mn-ea"/>
                          <a:cs typeface="Arial" panose="020B0604020202020204" pitchFamily="34" charset="0"/>
                        </a:rPr>
                        <a:t>particolari</a:t>
                      </a:r>
                      <a:r>
                        <a:rPr sz="1600" spc="-10" dirty="0">
                          <a:solidFill>
                            <a:schemeClr val="tx1"/>
                          </a:solidFill>
                          <a:latin typeface="Arial" panose="020B0604020202020204" pitchFamily="34" charset="0"/>
                          <a:ea typeface="+mn-ea"/>
                          <a:cs typeface="Arial" panose="020B0604020202020204" pitchFamily="34" charset="0"/>
                        </a:rPr>
                        <a:t> </a:t>
                      </a:r>
                      <a:endParaRPr lang="it-CH" sz="1600" spc="-10" dirty="0">
                        <a:solidFill>
                          <a:schemeClr val="tx1"/>
                        </a:solidFill>
                        <a:latin typeface="Arial" panose="020B0604020202020204" pitchFamily="34" charset="0"/>
                        <a:ea typeface="+mn-ea"/>
                        <a:cs typeface="Arial" panose="020B0604020202020204" pitchFamily="34" charset="0"/>
                      </a:endParaRPr>
                    </a:p>
                    <a:p>
                      <a:pPr marL="67945" marR="299085">
                        <a:lnSpc>
                          <a:spcPct val="106400"/>
                        </a:lnSpc>
                        <a:spcBef>
                          <a:spcPts val="10"/>
                        </a:spcBef>
                      </a:pPr>
                      <a:r>
                        <a:rPr lang="it-CH" sz="1600" b="1" spc="-10" dirty="0">
                          <a:solidFill>
                            <a:schemeClr val="tx1"/>
                          </a:solidFill>
                          <a:latin typeface="Arial" panose="020B0604020202020204" pitchFamily="34" charset="0"/>
                          <a:ea typeface="+mn-ea"/>
                          <a:cs typeface="Arial" panose="020B0604020202020204" pitchFamily="34" charset="0"/>
                        </a:rPr>
                        <a:t>«T</a:t>
                      </a:r>
                      <a:r>
                        <a:rPr sz="1600" b="1" spc="-10" dirty="0">
                          <a:solidFill>
                            <a:schemeClr val="tx1"/>
                          </a:solidFill>
                          <a:latin typeface="Arial" panose="020B0604020202020204" pitchFamily="34" charset="0"/>
                          <a:ea typeface="+mn-ea"/>
                          <a:cs typeface="Arial" panose="020B0604020202020204" pitchFamily="34" charset="0"/>
                        </a:rPr>
                        <a:t>he right man at the right place</a:t>
                      </a:r>
                      <a:r>
                        <a:rPr lang="it-CH" sz="1600" b="1" spc="-10" dirty="0">
                          <a:solidFill>
                            <a:schemeClr val="tx1"/>
                          </a:solidFill>
                          <a:latin typeface="Arial" panose="020B0604020202020204" pitchFamily="34" charset="0"/>
                          <a:ea typeface="+mn-ea"/>
                          <a:cs typeface="Arial" panose="020B0604020202020204" pitchFamily="34" charset="0"/>
                        </a:rPr>
                        <a:t>»</a:t>
                      </a:r>
                      <a:endParaRPr sz="1600" b="1" spc="-10" dirty="0">
                        <a:solidFill>
                          <a:schemeClr val="tx1"/>
                        </a:solidFill>
                        <a:latin typeface="Arial" panose="020B0604020202020204" pitchFamily="34" charset="0"/>
                        <a:ea typeface="+mn-ea"/>
                        <a:cs typeface="Arial" panose="020B0604020202020204" pitchFamily="34" charset="0"/>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6E6EB"/>
                    </a:solidFill>
                  </a:tcPr>
                </a:tc>
                <a:tc>
                  <a:txBody>
                    <a:bodyPr/>
                    <a:lstStyle/>
                    <a:p>
                      <a:pPr marL="67945">
                        <a:lnSpc>
                          <a:spcPts val="1810"/>
                        </a:lnSpc>
                      </a:pPr>
                      <a:r>
                        <a:rPr sz="1600" spc="-10" dirty="0">
                          <a:solidFill>
                            <a:schemeClr val="tx1"/>
                          </a:solidFill>
                          <a:latin typeface="Arial" panose="020B0604020202020204" pitchFamily="34" charset="0"/>
                          <a:ea typeface="+mn-ea"/>
                          <a:cs typeface="Arial" panose="020B0604020202020204" pitchFamily="34" charset="0"/>
                        </a:rPr>
                        <a:t>Diminuzione delle perdite di</a:t>
                      </a:r>
                    </a:p>
                    <a:p>
                      <a:pPr marL="67945">
                        <a:lnSpc>
                          <a:spcPct val="100000"/>
                        </a:lnSpc>
                        <a:spcBef>
                          <a:spcPts val="120"/>
                        </a:spcBef>
                      </a:pPr>
                      <a:r>
                        <a:rPr sz="1600" spc="-10" dirty="0">
                          <a:solidFill>
                            <a:schemeClr val="tx1"/>
                          </a:solidFill>
                          <a:latin typeface="Arial" panose="020B0604020202020204" pitchFamily="34" charset="0"/>
                          <a:ea typeface="+mn-ea"/>
                          <a:cs typeface="Arial" panose="020B0604020202020204" pitchFamily="34" charset="0"/>
                        </a:rPr>
                        <a:t>tempo e dei tempi di</a:t>
                      </a:r>
                    </a:p>
                    <a:p>
                      <a:pPr marL="67945" marR="238125">
                        <a:lnSpc>
                          <a:spcPct val="106400"/>
                        </a:lnSpc>
                        <a:spcBef>
                          <a:spcPts val="10"/>
                        </a:spcBef>
                      </a:pPr>
                      <a:r>
                        <a:rPr sz="1600" spc="-10" dirty="0">
                          <a:solidFill>
                            <a:schemeClr val="tx1"/>
                          </a:solidFill>
                          <a:latin typeface="Arial" panose="020B0604020202020204" pitchFamily="34" charset="0"/>
                          <a:ea typeface="+mn-ea"/>
                          <a:cs typeface="Arial" panose="020B0604020202020204" pitchFamily="34" charset="0"/>
                        </a:rPr>
                        <a:t>spostamento per eseguire compiti diversi (operai non si spostano) controllo sui tempi</a:t>
                      </a: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6E6EB"/>
                    </a:solidFill>
                  </a:tcPr>
                </a:tc>
                <a:extLst>
                  <a:ext uri="{0D108BD9-81ED-4DB2-BD59-A6C34878D82A}">
                    <a16:rowId xmlns:a16="http://schemas.microsoft.com/office/drawing/2014/main" val="10002"/>
                  </a:ext>
                </a:extLst>
              </a:tr>
              <a:tr h="679900">
                <a:tc>
                  <a:txBody>
                    <a:bodyPr/>
                    <a:lstStyle/>
                    <a:p>
                      <a:pPr marL="67945">
                        <a:lnSpc>
                          <a:spcPts val="1810"/>
                        </a:lnSpc>
                      </a:pPr>
                      <a:r>
                        <a:rPr sz="2000" b="1" dirty="0">
                          <a:solidFill>
                            <a:srgbClr val="FFFFFF"/>
                          </a:solidFill>
                          <a:latin typeface="Arial"/>
                          <a:ea typeface="+mn-ea"/>
                          <a:cs typeface="Arial"/>
                        </a:rPr>
                        <a:t>Sistema di </a:t>
                      </a:r>
                      <a:r>
                        <a:rPr sz="2000" b="1" dirty="0" err="1">
                          <a:solidFill>
                            <a:srgbClr val="FFFFFF"/>
                          </a:solidFill>
                          <a:latin typeface="Arial"/>
                          <a:ea typeface="+mn-ea"/>
                          <a:cs typeface="Arial"/>
                        </a:rPr>
                        <a:t>controllo</a:t>
                      </a:r>
                      <a:r>
                        <a:rPr sz="2000" b="1" dirty="0">
                          <a:solidFill>
                            <a:srgbClr val="FFFFFF"/>
                          </a:solidFill>
                          <a:latin typeface="Arial"/>
                          <a:ea typeface="+mn-ea"/>
                          <a:cs typeface="Arial"/>
                        </a:rPr>
                        <a:t> del</a:t>
                      </a:r>
                      <a:r>
                        <a:rPr lang="it-CH" sz="2000" b="1" dirty="0">
                          <a:solidFill>
                            <a:srgbClr val="FFFFFF"/>
                          </a:solidFill>
                          <a:latin typeface="Arial"/>
                          <a:ea typeface="+mn-ea"/>
                          <a:cs typeface="Arial"/>
                        </a:rPr>
                        <a:t> </a:t>
                      </a:r>
                      <a:r>
                        <a:rPr sz="2000" b="1" dirty="0" err="1">
                          <a:solidFill>
                            <a:srgbClr val="FFFFFF"/>
                          </a:solidFill>
                          <a:latin typeface="Arial"/>
                          <a:ea typeface="+mn-ea"/>
                          <a:cs typeface="Arial"/>
                        </a:rPr>
                        <a:t>lavoro</a:t>
                      </a:r>
                      <a:endParaRPr sz="2000" b="1" dirty="0">
                        <a:solidFill>
                          <a:srgbClr val="FFFFFF"/>
                        </a:solidFill>
                        <a:latin typeface="Arial"/>
                        <a:ea typeface="+mn-ea"/>
                        <a:cs typeface="Arial"/>
                      </a:endParaRPr>
                    </a:p>
                  </a:txBody>
                  <a:tcPr marL="0" marR="0" marT="0" marB="0">
                    <a:lnL w="19050">
                      <a:solidFill>
                        <a:srgbClr val="FFFFFF"/>
                      </a:solidFill>
                      <a:prstDash val="soli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3333CC"/>
                    </a:solidFill>
                  </a:tcPr>
                </a:tc>
                <a:tc>
                  <a:txBody>
                    <a:bodyPr/>
                    <a:lstStyle/>
                    <a:p>
                      <a:pPr marL="67945">
                        <a:lnSpc>
                          <a:spcPts val="1810"/>
                        </a:lnSpc>
                      </a:pPr>
                      <a:r>
                        <a:rPr sz="1600" spc="-10" dirty="0">
                          <a:solidFill>
                            <a:schemeClr val="tx1"/>
                          </a:solidFill>
                          <a:latin typeface="Arial" panose="020B0604020202020204" pitchFamily="34" charset="0"/>
                          <a:ea typeface="+mn-ea"/>
                          <a:cs typeface="Arial" panose="020B0604020202020204" pitchFamily="34" charset="0"/>
                        </a:rPr>
                        <a:t>Capireparto incaricati di</a:t>
                      </a:r>
                    </a:p>
                    <a:p>
                      <a:pPr marL="67945">
                        <a:lnSpc>
                          <a:spcPct val="100000"/>
                        </a:lnSpc>
                        <a:spcBef>
                          <a:spcPts val="120"/>
                        </a:spcBef>
                      </a:pPr>
                      <a:r>
                        <a:rPr sz="1600" spc="-10" dirty="0">
                          <a:solidFill>
                            <a:schemeClr val="tx1"/>
                          </a:solidFill>
                          <a:latin typeface="Arial" panose="020B0604020202020204" pitchFamily="34" charset="0"/>
                          <a:ea typeface="+mn-ea"/>
                          <a:cs typeface="Arial" panose="020B0604020202020204" pitchFamily="34" charset="0"/>
                        </a:rPr>
                        <a:t>controllare il lavoro</a:t>
                      </a:r>
                    </a:p>
                  </a:txBody>
                  <a:tcPr marL="0" marR="0" marT="0"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E6E6EB"/>
                    </a:solidFill>
                  </a:tcPr>
                </a:tc>
                <a:tc>
                  <a:txBody>
                    <a:bodyPr/>
                    <a:lstStyle/>
                    <a:p>
                      <a:pPr marL="67945">
                        <a:lnSpc>
                          <a:spcPts val="1810"/>
                        </a:lnSpc>
                      </a:pPr>
                      <a:r>
                        <a:rPr sz="1600" spc="-10" dirty="0">
                          <a:solidFill>
                            <a:schemeClr val="tx1"/>
                          </a:solidFill>
                          <a:latin typeface="Arial" panose="020B0604020202020204" pitchFamily="34" charset="0"/>
                          <a:ea typeface="+mn-ea"/>
                          <a:cs typeface="Arial" panose="020B0604020202020204" pitchFamily="34" charset="0"/>
                        </a:rPr>
                        <a:t>Diminuzione tempi morti e dei</a:t>
                      </a:r>
                    </a:p>
                    <a:p>
                      <a:pPr marL="67945">
                        <a:lnSpc>
                          <a:spcPct val="100000"/>
                        </a:lnSpc>
                        <a:spcBef>
                          <a:spcPts val="120"/>
                        </a:spcBef>
                      </a:pPr>
                      <a:r>
                        <a:rPr sz="1600" spc="-10" dirty="0">
                          <a:solidFill>
                            <a:schemeClr val="tx1"/>
                          </a:solidFill>
                          <a:latin typeface="Arial" panose="020B0604020202020204" pitchFamily="34" charset="0"/>
                          <a:ea typeface="+mn-ea"/>
                          <a:cs typeface="Arial" panose="020B0604020202020204" pitchFamily="34" charset="0"/>
                        </a:rPr>
                        <a:t>difetti di qualità</a:t>
                      </a:r>
                    </a:p>
                  </a:txBody>
                  <a:tcPr marL="0" marR="0" marT="0" marB="0">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6E6EB"/>
                    </a:solidFill>
                  </a:tcPr>
                </a:tc>
                <a:extLst>
                  <a:ext uri="{0D108BD9-81ED-4DB2-BD59-A6C34878D82A}">
                    <a16:rowId xmlns:a16="http://schemas.microsoft.com/office/drawing/2014/main" val="10004"/>
                  </a:ext>
                </a:extLst>
              </a:tr>
            </a:tbl>
          </a:graphicData>
        </a:graphic>
      </p:graphicFrame>
      <p:sp>
        <p:nvSpPr>
          <p:cNvPr id="3" name="object 3"/>
          <p:cNvSpPr txBox="1">
            <a:spLocks noGrp="1"/>
          </p:cNvSpPr>
          <p:nvPr>
            <p:ph type="title"/>
          </p:nvPr>
        </p:nvSpPr>
        <p:spPr>
          <a:xfrm>
            <a:off x="1147100" y="397245"/>
            <a:ext cx="4105910" cy="530225"/>
          </a:xfrm>
          <a:prstGeom prst="rect">
            <a:avLst/>
          </a:prstGeom>
        </p:spPr>
        <p:txBody>
          <a:bodyPr vert="horz" wrap="square" lIns="0" tIns="13970" rIns="0" bIns="0" rtlCol="0">
            <a:spAutoFit/>
          </a:bodyPr>
          <a:lstStyle/>
          <a:p>
            <a:pPr marL="12700">
              <a:lnSpc>
                <a:spcPct val="100000"/>
              </a:lnSpc>
              <a:spcBef>
                <a:spcPts val="110"/>
              </a:spcBef>
            </a:pPr>
            <a:r>
              <a:rPr sz="3300" dirty="0"/>
              <a:t>I</a:t>
            </a:r>
            <a:r>
              <a:rPr sz="3300" spc="-10" dirty="0"/>
              <a:t> </a:t>
            </a:r>
            <a:r>
              <a:rPr sz="3300" dirty="0"/>
              <a:t>principi</a:t>
            </a:r>
            <a:r>
              <a:rPr sz="3300" spc="20" dirty="0"/>
              <a:t> </a:t>
            </a:r>
            <a:r>
              <a:rPr sz="3300" dirty="0"/>
              <a:t>del</a:t>
            </a:r>
            <a:r>
              <a:rPr sz="3300" spc="-10" dirty="0"/>
              <a:t> taylorismo</a:t>
            </a:r>
            <a:endParaRPr sz="33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CF2ACE-C642-6A9F-5481-C8EF6BA7E1F7}"/>
              </a:ext>
            </a:extLst>
          </p:cNvPr>
          <p:cNvSpPr>
            <a:spLocks noGrp="1"/>
          </p:cNvSpPr>
          <p:nvPr>
            <p:ph type="title"/>
          </p:nvPr>
        </p:nvSpPr>
        <p:spPr>
          <a:xfrm>
            <a:off x="542857" y="733425"/>
            <a:ext cx="9396113" cy="407804"/>
          </a:xfrm>
        </p:spPr>
        <p:txBody>
          <a:bodyPr/>
          <a:lstStyle/>
          <a:p>
            <a:r>
              <a:rPr lang="it-CH" dirty="0"/>
              <a:t>Il fordismo</a:t>
            </a:r>
          </a:p>
        </p:txBody>
      </p:sp>
      <p:sp>
        <p:nvSpPr>
          <p:cNvPr id="3" name="Segnaposto testo 2">
            <a:extLst>
              <a:ext uri="{FF2B5EF4-FFF2-40B4-BE49-F238E27FC236}">
                <a16:creationId xmlns:a16="http://schemas.microsoft.com/office/drawing/2014/main" id="{2D5EF346-0F40-2D20-10D4-9340EF07C637}"/>
              </a:ext>
            </a:extLst>
          </p:cNvPr>
          <p:cNvSpPr>
            <a:spLocks noGrp="1"/>
          </p:cNvSpPr>
          <p:nvPr>
            <p:ph type="body" idx="1"/>
          </p:nvPr>
        </p:nvSpPr>
        <p:spPr>
          <a:xfrm>
            <a:off x="317500" y="1141229"/>
            <a:ext cx="9730500" cy="8272492"/>
          </a:xfrm>
        </p:spPr>
        <p:txBody>
          <a:bodyPr/>
          <a:lstStyle/>
          <a:p>
            <a:r>
              <a:rPr lang="it-CH" sz="2000" b="1" dirty="0"/>
              <a:t>Henry</a:t>
            </a:r>
            <a:r>
              <a:rPr lang="it-CH" sz="2000" b="1" spc="-5" dirty="0"/>
              <a:t> </a:t>
            </a:r>
            <a:r>
              <a:rPr lang="it-CH" sz="2000" b="1" dirty="0"/>
              <a:t>Ford</a:t>
            </a:r>
            <a:r>
              <a:rPr lang="it-CH" sz="2000" b="1" spc="-5" dirty="0"/>
              <a:t> </a:t>
            </a:r>
            <a:r>
              <a:rPr lang="it-CH" sz="2000" b="1" dirty="0"/>
              <a:t>(1863</a:t>
            </a:r>
            <a:r>
              <a:rPr lang="it-CH" sz="2000" b="1" spc="-5" dirty="0"/>
              <a:t> </a:t>
            </a:r>
            <a:r>
              <a:rPr lang="it-CH" sz="2000" b="1" spc="-15" dirty="0"/>
              <a:t>-</a:t>
            </a:r>
            <a:r>
              <a:rPr lang="it-CH" sz="2000" b="1" spc="-10" dirty="0"/>
              <a:t>1947)</a:t>
            </a:r>
          </a:p>
          <a:p>
            <a:endParaRPr lang="it-CH" sz="2000" spc="-10" dirty="0"/>
          </a:p>
          <a:p>
            <a:r>
              <a:rPr lang="it-CH" sz="2000" spc="-10" dirty="0">
                <a:latin typeface="Arial" panose="020B0604020202020204" pitchFamily="34" charset="0"/>
                <a:cs typeface="Arial" panose="020B0604020202020204" pitchFamily="34" charset="0"/>
              </a:rPr>
              <a:t>Fordismo viene associato all’invenzione della catena di montaggio che di fatto rappresenta la massima espansione dei principi del taylorismo, il </a:t>
            </a:r>
            <a:r>
              <a:rPr lang="it-CH" sz="2000" b="1" spc="-10" dirty="0">
                <a:latin typeface="Arial" panose="020B0604020202020204" pitchFamily="34" charset="0"/>
                <a:cs typeface="Arial" panose="020B0604020202020204" pitchFamily="34" charset="0"/>
              </a:rPr>
              <a:t>controllo sul lavoro </a:t>
            </a:r>
            <a:r>
              <a:rPr lang="it-CH" sz="2000" spc="-10" dirty="0">
                <a:latin typeface="Arial" panose="020B0604020202020204" pitchFamily="34" charset="0"/>
                <a:cs typeface="Arial" panose="020B0604020202020204" pitchFamily="34" charset="0"/>
              </a:rPr>
              <a:t>non è più umano, ma diventa </a:t>
            </a:r>
            <a:r>
              <a:rPr lang="it-CH" sz="2000" b="1" spc="-10" dirty="0">
                <a:latin typeface="Arial" panose="020B0604020202020204" pitchFamily="34" charset="0"/>
                <a:cs typeface="Arial" panose="020B0604020202020204" pitchFamily="34" charset="0"/>
              </a:rPr>
              <a:t>tecnico basato sul ritmo della macchina</a:t>
            </a:r>
            <a:r>
              <a:rPr lang="it-CH" sz="2000" spc="-10" dirty="0">
                <a:latin typeface="Arial" panose="020B0604020202020204" pitchFamily="34" charset="0"/>
                <a:cs typeface="Arial" panose="020B0604020202020204" pitchFamily="34" charset="0"/>
              </a:rPr>
              <a:t>.</a:t>
            </a:r>
          </a:p>
          <a:p>
            <a:endParaRPr lang="it-CH" sz="2000" spc="-10" dirty="0">
              <a:latin typeface="Arial" panose="020B0604020202020204" pitchFamily="34" charset="0"/>
              <a:cs typeface="Arial" panose="020B0604020202020204" pitchFamily="34" charset="0"/>
            </a:endParaRPr>
          </a:p>
          <a:p>
            <a:r>
              <a:rPr lang="it-CH" sz="2000" b="1" spc="-10" dirty="0">
                <a:latin typeface="Arial" panose="020B0604020202020204" pitchFamily="34" charset="0"/>
                <a:cs typeface="Arial" panose="020B0604020202020204" pitchFamily="34" charset="0"/>
              </a:rPr>
              <a:t>Ma il fordismo non è anche:</a:t>
            </a:r>
          </a:p>
          <a:p>
            <a:endParaRPr lang="it-CH" sz="2000" spc="-10" dirty="0">
              <a:latin typeface="Arial" panose="020B0604020202020204" pitchFamily="34" charset="0"/>
              <a:cs typeface="Arial" panose="020B0604020202020204" pitchFamily="34" charset="0"/>
            </a:endParaRPr>
          </a:p>
          <a:p>
            <a:pPr>
              <a:buFont typeface="Wingdings" panose="05000000000000000000" pitchFamily="2" charset="2"/>
              <a:buChar char="ü"/>
              <a:defRPr/>
            </a:pPr>
            <a:r>
              <a:rPr lang="it-CH" sz="2000" dirty="0"/>
              <a:t>Produzione di massa di beni standardizzati   </a:t>
            </a:r>
          </a:p>
          <a:p>
            <a:pPr>
              <a:buFont typeface="Wingdings" panose="05000000000000000000" pitchFamily="2" charset="2"/>
              <a:buChar char="ü"/>
              <a:defRPr/>
            </a:pPr>
            <a:r>
              <a:rPr lang="it-CH" sz="2000" dirty="0"/>
              <a:t>(offerta                 domanda )</a:t>
            </a:r>
          </a:p>
          <a:p>
            <a:pPr>
              <a:buFont typeface="Wingdings" panose="05000000000000000000" pitchFamily="2" charset="2"/>
              <a:buChar char="ü"/>
              <a:defRPr/>
            </a:pPr>
            <a:endParaRPr lang="it-CH" sz="2000" dirty="0"/>
          </a:p>
          <a:p>
            <a:pPr>
              <a:buFont typeface="Wingdings" panose="05000000000000000000" pitchFamily="2" charset="2"/>
              <a:buChar char="ü"/>
              <a:defRPr/>
            </a:pPr>
            <a:r>
              <a:rPr lang="it-CH" sz="2000" dirty="0"/>
              <a:t>Intervento statale in economia (politiche si sostegno alla domanda) </a:t>
            </a:r>
          </a:p>
          <a:p>
            <a:pPr>
              <a:buFont typeface="Wingdings" panose="05000000000000000000" pitchFamily="2" charset="2"/>
              <a:buChar char="ü"/>
              <a:defRPr/>
            </a:pPr>
            <a:endParaRPr lang="it-CH" sz="2000" dirty="0"/>
          </a:p>
          <a:p>
            <a:pPr>
              <a:buFont typeface="Wingdings" panose="05000000000000000000" pitchFamily="2" charset="2"/>
              <a:buChar char="ü"/>
              <a:defRPr/>
            </a:pPr>
            <a:r>
              <a:rPr lang="it-CH" sz="2000" dirty="0"/>
              <a:t>Stabilità dei rapporti di impiego e aumento dei salari (per manodopera maschile e bianca)</a:t>
            </a:r>
          </a:p>
          <a:p>
            <a:pPr>
              <a:buFont typeface="Wingdings" panose="05000000000000000000" pitchFamily="2" charset="2"/>
              <a:buChar char="ü"/>
              <a:defRPr/>
            </a:pPr>
            <a:endParaRPr lang="it-CH" sz="2000" dirty="0"/>
          </a:p>
          <a:p>
            <a:pPr>
              <a:buFont typeface="Wingdings" panose="05000000000000000000" pitchFamily="2" charset="2"/>
              <a:buChar char="ü"/>
              <a:defRPr/>
            </a:pPr>
            <a:r>
              <a:rPr lang="it-CH" sz="2000" dirty="0"/>
              <a:t>Nascita del welfare state sostenuto dal </a:t>
            </a:r>
            <a:r>
              <a:rPr lang="it-CH" sz="2000" b="1" dirty="0"/>
              <a:t>modello famigliare tradizionale </a:t>
            </a:r>
            <a:r>
              <a:rPr lang="it-CH" sz="2000" dirty="0"/>
              <a:t>(lavoro salariato delle donne limitato ad alcuni settori e categorie sociali)</a:t>
            </a:r>
          </a:p>
          <a:p>
            <a:pPr>
              <a:defRPr/>
            </a:pPr>
            <a:endParaRPr lang="it-CH" sz="2000" dirty="0"/>
          </a:p>
          <a:p>
            <a:pPr>
              <a:buFont typeface="Wingdings" panose="05000000000000000000" pitchFamily="2" charset="2"/>
              <a:buChar char="ü"/>
              <a:defRPr/>
            </a:pPr>
            <a:r>
              <a:rPr lang="it-CH" sz="2000" dirty="0"/>
              <a:t>Nascita dei sindacati e del diritto collettivo sul lavoro</a:t>
            </a:r>
          </a:p>
          <a:p>
            <a:endParaRPr lang="it-CH" sz="2000" spc="-10" dirty="0"/>
          </a:p>
          <a:p>
            <a:endParaRPr lang="it-CH" sz="2000" spc="-10" dirty="0"/>
          </a:p>
          <a:p>
            <a:endParaRPr lang="it-CH" sz="2000" spc="-10" dirty="0"/>
          </a:p>
          <a:p>
            <a:endParaRPr lang="it-CH" sz="2000" spc="-10" dirty="0"/>
          </a:p>
          <a:p>
            <a:endParaRPr lang="it-CH" sz="2000" spc="-10" dirty="0"/>
          </a:p>
          <a:p>
            <a:endParaRPr lang="it-CH" dirty="0"/>
          </a:p>
        </p:txBody>
      </p:sp>
      <p:sp>
        <p:nvSpPr>
          <p:cNvPr id="4" name="Freccia destra rientrata 3">
            <a:extLst>
              <a:ext uri="{FF2B5EF4-FFF2-40B4-BE49-F238E27FC236}">
                <a16:creationId xmlns:a16="http://schemas.microsoft.com/office/drawing/2014/main" id="{8D37BAFE-F613-4ECE-77FD-FAD59A55A817}"/>
              </a:ext>
            </a:extLst>
          </p:cNvPr>
          <p:cNvSpPr/>
          <p:nvPr/>
        </p:nvSpPr>
        <p:spPr>
          <a:xfrm>
            <a:off x="1536700" y="4010025"/>
            <a:ext cx="762000" cy="152400"/>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CH"/>
          </a:p>
        </p:txBody>
      </p:sp>
    </p:spTree>
    <p:extLst>
      <p:ext uri="{BB962C8B-B14F-4D97-AF65-F5344CB8AC3E}">
        <p14:creationId xmlns:p14="http://schemas.microsoft.com/office/powerpoint/2010/main" val="1266642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1C975A3-AACD-9EB4-50BD-A297DED00E32}"/>
              </a:ext>
            </a:extLst>
          </p:cNvPr>
          <p:cNvSpPr>
            <a:spLocks noGrp="1"/>
          </p:cNvSpPr>
          <p:nvPr>
            <p:ph type="title"/>
          </p:nvPr>
        </p:nvSpPr>
        <p:spPr>
          <a:xfrm>
            <a:off x="648643" y="724999"/>
            <a:ext cx="9396113" cy="1223412"/>
          </a:xfrm>
        </p:spPr>
        <p:txBody>
          <a:bodyPr/>
          <a:lstStyle/>
          <a:p>
            <a:r>
              <a:rPr lang="it-CH" dirty="0"/>
              <a:t>Antonio Gramsci (1891-1937)</a:t>
            </a:r>
            <a:br>
              <a:rPr lang="it-CH" dirty="0"/>
            </a:br>
            <a:br>
              <a:rPr lang="it-CH" dirty="0"/>
            </a:br>
            <a:r>
              <a:rPr lang="it-CH" dirty="0"/>
              <a:t>Americanismo e fordismo, ne </a:t>
            </a:r>
            <a:r>
              <a:rPr lang="it-CH" i="1" dirty="0"/>
              <a:t>I Quaderni dal carcere</a:t>
            </a:r>
          </a:p>
        </p:txBody>
      </p:sp>
      <p:sp>
        <p:nvSpPr>
          <p:cNvPr id="3" name="Segnaposto testo 2">
            <a:extLst>
              <a:ext uri="{FF2B5EF4-FFF2-40B4-BE49-F238E27FC236}">
                <a16:creationId xmlns:a16="http://schemas.microsoft.com/office/drawing/2014/main" id="{B01EB8BB-57C8-B6D6-7580-2514B6C4982E}"/>
              </a:ext>
            </a:extLst>
          </p:cNvPr>
          <p:cNvSpPr>
            <a:spLocks noGrp="1"/>
          </p:cNvSpPr>
          <p:nvPr>
            <p:ph type="body" idx="1"/>
          </p:nvPr>
        </p:nvSpPr>
        <p:spPr>
          <a:xfrm>
            <a:off x="648643" y="2257424"/>
            <a:ext cx="9399356" cy="1846659"/>
          </a:xfrm>
        </p:spPr>
        <p:txBody>
          <a:bodyPr/>
          <a:lstStyle/>
          <a:p>
            <a:r>
              <a:rPr lang="it-CH" sz="2400" i="1" dirty="0">
                <a:latin typeface="Arial" panose="020B0604020202020204" pitchFamily="34" charset="0"/>
                <a:cs typeface="Arial" panose="020B0604020202020204" pitchFamily="34" charset="0"/>
              </a:rPr>
              <a:t>«La coercizione deve essere combinata con la persuasione e il consenso, e questo può essere ottenuto, nelle forme della società data, da una maggiore retribuzione, che permette un determinato tenore di vita, capace di mantenere e reintegrare le forze logorate dal nuovo tipo di fatica» </a:t>
            </a:r>
            <a:r>
              <a:rPr lang="it-CH" sz="1400" dirty="0">
                <a:latin typeface="Arial" panose="020B0604020202020204" pitchFamily="34" charset="0"/>
                <a:cs typeface="Arial" panose="020B0604020202020204" pitchFamily="34" charset="0"/>
              </a:rPr>
              <a:t>(Gramsci, 2007, p.2165)</a:t>
            </a:r>
          </a:p>
        </p:txBody>
      </p:sp>
    </p:spTree>
    <p:extLst>
      <p:ext uri="{BB962C8B-B14F-4D97-AF65-F5344CB8AC3E}">
        <p14:creationId xmlns:p14="http://schemas.microsoft.com/office/powerpoint/2010/main" val="2520557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8BCA1E77-3551-55D4-44C9-61B5862BB5C0}"/>
              </a:ext>
            </a:extLst>
          </p:cNvPr>
          <p:cNvSpPr>
            <a:spLocks noGrp="1"/>
          </p:cNvSpPr>
          <p:nvPr>
            <p:ph type="body" idx="1"/>
          </p:nvPr>
        </p:nvSpPr>
        <p:spPr>
          <a:xfrm>
            <a:off x="645400" y="2009652"/>
            <a:ext cx="9402599" cy="300082"/>
          </a:xfrm>
        </p:spPr>
        <p:txBody>
          <a:bodyPr/>
          <a:lstStyle/>
          <a:p>
            <a:r>
              <a:rPr lang="it-CH" dirty="0"/>
              <a:t>https://www.youtube.com/watch?v=58OL_KLgYaw</a:t>
            </a:r>
          </a:p>
        </p:txBody>
      </p:sp>
    </p:spTree>
    <p:extLst>
      <p:ext uri="{BB962C8B-B14F-4D97-AF65-F5344CB8AC3E}">
        <p14:creationId xmlns:p14="http://schemas.microsoft.com/office/powerpoint/2010/main" val="440584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5038" y="188500"/>
            <a:ext cx="339788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a:cs typeface="Arial"/>
              </a:rPr>
              <a:t>DEASS</a:t>
            </a:r>
            <a:r>
              <a:rPr sz="1300" spc="50" dirty="0">
                <a:latin typeface="Arial"/>
                <a:cs typeface="Arial"/>
              </a:rPr>
              <a:t> </a:t>
            </a:r>
            <a:r>
              <a:rPr sz="1300" dirty="0">
                <a:latin typeface="Arial"/>
                <a:cs typeface="Arial"/>
              </a:rPr>
              <a:t>/</a:t>
            </a:r>
            <a:r>
              <a:rPr sz="1300" spc="10" dirty="0">
                <a:latin typeface="Arial"/>
                <a:cs typeface="Arial"/>
              </a:rPr>
              <a:t> </a:t>
            </a:r>
            <a:r>
              <a:rPr sz="1300" dirty="0">
                <a:latin typeface="Arial"/>
                <a:cs typeface="Arial"/>
              </a:rPr>
              <a:t>Titolo</a:t>
            </a:r>
            <a:r>
              <a:rPr sz="1300" spc="15" dirty="0">
                <a:latin typeface="Arial"/>
                <a:cs typeface="Arial"/>
              </a:rPr>
              <a:t> </a:t>
            </a:r>
            <a:r>
              <a:rPr sz="1300" dirty="0">
                <a:latin typeface="Arial"/>
                <a:cs typeface="Arial"/>
              </a:rPr>
              <a:t>principale della</a:t>
            </a:r>
            <a:r>
              <a:rPr sz="1300" spc="40" dirty="0">
                <a:latin typeface="Arial"/>
                <a:cs typeface="Arial"/>
              </a:rPr>
              <a:t> </a:t>
            </a:r>
            <a:r>
              <a:rPr sz="1300" spc="-10" dirty="0">
                <a:latin typeface="Arial"/>
                <a:cs typeface="Arial"/>
              </a:rPr>
              <a:t>presentazione</a:t>
            </a:r>
            <a:endParaRPr sz="1300">
              <a:latin typeface="Arial"/>
              <a:cs typeface="Arial"/>
            </a:endParaRPr>
          </a:p>
        </p:txBody>
      </p:sp>
      <p:pic>
        <p:nvPicPr>
          <p:cNvPr id="3" name="object 3"/>
          <p:cNvPicPr/>
          <p:nvPr/>
        </p:nvPicPr>
        <p:blipFill>
          <a:blip r:embed="rId2" cstate="print"/>
          <a:stretch>
            <a:fillRect/>
          </a:stretch>
        </p:blipFill>
        <p:spPr>
          <a:xfrm>
            <a:off x="684276" y="225552"/>
            <a:ext cx="527304" cy="156972"/>
          </a:xfrm>
          <a:prstGeom prst="rect">
            <a:avLst/>
          </a:prstGeom>
        </p:spPr>
      </p:pic>
      <p:sp>
        <p:nvSpPr>
          <p:cNvPr id="4" name="object 4"/>
          <p:cNvSpPr txBox="1">
            <a:spLocks noGrp="1"/>
          </p:cNvSpPr>
          <p:nvPr>
            <p:ph type="title"/>
          </p:nvPr>
        </p:nvSpPr>
        <p:spPr>
          <a:xfrm>
            <a:off x="648643" y="724999"/>
            <a:ext cx="9396113" cy="1834919"/>
          </a:xfrm>
          <a:prstGeom prst="rect">
            <a:avLst/>
          </a:prstGeom>
        </p:spPr>
        <p:txBody>
          <a:bodyPr vert="horz" wrap="square" lIns="0" tIns="201733" rIns="0" bIns="0" rtlCol="0">
            <a:spAutoFit/>
          </a:bodyPr>
          <a:lstStyle/>
          <a:p>
            <a:pPr marL="12700">
              <a:lnSpc>
                <a:spcPct val="100000"/>
              </a:lnSpc>
              <a:spcBef>
                <a:spcPts val="90"/>
              </a:spcBef>
            </a:pPr>
            <a:r>
              <a:rPr sz="5300" dirty="0">
                <a:solidFill>
                  <a:srgbClr val="FFFFFF"/>
                </a:solidFill>
              </a:rPr>
              <a:t>Critiche</a:t>
            </a:r>
            <a:r>
              <a:rPr sz="5300" spc="-114" dirty="0">
                <a:solidFill>
                  <a:srgbClr val="FFFFFF"/>
                </a:solidFill>
              </a:rPr>
              <a:t> </a:t>
            </a:r>
            <a:r>
              <a:rPr sz="5300" dirty="0">
                <a:solidFill>
                  <a:srgbClr val="FFFFFF"/>
                </a:solidFill>
              </a:rPr>
              <a:t>e</a:t>
            </a:r>
            <a:r>
              <a:rPr sz="5300" spc="-60" dirty="0">
                <a:solidFill>
                  <a:srgbClr val="FFFFFF"/>
                </a:solidFill>
              </a:rPr>
              <a:t> </a:t>
            </a:r>
            <a:r>
              <a:rPr sz="5300" dirty="0">
                <a:solidFill>
                  <a:srgbClr val="FFFFFF"/>
                </a:solidFill>
              </a:rPr>
              <a:t>crisi</a:t>
            </a:r>
            <a:r>
              <a:rPr sz="5300" spc="-85" dirty="0">
                <a:solidFill>
                  <a:srgbClr val="FFFFFF"/>
                </a:solidFill>
              </a:rPr>
              <a:t> </a:t>
            </a:r>
            <a:r>
              <a:rPr sz="5300" dirty="0">
                <a:solidFill>
                  <a:srgbClr val="FFFFFF"/>
                </a:solidFill>
              </a:rPr>
              <a:t>del</a:t>
            </a:r>
            <a:r>
              <a:rPr sz="5300" spc="-135" dirty="0">
                <a:solidFill>
                  <a:srgbClr val="FFFFFF"/>
                </a:solidFill>
              </a:rPr>
              <a:t> </a:t>
            </a:r>
            <a:r>
              <a:rPr lang="it-CH" sz="5300" spc="-135" dirty="0">
                <a:solidFill>
                  <a:srgbClr val="FFFFFF"/>
                </a:solidFill>
              </a:rPr>
              <a:t>sistema taylorista-</a:t>
            </a:r>
            <a:r>
              <a:rPr lang="it-CH" sz="5300" spc="-10" dirty="0">
                <a:solidFill>
                  <a:srgbClr val="FFFFFF"/>
                </a:solidFill>
              </a:rPr>
              <a:t>fordista</a:t>
            </a:r>
            <a:endParaRPr sz="5300" dirty="0"/>
          </a:p>
        </p:txBody>
      </p:sp>
      <p:sp>
        <p:nvSpPr>
          <p:cNvPr id="5" name="object 5"/>
          <p:cNvSpPr txBox="1"/>
          <p:nvPr/>
        </p:nvSpPr>
        <p:spPr>
          <a:xfrm>
            <a:off x="9923849" y="193002"/>
            <a:ext cx="118745" cy="226695"/>
          </a:xfrm>
          <a:prstGeom prst="rect">
            <a:avLst/>
          </a:prstGeom>
        </p:spPr>
        <p:txBody>
          <a:bodyPr vert="horz" wrap="square" lIns="0" tIns="15240" rIns="0" bIns="0" rtlCol="0">
            <a:spAutoFit/>
          </a:bodyPr>
          <a:lstStyle/>
          <a:p>
            <a:pPr marL="12700">
              <a:lnSpc>
                <a:spcPct val="100000"/>
              </a:lnSpc>
              <a:spcBef>
                <a:spcPts val="120"/>
              </a:spcBef>
            </a:pPr>
            <a:r>
              <a:rPr sz="1300" spc="-50" dirty="0">
                <a:latin typeface="Arial"/>
                <a:cs typeface="Arial"/>
              </a:rPr>
              <a:t>6</a:t>
            </a:r>
            <a:endParaRPr sz="13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5038" y="188500"/>
            <a:ext cx="339788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a:cs typeface="Arial"/>
              </a:rPr>
              <a:t>DEASS</a:t>
            </a:r>
            <a:r>
              <a:rPr sz="1300" spc="50" dirty="0">
                <a:latin typeface="Arial"/>
                <a:cs typeface="Arial"/>
              </a:rPr>
              <a:t> </a:t>
            </a:r>
            <a:r>
              <a:rPr sz="1300" dirty="0">
                <a:latin typeface="Arial"/>
                <a:cs typeface="Arial"/>
              </a:rPr>
              <a:t>/</a:t>
            </a:r>
            <a:r>
              <a:rPr sz="1300" spc="10" dirty="0">
                <a:latin typeface="Arial"/>
                <a:cs typeface="Arial"/>
              </a:rPr>
              <a:t> </a:t>
            </a:r>
            <a:r>
              <a:rPr sz="1300" dirty="0">
                <a:latin typeface="Arial"/>
                <a:cs typeface="Arial"/>
              </a:rPr>
              <a:t>Titolo</a:t>
            </a:r>
            <a:r>
              <a:rPr sz="1300" spc="15" dirty="0">
                <a:latin typeface="Arial"/>
                <a:cs typeface="Arial"/>
              </a:rPr>
              <a:t> </a:t>
            </a:r>
            <a:r>
              <a:rPr sz="1300" dirty="0">
                <a:latin typeface="Arial"/>
                <a:cs typeface="Arial"/>
              </a:rPr>
              <a:t>principale della</a:t>
            </a:r>
            <a:r>
              <a:rPr sz="1300" spc="40" dirty="0">
                <a:latin typeface="Arial"/>
                <a:cs typeface="Arial"/>
              </a:rPr>
              <a:t> </a:t>
            </a:r>
            <a:r>
              <a:rPr sz="1300" spc="-10" dirty="0">
                <a:latin typeface="Arial"/>
                <a:cs typeface="Arial"/>
              </a:rPr>
              <a:t>presentazione</a:t>
            </a:r>
            <a:endParaRPr sz="1300">
              <a:latin typeface="Arial"/>
              <a:cs typeface="Arial"/>
            </a:endParaRPr>
          </a:p>
        </p:txBody>
      </p:sp>
      <p:pic>
        <p:nvPicPr>
          <p:cNvPr id="3" name="object 3"/>
          <p:cNvPicPr/>
          <p:nvPr/>
        </p:nvPicPr>
        <p:blipFill>
          <a:blip r:embed="rId2" cstate="print"/>
          <a:stretch>
            <a:fillRect/>
          </a:stretch>
        </p:blipFill>
        <p:spPr>
          <a:xfrm>
            <a:off x="684276" y="225552"/>
            <a:ext cx="527304" cy="156972"/>
          </a:xfrm>
          <a:prstGeom prst="rect">
            <a:avLst/>
          </a:prstGeom>
        </p:spPr>
      </p:pic>
      <p:sp>
        <p:nvSpPr>
          <p:cNvPr id="4" name="object 4"/>
          <p:cNvSpPr txBox="1">
            <a:spLocks noGrp="1"/>
          </p:cNvSpPr>
          <p:nvPr>
            <p:ph type="title"/>
          </p:nvPr>
        </p:nvSpPr>
        <p:spPr>
          <a:prstGeom prst="rect">
            <a:avLst/>
          </a:prstGeom>
        </p:spPr>
        <p:txBody>
          <a:bodyPr vert="horz" wrap="square" lIns="0" tIns="213659" rIns="0" bIns="0" rtlCol="0">
            <a:spAutoFit/>
          </a:bodyPr>
          <a:lstStyle/>
          <a:p>
            <a:pPr marL="30480">
              <a:lnSpc>
                <a:spcPct val="100000"/>
              </a:lnSpc>
              <a:spcBef>
                <a:spcPts val="100"/>
              </a:spcBef>
            </a:pPr>
            <a:r>
              <a:rPr dirty="0"/>
              <a:t>Dai</a:t>
            </a:r>
            <a:r>
              <a:rPr spc="-40" dirty="0"/>
              <a:t> </a:t>
            </a:r>
            <a:r>
              <a:rPr dirty="0"/>
              <a:t>sociologi</a:t>
            </a:r>
            <a:r>
              <a:rPr spc="-40" dirty="0"/>
              <a:t> </a:t>
            </a:r>
            <a:r>
              <a:rPr dirty="0"/>
              <a:t>del</a:t>
            </a:r>
            <a:r>
              <a:rPr spc="-65" dirty="0"/>
              <a:t> </a:t>
            </a:r>
            <a:r>
              <a:rPr spc="-10" dirty="0"/>
              <a:t>lavoro</a:t>
            </a:r>
          </a:p>
        </p:txBody>
      </p:sp>
      <p:sp>
        <p:nvSpPr>
          <p:cNvPr id="5" name="object 5"/>
          <p:cNvSpPr txBox="1"/>
          <p:nvPr/>
        </p:nvSpPr>
        <p:spPr>
          <a:xfrm>
            <a:off x="648643" y="1647826"/>
            <a:ext cx="8783406" cy="3952044"/>
          </a:xfrm>
          <a:prstGeom prst="rect">
            <a:avLst/>
          </a:prstGeom>
        </p:spPr>
        <p:txBody>
          <a:bodyPr vert="horz" wrap="square" lIns="0" tIns="16510" rIns="0" bIns="0" rtlCol="0">
            <a:spAutoFit/>
          </a:bodyPr>
          <a:lstStyle/>
          <a:p>
            <a:pPr marL="12700">
              <a:lnSpc>
                <a:spcPct val="100000"/>
              </a:lnSpc>
              <a:spcBef>
                <a:spcPts val="130"/>
              </a:spcBef>
            </a:pPr>
            <a:r>
              <a:rPr sz="2000" b="1" dirty="0">
                <a:latin typeface="Arial"/>
                <a:cs typeface="Arial"/>
              </a:rPr>
              <a:t>Scuola</a:t>
            </a:r>
            <a:r>
              <a:rPr sz="2000" b="1" spc="70" dirty="0">
                <a:latin typeface="Arial"/>
                <a:cs typeface="Arial"/>
              </a:rPr>
              <a:t> </a:t>
            </a:r>
            <a:r>
              <a:rPr sz="2000" b="1" dirty="0">
                <a:latin typeface="Arial"/>
                <a:cs typeface="Arial"/>
              </a:rPr>
              <a:t>delle</a:t>
            </a:r>
            <a:r>
              <a:rPr sz="2000" b="1" spc="95" dirty="0">
                <a:latin typeface="Arial"/>
                <a:cs typeface="Arial"/>
              </a:rPr>
              <a:t> </a:t>
            </a:r>
            <a:r>
              <a:rPr sz="2000" b="1" dirty="0">
                <a:latin typeface="Arial"/>
                <a:cs typeface="Arial"/>
              </a:rPr>
              <a:t>relazioni</a:t>
            </a:r>
            <a:r>
              <a:rPr sz="2000" b="1" spc="85" dirty="0">
                <a:latin typeface="Arial"/>
                <a:cs typeface="Arial"/>
              </a:rPr>
              <a:t> </a:t>
            </a:r>
            <a:r>
              <a:rPr sz="2000" b="1" spc="-10" dirty="0">
                <a:latin typeface="Arial"/>
                <a:cs typeface="Arial"/>
              </a:rPr>
              <a:t>umane.</a:t>
            </a:r>
            <a:endParaRPr sz="2000" dirty="0">
              <a:latin typeface="Arial"/>
              <a:cs typeface="Arial"/>
            </a:endParaRPr>
          </a:p>
          <a:p>
            <a:pPr>
              <a:lnSpc>
                <a:spcPct val="100000"/>
              </a:lnSpc>
              <a:spcBef>
                <a:spcPts val="1105"/>
              </a:spcBef>
            </a:pPr>
            <a:endParaRPr sz="2000" dirty="0">
              <a:latin typeface="Arial"/>
              <a:cs typeface="Arial"/>
            </a:endParaRPr>
          </a:p>
          <a:p>
            <a:pPr marL="389255" marR="5080" indent="-377190">
              <a:lnSpc>
                <a:spcPct val="101499"/>
              </a:lnSpc>
              <a:buChar char="•"/>
              <a:tabLst>
                <a:tab pos="390525" algn="l"/>
              </a:tabLst>
            </a:pPr>
            <a:r>
              <a:rPr sz="2000" dirty="0">
                <a:latin typeface="Arial"/>
                <a:cs typeface="Arial"/>
              </a:rPr>
              <a:t>Esperimenti</a:t>
            </a:r>
            <a:r>
              <a:rPr sz="2000" spc="50" dirty="0">
                <a:latin typeface="Arial"/>
                <a:cs typeface="Arial"/>
              </a:rPr>
              <a:t> </a:t>
            </a:r>
            <a:r>
              <a:rPr sz="2000" dirty="0">
                <a:latin typeface="Arial"/>
                <a:cs typeface="Arial"/>
              </a:rPr>
              <a:t>di</a:t>
            </a:r>
            <a:r>
              <a:rPr sz="2000" spc="55" dirty="0">
                <a:latin typeface="Arial"/>
                <a:cs typeface="Arial"/>
              </a:rPr>
              <a:t> </a:t>
            </a:r>
            <a:r>
              <a:rPr sz="2000" dirty="0">
                <a:latin typeface="Arial"/>
                <a:cs typeface="Arial"/>
              </a:rPr>
              <a:t>Elton</a:t>
            </a:r>
            <a:r>
              <a:rPr sz="2000" spc="70" dirty="0">
                <a:latin typeface="Arial"/>
                <a:cs typeface="Arial"/>
              </a:rPr>
              <a:t> </a:t>
            </a:r>
            <a:r>
              <a:rPr sz="2000" dirty="0">
                <a:latin typeface="Arial"/>
                <a:cs typeface="Arial"/>
              </a:rPr>
              <a:t>Mayo</a:t>
            </a:r>
            <a:r>
              <a:rPr sz="2000" spc="95" dirty="0">
                <a:latin typeface="Arial"/>
                <a:cs typeface="Arial"/>
              </a:rPr>
              <a:t> </a:t>
            </a:r>
            <a:r>
              <a:rPr sz="2000" dirty="0">
                <a:latin typeface="Arial"/>
                <a:cs typeface="Arial"/>
              </a:rPr>
              <a:t>negli</a:t>
            </a:r>
            <a:r>
              <a:rPr sz="2000" spc="30" dirty="0">
                <a:latin typeface="Arial"/>
                <a:cs typeface="Arial"/>
              </a:rPr>
              <a:t> </a:t>
            </a:r>
            <a:r>
              <a:rPr sz="2000" dirty="0">
                <a:latin typeface="Arial"/>
                <a:cs typeface="Arial"/>
              </a:rPr>
              <a:t>stabilimenti</a:t>
            </a:r>
            <a:r>
              <a:rPr sz="2000" spc="55" dirty="0">
                <a:latin typeface="Arial"/>
                <a:cs typeface="Arial"/>
              </a:rPr>
              <a:t> </a:t>
            </a:r>
            <a:r>
              <a:rPr sz="2000" dirty="0">
                <a:latin typeface="Arial"/>
                <a:cs typeface="Arial"/>
              </a:rPr>
              <a:t>della</a:t>
            </a:r>
            <a:r>
              <a:rPr sz="2000" spc="70" dirty="0">
                <a:latin typeface="Arial"/>
                <a:cs typeface="Arial"/>
              </a:rPr>
              <a:t> </a:t>
            </a:r>
            <a:r>
              <a:rPr sz="2000" dirty="0">
                <a:latin typeface="Arial"/>
                <a:cs typeface="Arial"/>
              </a:rPr>
              <a:t>Wester</a:t>
            </a:r>
            <a:r>
              <a:rPr sz="2000" spc="55" dirty="0">
                <a:latin typeface="Arial"/>
                <a:cs typeface="Arial"/>
              </a:rPr>
              <a:t> </a:t>
            </a:r>
            <a:r>
              <a:rPr sz="2000" dirty="0">
                <a:latin typeface="Arial"/>
                <a:cs typeface="Arial"/>
              </a:rPr>
              <a:t>Elettric</a:t>
            </a:r>
            <a:r>
              <a:rPr sz="2000" spc="55" dirty="0">
                <a:latin typeface="Arial"/>
                <a:cs typeface="Arial"/>
              </a:rPr>
              <a:t> </a:t>
            </a:r>
            <a:r>
              <a:rPr sz="2000" dirty="0">
                <a:latin typeface="Arial"/>
                <a:cs typeface="Arial"/>
              </a:rPr>
              <a:t>a</a:t>
            </a:r>
            <a:r>
              <a:rPr sz="2000" spc="70" dirty="0">
                <a:latin typeface="Arial"/>
                <a:cs typeface="Arial"/>
              </a:rPr>
              <a:t> </a:t>
            </a:r>
            <a:r>
              <a:rPr sz="2000" spc="-10" dirty="0">
                <a:latin typeface="Arial"/>
                <a:cs typeface="Arial"/>
              </a:rPr>
              <a:t>Chicago 	(1924)</a:t>
            </a:r>
            <a:endParaRPr sz="2000" dirty="0">
              <a:latin typeface="Arial"/>
              <a:cs typeface="Arial"/>
            </a:endParaRPr>
          </a:p>
          <a:p>
            <a:pPr>
              <a:lnSpc>
                <a:spcPct val="100000"/>
              </a:lnSpc>
              <a:spcBef>
                <a:spcPts val="1140"/>
              </a:spcBef>
              <a:buFont typeface="Arial"/>
              <a:buChar char="•"/>
            </a:pPr>
            <a:endParaRPr sz="2000" dirty="0">
              <a:latin typeface="Arial"/>
              <a:cs typeface="Arial"/>
            </a:endParaRPr>
          </a:p>
          <a:p>
            <a:pPr marL="12700">
              <a:lnSpc>
                <a:spcPct val="100000"/>
              </a:lnSpc>
              <a:spcBef>
                <a:spcPts val="5"/>
              </a:spcBef>
            </a:pPr>
            <a:r>
              <a:rPr sz="2000" b="1" dirty="0">
                <a:latin typeface="Arial"/>
                <a:cs typeface="Arial"/>
              </a:rPr>
              <a:t>Le</a:t>
            </a:r>
            <a:r>
              <a:rPr sz="2000" b="1" spc="60" dirty="0">
                <a:latin typeface="Arial"/>
                <a:cs typeface="Arial"/>
              </a:rPr>
              <a:t> </a:t>
            </a:r>
            <a:r>
              <a:rPr sz="2000" b="1" dirty="0">
                <a:latin typeface="Arial"/>
                <a:cs typeface="Arial"/>
              </a:rPr>
              <a:t>ricerche</a:t>
            </a:r>
            <a:r>
              <a:rPr sz="2000" b="1" spc="65" dirty="0">
                <a:latin typeface="Arial"/>
                <a:cs typeface="Arial"/>
              </a:rPr>
              <a:t> </a:t>
            </a:r>
            <a:r>
              <a:rPr sz="2000" b="1" dirty="0">
                <a:latin typeface="Arial"/>
                <a:cs typeface="Arial"/>
              </a:rPr>
              <a:t>del</a:t>
            </a:r>
            <a:r>
              <a:rPr sz="2000" b="1" spc="60" dirty="0">
                <a:latin typeface="Arial"/>
                <a:cs typeface="Arial"/>
              </a:rPr>
              <a:t> </a:t>
            </a:r>
            <a:r>
              <a:rPr sz="2000" b="1" dirty="0">
                <a:latin typeface="Arial"/>
                <a:cs typeface="Arial"/>
              </a:rPr>
              <a:t>Tavistock</a:t>
            </a:r>
            <a:r>
              <a:rPr sz="2000" b="1" spc="85" dirty="0">
                <a:latin typeface="Arial"/>
                <a:cs typeface="Arial"/>
              </a:rPr>
              <a:t> </a:t>
            </a:r>
            <a:r>
              <a:rPr sz="2000" b="1" dirty="0">
                <a:latin typeface="Arial"/>
                <a:cs typeface="Arial"/>
              </a:rPr>
              <a:t>Institute</a:t>
            </a:r>
            <a:r>
              <a:rPr sz="2000" b="1" spc="65" dirty="0">
                <a:latin typeface="Arial"/>
                <a:cs typeface="Arial"/>
              </a:rPr>
              <a:t> </a:t>
            </a:r>
            <a:r>
              <a:rPr sz="2000" b="1" dirty="0">
                <a:latin typeface="Arial"/>
                <a:cs typeface="Arial"/>
              </a:rPr>
              <a:t>di</a:t>
            </a:r>
            <a:r>
              <a:rPr sz="2000" b="1" spc="60" dirty="0">
                <a:latin typeface="Arial"/>
                <a:cs typeface="Arial"/>
              </a:rPr>
              <a:t> </a:t>
            </a:r>
            <a:r>
              <a:rPr sz="2000" b="1" dirty="0">
                <a:latin typeface="Arial"/>
                <a:cs typeface="Arial"/>
              </a:rPr>
              <a:t>Londra</a:t>
            </a:r>
            <a:r>
              <a:rPr sz="2000" b="1" spc="65" dirty="0">
                <a:latin typeface="Arial"/>
                <a:cs typeface="Arial"/>
              </a:rPr>
              <a:t> </a:t>
            </a:r>
            <a:r>
              <a:rPr sz="2000" b="1" spc="-10" dirty="0">
                <a:latin typeface="Arial"/>
                <a:cs typeface="Arial"/>
              </a:rPr>
              <a:t>(1946).</a:t>
            </a:r>
            <a:endParaRPr sz="2000" dirty="0">
              <a:latin typeface="Arial"/>
              <a:cs typeface="Arial"/>
            </a:endParaRPr>
          </a:p>
          <a:p>
            <a:pPr marL="389255" indent="-376555">
              <a:lnSpc>
                <a:spcPct val="100000"/>
              </a:lnSpc>
              <a:spcBef>
                <a:spcPts val="515"/>
              </a:spcBef>
              <a:buChar char="•"/>
              <a:tabLst>
                <a:tab pos="389255" algn="l"/>
              </a:tabLst>
            </a:pPr>
            <a:r>
              <a:rPr sz="2000" dirty="0">
                <a:latin typeface="Arial"/>
                <a:cs typeface="Arial"/>
              </a:rPr>
              <a:t>Fabbrica</a:t>
            </a:r>
            <a:r>
              <a:rPr sz="2000" spc="50" dirty="0">
                <a:latin typeface="Arial"/>
                <a:cs typeface="Arial"/>
              </a:rPr>
              <a:t> </a:t>
            </a:r>
            <a:r>
              <a:rPr sz="2000" dirty="0">
                <a:latin typeface="Arial"/>
                <a:cs typeface="Arial"/>
              </a:rPr>
              <a:t>è</a:t>
            </a:r>
            <a:r>
              <a:rPr sz="2000" spc="70" dirty="0">
                <a:latin typeface="Arial"/>
                <a:cs typeface="Arial"/>
              </a:rPr>
              <a:t> </a:t>
            </a:r>
            <a:r>
              <a:rPr sz="2000" dirty="0">
                <a:latin typeface="Arial"/>
                <a:cs typeface="Arial"/>
              </a:rPr>
              <a:t>un</a:t>
            </a:r>
            <a:r>
              <a:rPr sz="2000" spc="50" dirty="0">
                <a:latin typeface="Arial"/>
                <a:cs typeface="Arial"/>
              </a:rPr>
              <a:t> </a:t>
            </a:r>
            <a:r>
              <a:rPr sz="2000" dirty="0">
                <a:latin typeface="Arial"/>
                <a:cs typeface="Arial"/>
              </a:rPr>
              <a:t>sistema</a:t>
            </a:r>
            <a:r>
              <a:rPr sz="2000" spc="50" dirty="0">
                <a:latin typeface="Arial"/>
                <a:cs typeface="Arial"/>
              </a:rPr>
              <a:t> </a:t>
            </a:r>
            <a:r>
              <a:rPr sz="2000" spc="-10" dirty="0">
                <a:latin typeface="Arial"/>
                <a:cs typeface="Arial"/>
              </a:rPr>
              <a:t>sociotecnico</a:t>
            </a:r>
            <a:endParaRPr sz="2000" dirty="0">
              <a:latin typeface="Arial"/>
              <a:cs typeface="Arial"/>
            </a:endParaRPr>
          </a:p>
          <a:p>
            <a:pPr>
              <a:lnSpc>
                <a:spcPct val="100000"/>
              </a:lnSpc>
              <a:spcBef>
                <a:spcPts val="1140"/>
              </a:spcBef>
              <a:buFont typeface="Arial"/>
              <a:buChar char="•"/>
            </a:pPr>
            <a:endParaRPr sz="2000" dirty="0">
              <a:latin typeface="Arial"/>
              <a:cs typeface="Arial"/>
            </a:endParaRPr>
          </a:p>
          <a:p>
            <a:pPr marL="12700">
              <a:lnSpc>
                <a:spcPct val="100000"/>
              </a:lnSpc>
            </a:pPr>
            <a:r>
              <a:rPr sz="2000" b="1" dirty="0">
                <a:latin typeface="Arial"/>
                <a:cs typeface="Arial"/>
              </a:rPr>
              <a:t>Alain</a:t>
            </a:r>
            <a:r>
              <a:rPr sz="2000" b="1" spc="65" dirty="0">
                <a:latin typeface="Arial"/>
                <a:cs typeface="Arial"/>
              </a:rPr>
              <a:t> </a:t>
            </a:r>
            <a:r>
              <a:rPr sz="2000" b="1" dirty="0">
                <a:latin typeface="Arial"/>
                <a:cs typeface="Arial"/>
              </a:rPr>
              <a:t>Tourrain</a:t>
            </a:r>
            <a:r>
              <a:rPr sz="2000" b="1" spc="85" dirty="0">
                <a:latin typeface="Arial"/>
                <a:cs typeface="Arial"/>
              </a:rPr>
              <a:t> </a:t>
            </a:r>
            <a:r>
              <a:rPr sz="2000" b="1" dirty="0">
                <a:latin typeface="Arial"/>
                <a:cs typeface="Arial"/>
              </a:rPr>
              <a:t>“L'evoluzione</a:t>
            </a:r>
            <a:r>
              <a:rPr sz="2000" b="1" spc="100" dirty="0">
                <a:latin typeface="Arial"/>
                <a:cs typeface="Arial"/>
              </a:rPr>
              <a:t> </a:t>
            </a:r>
            <a:r>
              <a:rPr sz="2000" b="1" dirty="0">
                <a:latin typeface="Arial"/>
                <a:cs typeface="Arial"/>
              </a:rPr>
              <a:t>del</a:t>
            </a:r>
            <a:r>
              <a:rPr sz="2000" b="1" spc="70" dirty="0">
                <a:latin typeface="Arial"/>
                <a:cs typeface="Arial"/>
              </a:rPr>
              <a:t> </a:t>
            </a:r>
            <a:r>
              <a:rPr sz="2000" b="1" dirty="0">
                <a:latin typeface="Arial"/>
                <a:cs typeface="Arial"/>
              </a:rPr>
              <a:t>lavoro</a:t>
            </a:r>
            <a:r>
              <a:rPr sz="2000" b="1" spc="110" dirty="0">
                <a:latin typeface="Arial"/>
                <a:cs typeface="Arial"/>
              </a:rPr>
              <a:t> </a:t>
            </a:r>
            <a:r>
              <a:rPr sz="2000" b="1" dirty="0">
                <a:latin typeface="Arial"/>
                <a:cs typeface="Arial"/>
              </a:rPr>
              <a:t>operaio</a:t>
            </a:r>
            <a:r>
              <a:rPr sz="2000" b="1" spc="85" dirty="0">
                <a:latin typeface="Arial"/>
                <a:cs typeface="Arial"/>
              </a:rPr>
              <a:t> </a:t>
            </a:r>
            <a:r>
              <a:rPr sz="2000" b="1" dirty="0">
                <a:latin typeface="Arial"/>
                <a:cs typeface="Arial"/>
              </a:rPr>
              <a:t>alla</a:t>
            </a:r>
            <a:r>
              <a:rPr sz="2000" b="1" spc="75" dirty="0">
                <a:latin typeface="Arial"/>
                <a:cs typeface="Arial"/>
              </a:rPr>
              <a:t> </a:t>
            </a:r>
            <a:r>
              <a:rPr sz="2000" b="1" dirty="0">
                <a:latin typeface="Arial"/>
                <a:cs typeface="Arial"/>
              </a:rPr>
              <a:t>Renault”</a:t>
            </a:r>
            <a:r>
              <a:rPr sz="2000" b="1" spc="65" dirty="0">
                <a:latin typeface="Arial"/>
                <a:cs typeface="Arial"/>
              </a:rPr>
              <a:t> </a:t>
            </a:r>
            <a:r>
              <a:rPr sz="2000" b="1" spc="-10" dirty="0">
                <a:latin typeface="Arial"/>
                <a:cs typeface="Arial"/>
              </a:rPr>
              <a:t>(1955)</a:t>
            </a:r>
            <a:endParaRPr sz="2000" dirty="0">
              <a:latin typeface="Arial"/>
              <a:cs typeface="Arial"/>
            </a:endParaRPr>
          </a:p>
          <a:p>
            <a:pPr marL="389255" marR="170815" indent="-377190">
              <a:lnSpc>
                <a:spcPct val="102099"/>
              </a:lnSpc>
              <a:spcBef>
                <a:spcPts val="465"/>
              </a:spcBef>
              <a:buChar char="•"/>
              <a:tabLst>
                <a:tab pos="390525" algn="l"/>
              </a:tabLst>
            </a:pPr>
            <a:r>
              <a:rPr sz="2000" dirty="0">
                <a:latin typeface="Arial"/>
                <a:cs typeface="Arial"/>
              </a:rPr>
              <a:t>Nuova</a:t>
            </a:r>
            <a:r>
              <a:rPr sz="2000" spc="85" dirty="0">
                <a:latin typeface="Arial"/>
                <a:cs typeface="Arial"/>
              </a:rPr>
              <a:t> </a:t>
            </a:r>
            <a:r>
              <a:rPr sz="2000" dirty="0">
                <a:latin typeface="Arial"/>
                <a:cs typeface="Arial"/>
              </a:rPr>
              <a:t>classe</a:t>
            </a:r>
            <a:r>
              <a:rPr sz="2000" spc="60" dirty="0">
                <a:latin typeface="Arial"/>
                <a:cs typeface="Arial"/>
              </a:rPr>
              <a:t> </a:t>
            </a:r>
            <a:r>
              <a:rPr sz="2000" dirty="0">
                <a:latin typeface="Arial"/>
                <a:cs typeface="Arial"/>
              </a:rPr>
              <a:t>operaia</a:t>
            </a:r>
            <a:r>
              <a:rPr sz="2000" spc="65" dirty="0">
                <a:latin typeface="Arial"/>
                <a:cs typeface="Arial"/>
              </a:rPr>
              <a:t> </a:t>
            </a:r>
            <a:r>
              <a:rPr sz="2000" dirty="0">
                <a:latin typeface="Arial"/>
                <a:cs typeface="Arial"/>
              </a:rPr>
              <a:t>scarsamente</a:t>
            </a:r>
            <a:r>
              <a:rPr sz="2000" spc="60" dirty="0">
                <a:latin typeface="Arial"/>
                <a:cs typeface="Arial"/>
              </a:rPr>
              <a:t> </a:t>
            </a:r>
            <a:r>
              <a:rPr sz="2000" dirty="0">
                <a:latin typeface="Arial"/>
                <a:cs typeface="Arial"/>
              </a:rPr>
              <a:t>qualificata</a:t>
            </a:r>
            <a:r>
              <a:rPr sz="2000" spc="40" dirty="0">
                <a:latin typeface="Arial"/>
                <a:cs typeface="Arial"/>
              </a:rPr>
              <a:t> </a:t>
            </a:r>
            <a:r>
              <a:rPr sz="2000" dirty="0">
                <a:latin typeface="Arial"/>
                <a:cs typeface="Arial"/>
              </a:rPr>
              <a:t>ma</a:t>
            </a:r>
            <a:r>
              <a:rPr sz="2000" spc="90" dirty="0">
                <a:latin typeface="Arial"/>
                <a:cs typeface="Arial"/>
              </a:rPr>
              <a:t> </a:t>
            </a:r>
            <a:r>
              <a:rPr sz="2000" dirty="0">
                <a:latin typeface="Arial"/>
                <a:cs typeface="Arial"/>
              </a:rPr>
              <a:t>con</a:t>
            </a:r>
            <a:r>
              <a:rPr sz="2000" spc="85" dirty="0">
                <a:latin typeface="Arial"/>
                <a:cs typeface="Arial"/>
              </a:rPr>
              <a:t> </a:t>
            </a:r>
            <a:r>
              <a:rPr sz="2000" dirty="0">
                <a:latin typeface="Arial"/>
                <a:cs typeface="Arial"/>
              </a:rPr>
              <a:t>una</a:t>
            </a:r>
            <a:r>
              <a:rPr sz="2000" spc="60" dirty="0">
                <a:latin typeface="Arial"/>
                <a:cs typeface="Arial"/>
              </a:rPr>
              <a:t> </a:t>
            </a:r>
            <a:r>
              <a:rPr sz="2000" dirty="0">
                <a:latin typeface="Arial"/>
                <a:cs typeface="Arial"/>
              </a:rPr>
              <a:t>forza</a:t>
            </a:r>
            <a:r>
              <a:rPr sz="2000" spc="65" dirty="0">
                <a:latin typeface="Arial"/>
                <a:cs typeface="Arial"/>
              </a:rPr>
              <a:t> </a:t>
            </a:r>
            <a:r>
              <a:rPr sz="2000" spc="-10" dirty="0">
                <a:latin typeface="Arial"/>
                <a:cs typeface="Arial"/>
              </a:rPr>
              <a:t>collettiva 	importante</a:t>
            </a:r>
            <a:endParaRPr sz="2000" dirty="0">
              <a:latin typeface="Arial"/>
              <a:cs typeface="Arial"/>
            </a:endParaRPr>
          </a:p>
        </p:txBody>
      </p:sp>
      <p:sp>
        <p:nvSpPr>
          <p:cNvPr id="6" name="object 6"/>
          <p:cNvSpPr txBox="1"/>
          <p:nvPr/>
        </p:nvSpPr>
        <p:spPr>
          <a:xfrm>
            <a:off x="9923849" y="179333"/>
            <a:ext cx="118745" cy="226695"/>
          </a:xfrm>
          <a:prstGeom prst="rect">
            <a:avLst/>
          </a:prstGeom>
        </p:spPr>
        <p:txBody>
          <a:bodyPr vert="horz" wrap="square" lIns="0" tIns="15240" rIns="0" bIns="0" rtlCol="0">
            <a:spAutoFit/>
          </a:bodyPr>
          <a:lstStyle/>
          <a:p>
            <a:pPr marL="12700">
              <a:lnSpc>
                <a:spcPct val="100000"/>
              </a:lnSpc>
              <a:spcBef>
                <a:spcPts val="120"/>
              </a:spcBef>
            </a:pPr>
            <a:r>
              <a:rPr sz="1300" spc="-50" dirty="0">
                <a:latin typeface="Arial"/>
                <a:cs typeface="Arial"/>
              </a:rPr>
              <a:t>7</a:t>
            </a:r>
            <a:endParaRPr sz="13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5038" y="188500"/>
            <a:ext cx="339788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a:cs typeface="Arial"/>
              </a:rPr>
              <a:t>DEASS</a:t>
            </a:r>
            <a:r>
              <a:rPr sz="1300" spc="50" dirty="0">
                <a:latin typeface="Arial"/>
                <a:cs typeface="Arial"/>
              </a:rPr>
              <a:t> </a:t>
            </a:r>
            <a:r>
              <a:rPr sz="1300" dirty="0">
                <a:latin typeface="Arial"/>
                <a:cs typeface="Arial"/>
              </a:rPr>
              <a:t>/</a:t>
            </a:r>
            <a:r>
              <a:rPr sz="1300" spc="10" dirty="0">
                <a:latin typeface="Arial"/>
                <a:cs typeface="Arial"/>
              </a:rPr>
              <a:t> </a:t>
            </a:r>
            <a:r>
              <a:rPr sz="1300" dirty="0">
                <a:latin typeface="Arial"/>
                <a:cs typeface="Arial"/>
              </a:rPr>
              <a:t>Titolo</a:t>
            </a:r>
            <a:r>
              <a:rPr sz="1300" spc="15" dirty="0">
                <a:latin typeface="Arial"/>
                <a:cs typeface="Arial"/>
              </a:rPr>
              <a:t> </a:t>
            </a:r>
            <a:r>
              <a:rPr sz="1300" dirty="0">
                <a:latin typeface="Arial"/>
                <a:cs typeface="Arial"/>
              </a:rPr>
              <a:t>principale della</a:t>
            </a:r>
            <a:r>
              <a:rPr sz="1300" spc="40" dirty="0">
                <a:latin typeface="Arial"/>
                <a:cs typeface="Arial"/>
              </a:rPr>
              <a:t> </a:t>
            </a:r>
            <a:r>
              <a:rPr sz="1300" spc="-10" dirty="0">
                <a:latin typeface="Arial"/>
                <a:cs typeface="Arial"/>
              </a:rPr>
              <a:t>presentazione</a:t>
            </a:r>
            <a:endParaRPr sz="1300">
              <a:latin typeface="Arial"/>
              <a:cs typeface="Arial"/>
            </a:endParaRPr>
          </a:p>
        </p:txBody>
      </p:sp>
      <p:pic>
        <p:nvPicPr>
          <p:cNvPr id="3" name="object 3"/>
          <p:cNvPicPr/>
          <p:nvPr/>
        </p:nvPicPr>
        <p:blipFill>
          <a:blip r:embed="rId2" cstate="print"/>
          <a:stretch>
            <a:fillRect/>
          </a:stretch>
        </p:blipFill>
        <p:spPr>
          <a:xfrm>
            <a:off x="684276" y="225552"/>
            <a:ext cx="527304" cy="156972"/>
          </a:xfrm>
          <a:prstGeom prst="rect">
            <a:avLst/>
          </a:prstGeom>
        </p:spPr>
      </p:pic>
      <p:sp>
        <p:nvSpPr>
          <p:cNvPr id="4" name="object 4"/>
          <p:cNvSpPr txBox="1"/>
          <p:nvPr/>
        </p:nvSpPr>
        <p:spPr>
          <a:xfrm>
            <a:off x="490215" y="2174222"/>
            <a:ext cx="9260840" cy="3522118"/>
          </a:xfrm>
          <a:prstGeom prst="rect">
            <a:avLst/>
          </a:prstGeom>
        </p:spPr>
        <p:txBody>
          <a:bodyPr vert="horz" wrap="square" lIns="0" tIns="13335" rIns="0" bIns="0" rtlCol="0">
            <a:spAutoFit/>
          </a:bodyPr>
          <a:lstStyle/>
          <a:p>
            <a:pPr marL="358140" indent="-345440">
              <a:lnSpc>
                <a:spcPct val="100000"/>
              </a:lnSpc>
              <a:spcBef>
                <a:spcPts val="105"/>
              </a:spcBef>
              <a:buFont typeface="Times New Roman"/>
              <a:buChar char="✓"/>
              <a:tabLst>
                <a:tab pos="358140" algn="l"/>
              </a:tabLst>
            </a:pPr>
            <a:r>
              <a:rPr lang="it-CH" sz="2200" dirty="0">
                <a:latin typeface="Arial"/>
                <a:cs typeface="Arial"/>
              </a:rPr>
              <a:t>S</a:t>
            </a:r>
            <a:r>
              <a:rPr sz="2200" dirty="0" err="1">
                <a:latin typeface="Arial"/>
                <a:cs typeface="Arial"/>
              </a:rPr>
              <a:t>fruttamento</a:t>
            </a:r>
            <a:r>
              <a:rPr sz="2200" spc="-50" dirty="0">
                <a:latin typeface="Arial"/>
                <a:cs typeface="Arial"/>
              </a:rPr>
              <a:t> </a:t>
            </a:r>
            <a:r>
              <a:rPr sz="2200" dirty="0">
                <a:latin typeface="Arial"/>
                <a:cs typeface="Arial"/>
              </a:rPr>
              <a:t>dell'uomo</a:t>
            </a:r>
            <a:r>
              <a:rPr sz="2200" spc="-25" dirty="0">
                <a:latin typeface="Arial"/>
                <a:cs typeface="Arial"/>
              </a:rPr>
              <a:t> </a:t>
            </a:r>
            <a:r>
              <a:rPr sz="2200" dirty="0">
                <a:latin typeface="Arial"/>
                <a:cs typeface="Arial"/>
              </a:rPr>
              <a:t>da</a:t>
            </a:r>
            <a:r>
              <a:rPr sz="2200" spc="-45" dirty="0">
                <a:latin typeface="Arial"/>
                <a:cs typeface="Arial"/>
              </a:rPr>
              <a:t> </a:t>
            </a:r>
            <a:r>
              <a:rPr sz="2200" dirty="0" err="1">
                <a:latin typeface="Arial"/>
                <a:cs typeface="Arial"/>
              </a:rPr>
              <a:t>parte</a:t>
            </a:r>
            <a:r>
              <a:rPr sz="2200" spc="-50" dirty="0">
                <a:latin typeface="Arial"/>
                <a:cs typeface="Arial"/>
              </a:rPr>
              <a:t> </a:t>
            </a:r>
            <a:r>
              <a:rPr sz="2200" spc="-10" dirty="0" err="1">
                <a:latin typeface="Arial"/>
                <a:cs typeface="Arial"/>
              </a:rPr>
              <a:t>dell'uomo</a:t>
            </a:r>
            <a:endParaRPr sz="2200" dirty="0">
              <a:latin typeface="Arial"/>
              <a:cs typeface="Arial"/>
            </a:endParaRPr>
          </a:p>
          <a:p>
            <a:pPr>
              <a:lnSpc>
                <a:spcPct val="100000"/>
              </a:lnSpc>
              <a:spcBef>
                <a:spcPts val="1180"/>
              </a:spcBef>
              <a:buFont typeface="Times New Roman"/>
              <a:buChar char="✓"/>
            </a:pPr>
            <a:endParaRPr sz="2200" dirty="0">
              <a:latin typeface="Arial"/>
              <a:cs typeface="Arial"/>
            </a:endParaRPr>
          </a:p>
          <a:p>
            <a:pPr marL="358140" indent="-345440">
              <a:lnSpc>
                <a:spcPct val="100000"/>
              </a:lnSpc>
              <a:buFont typeface="Times New Roman"/>
              <a:buChar char="✓"/>
              <a:tabLst>
                <a:tab pos="358140" algn="l"/>
              </a:tabLst>
            </a:pPr>
            <a:r>
              <a:rPr lang="it-CH" sz="2200" dirty="0">
                <a:latin typeface="Arial"/>
                <a:cs typeface="Arial"/>
              </a:rPr>
              <a:t>M</a:t>
            </a:r>
            <a:r>
              <a:rPr sz="2200" dirty="0" err="1">
                <a:latin typeface="Arial"/>
                <a:cs typeface="Arial"/>
              </a:rPr>
              <a:t>acchinizzazione</a:t>
            </a:r>
            <a:r>
              <a:rPr sz="2200" spc="-25" dirty="0">
                <a:latin typeface="Arial"/>
                <a:cs typeface="Arial"/>
              </a:rPr>
              <a:t> </a:t>
            </a:r>
            <a:r>
              <a:rPr sz="2200" dirty="0">
                <a:latin typeface="Arial"/>
                <a:cs typeface="Arial"/>
              </a:rPr>
              <a:t>del</a:t>
            </a:r>
            <a:r>
              <a:rPr sz="2200" spc="-20" dirty="0">
                <a:latin typeface="Arial"/>
                <a:cs typeface="Arial"/>
              </a:rPr>
              <a:t> </a:t>
            </a:r>
            <a:r>
              <a:rPr sz="2200" spc="-10" dirty="0">
                <a:latin typeface="Arial"/>
                <a:cs typeface="Arial"/>
              </a:rPr>
              <a:t>lavoratore</a:t>
            </a:r>
            <a:endParaRPr sz="2200" dirty="0">
              <a:latin typeface="Arial"/>
              <a:cs typeface="Arial"/>
            </a:endParaRPr>
          </a:p>
          <a:p>
            <a:pPr>
              <a:lnSpc>
                <a:spcPct val="100000"/>
              </a:lnSpc>
              <a:spcBef>
                <a:spcPts val="1190"/>
              </a:spcBef>
              <a:buFont typeface="Times New Roman"/>
              <a:buChar char="✓"/>
            </a:pPr>
            <a:endParaRPr sz="2200" dirty="0">
              <a:latin typeface="Arial"/>
              <a:cs typeface="Arial"/>
            </a:endParaRPr>
          </a:p>
          <a:p>
            <a:pPr marL="358140" indent="-345440">
              <a:lnSpc>
                <a:spcPct val="100000"/>
              </a:lnSpc>
              <a:buFont typeface="Times New Roman"/>
              <a:buChar char="✓"/>
              <a:tabLst>
                <a:tab pos="358140" algn="l"/>
              </a:tabLst>
            </a:pPr>
            <a:r>
              <a:rPr lang="it-CH" sz="2200" dirty="0">
                <a:latin typeface="Arial"/>
                <a:cs typeface="Arial"/>
              </a:rPr>
              <a:t>D</a:t>
            </a:r>
            <a:r>
              <a:rPr sz="2200" dirty="0" err="1">
                <a:latin typeface="Arial"/>
                <a:cs typeface="Arial"/>
              </a:rPr>
              <a:t>isumanizzazione</a:t>
            </a:r>
            <a:r>
              <a:rPr sz="2200" spc="-30" dirty="0">
                <a:latin typeface="Arial"/>
                <a:cs typeface="Arial"/>
              </a:rPr>
              <a:t> </a:t>
            </a:r>
            <a:r>
              <a:rPr sz="2200" dirty="0">
                <a:latin typeface="Arial"/>
                <a:cs typeface="Arial"/>
              </a:rPr>
              <a:t>del</a:t>
            </a:r>
            <a:r>
              <a:rPr sz="2200" spc="-30" dirty="0">
                <a:latin typeface="Arial"/>
                <a:cs typeface="Arial"/>
              </a:rPr>
              <a:t> </a:t>
            </a:r>
            <a:r>
              <a:rPr sz="2200" spc="-10" dirty="0">
                <a:latin typeface="Arial"/>
                <a:cs typeface="Arial"/>
              </a:rPr>
              <a:t>lavoro…</a:t>
            </a:r>
            <a:endParaRPr sz="2200" dirty="0">
              <a:latin typeface="Arial"/>
              <a:cs typeface="Arial"/>
            </a:endParaRPr>
          </a:p>
          <a:p>
            <a:pPr>
              <a:lnSpc>
                <a:spcPct val="100000"/>
              </a:lnSpc>
              <a:spcBef>
                <a:spcPts val="1190"/>
              </a:spcBef>
              <a:buFont typeface="Times New Roman"/>
              <a:buChar char="✓"/>
            </a:pPr>
            <a:endParaRPr sz="2200" dirty="0">
              <a:latin typeface="Arial"/>
              <a:cs typeface="Arial"/>
            </a:endParaRPr>
          </a:p>
          <a:p>
            <a:pPr marL="295910" marR="5080" indent="-283845">
              <a:lnSpc>
                <a:spcPct val="100000"/>
              </a:lnSpc>
              <a:buFont typeface="Times New Roman"/>
              <a:buChar char="✓"/>
              <a:tabLst>
                <a:tab pos="295910" algn="l"/>
                <a:tab pos="357505" algn="l"/>
              </a:tabLst>
            </a:pPr>
            <a:r>
              <a:rPr sz="2200" dirty="0">
                <a:latin typeface="Arial"/>
                <a:cs typeface="Arial"/>
              </a:rPr>
              <a:t>	</a:t>
            </a:r>
            <a:r>
              <a:rPr lang="it-CH" sz="2200" dirty="0">
                <a:latin typeface="Arial"/>
                <a:cs typeface="Arial"/>
              </a:rPr>
              <a:t>N</a:t>
            </a:r>
            <a:r>
              <a:rPr sz="2200" dirty="0" err="1">
                <a:latin typeface="Arial"/>
                <a:cs typeface="Arial"/>
              </a:rPr>
              <a:t>umerosi</a:t>
            </a:r>
            <a:r>
              <a:rPr sz="2200" spc="-15" dirty="0">
                <a:latin typeface="Arial"/>
                <a:cs typeface="Arial"/>
              </a:rPr>
              <a:t> </a:t>
            </a:r>
            <a:r>
              <a:rPr sz="2200" dirty="0">
                <a:latin typeface="Arial"/>
                <a:cs typeface="Arial"/>
              </a:rPr>
              <a:t>scioperi</a:t>
            </a:r>
            <a:r>
              <a:rPr sz="2200" spc="-10" dirty="0">
                <a:latin typeface="Arial"/>
                <a:cs typeface="Arial"/>
              </a:rPr>
              <a:t> </a:t>
            </a:r>
            <a:r>
              <a:rPr sz="2200" dirty="0">
                <a:latin typeface="Arial"/>
                <a:cs typeface="Arial"/>
              </a:rPr>
              <a:t>(in</a:t>
            </a:r>
            <a:r>
              <a:rPr sz="2200" spc="-35" dirty="0">
                <a:latin typeface="Arial"/>
                <a:cs typeface="Arial"/>
              </a:rPr>
              <a:t> </a:t>
            </a:r>
            <a:r>
              <a:rPr sz="2200" dirty="0">
                <a:latin typeface="Arial"/>
                <a:cs typeface="Arial"/>
              </a:rPr>
              <a:t>part.</a:t>
            </a:r>
            <a:r>
              <a:rPr sz="2200" spc="-45" dirty="0">
                <a:latin typeface="Arial"/>
                <a:cs typeface="Arial"/>
              </a:rPr>
              <a:t> </a:t>
            </a:r>
            <a:r>
              <a:rPr sz="2200" dirty="0">
                <a:latin typeface="Arial"/>
                <a:cs typeface="Arial"/>
              </a:rPr>
              <a:t>nel</a:t>
            </a:r>
            <a:r>
              <a:rPr sz="2200" spc="-10" dirty="0">
                <a:latin typeface="Arial"/>
                <a:cs typeface="Arial"/>
              </a:rPr>
              <a:t> </a:t>
            </a:r>
            <a:r>
              <a:rPr sz="2200" dirty="0">
                <a:latin typeface="Arial"/>
                <a:cs typeface="Arial"/>
              </a:rPr>
              <a:t>settore</a:t>
            </a:r>
            <a:r>
              <a:rPr sz="2200" spc="-40" dirty="0">
                <a:latin typeface="Arial"/>
                <a:cs typeface="Arial"/>
              </a:rPr>
              <a:t> </a:t>
            </a:r>
            <a:r>
              <a:rPr sz="2200" dirty="0">
                <a:latin typeface="Arial"/>
                <a:cs typeface="Arial"/>
              </a:rPr>
              <a:t>automobilistico)</a:t>
            </a:r>
            <a:r>
              <a:rPr sz="2200" spc="-10" dirty="0">
                <a:latin typeface="Arial"/>
                <a:cs typeface="Arial"/>
              </a:rPr>
              <a:t> </a:t>
            </a:r>
            <a:r>
              <a:rPr sz="2200" dirty="0">
                <a:latin typeface="Arial"/>
                <a:cs typeface="Arial"/>
              </a:rPr>
              <a:t>alla</a:t>
            </a:r>
            <a:r>
              <a:rPr sz="2200" spc="-15" dirty="0">
                <a:latin typeface="Arial"/>
                <a:cs typeface="Arial"/>
              </a:rPr>
              <a:t> </a:t>
            </a:r>
            <a:r>
              <a:rPr sz="2200" dirty="0">
                <a:latin typeface="Arial"/>
                <a:cs typeface="Arial"/>
              </a:rPr>
              <a:t>fine</a:t>
            </a:r>
            <a:r>
              <a:rPr sz="2200" spc="-40" dirty="0">
                <a:latin typeface="Arial"/>
                <a:cs typeface="Arial"/>
              </a:rPr>
              <a:t> </a:t>
            </a:r>
            <a:r>
              <a:rPr sz="2200" dirty="0">
                <a:latin typeface="Arial"/>
                <a:cs typeface="Arial"/>
              </a:rPr>
              <a:t>degli</a:t>
            </a:r>
            <a:r>
              <a:rPr sz="2200" spc="-25" dirty="0">
                <a:latin typeface="Arial"/>
                <a:cs typeface="Arial"/>
              </a:rPr>
              <a:t> </a:t>
            </a:r>
            <a:r>
              <a:rPr sz="2200" spc="-55" dirty="0">
                <a:latin typeface="Arial"/>
                <a:cs typeface="Arial"/>
              </a:rPr>
              <a:t>anni </a:t>
            </a:r>
            <a:r>
              <a:rPr sz="2200" dirty="0">
                <a:latin typeface="Arial"/>
                <a:cs typeface="Arial"/>
              </a:rPr>
              <a:t>60</a:t>
            </a:r>
            <a:r>
              <a:rPr sz="2200" spc="-25" dirty="0">
                <a:latin typeface="Arial"/>
                <a:cs typeface="Arial"/>
              </a:rPr>
              <a:t> </a:t>
            </a:r>
            <a:r>
              <a:rPr sz="2200" dirty="0">
                <a:latin typeface="Arial"/>
                <a:cs typeface="Arial"/>
              </a:rPr>
              <a:t>e</a:t>
            </a:r>
            <a:r>
              <a:rPr sz="2200" spc="-35" dirty="0">
                <a:latin typeface="Arial"/>
                <a:cs typeface="Arial"/>
              </a:rPr>
              <a:t> </a:t>
            </a:r>
            <a:r>
              <a:rPr sz="2200" dirty="0">
                <a:latin typeface="Arial"/>
                <a:cs typeface="Arial"/>
              </a:rPr>
              <a:t>all’inizio</a:t>
            </a:r>
            <a:r>
              <a:rPr sz="2200" spc="10" dirty="0">
                <a:latin typeface="Arial"/>
                <a:cs typeface="Arial"/>
              </a:rPr>
              <a:t> </a:t>
            </a:r>
            <a:r>
              <a:rPr sz="2200" dirty="0">
                <a:latin typeface="Arial"/>
                <a:cs typeface="Arial"/>
              </a:rPr>
              <a:t>anni</a:t>
            </a:r>
            <a:r>
              <a:rPr sz="2200" spc="-25" dirty="0">
                <a:latin typeface="Arial"/>
                <a:cs typeface="Arial"/>
              </a:rPr>
              <a:t> </a:t>
            </a:r>
            <a:r>
              <a:rPr sz="2200" dirty="0">
                <a:latin typeface="Arial"/>
                <a:cs typeface="Arial"/>
              </a:rPr>
              <a:t>70</a:t>
            </a:r>
            <a:r>
              <a:rPr sz="2200" spc="-10" dirty="0">
                <a:latin typeface="Arial"/>
                <a:cs typeface="Arial"/>
              </a:rPr>
              <a:t> </a:t>
            </a:r>
            <a:r>
              <a:rPr sz="2200" dirty="0">
                <a:latin typeface="Arial"/>
                <a:cs typeface="Arial"/>
              </a:rPr>
              <a:t>hanno</a:t>
            </a:r>
            <a:r>
              <a:rPr sz="2200" spc="-10" dirty="0">
                <a:latin typeface="Arial"/>
                <a:cs typeface="Arial"/>
              </a:rPr>
              <a:t> </a:t>
            </a:r>
            <a:r>
              <a:rPr sz="2200" dirty="0">
                <a:latin typeface="Arial"/>
                <a:cs typeface="Arial"/>
              </a:rPr>
              <a:t>violentemente</a:t>
            </a:r>
            <a:r>
              <a:rPr sz="2200" spc="-10" dirty="0">
                <a:latin typeface="Arial"/>
                <a:cs typeface="Arial"/>
              </a:rPr>
              <a:t> </a:t>
            </a:r>
            <a:r>
              <a:rPr sz="2200" dirty="0">
                <a:latin typeface="Arial"/>
                <a:cs typeface="Arial"/>
              </a:rPr>
              <a:t>contestato</a:t>
            </a:r>
            <a:r>
              <a:rPr sz="2200" spc="-35" dirty="0">
                <a:latin typeface="Arial"/>
                <a:cs typeface="Arial"/>
              </a:rPr>
              <a:t> </a:t>
            </a:r>
            <a:r>
              <a:rPr sz="2200" dirty="0">
                <a:latin typeface="Arial"/>
                <a:cs typeface="Arial"/>
              </a:rPr>
              <a:t>questo</a:t>
            </a:r>
            <a:r>
              <a:rPr sz="2200" spc="-10" dirty="0">
                <a:latin typeface="Arial"/>
                <a:cs typeface="Arial"/>
              </a:rPr>
              <a:t> sistema.</a:t>
            </a:r>
            <a:endParaRPr sz="2200" dirty="0">
              <a:latin typeface="Arial"/>
              <a:cs typeface="Arial"/>
            </a:endParaRPr>
          </a:p>
        </p:txBody>
      </p:sp>
      <p:sp>
        <p:nvSpPr>
          <p:cNvPr id="5" name="object 5"/>
          <p:cNvSpPr txBox="1"/>
          <p:nvPr/>
        </p:nvSpPr>
        <p:spPr>
          <a:xfrm>
            <a:off x="9923849" y="179333"/>
            <a:ext cx="118745" cy="226695"/>
          </a:xfrm>
          <a:prstGeom prst="rect">
            <a:avLst/>
          </a:prstGeom>
        </p:spPr>
        <p:txBody>
          <a:bodyPr vert="horz" wrap="square" lIns="0" tIns="15240" rIns="0" bIns="0" rtlCol="0">
            <a:spAutoFit/>
          </a:bodyPr>
          <a:lstStyle/>
          <a:p>
            <a:pPr marL="12700">
              <a:lnSpc>
                <a:spcPct val="100000"/>
              </a:lnSpc>
              <a:spcBef>
                <a:spcPts val="120"/>
              </a:spcBef>
            </a:pPr>
            <a:r>
              <a:rPr sz="1300" spc="-50" dirty="0">
                <a:latin typeface="Arial"/>
                <a:cs typeface="Arial"/>
              </a:rPr>
              <a:t>8</a:t>
            </a:r>
            <a:endParaRPr sz="1300">
              <a:latin typeface="Arial"/>
              <a:cs typeface="Arial"/>
            </a:endParaRPr>
          </a:p>
        </p:txBody>
      </p:sp>
      <p:sp>
        <p:nvSpPr>
          <p:cNvPr id="6" name="object 6"/>
          <p:cNvSpPr txBox="1">
            <a:spLocks noGrp="1"/>
          </p:cNvSpPr>
          <p:nvPr>
            <p:ph type="title"/>
          </p:nvPr>
        </p:nvSpPr>
        <p:spPr>
          <a:prstGeom prst="rect">
            <a:avLst/>
          </a:prstGeom>
        </p:spPr>
        <p:txBody>
          <a:bodyPr vert="horz" wrap="square" lIns="0" tIns="93278" rIns="0" bIns="0" rtlCol="0">
            <a:spAutoFit/>
          </a:bodyPr>
          <a:lstStyle/>
          <a:p>
            <a:pPr marL="210185">
              <a:lnSpc>
                <a:spcPct val="100000"/>
              </a:lnSpc>
              <a:spcBef>
                <a:spcPts val="100"/>
              </a:spcBef>
            </a:pPr>
            <a:r>
              <a:rPr dirty="0"/>
              <a:t>Dai</a:t>
            </a:r>
            <a:r>
              <a:rPr spc="-55" dirty="0"/>
              <a:t> </a:t>
            </a:r>
            <a:r>
              <a:rPr dirty="0"/>
              <a:t>lavoratori</a:t>
            </a:r>
            <a:r>
              <a:rPr spc="-75" dirty="0"/>
              <a:t> </a:t>
            </a:r>
            <a:r>
              <a:rPr dirty="0"/>
              <a:t>e</a:t>
            </a:r>
            <a:r>
              <a:rPr spc="-10" dirty="0"/>
              <a:t> </a:t>
            </a:r>
            <a:r>
              <a:rPr dirty="0"/>
              <a:t>dalle</a:t>
            </a:r>
            <a:r>
              <a:rPr spc="-40" dirty="0"/>
              <a:t> </a:t>
            </a:r>
            <a:r>
              <a:rPr spc="-10" dirty="0"/>
              <a:t>lavoratrici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gnaposto data 2">
            <a:extLst>
              <a:ext uri="{FF2B5EF4-FFF2-40B4-BE49-F238E27FC236}">
                <a16:creationId xmlns:a16="http://schemas.microsoft.com/office/drawing/2014/main" id="{6D898FAB-48CF-69AF-AD6C-5FA93A2038C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a:buFont typeface="Times New Roman" panose="02020603050405020304" pitchFamily="18" charset="0"/>
              <a:buNone/>
            </a:pPr>
            <a:endParaRPr lang="it-IT" altLang="it-CH" dirty="0">
              <a:solidFill>
                <a:srgbClr val="898989"/>
              </a:solidFill>
              <a:latin typeface="Arial" panose="020B0604020202020204" pitchFamily="34" charset="0"/>
              <a:ea typeface="Microsoft YaHei" panose="020B0503020204020204" pitchFamily="34" charset="-122"/>
            </a:endParaRPr>
          </a:p>
        </p:txBody>
      </p:sp>
      <p:sp>
        <p:nvSpPr>
          <p:cNvPr id="48131" name="Segnaposto numero diapositiva 3">
            <a:extLst>
              <a:ext uri="{FF2B5EF4-FFF2-40B4-BE49-F238E27FC236}">
                <a16:creationId xmlns:a16="http://schemas.microsoft.com/office/drawing/2014/main" id="{F978958B-4218-FFEB-3C2E-5F2A8D1D983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9A2326E-31B1-4331-B2A1-C4719528C752}" type="slidenum">
              <a:rPr lang="it-IT" altLang="it-CH" smtClean="0"/>
              <a:pPr/>
              <a:t>14</a:t>
            </a:fld>
            <a:endParaRPr lang="it-IT" altLang="it-CH"/>
          </a:p>
        </p:txBody>
      </p:sp>
      <p:pic>
        <p:nvPicPr>
          <p:cNvPr id="48132" name="Immagine 4">
            <a:extLst>
              <a:ext uri="{FF2B5EF4-FFF2-40B4-BE49-F238E27FC236}">
                <a16:creationId xmlns:a16="http://schemas.microsoft.com/office/drawing/2014/main" id="{F09977B6-4BF3-A04B-1B01-44E41FD2CB3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4667" y="1398777"/>
            <a:ext cx="8781309" cy="508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5038" y="188500"/>
            <a:ext cx="339788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a:cs typeface="Arial"/>
              </a:rPr>
              <a:t>DEASS</a:t>
            </a:r>
            <a:r>
              <a:rPr sz="1300" spc="50" dirty="0">
                <a:latin typeface="Arial"/>
                <a:cs typeface="Arial"/>
              </a:rPr>
              <a:t> </a:t>
            </a:r>
            <a:r>
              <a:rPr sz="1300" dirty="0">
                <a:latin typeface="Arial"/>
                <a:cs typeface="Arial"/>
              </a:rPr>
              <a:t>/</a:t>
            </a:r>
            <a:r>
              <a:rPr sz="1300" spc="10" dirty="0">
                <a:latin typeface="Arial"/>
                <a:cs typeface="Arial"/>
              </a:rPr>
              <a:t> </a:t>
            </a:r>
            <a:r>
              <a:rPr sz="1300" dirty="0">
                <a:latin typeface="Arial"/>
                <a:cs typeface="Arial"/>
              </a:rPr>
              <a:t>Titolo</a:t>
            </a:r>
            <a:r>
              <a:rPr sz="1300" spc="15" dirty="0">
                <a:latin typeface="Arial"/>
                <a:cs typeface="Arial"/>
              </a:rPr>
              <a:t> </a:t>
            </a:r>
            <a:r>
              <a:rPr sz="1300" dirty="0">
                <a:latin typeface="Arial"/>
                <a:cs typeface="Arial"/>
              </a:rPr>
              <a:t>principale della</a:t>
            </a:r>
            <a:r>
              <a:rPr sz="1300" spc="40" dirty="0">
                <a:latin typeface="Arial"/>
                <a:cs typeface="Arial"/>
              </a:rPr>
              <a:t> </a:t>
            </a:r>
            <a:r>
              <a:rPr sz="1300" spc="-10" dirty="0">
                <a:latin typeface="Arial"/>
                <a:cs typeface="Arial"/>
              </a:rPr>
              <a:t>presentazione</a:t>
            </a:r>
            <a:endParaRPr sz="1300">
              <a:latin typeface="Arial"/>
              <a:cs typeface="Arial"/>
            </a:endParaRPr>
          </a:p>
        </p:txBody>
      </p:sp>
      <p:pic>
        <p:nvPicPr>
          <p:cNvPr id="3" name="object 3"/>
          <p:cNvPicPr/>
          <p:nvPr/>
        </p:nvPicPr>
        <p:blipFill>
          <a:blip r:embed="rId2" cstate="print"/>
          <a:stretch>
            <a:fillRect/>
          </a:stretch>
        </p:blipFill>
        <p:spPr>
          <a:xfrm>
            <a:off x="684276" y="225552"/>
            <a:ext cx="527304" cy="156972"/>
          </a:xfrm>
          <a:prstGeom prst="rect">
            <a:avLst/>
          </a:prstGeom>
        </p:spPr>
      </p:pic>
      <p:sp>
        <p:nvSpPr>
          <p:cNvPr id="4" name="object 4"/>
          <p:cNvSpPr txBox="1"/>
          <p:nvPr/>
        </p:nvSpPr>
        <p:spPr>
          <a:xfrm>
            <a:off x="490215" y="2174222"/>
            <a:ext cx="8514085" cy="1731884"/>
          </a:xfrm>
          <a:prstGeom prst="rect">
            <a:avLst/>
          </a:prstGeom>
        </p:spPr>
        <p:txBody>
          <a:bodyPr vert="horz" wrap="square" lIns="0" tIns="13335" rIns="0" bIns="0" rtlCol="0">
            <a:spAutoFit/>
          </a:bodyPr>
          <a:lstStyle/>
          <a:p>
            <a:pPr marL="390525" indent="-377825">
              <a:lnSpc>
                <a:spcPct val="100000"/>
              </a:lnSpc>
              <a:spcBef>
                <a:spcPts val="105"/>
              </a:spcBef>
              <a:buFont typeface="Times New Roman"/>
              <a:buChar char="✓"/>
              <a:tabLst>
                <a:tab pos="390525" algn="l"/>
              </a:tabLst>
            </a:pPr>
            <a:r>
              <a:rPr lang="it-CH" sz="2200" dirty="0">
                <a:latin typeface="Arial"/>
                <a:cs typeface="Arial"/>
              </a:rPr>
              <a:t>E</a:t>
            </a:r>
            <a:r>
              <a:rPr sz="2200" dirty="0" err="1">
                <a:latin typeface="Arial"/>
                <a:cs typeface="Arial"/>
              </a:rPr>
              <a:t>fficacia</a:t>
            </a:r>
            <a:r>
              <a:rPr sz="2200" spc="-30" dirty="0">
                <a:latin typeface="Arial"/>
                <a:cs typeface="Arial"/>
              </a:rPr>
              <a:t> </a:t>
            </a:r>
            <a:r>
              <a:rPr sz="2200" spc="-10" dirty="0">
                <a:latin typeface="Arial"/>
                <a:cs typeface="Arial"/>
              </a:rPr>
              <a:t>limitata</a:t>
            </a:r>
            <a:endParaRPr sz="2200" dirty="0">
              <a:latin typeface="Arial"/>
              <a:cs typeface="Arial"/>
            </a:endParaRPr>
          </a:p>
          <a:p>
            <a:pPr>
              <a:lnSpc>
                <a:spcPct val="100000"/>
              </a:lnSpc>
              <a:spcBef>
                <a:spcPts val="125"/>
              </a:spcBef>
              <a:buFont typeface="Times New Roman"/>
              <a:buChar char="✓"/>
            </a:pPr>
            <a:endParaRPr sz="2200" dirty="0">
              <a:latin typeface="Arial"/>
              <a:cs typeface="Arial"/>
            </a:endParaRPr>
          </a:p>
          <a:p>
            <a:pPr marL="390525" indent="-377825">
              <a:lnSpc>
                <a:spcPct val="100000"/>
              </a:lnSpc>
              <a:buFont typeface="Times New Roman"/>
              <a:buChar char="✓"/>
              <a:tabLst>
                <a:tab pos="390525" algn="l"/>
              </a:tabLst>
            </a:pPr>
            <a:r>
              <a:rPr lang="it-CH" sz="2200" dirty="0">
                <a:latin typeface="Arial"/>
                <a:cs typeface="Arial"/>
              </a:rPr>
              <a:t>S</a:t>
            </a:r>
            <a:r>
              <a:rPr sz="2200" dirty="0" err="1">
                <a:latin typeface="Arial"/>
                <a:cs typeface="Arial"/>
              </a:rPr>
              <a:t>carsa</a:t>
            </a:r>
            <a:r>
              <a:rPr sz="2200" spc="-35" dirty="0">
                <a:latin typeface="Arial"/>
                <a:cs typeface="Arial"/>
              </a:rPr>
              <a:t> </a:t>
            </a:r>
            <a:r>
              <a:rPr sz="2200" dirty="0">
                <a:latin typeface="Arial"/>
                <a:cs typeface="Arial"/>
              </a:rPr>
              <a:t>propensione</a:t>
            </a:r>
            <a:r>
              <a:rPr sz="2200" spc="-10" dirty="0">
                <a:latin typeface="Arial"/>
                <a:cs typeface="Arial"/>
              </a:rPr>
              <a:t> </a:t>
            </a:r>
            <a:r>
              <a:rPr sz="2200" dirty="0">
                <a:latin typeface="Arial"/>
                <a:cs typeface="Arial"/>
              </a:rPr>
              <a:t>a</a:t>
            </a:r>
            <a:r>
              <a:rPr sz="2200" spc="-10" dirty="0">
                <a:latin typeface="Arial"/>
                <a:cs typeface="Arial"/>
              </a:rPr>
              <a:t> </a:t>
            </a:r>
            <a:r>
              <a:rPr sz="2200" dirty="0">
                <a:latin typeface="Arial"/>
                <a:cs typeface="Arial"/>
              </a:rPr>
              <a:t>mobilitare</a:t>
            </a:r>
            <a:r>
              <a:rPr sz="2200" spc="-10" dirty="0">
                <a:latin typeface="Arial"/>
                <a:cs typeface="Arial"/>
              </a:rPr>
              <a:t> </a:t>
            </a:r>
            <a:r>
              <a:rPr sz="2200" dirty="0">
                <a:latin typeface="Arial"/>
                <a:cs typeface="Arial"/>
              </a:rPr>
              <a:t>i</a:t>
            </a:r>
            <a:r>
              <a:rPr sz="2200" spc="-25" dirty="0">
                <a:latin typeface="Arial"/>
                <a:cs typeface="Arial"/>
              </a:rPr>
              <a:t> </a:t>
            </a:r>
            <a:r>
              <a:rPr sz="2200" spc="-10" dirty="0">
                <a:latin typeface="Arial"/>
                <a:cs typeface="Arial"/>
              </a:rPr>
              <a:t>dipendenti</a:t>
            </a:r>
            <a:endParaRPr sz="2200" dirty="0">
              <a:latin typeface="Arial"/>
              <a:cs typeface="Arial"/>
            </a:endParaRPr>
          </a:p>
          <a:p>
            <a:pPr>
              <a:lnSpc>
                <a:spcPct val="100000"/>
              </a:lnSpc>
              <a:spcBef>
                <a:spcPts val="120"/>
              </a:spcBef>
              <a:buFont typeface="Times New Roman"/>
              <a:buChar char="✓"/>
            </a:pPr>
            <a:endParaRPr sz="2200" dirty="0">
              <a:latin typeface="Arial"/>
              <a:cs typeface="Arial"/>
            </a:endParaRPr>
          </a:p>
          <a:p>
            <a:pPr marL="390525" indent="-377825">
              <a:lnSpc>
                <a:spcPct val="100000"/>
              </a:lnSpc>
              <a:buFont typeface="Times New Roman"/>
              <a:buChar char="✓"/>
              <a:tabLst>
                <a:tab pos="390525" algn="l"/>
              </a:tabLst>
            </a:pPr>
            <a:r>
              <a:rPr lang="it-CH" sz="2200" dirty="0">
                <a:latin typeface="Arial"/>
                <a:cs typeface="Arial"/>
              </a:rPr>
              <a:t>D</a:t>
            </a:r>
            <a:r>
              <a:rPr sz="2200" dirty="0" err="1">
                <a:latin typeface="Arial"/>
                <a:cs typeface="Arial"/>
              </a:rPr>
              <a:t>ifficoltà</a:t>
            </a:r>
            <a:r>
              <a:rPr sz="2200" spc="-30" dirty="0">
                <a:latin typeface="Arial"/>
                <a:cs typeface="Arial"/>
              </a:rPr>
              <a:t> </a:t>
            </a:r>
            <a:r>
              <a:rPr sz="2200" dirty="0">
                <a:latin typeface="Arial"/>
                <a:cs typeface="Arial"/>
              </a:rPr>
              <a:t>nel</a:t>
            </a:r>
            <a:r>
              <a:rPr sz="2200" spc="-15" dirty="0">
                <a:latin typeface="Arial"/>
                <a:cs typeface="Arial"/>
              </a:rPr>
              <a:t> </a:t>
            </a:r>
            <a:r>
              <a:rPr sz="2200" dirty="0">
                <a:latin typeface="Arial"/>
                <a:cs typeface="Arial"/>
              </a:rPr>
              <a:t>gestire</a:t>
            </a:r>
            <a:r>
              <a:rPr sz="2200" spc="-5" dirty="0">
                <a:latin typeface="Arial"/>
                <a:cs typeface="Arial"/>
              </a:rPr>
              <a:t> </a:t>
            </a:r>
            <a:r>
              <a:rPr sz="2200" dirty="0">
                <a:latin typeface="Arial"/>
                <a:cs typeface="Arial"/>
              </a:rPr>
              <a:t>la</a:t>
            </a:r>
            <a:r>
              <a:rPr sz="2200" spc="-25" dirty="0">
                <a:latin typeface="Arial"/>
                <a:cs typeface="Arial"/>
              </a:rPr>
              <a:t> </a:t>
            </a:r>
            <a:r>
              <a:rPr sz="2200" dirty="0">
                <a:latin typeface="Arial"/>
                <a:cs typeface="Arial"/>
              </a:rPr>
              <a:t>variabilità</a:t>
            </a:r>
            <a:r>
              <a:rPr sz="2200" spc="15" dirty="0">
                <a:latin typeface="Arial"/>
                <a:cs typeface="Arial"/>
              </a:rPr>
              <a:t> </a:t>
            </a:r>
            <a:r>
              <a:rPr sz="2200" dirty="0">
                <a:latin typeface="Arial"/>
                <a:cs typeface="Arial"/>
              </a:rPr>
              <a:t>e</a:t>
            </a:r>
            <a:r>
              <a:rPr sz="2200" spc="-25" dirty="0">
                <a:latin typeface="Arial"/>
                <a:cs typeface="Arial"/>
              </a:rPr>
              <a:t> </a:t>
            </a:r>
            <a:r>
              <a:rPr sz="2200" dirty="0">
                <a:latin typeface="Arial"/>
                <a:cs typeface="Arial"/>
              </a:rPr>
              <a:t>la</a:t>
            </a:r>
            <a:r>
              <a:rPr sz="2200" spc="-25" dirty="0">
                <a:latin typeface="Arial"/>
                <a:cs typeface="Arial"/>
              </a:rPr>
              <a:t> </a:t>
            </a:r>
            <a:r>
              <a:rPr sz="2200" spc="-10" dirty="0">
                <a:latin typeface="Arial"/>
                <a:cs typeface="Arial"/>
              </a:rPr>
              <a:t>qualità</a:t>
            </a:r>
            <a:r>
              <a:rPr sz="1750" spc="-10" dirty="0">
                <a:latin typeface="Arial"/>
                <a:cs typeface="Arial"/>
              </a:rPr>
              <a:t>.</a:t>
            </a:r>
            <a:endParaRPr sz="1750" dirty="0">
              <a:latin typeface="Arial"/>
              <a:cs typeface="Arial"/>
            </a:endParaRPr>
          </a:p>
        </p:txBody>
      </p:sp>
      <p:sp>
        <p:nvSpPr>
          <p:cNvPr id="7" name="object 7"/>
          <p:cNvSpPr txBox="1">
            <a:spLocks noGrp="1"/>
          </p:cNvSpPr>
          <p:nvPr>
            <p:ph type="dt" sz="half" idx="6"/>
          </p:nvPr>
        </p:nvSpPr>
        <p:spPr>
          <a:xfrm>
            <a:off x="534670" y="7033450"/>
            <a:ext cx="2459482" cy="276999"/>
          </a:xfrm>
          <a:prstGeom prst="rect">
            <a:avLst/>
          </a:prstGeom>
        </p:spPr>
        <p:txBody>
          <a:bodyPr vert="horz" wrap="square" lIns="0" tIns="0" rIns="0" bIns="0" rtlCol="0">
            <a:spAutoFit/>
          </a:bodyPr>
          <a:lstStyle/>
          <a:p>
            <a:pPr marL="12700">
              <a:lnSpc>
                <a:spcPct val="100000"/>
              </a:lnSpc>
            </a:pPr>
            <a:endParaRPr spc="-10" dirty="0"/>
          </a:p>
        </p:txBody>
      </p:sp>
      <p:sp>
        <p:nvSpPr>
          <p:cNvPr id="5" name="object 5"/>
          <p:cNvSpPr txBox="1"/>
          <p:nvPr/>
        </p:nvSpPr>
        <p:spPr>
          <a:xfrm>
            <a:off x="9830841" y="179333"/>
            <a:ext cx="211454" cy="226695"/>
          </a:xfrm>
          <a:prstGeom prst="rect">
            <a:avLst/>
          </a:prstGeom>
        </p:spPr>
        <p:txBody>
          <a:bodyPr vert="horz" wrap="square" lIns="0" tIns="15240" rIns="0" bIns="0" rtlCol="0">
            <a:spAutoFit/>
          </a:bodyPr>
          <a:lstStyle/>
          <a:p>
            <a:pPr marL="12700">
              <a:lnSpc>
                <a:spcPct val="100000"/>
              </a:lnSpc>
              <a:spcBef>
                <a:spcPts val="120"/>
              </a:spcBef>
            </a:pPr>
            <a:r>
              <a:rPr sz="1300" spc="-25" dirty="0">
                <a:latin typeface="Arial"/>
                <a:cs typeface="Arial"/>
              </a:rPr>
              <a:t>10</a:t>
            </a:r>
            <a:endParaRPr sz="1300">
              <a:latin typeface="Arial"/>
              <a:cs typeface="Arial"/>
            </a:endParaRPr>
          </a:p>
        </p:txBody>
      </p:sp>
      <p:sp>
        <p:nvSpPr>
          <p:cNvPr id="6" name="object 6"/>
          <p:cNvSpPr txBox="1">
            <a:spLocks noGrp="1"/>
          </p:cNvSpPr>
          <p:nvPr>
            <p:ph type="title"/>
          </p:nvPr>
        </p:nvSpPr>
        <p:spPr>
          <a:prstGeom prst="rect">
            <a:avLst/>
          </a:prstGeom>
        </p:spPr>
        <p:txBody>
          <a:bodyPr vert="horz" wrap="square" lIns="0" tIns="93278" rIns="0" bIns="0" rtlCol="0">
            <a:spAutoFit/>
          </a:bodyPr>
          <a:lstStyle/>
          <a:p>
            <a:pPr marL="210185">
              <a:lnSpc>
                <a:spcPct val="100000"/>
              </a:lnSpc>
              <a:spcBef>
                <a:spcPts val="100"/>
              </a:spcBef>
            </a:pPr>
            <a:r>
              <a:rPr dirty="0"/>
              <a:t>Dal</a:t>
            </a:r>
            <a:r>
              <a:rPr spc="-30" dirty="0"/>
              <a:t> </a:t>
            </a:r>
            <a:r>
              <a:rPr spc="-10" dirty="0"/>
              <a:t>management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olo 1">
            <a:extLst>
              <a:ext uri="{FF2B5EF4-FFF2-40B4-BE49-F238E27FC236}">
                <a16:creationId xmlns:a16="http://schemas.microsoft.com/office/drawing/2014/main" id="{517EB7D1-39BF-1839-4E97-7F96108EDBB8}"/>
              </a:ext>
            </a:extLst>
          </p:cNvPr>
          <p:cNvSpPr>
            <a:spLocks noGrp="1" noChangeArrowheads="1"/>
          </p:cNvSpPr>
          <p:nvPr>
            <p:ph type="title"/>
          </p:nvPr>
        </p:nvSpPr>
        <p:spPr/>
        <p:txBody>
          <a:bodyPr/>
          <a:lstStyle/>
          <a:p>
            <a:r>
              <a:rPr lang="it-CH" altLang="it-CH">
                <a:solidFill>
                  <a:srgbClr val="2838C8"/>
                </a:solidFill>
                <a:cs typeface="Times New Roman" panose="02020603050405020304" pitchFamily="18" charset="0"/>
              </a:rPr>
              <a:t>Crisi del fordismo</a:t>
            </a:r>
            <a:endParaRPr lang="it-CH" altLang="it-CH"/>
          </a:p>
        </p:txBody>
      </p:sp>
      <p:sp>
        <p:nvSpPr>
          <p:cNvPr id="52227" name="Segnaposto contenuto 2">
            <a:extLst>
              <a:ext uri="{FF2B5EF4-FFF2-40B4-BE49-F238E27FC236}">
                <a16:creationId xmlns:a16="http://schemas.microsoft.com/office/drawing/2014/main" id="{9AB61BAB-2408-7BE9-93ED-A0D6DEEF3046}"/>
              </a:ext>
            </a:extLst>
          </p:cNvPr>
          <p:cNvSpPr>
            <a:spLocks noGrp="1" noChangeArrowheads="1"/>
          </p:cNvSpPr>
          <p:nvPr>
            <p:ph idx="1"/>
          </p:nvPr>
        </p:nvSpPr>
        <p:spPr>
          <a:xfrm>
            <a:off x="534671" y="1724026"/>
            <a:ext cx="9624059" cy="4531614"/>
          </a:xfrm>
        </p:spPr>
        <p:txBody>
          <a:bodyPr/>
          <a:lstStyle/>
          <a:p>
            <a:pPr defTabSz="495447">
              <a:spcBef>
                <a:spcPct val="0"/>
              </a:spcBef>
              <a:buFont typeface="Wingdings" panose="05000000000000000000" pitchFamily="2" charset="2"/>
              <a:buChar char="ü"/>
              <a:defRPr/>
            </a:pPr>
            <a:r>
              <a:rPr lang="it-CH" altLang="it-CH" sz="2206" dirty="0"/>
              <a:t>La rottura (1973) dei controlli imposti dagli Accordi di Bretton Woods sui movimenti di denaro</a:t>
            </a:r>
          </a:p>
          <a:p>
            <a:pPr defTabSz="495447">
              <a:spcBef>
                <a:spcPct val="0"/>
              </a:spcBef>
              <a:buFont typeface="Wingdings" panose="05000000000000000000" pitchFamily="2" charset="2"/>
              <a:buChar char="ü"/>
              <a:defRPr/>
            </a:pPr>
            <a:endParaRPr lang="it-CH" altLang="it-CH" sz="2206" dirty="0"/>
          </a:p>
          <a:p>
            <a:pPr defTabSz="495447">
              <a:spcBef>
                <a:spcPct val="0"/>
              </a:spcBef>
              <a:buFont typeface="Wingdings" panose="05000000000000000000" pitchFamily="2" charset="2"/>
              <a:buChar char="ü"/>
              <a:defRPr/>
            </a:pPr>
            <a:r>
              <a:rPr lang="it-CH" altLang="it-CH" sz="2206" dirty="0"/>
              <a:t>Diminuzione dei prezzi relativi delle materie prime nei mercati internazionali</a:t>
            </a:r>
          </a:p>
          <a:p>
            <a:pPr defTabSz="495447">
              <a:spcBef>
                <a:spcPct val="0"/>
              </a:spcBef>
              <a:buFont typeface="Wingdings" panose="05000000000000000000" pitchFamily="2" charset="2"/>
              <a:buChar char="ü"/>
              <a:defRPr/>
            </a:pPr>
            <a:endParaRPr lang="it-CH" altLang="it-CH" sz="2206" dirty="0"/>
          </a:p>
          <a:p>
            <a:pPr defTabSz="495447">
              <a:spcBef>
                <a:spcPct val="0"/>
              </a:spcBef>
              <a:buFont typeface="Wingdings" panose="05000000000000000000" pitchFamily="2" charset="2"/>
              <a:buChar char="ü"/>
              <a:defRPr/>
            </a:pPr>
            <a:r>
              <a:rPr lang="it-CH" altLang="it-CH" sz="2206" dirty="0"/>
              <a:t>L'instaurarsi della competizione tra imprese su scala globale</a:t>
            </a:r>
          </a:p>
          <a:p>
            <a:pPr defTabSz="495447">
              <a:spcBef>
                <a:spcPct val="0"/>
              </a:spcBef>
              <a:buFont typeface="Wingdings" panose="05000000000000000000" pitchFamily="2" charset="2"/>
              <a:buChar char="ü"/>
              <a:defRPr/>
            </a:pPr>
            <a:endParaRPr lang="it-CH" altLang="it-CH" sz="2206" dirty="0"/>
          </a:p>
          <a:p>
            <a:pPr defTabSz="495447">
              <a:spcBef>
                <a:spcPct val="0"/>
              </a:spcBef>
              <a:buFont typeface="Wingdings" panose="05000000000000000000" pitchFamily="2" charset="2"/>
              <a:buChar char="ü"/>
              <a:defRPr/>
            </a:pPr>
            <a:r>
              <a:rPr lang="it-CH" altLang="it-CH" sz="2206" dirty="0"/>
              <a:t>La rivoluzione tecnologica</a:t>
            </a:r>
          </a:p>
          <a:p>
            <a:pPr defTabSz="495447">
              <a:spcBef>
                <a:spcPct val="0"/>
              </a:spcBef>
              <a:defRPr/>
            </a:pPr>
            <a:endParaRPr lang="it-CH" altLang="it-CH" sz="2206" dirty="0"/>
          </a:p>
          <a:p>
            <a:pPr defTabSz="495447">
              <a:spcBef>
                <a:spcPct val="0"/>
              </a:spcBef>
              <a:buFont typeface="Wingdings" panose="05000000000000000000" pitchFamily="2" charset="2"/>
              <a:buChar char="ü"/>
              <a:defRPr/>
            </a:pPr>
            <a:r>
              <a:rPr lang="it-CH" altLang="it-CH" sz="2206" dirty="0"/>
              <a:t>Crisi di sovrapproduzione: crescente saturazione del mercato dei beni di consumo di massa</a:t>
            </a:r>
          </a:p>
          <a:p>
            <a:pPr defTabSz="495447">
              <a:defRPr/>
            </a:pPr>
            <a:endParaRPr lang="it-CH" altLang="it-CH" dirty="0"/>
          </a:p>
        </p:txBody>
      </p:sp>
      <p:sp>
        <p:nvSpPr>
          <p:cNvPr id="50180" name="Segnaposto data 3">
            <a:extLst>
              <a:ext uri="{FF2B5EF4-FFF2-40B4-BE49-F238E27FC236}">
                <a16:creationId xmlns:a16="http://schemas.microsoft.com/office/drawing/2014/main" id="{45DC8059-490B-ED0A-1D4E-F550C1EF95DB}"/>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Times New Roman" panose="02020603050405020304" pitchFamily="18" charset="0"/>
              <a:buNone/>
            </a:pPr>
            <a:endParaRPr lang="it-IT" altLang="it-CH" dirty="0">
              <a:ea typeface="Microsoft YaHei" panose="020B0503020204020204" pitchFamily="34" charset="-122"/>
            </a:endParaRPr>
          </a:p>
        </p:txBody>
      </p:sp>
      <p:sp>
        <p:nvSpPr>
          <p:cNvPr id="50181" name="Segnaposto numero diapositiva 4">
            <a:extLst>
              <a:ext uri="{FF2B5EF4-FFF2-40B4-BE49-F238E27FC236}">
                <a16:creationId xmlns:a16="http://schemas.microsoft.com/office/drawing/2014/main" id="{3A0021C2-CBFC-3A40-52A9-EF774E9C877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CFC6128-9A5C-4585-8984-71FB02B77F8A}" type="slidenum">
              <a:rPr lang="it-IT" altLang="it-CH" smtClean="0"/>
              <a:pPr/>
              <a:t>16</a:t>
            </a:fld>
            <a:endParaRPr lang="it-IT" altLang="it-CH"/>
          </a:p>
        </p:txBody>
      </p:sp>
      <p:pic>
        <p:nvPicPr>
          <p:cNvPr id="50182" name="Picture 6" descr="https://4.bp.blogspot.com/-SrgKLa3FIYg/U-sYfTYlLoI/AAAAAAAAKQY/lvyUAdQRG5s/s1600/pericolo.png">
            <a:extLst>
              <a:ext uri="{FF2B5EF4-FFF2-40B4-BE49-F238E27FC236}">
                <a16:creationId xmlns:a16="http://schemas.microsoft.com/office/drawing/2014/main" id="{FDDC2E30-9092-240B-E765-096C256B71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4838" y="5850705"/>
            <a:ext cx="1526575" cy="12657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5038" y="188500"/>
            <a:ext cx="339788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a:cs typeface="Arial"/>
              </a:rPr>
              <a:t>DEASS</a:t>
            </a:r>
            <a:r>
              <a:rPr sz="1300" spc="50" dirty="0">
                <a:latin typeface="Arial"/>
                <a:cs typeface="Arial"/>
              </a:rPr>
              <a:t> </a:t>
            </a:r>
            <a:r>
              <a:rPr sz="1300" dirty="0">
                <a:latin typeface="Arial"/>
                <a:cs typeface="Arial"/>
              </a:rPr>
              <a:t>/</a:t>
            </a:r>
            <a:r>
              <a:rPr sz="1300" spc="10" dirty="0">
                <a:latin typeface="Arial"/>
                <a:cs typeface="Arial"/>
              </a:rPr>
              <a:t> </a:t>
            </a:r>
            <a:r>
              <a:rPr sz="1300" dirty="0">
                <a:latin typeface="Arial"/>
                <a:cs typeface="Arial"/>
              </a:rPr>
              <a:t>Titolo</a:t>
            </a:r>
            <a:r>
              <a:rPr sz="1300" spc="15" dirty="0">
                <a:latin typeface="Arial"/>
                <a:cs typeface="Arial"/>
              </a:rPr>
              <a:t> </a:t>
            </a:r>
            <a:r>
              <a:rPr sz="1300" dirty="0">
                <a:latin typeface="Arial"/>
                <a:cs typeface="Arial"/>
              </a:rPr>
              <a:t>principale della</a:t>
            </a:r>
            <a:r>
              <a:rPr sz="1300" spc="40" dirty="0">
                <a:latin typeface="Arial"/>
                <a:cs typeface="Arial"/>
              </a:rPr>
              <a:t> </a:t>
            </a:r>
            <a:r>
              <a:rPr sz="1300" spc="-10" dirty="0">
                <a:latin typeface="Arial"/>
                <a:cs typeface="Arial"/>
              </a:rPr>
              <a:t>presentazione</a:t>
            </a:r>
            <a:endParaRPr sz="1300">
              <a:latin typeface="Arial"/>
              <a:cs typeface="Arial"/>
            </a:endParaRPr>
          </a:p>
        </p:txBody>
      </p:sp>
      <p:pic>
        <p:nvPicPr>
          <p:cNvPr id="3" name="object 3"/>
          <p:cNvPicPr/>
          <p:nvPr/>
        </p:nvPicPr>
        <p:blipFill>
          <a:blip r:embed="rId2" cstate="print"/>
          <a:stretch>
            <a:fillRect/>
          </a:stretch>
        </p:blipFill>
        <p:spPr>
          <a:xfrm>
            <a:off x="684276" y="225552"/>
            <a:ext cx="527304" cy="156972"/>
          </a:xfrm>
          <a:prstGeom prst="rect">
            <a:avLst/>
          </a:prstGeom>
        </p:spPr>
      </p:pic>
      <p:sp>
        <p:nvSpPr>
          <p:cNvPr id="4" name="object 4"/>
          <p:cNvSpPr txBox="1">
            <a:spLocks noGrp="1"/>
          </p:cNvSpPr>
          <p:nvPr>
            <p:ph type="title"/>
          </p:nvPr>
        </p:nvSpPr>
        <p:spPr>
          <a:xfrm>
            <a:off x="648643" y="724999"/>
            <a:ext cx="9396113" cy="1834919"/>
          </a:xfrm>
          <a:prstGeom prst="rect">
            <a:avLst/>
          </a:prstGeom>
        </p:spPr>
        <p:txBody>
          <a:bodyPr vert="horz" wrap="square" lIns="0" tIns="201733" rIns="0" bIns="0" rtlCol="0">
            <a:spAutoFit/>
          </a:bodyPr>
          <a:lstStyle/>
          <a:p>
            <a:pPr marL="12700">
              <a:lnSpc>
                <a:spcPct val="100000"/>
              </a:lnSpc>
              <a:spcBef>
                <a:spcPts val="90"/>
              </a:spcBef>
            </a:pPr>
            <a:r>
              <a:rPr lang="it-CH" sz="5300" dirty="0">
                <a:solidFill>
                  <a:schemeClr val="bg1"/>
                </a:solidFill>
              </a:rPr>
              <a:t>Modello giapponese, azienda di rete e flessibilizzazione</a:t>
            </a:r>
            <a:endParaRPr sz="5300" dirty="0">
              <a:solidFill>
                <a:schemeClr val="bg1"/>
              </a:solidFill>
            </a:endParaRPr>
          </a:p>
        </p:txBody>
      </p:sp>
      <p:sp>
        <p:nvSpPr>
          <p:cNvPr id="5" name="object 5"/>
          <p:cNvSpPr txBox="1"/>
          <p:nvPr/>
        </p:nvSpPr>
        <p:spPr>
          <a:xfrm>
            <a:off x="9830841" y="193002"/>
            <a:ext cx="211454" cy="226695"/>
          </a:xfrm>
          <a:prstGeom prst="rect">
            <a:avLst/>
          </a:prstGeom>
        </p:spPr>
        <p:txBody>
          <a:bodyPr vert="horz" wrap="square" lIns="0" tIns="15240" rIns="0" bIns="0" rtlCol="0">
            <a:spAutoFit/>
          </a:bodyPr>
          <a:lstStyle/>
          <a:p>
            <a:pPr marL="12700">
              <a:lnSpc>
                <a:spcPct val="100000"/>
              </a:lnSpc>
              <a:spcBef>
                <a:spcPts val="120"/>
              </a:spcBef>
            </a:pPr>
            <a:r>
              <a:rPr sz="1300" spc="-25" dirty="0">
                <a:latin typeface="Arial"/>
                <a:cs typeface="Arial"/>
              </a:rPr>
              <a:t>12</a:t>
            </a:r>
            <a:endParaRPr sz="130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gnaposto data 3">
            <a:extLst>
              <a:ext uri="{FF2B5EF4-FFF2-40B4-BE49-F238E27FC236}">
                <a16:creationId xmlns:a16="http://schemas.microsoft.com/office/drawing/2014/main" id="{59702914-AB6D-3472-4F96-17DC0D680982}"/>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Times New Roman" panose="02020603050405020304" pitchFamily="18" charset="0"/>
              <a:buNone/>
            </a:pPr>
            <a:endParaRPr lang="it-IT" altLang="it-CH" dirty="0">
              <a:ea typeface="Microsoft YaHei" panose="020B0503020204020204" pitchFamily="34" charset="-122"/>
            </a:endParaRPr>
          </a:p>
        </p:txBody>
      </p:sp>
      <p:sp>
        <p:nvSpPr>
          <p:cNvPr id="53251" name="Segnaposto numero diapositiva 4">
            <a:extLst>
              <a:ext uri="{FF2B5EF4-FFF2-40B4-BE49-F238E27FC236}">
                <a16:creationId xmlns:a16="http://schemas.microsoft.com/office/drawing/2014/main" id="{E7BB8741-BA03-1D66-C0ED-00B5CFE5105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A6B3024-EBAB-49CA-AD5F-90F8EC8E218E}" type="slidenum">
              <a:rPr lang="it-IT" altLang="it-CH" smtClean="0"/>
              <a:pPr/>
              <a:t>18</a:t>
            </a:fld>
            <a:endParaRPr lang="it-IT" altLang="it-CH"/>
          </a:p>
        </p:txBody>
      </p:sp>
      <p:sp>
        <p:nvSpPr>
          <p:cNvPr id="6" name="Segnaposto contenuto 2">
            <a:extLst>
              <a:ext uri="{FF2B5EF4-FFF2-40B4-BE49-F238E27FC236}">
                <a16:creationId xmlns:a16="http://schemas.microsoft.com/office/drawing/2014/main" id="{129FE37B-3F16-E0A5-4A75-9C407B375026}"/>
              </a:ext>
            </a:extLst>
          </p:cNvPr>
          <p:cNvSpPr>
            <a:spLocks noGrp="1"/>
          </p:cNvSpPr>
          <p:nvPr>
            <p:ph idx="1"/>
          </p:nvPr>
        </p:nvSpPr>
        <p:spPr>
          <a:xfrm>
            <a:off x="534670" y="1647825"/>
            <a:ext cx="9383003" cy="5132481"/>
          </a:xfrm>
        </p:spPr>
        <p:txBody>
          <a:bodyPr>
            <a:normAutofit/>
          </a:bodyPr>
          <a:lstStyle/>
          <a:p>
            <a:pPr defTabSz="495447">
              <a:spcBef>
                <a:spcPct val="0"/>
              </a:spcBef>
              <a:buFont typeface="Wingdings" panose="05000000000000000000" pitchFamily="2" charset="2"/>
              <a:buChar char="ü"/>
              <a:defRPr/>
            </a:pPr>
            <a:r>
              <a:rPr lang="it-CH" sz="2206" dirty="0"/>
              <a:t>Ricerca di profitti (relativamente) slegati dalla produzione: finanziarizzazione dell’economia </a:t>
            </a:r>
          </a:p>
          <a:p>
            <a:pPr defTabSz="495447">
              <a:spcBef>
                <a:spcPct val="0"/>
              </a:spcBef>
              <a:buFont typeface="Wingdings" panose="05000000000000000000" pitchFamily="2" charset="2"/>
              <a:buChar char="ü"/>
              <a:defRPr/>
            </a:pPr>
            <a:endParaRPr lang="it-CH" sz="2206" dirty="0"/>
          </a:p>
          <a:p>
            <a:pPr defTabSz="495447">
              <a:spcBef>
                <a:spcPct val="0"/>
              </a:spcBef>
              <a:buFont typeface="Wingdings" panose="05000000000000000000" pitchFamily="2" charset="2"/>
              <a:buChar char="ü"/>
              <a:defRPr/>
            </a:pPr>
            <a:r>
              <a:rPr lang="it-CH" sz="2206" dirty="0"/>
              <a:t>Privatizzazione dei servizi pubblici e riforma del welfare state</a:t>
            </a:r>
          </a:p>
          <a:p>
            <a:pPr defTabSz="495447">
              <a:spcBef>
                <a:spcPct val="0"/>
              </a:spcBef>
              <a:buFont typeface="Wingdings" panose="05000000000000000000" pitchFamily="2" charset="2"/>
              <a:buChar char="ü"/>
              <a:defRPr/>
            </a:pPr>
            <a:endParaRPr lang="it-CH" sz="2206" dirty="0"/>
          </a:p>
          <a:p>
            <a:pPr defTabSz="495447">
              <a:spcBef>
                <a:spcPct val="0"/>
              </a:spcBef>
              <a:buFont typeface="Wingdings" panose="05000000000000000000" pitchFamily="2" charset="2"/>
              <a:buChar char="ü"/>
              <a:defRPr/>
            </a:pPr>
            <a:r>
              <a:rPr lang="it-CH" sz="2206" dirty="0"/>
              <a:t>Terziarizzazione dell’economia</a:t>
            </a:r>
          </a:p>
          <a:p>
            <a:pPr defTabSz="495447">
              <a:spcBef>
                <a:spcPct val="0"/>
              </a:spcBef>
              <a:buFont typeface="Wingdings" panose="05000000000000000000" pitchFamily="2" charset="2"/>
              <a:buChar char="ü"/>
              <a:defRPr/>
            </a:pPr>
            <a:endParaRPr lang="it-CH" sz="2206" dirty="0"/>
          </a:p>
          <a:p>
            <a:pPr defTabSz="495447">
              <a:spcBef>
                <a:spcPct val="0"/>
              </a:spcBef>
              <a:buFont typeface="Wingdings" panose="05000000000000000000" pitchFamily="2" charset="2"/>
              <a:buChar char="ü"/>
              <a:defRPr/>
            </a:pPr>
            <a:r>
              <a:rPr lang="it-CH" sz="2206" dirty="0">
                <a:solidFill>
                  <a:srgbClr val="0070C0"/>
                </a:solidFill>
              </a:rPr>
              <a:t>Accumulazione flessibile: introduzione di modelli di organizzazione del lavoro flessibili (just-in-time) </a:t>
            </a:r>
          </a:p>
          <a:p>
            <a:pPr defTabSz="495447">
              <a:spcBef>
                <a:spcPct val="0"/>
              </a:spcBef>
              <a:defRPr/>
            </a:pPr>
            <a:r>
              <a:rPr lang="it-CH" sz="2206" dirty="0">
                <a:solidFill>
                  <a:srgbClr val="0070C0"/>
                </a:solidFill>
              </a:rPr>
              <a:t> (domanda                 offerta )</a:t>
            </a:r>
          </a:p>
          <a:p>
            <a:pPr defTabSz="495447">
              <a:spcBef>
                <a:spcPct val="0"/>
              </a:spcBef>
              <a:defRPr/>
            </a:pPr>
            <a:endParaRPr lang="it-CH" sz="2206" dirty="0">
              <a:solidFill>
                <a:srgbClr val="0070C0"/>
              </a:solidFill>
            </a:endParaRPr>
          </a:p>
          <a:p>
            <a:pPr defTabSz="495447">
              <a:spcBef>
                <a:spcPct val="0"/>
              </a:spcBef>
              <a:buFont typeface="Wingdings" panose="05000000000000000000" pitchFamily="2" charset="2"/>
              <a:buChar char="ü"/>
              <a:defRPr/>
            </a:pPr>
            <a:r>
              <a:rPr lang="it-CH" sz="2206" dirty="0">
                <a:solidFill>
                  <a:srgbClr val="0070C0"/>
                </a:solidFill>
              </a:rPr>
              <a:t>Femminilizzazione del forza lavoro e lavoro di riproduzione sociale che si differenzia (si svolge nelle case, nei servizi privati e pubblici)</a:t>
            </a:r>
          </a:p>
          <a:p>
            <a:pPr>
              <a:defRPr/>
            </a:pPr>
            <a:endParaRPr lang="it-CH" dirty="0">
              <a:ea typeface="ＭＳ Ｐゴシック" pitchFamily="-112" charset="-128"/>
            </a:endParaRPr>
          </a:p>
        </p:txBody>
      </p:sp>
      <p:sp>
        <p:nvSpPr>
          <p:cNvPr id="53253" name="CasellaDiTesto 1">
            <a:extLst>
              <a:ext uri="{FF2B5EF4-FFF2-40B4-BE49-F238E27FC236}">
                <a16:creationId xmlns:a16="http://schemas.microsoft.com/office/drawing/2014/main" id="{EAFBA42C-8368-A929-8257-C9BEE05B1434}"/>
              </a:ext>
            </a:extLst>
          </p:cNvPr>
          <p:cNvSpPr txBox="1">
            <a:spLocks noChangeArrowheads="1"/>
          </p:cNvSpPr>
          <p:nvPr/>
        </p:nvSpPr>
        <p:spPr bwMode="auto">
          <a:xfrm>
            <a:off x="534670" y="793325"/>
            <a:ext cx="8149322" cy="543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spcBef>
                <a:spcPct val="20000"/>
              </a:spcBef>
            </a:pPr>
            <a:r>
              <a:rPr lang="it-CH" altLang="it-CH" sz="3529" dirty="0">
                <a:solidFill>
                  <a:srgbClr val="2838C8"/>
                </a:solidFill>
                <a:latin typeface="Times New Roman" panose="02020603050405020304" pitchFamily="18" charset="0"/>
                <a:cs typeface="Times New Roman" panose="02020603050405020304" pitchFamily="18" charset="0"/>
              </a:rPr>
              <a:t>Il sistema post fordista</a:t>
            </a:r>
          </a:p>
        </p:txBody>
      </p:sp>
      <p:sp>
        <p:nvSpPr>
          <p:cNvPr id="2" name="Freccia destra rientrata 1">
            <a:extLst>
              <a:ext uri="{FF2B5EF4-FFF2-40B4-BE49-F238E27FC236}">
                <a16:creationId xmlns:a16="http://schemas.microsoft.com/office/drawing/2014/main" id="{A74065A6-7499-93C9-22E8-7DDD3E862156}"/>
              </a:ext>
            </a:extLst>
          </p:cNvPr>
          <p:cNvSpPr/>
          <p:nvPr/>
        </p:nvSpPr>
        <p:spPr>
          <a:xfrm>
            <a:off x="2146300" y="4772025"/>
            <a:ext cx="762000" cy="152400"/>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CH"/>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0D7D6C90-7299-485B-8623-3080B0E6F000}"/>
              </a:ext>
            </a:extLst>
          </p:cNvPr>
          <p:cNvSpPr>
            <a:spLocks noGrp="1"/>
          </p:cNvSpPr>
          <p:nvPr>
            <p:ph type="body" idx="1"/>
          </p:nvPr>
        </p:nvSpPr>
        <p:spPr>
          <a:xfrm>
            <a:off x="633850" y="1419225"/>
            <a:ext cx="9665850" cy="4343400"/>
          </a:xfrm>
        </p:spPr>
        <p:txBody>
          <a:bodyPr/>
          <a:lstStyle/>
          <a:p>
            <a:r>
              <a:rPr lang="it-CH" sz="2000" dirty="0">
                <a:latin typeface="Arial" panose="020B0604020202020204" pitchFamily="34" charset="0"/>
                <a:cs typeface="Arial" panose="020B0604020202020204" pitchFamily="34" charset="0"/>
              </a:rPr>
              <a:t>I limiti del modello fordista e la crisi economica degli anni ’70 portano alla necessità di modificare l’organizzazione del lavoro e i rapporti di produzione.</a:t>
            </a:r>
          </a:p>
          <a:p>
            <a:endParaRPr lang="it-CH" sz="2000" dirty="0">
              <a:latin typeface="Arial" panose="020B0604020202020204" pitchFamily="34" charset="0"/>
              <a:cs typeface="Arial" panose="020B0604020202020204" pitchFamily="34" charset="0"/>
            </a:endParaRPr>
          </a:p>
          <a:p>
            <a:r>
              <a:rPr lang="it-CH" sz="2000" dirty="0">
                <a:latin typeface="Arial" panose="020B0604020202020204" pitchFamily="34" charset="0"/>
                <a:cs typeface="Arial" panose="020B0604020202020204" pitchFamily="34" charset="0"/>
              </a:rPr>
              <a:t>I principali elementi di questa trasformazione sono:</a:t>
            </a:r>
          </a:p>
          <a:p>
            <a:endParaRPr lang="it-CH" sz="2000" dirty="0">
              <a:latin typeface="Arial" panose="020B0604020202020204" pitchFamily="34" charset="0"/>
              <a:cs typeface="Arial" panose="020B0604020202020204" pitchFamily="34" charset="0"/>
            </a:endParaRPr>
          </a:p>
          <a:p>
            <a:pPr marL="457200" indent="-457200">
              <a:buAutoNum type="arabicPeriod"/>
            </a:pPr>
            <a:r>
              <a:rPr lang="it-CH" sz="2000" b="1" dirty="0">
                <a:latin typeface="Arial" panose="020B0604020202020204" pitchFamily="34" charset="0"/>
                <a:cs typeface="Arial" panose="020B0604020202020204" pitchFamily="34" charset="0"/>
              </a:rPr>
              <a:t>Produzione snella </a:t>
            </a:r>
            <a:r>
              <a:rPr lang="it-CH" sz="2000" dirty="0">
                <a:latin typeface="Arial" panose="020B0604020202020204" pitchFamily="34" charset="0"/>
                <a:cs typeface="Arial" panose="020B0604020202020204" pitchFamily="34" charset="0"/>
              </a:rPr>
              <a:t>(</a:t>
            </a:r>
            <a:r>
              <a:rPr lang="it-CH" sz="2000" i="1" dirty="0" err="1">
                <a:latin typeface="Arial" panose="020B0604020202020204" pitchFamily="34" charset="0"/>
                <a:cs typeface="Arial" panose="020B0604020202020204" pitchFamily="34" charset="0"/>
              </a:rPr>
              <a:t>lean</a:t>
            </a:r>
            <a:r>
              <a:rPr lang="it-CH" sz="2000" i="1" dirty="0">
                <a:latin typeface="Arial" panose="020B0604020202020204" pitchFamily="34" charset="0"/>
                <a:cs typeface="Arial" panose="020B0604020202020204" pitchFamily="34" charset="0"/>
              </a:rPr>
              <a:t> production</a:t>
            </a:r>
            <a:r>
              <a:rPr lang="it-CH" sz="2000" dirty="0">
                <a:latin typeface="Arial" panose="020B0604020202020204" pitchFamily="34" charset="0"/>
                <a:cs typeface="Arial" panose="020B0604020202020204" pitchFamily="34" charset="0"/>
              </a:rPr>
              <a:t>)</a:t>
            </a:r>
          </a:p>
          <a:p>
            <a:pPr marL="457200" indent="-457200">
              <a:buAutoNum type="arabicPeriod"/>
            </a:pPr>
            <a:r>
              <a:rPr lang="it-CH" sz="2000" b="1" dirty="0">
                <a:latin typeface="Arial" panose="020B0604020202020204" pitchFamily="34" charset="0"/>
                <a:cs typeface="Arial" panose="020B0604020202020204" pitchFamily="34" charset="0"/>
              </a:rPr>
              <a:t>Gestione delle risorse umane </a:t>
            </a:r>
            <a:r>
              <a:rPr lang="it-CH" sz="2000" i="1" dirty="0">
                <a:latin typeface="Arial" panose="020B0604020202020204" pitchFamily="34" charset="0"/>
                <a:cs typeface="Arial" panose="020B0604020202020204" pitchFamily="34" charset="0"/>
              </a:rPr>
              <a:t>(human </a:t>
            </a:r>
            <a:r>
              <a:rPr lang="it-CH" sz="2000" i="1" dirty="0" err="1">
                <a:latin typeface="Arial" panose="020B0604020202020204" pitchFamily="34" charset="0"/>
                <a:cs typeface="Arial" panose="020B0604020202020204" pitchFamily="34" charset="0"/>
              </a:rPr>
              <a:t>resource</a:t>
            </a:r>
            <a:r>
              <a:rPr lang="it-CH" sz="2000" i="1" dirty="0">
                <a:latin typeface="Arial" panose="020B0604020202020204" pitchFamily="34" charset="0"/>
                <a:cs typeface="Arial" panose="020B0604020202020204" pitchFamily="34" charset="0"/>
              </a:rPr>
              <a:t> management)</a:t>
            </a:r>
          </a:p>
          <a:p>
            <a:pPr marL="457200" indent="-457200">
              <a:buAutoNum type="arabicPeriod"/>
            </a:pPr>
            <a:endParaRPr lang="it-CH" sz="2000" b="1" dirty="0">
              <a:latin typeface="Arial" panose="020B0604020202020204" pitchFamily="34" charset="0"/>
              <a:cs typeface="Arial" panose="020B0604020202020204" pitchFamily="34" charset="0"/>
            </a:endParaRPr>
          </a:p>
          <a:p>
            <a:pPr marL="457200" indent="-457200">
              <a:buAutoNum type="arabicPeriod"/>
            </a:pPr>
            <a:endParaRPr lang="it-CH" sz="2000" i="1" dirty="0">
              <a:latin typeface="Arial" panose="020B0604020202020204" pitchFamily="34" charset="0"/>
              <a:cs typeface="Arial" panose="020B0604020202020204" pitchFamily="34" charset="0"/>
            </a:endParaRPr>
          </a:p>
          <a:p>
            <a:r>
              <a:rPr lang="it-CH" sz="2000" i="1" dirty="0">
                <a:latin typeface="Arial" panose="020B0604020202020204" pitchFamily="34" charset="0"/>
                <a:cs typeface="Arial" panose="020B0604020202020204" pitchFamily="34" charset="0"/>
              </a:rPr>
              <a:t>All’origine di queste trasformazioni si trova la retorica della de-verticalizzazione, della rottura delle </a:t>
            </a:r>
            <a:r>
              <a:rPr lang="it-CH" sz="2000" b="1" i="1" dirty="0">
                <a:latin typeface="Arial" panose="020B0604020202020204" pitchFamily="34" charset="0"/>
                <a:cs typeface="Arial" panose="020B0604020202020204" pitchFamily="34" charset="0"/>
              </a:rPr>
              <a:t>rigidità</a:t>
            </a:r>
            <a:r>
              <a:rPr lang="it-CH" sz="2000" i="1" dirty="0">
                <a:latin typeface="Arial" panose="020B0604020202020204" pitchFamily="34" charset="0"/>
                <a:cs typeface="Arial" panose="020B0604020202020204" pitchFamily="34" charset="0"/>
              </a:rPr>
              <a:t> che caratterizzavano il modello taylorista-fordista</a:t>
            </a:r>
          </a:p>
          <a:p>
            <a:endParaRPr lang="it-CH" dirty="0"/>
          </a:p>
          <a:p>
            <a:endParaRPr lang="it-CH" dirty="0"/>
          </a:p>
        </p:txBody>
      </p:sp>
    </p:spTree>
    <p:extLst>
      <p:ext uri="{BB962C8B-B14F-4D97-AF65-F5344CB8AC3E}">
        <p14:creationId xmlns:p14="http://schemas.microsoft.com/office/powerpoint/2010/main" val="1095488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35747B-276F-B5A5-105E-65895DE020BE}"/>
              </a:ext>
            </a:extLst>
          </p:cNvPr>
          <p:cNvSpPr>
            <a:spLocks noGrp="1"/>
          </p:cNvSpPr>
          <p:nvPr>
            <p:ph type="title"/>
          </p:nvPr>
        </p:nvSpPr>
        <p:spPr>
          <a:xfrm>
            <a:off x="648643" y="724999"/>
            <a:ext cx="9396113" cy="407804"/>
          </a:xfrm>
        </p:spPr>
        <p:txBody>
          <a:bodyPr/>
          <a:lstStyle/>
          <a:p>
            <a:r>
              <a:rPr lang="it-CH" dirty="0"/>
              <a:t>La produzione snella (modello giapponese)</a:t>
            </a:r>
          </a:p>
        </p:txBody>
      </p:sp>
      <p:sp>
        <p:nvSpPr>
          <p:cNvPr id="3" name="Segnaposto testo 2">
            <a:extLst>
              <a:ext uri="{FF2B5EF4-FFF2-40B4-BE49-F238E27FC236}">
                <a16:creationId xmlns:a16="http://schemas.microsoft.com/office/drawing/2014/main" id="{00472695-1F6B-9F4C-F9D4-350CF93F73EC}"/>
              </a:ext>
            </a:extLst>
          </p:cNvPr>
          <p:cNvSpPr>
            <a:spLocks noGrp="1"/>
          </p:cNvSpPr>
          <p:nvPr>
            <p:ph type="body" idx="1"/>
          </p:nvPr>
        </p:nvSpPr>
        <p:spPr>
          <a:xfrm>
            <a:off x="393700" y="1571626"/>
            <a:ext cx="9651056" cy="7025000"/>
          </a:xfrm>
        </p:spPr>
        <p:txBody>
          <a:bodyPr/>
          <a:lstStyle/>
          <a:p>
            <a:r>
              <a:rPr lang="it-CH" sz="2000" dirty="0">
                <a:latin typeface="Arial" panose="020B0604020202020204" pitchFamily="34" charset="0"/>
                <a:cs typeface="Arial" panose="020B0604020202020204" pitchFamily="34" charset="0"/>
              </a:rPr>
              <a:t>Principi essenziali:</a:t>
            </a:r>
          </a:p>
          <a:p>
            <a:endParaRPr lang="it-CH" sz="2000" dirty="0">
              <a:latin typeface="Arial" panose="020B0604020202020204" pitchFamily="34" charset="0"/>
              <a:cs typeface="Arial" panose="020B0604020202020204" pitchFamily="34" charset="0"/>
            </a:endParaRPr>
          </a:p>
          <a:p>
            <a:pPr marL="457200" indent="-457200">
              <a:buAutoNum type="arabicPeriod"/>
            </a:pPr>
            <a:r>
              <a:rPr lang="it-CH" sz="2000" b="1" dirty="0">
                <a:latin typeface="Arial" panose="020B0604020202020204" pitchFamily="34" charset="0"/>
                <a:cs typeface="Arial" panose="020B0604020202020204" pitchFamily="34" charset="0"/>
              </a:rPr>
              <a:t>Produzione just-in time: </a:t>
            </a:r>
            <a:r>
              <a:rPr lang="it-CH" sz="2000" dirty="0">
                <a:latin typeface="Arial" panose="020B0604020202020204" pitchFamily="34" charset="0"/>
                <a:cs typeface="Arial" panose="020B0604020202020204" pitchFamily="34" charset="0"/>
              </a:rPr>
              <a:t>eliminazione di tutti gli sprechi e le scorte, si produce fondamentalmente sulla base della domanda. Tutto, compreso i lavoratori e le lavoratrici diventano flessibili, entrano e escono dal processo produttivo al momento del bisogno. </a:t>
            </a:r>
          </a:p>
          <a:p>
            <a:pPr marL="457200" indent="-457200">
              <a:buAutoNum type="arabicPeriod"/>
            </a:pPr>
            <a:endParaRPr lang="it-CH" sz="2000" dirty="0">
              <a:latin typeface="Arial" panose="020B0604020202020204" pitchFamily="34" charset="0"/>
              <a:cs typeface="Arial" panose="020B0604020202020204" pitchFamily="34" charset="0"/>
            </a:endParaRPr>
          </a:p>
          <a:p>
            <a:pPr marL="457200" indent="-457200">
              <a:buAutoNum type="arabicPeriod"/>
            </a:pPr>
            <a:r>
              <a:rPr lang="it-CH" sz="2000" b="1" dirty="0">
                <a:latin typeface="Arial" panose="020B0604020202020204" pitchFamily="34" charset="0"/>
                <a:cs typeface="Arial" panose="020B0604020202020204" pitchFamily="34" charset="0"/>
              </a:rPr>
              <a:t>Qualità totale: </a:t>
            </a:r>
            <a:r>
              <a:rPr lang="it-CH" sz="2000" dirty="0">
                <a:latin typeface="Arial" panose="020B0604020202020204" pitchFamily="34" charset="0"/>
                <a:cs typeface="Arial" panose="020B0604020202020204" pitchFamily="34" charset="0"/>
              </a:rPr>
              <a:t>obiettivo riduzione dei difetti con un controllo costante sul lavoro in tutte le fasi della produzione e un coinvolgimento dei lavoratori e delle lavoratrici in questo controllo (circoli di qualità, disposizione a U della produzione in modo che i lavoratori e le lavoratrici possano vedersi)</a:t>
            </a:r>
          </a:p>
          <a:p>
            <a:pPr marL="457200" indent="-457200">
              <a:buAutoNum type="arabicPeriod"/>
            </a:pPr>
            <a:endParaRPr lang="it-CH" sz="2000" dirty="0">
              <a:latin typeface="Arial" panose="020B0604020202020204" pitchFamily="34" charset="0"/>
              <a:cs typeface="Arial" panose="020B0604020202020204" pitchFamily="34" charset="0"/>
            </a:endParaRPr>
          </a:p>
          <a:p>
            <a:pPr marL="457200" indent="-457200">
              <a:buAutoNum type="arabicPeriod"/>
            </a:pPr>
            <a:endParaRPr lang="it-CH" sz="2000" dirty="0">
              <a:latin typeface="Arial" panose="020B0604020202020204" pitchFamily="34" charset="0"/>
              <a:cs typeface="Arial" panose="020B0604020202020204" pitchFamily="34" charset="0"/>
            </a:endParaRPr>
          </a:p>
          <a:p>
            <a:r>
              <a:rPr lang="it-CH" sz="2000" dirty="0">
                <a:latin typeface="Arial" panose="020B0604020202020204" pitchFamily="34" charset="0"/>
                <a:cs typeface="Arial" panose="020B0604020202020204" pitchFamily="34" charset="0"/>
              </a:rPr>
              <a:t>Nella realtà concreta il modello giapponese si è caratterizzato anche per un grande sfruttamento della manodopera, ritmi di lavoro molto intensi e assenza di diritti sindacali.</a:t>
            </a:r>
          </a:p>
          <a:p>
            <a:endParaRPr lang="it-CH" dirty="0"/>
          </a:p>
          <a:p>
            <a:endParaRPr lang="it-CH" dirty="0"/>
          </a:p>
          <a:p>
            <a:pPr marL="457200" indent="-457200">
              <a:buAutoNum type="arabicPeriod"/>
            </a:pPr>
            <a:endParaRPr lang="it-CH" dirty="0"/>
          </a:p>
          <a:p>
            <a:pPr marL="457200" indent="-457200">
              <a:buAutoNum type="arabicPeriod"/>
            </a:pPr>
            <a:endParaRPr lang="it-CH" dirty="0"/>
          </a:p>
          <a:p>
            <a:pPr marL="457200" indent="-457200">
              <a:buAutoNum type="arabicPeriod"/>
            </a:pPr>
            <a:endParaRPr lang="it-CH" dirty="0"/>
          </a:p>
          <a:p>
            <a:pPr marL="457200" indent="-457200">
              <a:buAutoNum type="arabicPeriod"/>
            </a:pPr>
            <a:endParaRPr lang="it-CH" dirty="0"/>
          </a:p>
          <a:p>
            <a:pPr marL="457200" indent="-457200">
              <a:buAutoNum type="arabicPeriod"/>
            </a:pPr>
            <a:endParaRPr lang="it-CH" dirty="0"/>
          </a:p>
        </p:txBody>
      </p:sp>
    </p:spTree>
    <p:extLst>
      <p:ext uri="{BB962C8B-B14F-4D97-AF65-F5344CB8AC3E}">
        <p14:creationId xmlns:p14="http://schemas.microsoft.com/office/powerpoint/2010/main" val="2070510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3D107F-B697-7A19-1987-D307DC5AEE9E}"/>
              </a:ext>
            </a:extLst>
          </p:cNvPr>
          <p:cNvSpPr>
            <a:spLocks noGrp="1"/>
          </p:cNvSpPr>
          <p:nvPr>
            <p:ph type="title"/>
          </p:nvPr>
        </p:nvSpPr>
        <p:spPr>
          <a:xfrm>
            <a:off x="648643" y="724999"/>
            <a:ext cx="9396113" cy="1269578"/>
          </a:xfrm>
        </p:spPr>
        <p:txBody>
          <a:bodyPr/>
          <a:lstStyle/>
          <a:p>
            <a:r>
              <a:rPr lang="it-CH" sz="2800" dirty="0">
                <a:latin typeface="Arial" panose="020B0604020202020204" pitchFamily="34" charset="0"/>
                <a:cs typeface="Arial" panose="020B0604020202020204" pitchFamily="34" charset="0"/>
              </a:rPr>
              <a:t>Gestione delle risorse umane </a:t>
            </a:r>
            <a:r>
              <a:rPr lang="it-CH" sz="2800" i="1" dirty="0">
                <a:latin typeface="Arial" panose="020B0604020202020204" pitchFamily="34" charset="0"/>
                <a:cs typeface="Arial" panose="020B0604020202020204" pitchFamily="34" charset="0"/>
              </a:rPr>
              <a:t>(human </a:t>
            </a:r>
            <a:r>
              <a:rPr lang="it-CH" sz="2800" i="1" dirty="0" err="1">
                <a:latin typeface="Arial" panose="020B0604020202020204" pitchFamily="34" charset="0"/>
                <a:cs typeface="Arial" panose="020B0604020202020204" pitchFamily="34" charset="0"/>
              </a:rPr>
              <a:t>resource</a:t>
            </a:r>
            <a:r>
              <a:rPr lang="it-CH" sz="2800" i="1" dirty="0">
                <a:latin typeface="Arial" panose="020B0604020202020204" pitchFamily="34" charset="0"/>
                <a:cs typeface="Arial" panose="020B0604020202020204" pitchFamily="34" charset="0"/>
              </a:rPr>
              <a:t> management)</a:t>
            </a:r>
            <a:br>
              <a:rPr lang="it-CH" sz="2800" i="1" dirty="0">
                <a:latin typeface="Arial" panose="020B0604020202020204" pitchFamily="34" charset="0"/>
                <a:cs typeface="Arial" panose="020B0604020202020204" pitchFamily="34" charset="0"/>
              </a:rPr>
            </a:br>
            <a:endParaRPr lang="it-CH" dirty="0"/>
          </a:p>
        </p:txBody>
      </p:sp>
      <p:sp>
        <p:nvSpPr>
          <p:cNvPr id="3" name="Segnaposto testo 2">
            <a:extLst>
              <a:ext uri="{FF2B5EF4-FFF2-40B4-BE49-F238E27FC236}">
                <a16:creationId xmlns:a16="http://schemas.microsoft.com/office/drawing/2014/main" id="{383A5F0A-5EF1-03C4-2E2C-8B1CC1D03D2B}"/>
              </a:ext>
            </a:extLst>
          </p:cNvPr>
          <p:cNvSpPr>
            <a:spLocks noGrp="1"/>
          </p:cNvSpPr>
          <p:nvPr>
            <p:ph type="body" idx="1"/>
          </p:nvPr>
        </p:nvSpPr>
        <p:spPr>
          <a:xfrm>
            <a:off x="648643" y="1800225"/>
            <a:ext cx="9399356" cy="5201424"/>
          </a:xfrm>
        </p:spPr>
        <p:txBody>
          <a:bodyPr/>
          <a:lstStyle/>
          <a:p>
            <a:r>
              <a:rPr lang="it-CH" sz="2000" dirty="0">
                <a:latin typeface="Arial" panose="020B0604020202020204" pitchFamily="34" charset="0"/>
                <a:cs typeface="Arial" panose="020B0604020202020204" pitchFamily="34" charset="0"/>
              </a:rPr>
              <a:t>Ideologia manageriale che parte dall’idea di prendere in considerazione il fattore umano e critica l’idea di una sola possibilità di svolgere il lavoro tipica del taylorismo.</a:t>
            </a:r>
          </a:p>
          <a:p>
            <a:endParaRPr lang="it-CH" sz="2000" dirty="0">
              <a:latin typeface="Arial" panose="020B0604020202020204" pitchFamily="34" charset="0"/>
              <a:cs typeface="Arial" panose="020B0604020202020204" pitchFamily="34" charset="0"/>
            </a:endParaRPr>
          </a:p>
          <a:p>
            <a:r>
              <a:rPr lang="it-CH" sz="2000" b="1" dirty="0">
                <a:latin typeface="Arial" panose="020B0604020202020204" pitchFamily="34" charset="0"/>
                <a:cs typeface="Arial" panose="020B0604020202020204" pitchFamily="34" charset="0"/>
              </a:rPr>
              <a:t>Elementi principali: </a:t>
            </a:r>
          </a:p>
          <a:p>
            <a:endParaRPr lang="it-CH" sz="2000" dirty="0">
              <a:latin typeface="Arial" panose="020B0604020202020204" pitchFamily="34" charset="0"/>
              <a:cs typeface="Arial" panose="020B0604020202020204" pitchFamily="34" charset="0"/>
            </a:endParaRPr>
          </a:p>
          <a:p>
            <a:pPr marL="457200" indent="-457200">
              <a:buAutoNum type="arabicPeriod"/>
            </a:pPr>
            <a:r>
              <a:rPr lang="it-CH" sz="2000" dirty="0">
                <a:latin typeface="Arial" panose="020B0604020202020204" pitchFamily="34" charset="0"/>
                <a:cs typeface="Arial" panose="020B0604020202020204" pitchFamily="34" charset="0"/>
              </a:rPr>
              <a:t>Rapporto individuale tra direzione e dipendente</a:t>
            </a:r>
          </a:p>
          <a:p>
            <a:pPr marL="457200" indent="-457200">
              <a:buAutoNum type="arabicPeriod"/>
            </a:pPr>
            <a:r>
              <a:rPr lang="it-CH" sz="2000" dirty="0">
                <a:latin typeface="Arial" panose="020B0604020202020204" pitchFamily="34" charset="0"/>
                <a:cs typeface="Arial" panose="020B0604020202020204" pitchFamily="34" charset="0"/>
              </a:rPr>
              <a:t>Valutazione delle competenze professionali, ma anche delle caratteristiche umane, intellettuali e sociali dei collaboratori e delle collaboratrici</a:t>
            </a:r>
          </a:p>
          <a:p>
            <a:pPr marL="457200" indent="-457200">
              <a:buAutoNum type="arabicPeriod"/>
            </a:pPr>
            <a:r>
              <a:rPr lang="it-CH" sz="2000" dirty="0">
                <a:latin typeface="Arial" panose="020B0604020202020204" pitchFamily="34" charset="0"/>
                <a:cs typeface="Arial" panose="020B0604020202020204" pitchFamily="34" charset="0"/>
              </a:rPr>
              <a:t>Esclusione di forme di rappresentanza collettive</a:t>
            </a:r>
          </a:p>
          <a:p>
            <a:pPr marL="457200" indent="-457200">
              <a:buAutoNum type="arabicPeriod"/>
            </a:pPr>
            <a:endParaRPr lang="it-CH" sz="2000" dirty="0">
              <a:latin typeface="Arial" panose="020B0604020202020204" pitchFamily="34" charset="0"/>
              <a:cs typeface="Arial" panose="020B0604020202020204" pitchFamily="34" charset="0"/>
            </a:endParaRPr>
          </a:p>
          <a:p>
            <a:r>
              <a:rPr lang="it-CH" sz="2000" dirty="0">
                <a:latin typeface="Arial" panose="020B0604020202020204" pitchFamily="34" charset="0"/>
                <a:cs typeface="Arial" panose="020B0604020202020204" pitchFamily="34" charset="0"/>
              </a:rPr>
              <a:t>Si ripropone comunque la questione del controllo del lavoro e della valutazione delle competenze da parte dei management.</a:t>
            </a:r>
          </a:p>
          <a:p>
            <a:pPr marL="457200" indent="-457200">
              <a:buAutoNum type="arabicPeriod"/>
            </a:pPr>
            <a:endParaRPr lang="it-CH" dirty="0"/>
          </a:p>
          <a:p>
            <a:pPr marL="457200" indent="-457200">
              <a:buAutoNum type="arabicPeriod"/>
            </a:pPr>
            <a:endParaRPr lang="it-CH" dirty="0"/>
          </a:p>
          <a:p>
            <a:endParaRPr lang="it-CH" dirty="0"/>
          </a:p>
          <a:p>
            <a:endParaRPr lang="it-CH" dirty="0"/>
          </a:p>
        </p:txBody>
      </p:sp>
    </p:spTree>
    <p:extLst>
      <p:ext uri="{BB962C8B-B14F-4D97-AF65-F5344CB8AC3E}">
        <p14:creationId xmlns:p14="http://schemas.microsoft.com/office/powerpoint/2010/main" val="3982584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13936F36-C4D9-DCDB-1C98-043FFC5E61DE}"/>
              </a:ext>
            </a:extLst>
          </p:cNvPr>
          <p:cNvSpPr>
            <a:spLocks noGrp="1"/>
          </p:cNvSpPr>
          <p:nvPr>
            <p:ph type="body" idx="1"/>
          </p:nvPr>
        </p:nvSpPr>
        <p:spPr>
          <a:xfrm>
            <a:off x="546100" y="1038226"/>
            <a:ext cx="9501899" cy="5501506"/>
          </a:xfrm>
        </p:spPr>
        <p:txBody>
          <a:bodyPr/>
          <a:lstStyle/>
          <a:p>
            <a:r>
              <a:rPr lang="it-CH" sz="2000" dirty="0">
                <a:latin typeface="Arial" panose="020B0604020202020204" pitchFamily="34" charset="0"/>
                <a:cs typeface="Arial" panose="020B0604020202020204" pitchFamily="34" charset="0"/>
              </a:rPr>
              <a:t>In Occidente il modello giapponese è stato applicato soprattutto con l’idea di rendere l’organizzazione del lavoro più flessibile per fare in modo si adattasse meglio alle esigenze del mercato e della concorrenza internazionale.</a:t>
            </a:r>
          </a:p>
          <a:p>
            <a:endParaRPr lang="it-CH" sz="2000" dirty="0">
              <a:latin typeface="Arial" panose="020B0604020202020204" pitchFamily="34" charset="0"/>
              <a:cs typeface="Arial" panose="020B0604020202020204" pitchFamily="34" charset="0"/>
            </a:endParaRPr>
          </a:p>
          <a:p>
            <a:r>
              <a:rPr lang="it-CH" sz="2000" dirty="0">
                <a:latin typeface="Arial" panose="020B0604020202020204" pitchFamily="34" charset="0"/>
                <a:cs typeface="Arial" panose="020B0604020202020204" pitchFamily="34" charset="0"/>
              </a:rPr>
              <a:t>Concretamente ha comportato una crescente </a:t>
            </a:r>
            <a:r>
              <a:rPr lang="it-CH" sz="2000" b="1" dirty="0">
                <a:latin typeface="Arial" panose="020B0604020202020204" pitchFamily="34" charset="0"/>
                <a:cs typeface="Arial" panose="020B0604020202020204" pitchFamily="34" charset="0"/>
              </a:rPr>
              <a:t>flessibilizzazione e precarizzazione </a:t>
            </a:r>
            <a:r>
              <a:rPr lang="it-CH" sz="2000" dirty="0">
                <a:latin typeface="Arial" panose="020B0604020202020204" pitchFamily="34" charset="0"/>
                <a:cs typeface="Arial" panose="020B0604020202020204" pitchFamily="34" charset="0"/>
              </a:rPr>
              <a:t>delle condizioni di lavoro, un </a:t>
            </a:r>
            <a:r>
              <a:rPr lang="it-CH" sz="2000" b="1" dirty="0">
                <a:latin typeface="Arial" panose="020B0604020202020204" pitchFamily="34" charset="0"/>
                <a:cs typeface="Arial" panose="020B0604020202020204" pitchFamily="34" charset="0"/>
              </a:rPr>
              <a:t>aumento dei ritmi di lavoro</a:t>
            </a:r>
            <a:r>
              <a:rPr lang="it-CH" sz="2000" dirty="0">
                <a:latin typeface="Arial" panose="020B0604020202020204" pitchFamily="34" charset="0"/>
                <a:cs typeface="Arial" panose="020B0604020202020204" pitchFamily="34" charset="0"/>
              </a:rPr>
              <a:t>, un </a:t>
            </a:r>
            <a:r>
              <a:rPr lang="it-CH" sz="2000" b="1" dirty="0">
                <a:latin typeface="Arial" panose="020B0604020202020204" pitchFamily="34" charset="0"/>
                <a:cs typeface="Arial" panose="020B0604020202020204" pitchFamily="34" charset="0"/>
              </a:rPr>
              <a:t>«dimagrimento» </a:t>
            </a:r>
            <a:r>
              <a:rPr lang="it-CH" sz="2000" dirty="0">
                <a:latin typeface="Arial" panose="020B0604020202020204" pitchFamily="34" charset="0"/>
                <a:cs typeface="Arial" panose="020B0604020202020204" pitchFamily="34" charset="0"/>
              </a:rPr>
              <a:t>delle industrie e la realizzazione delle </a:t>
            </a:r>
            <a:r>
              <a:rPr lang="it-CH" sz="2000" b="1" dirty="0">
                <a:latin typeface="Arial" panose="020B0604020202020204" pitchFamily="34" charset="0"/>
                <a:cs typeface="Arial" panose="020B0604020202020204" pitchFamily="34" charset="0"/>
              </a:rPr>
              <a:t>fabbriche integrate o a rete</a:t>
            </a:r>
            <a:r>
              <a:rPr lang="it-CH" sz="2000" dirty="0">
                <a:latin typeface="Arial" panose="020B0604020202020204" pitchFamily="34" charset="0"/>
                <a:cs typeface="Arial" panose="020B0604020202020204" pitchFamily="34" charset="0"/>
              </a:rPr>
              <a:t>.</a:t>
            </a:r>
          </a:p>
          <a:p>
            <a:endParaRPr lang="it-CH" sz="2000" dirty="0">
              <a:latin typeface="Arial" panose="020B0604020202020204" pitchFamily="34" charset="0"/>
              <a:cs typeface="Arial" panose="020B0604020202020204" pitchFamily="34" charset="0"/>
            </a:endParaRPr>
          </a:p>
          <a:p>
            <a:r>
              <a:rPr lang="it-CH" sz="2000" dirty="0">
                <a:latin typeface="Arial" panose="020B0604020202020204" pitchFamily="34" charset="0"/>
                <a:cs typeface="Arial" panose="020B0604020202020204" pitchFamily="34" charset="0"/>
              </a:rPr>
              <a:t>A livello della politica sociale si applicano </a:t>
            </a:r>
            <a:r>
              <a:rPr lang="it-CH" sz="2000" b="1" dirty="0">
                <a:latin typeface="Arial" panose="020B0604020202020204" pitchFamily="34" charset="0"/>
                <a:cs typeface="Arial" panose="020B0604020202020204" pitchFamily="34" charset="0"/>
              </a:rPr>
              <a:t>politiche neo-liberiste</a:t>
            </a:r>
            <a:r>
              <a:rPr lang="it-CH" sz="2000" dirty="0">
                <a:latin typeface="Arial" panose="020B0604020202020204" pitchFamily="34" charset="0"/>
                <a:cs typeface="Arial" panose="020B0604020202020204" pitchFamily="34" charset="0"/>
              </a:rPr>
              <a:t>.</a:t>
            </a:r>
          </a:p>
          <a:p>
            <a:endParaRPr lang="it-CH" sz="2000" dirty="0">
              <a:latin typeface="Arial" panose="020B0604020202020204" pitchFamily="34" charset="0"/>
              <a:cs typeface="Arial" panose="020B0604020202020204" pitchFamily="34" charset="0"/>
            </a:endParaRPr>
          </a:p>
          <a:p>
            <a:r>
              <a:rPr lang="it-CH" sz="2000" dirty="0">
                <a:latin typeface="Arial" panose="020B0604020202020204" pitchFamily="34" charset="0"/>
                <a:cs typeface="Arial" panose="020B0604020202020204" pitchFamily="34" charset="0"/>
              </a:rPr>
              <a:t>Emerge </a:t>
            </a:r>
            <a:r>
              <a:rPr lang="it-CH" sz="2000" b="1" dirty="0">
                <a:latin typeface="Arial" panose="020B0604020202020204" pitchFamily="34" charset="0"/>
                <a:cs typeface="Arial" panose="020B0604020202020204" pitchFamily="34" charset="0"/>
              </a:rPr>
              <a:t>il modello famigliare neo-tradizionale</a:t>
            </a:r>
            <a:r>
              <a:rPr lang="it-CH" sz="2000" dirty="0">
                <a:latin typeface="Arial" panose="020B0604020202020204" pitchFamily="34" charset="0"/>
                <a:cs typeface="Arial" panose="020B0604020202020204" pitchFamily="34" charset="0"/>
              </a:rPr>
              <a:t>, le donne entrano nel mercato del lavoro attraverso </a:t>
            </a:r>
            <a:r>
              <a:rPr lang="it-CH" sz="2000" b="1" dirty="0">
                <a:latin typeface="Arial" panose="020B0604020202020204" pitchFamily="34" charset="0"/>
                <a:cs typeface="Arial" panose="020B0604020202020204" pitchFamily="34" charset="0"/>
              </a:rPr>
              <a:t>la porta della flessibilità e della precarietà dei contratti di lavoro</a:t>
            </a:r>
            <a:r>
              <a:rPr lang="it-CH" sz="2000" dirty="0">
                <a:latin typeface="Arial" panose="020B0604020202020204" pitchFamily="34" charset="0"/>
                <a:cs typeface="Arial" panose="020B0604020202020204" pitchFamily="34" charset="0"/>
              </a:rPr>
              <a:t>.</a:t>
            </a:r>
          </a:p>
          <a:p>
            <a:endParaRPr lang="it-CH" dirty="0"/>
          </a:p>
          <a:p>
            <a:endParaRPr lang="it-CH" dirty="0"/>
          </a:p>
          <a:p>
            <a:endParaRPr lang="it-CH" dirty="0"/>
          </a:p>
          <a:p>
            <a:endParaRPr lang="it-CH" dirty="0"/>
          </a:p>
          <a:p>
            <a:endParaRPr lang="it-CH" dirty="0"/>
          </a:p>
        </p:txBody>
      </p:sp>
    </p:spTree>
    <p:extLst>
      <p:ext uri="{BB962C8B-B14F-4D97-AF65-F5344CB8AC3E}">
        <p14:creationId xmlns:p14="http://schemas.microsoft.com/office/powerpoint/2010/main" val="2443460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olo 1">
            <a:extLst>
              <a:ext uri="{FF2B5EF4-FFF2-40B4-BE49-F238E27FC236}">
                <a16:creationId xmlns:a16="http://schemas.microsoft.com/office/drawing/2014/main" id="{CFD79073-44C0-57DA-C98D-D8BC6E37434A}"/>
              </a:ext>
            </a:extLst>
          </p:cNvPr>
          <p:cNvSpPr>
            <a:spLocks noGrp="1" noChangeArrowheads="1"/>
          </p:cNvSpPr>
          <p:nvPr>
            <p:ph type="title"/>
          </p:nvPr>
        </p:nvSpPr>
        <p:spPr>
          <a:xfrm>
            <a:off x="502627" y="885825"/>
            <a:ext cx="9527090" cy="1069442"/>
          </a:xfrm>
        </p:spPr>
        <p:txBody>
          <a:bodyPr/>
          <a:lstStyle/>
          <a:p>
            <a:r>
              <a:rPr lang="it-CH" altLang="it-CH" sz="3088" dirty="0"/>
              <a:t>Principali elementi che hanno spinto verso la femminilizzazione del impiego</a:t>
            </a:r>
          </a:p>
        </p:txBody>
      </p:sp>
      <p:sp>
        <p:nvSpPr>
          <p:cNvPr id="41987" name="Segnaposto contenuto 2">
            <a:extLst>
              <a:ext uri="{FF2B5EF4-FFF2-40B4-BE49-F238E27FC236}">
                <a16:creationId xmlns:a16="http://schemas.microsoft.com/office/drawing/2014/main" id="{32B846A2-8704-A306-6490-74881629F820}"/>
              </a:ext>
            </a:extLst>
          </p:cNvPr>
          <p:cNvSpPr>
            <a:spLocks noGrp="1" noChangeArrowheads="1"/>
          </p:cNvSpPr>
          <p:nvPr>
            <p:ph idx="1"/>
          </p:nvPr>
        </p:nvSpPr>
        <p:spPr>
          <a:xfrm>
            <a:off x="502626" y="2272357"/>
            <a:ext cx="9527090" cy="3055067"/>
          </a:xfrm>
        </p:spPr>
        <p:txBody>
          <a:bodyPr/>
          <a:lstStyle/>
          <a:p>
            <a:pPr marL="342900" indent="-342900">
              <a:buFont typeface="Wingdings" panose="05000000000000000000" pitchFamily="2" charset="2"/>
              <a:buChar char="ü"/>
            </a:pPr>
            <a:r>
              <a:rPr lang="it-CH" altLang="it-CH" sz="2206" dirty="0">
                <a:cs typeface="Calibri" panose="020F0502020204030204" pitchFamily="34" charset="0"/>
              </a:rPr>
              <a:t>Aumento della scolarizzazione</a:t>
            </a:r>
          </a:p>
          <a:p>
            <a:pPr marL="342900" indent="-342900">
              <a:buFont typeface="Wingdings" panose="05000000000000000000" pitchFamily="2" charset="2"/>
              <a:buChar char="ü"/>
            </a:pPr>
            <a:endParaRPr lang="it-CH" altLang="it-CH" sz="2206" dirty="0">
              <a:cs typeface="Calibri" panose="020F0502020204030204" pitchFamily="34" charset="0"/>
            </a:endParaRPr>
          </a:p>
          <a:p>
            <a:pPr marL="342900" indent="-342900">
              <a:buFont typeface="Wingdings" panose="05000000000000000000" pitchFamily="2" charset="2"/>
              <a:buChar char="ü"/>
            </a:pPr>
            <a:r>
              <a:rPr lang="it-CH" altLang="it-CH" sz="2206" dirty="0">
                <a:cs typeface="Calibri" panose="020F0502020204030204" pitchFamily="34" charset="0"/>
              </a:rPr>
              <a:t>Movimenti di emancipazione delle donne</a:t>
            </a:r>
          </a:p>
          <a:p>
            <a:pPr marL="342900" indent="-342900">
              <a:buFont typeface="Wingdings" panose="05000000000000000000" pitchFamily="2" charset="2"/>
              <a:buChar char="ü"/>
            </a:pPr>
            <a:endParaRPr lang="it-CH" altLang="it-CH" sz="2206" dirty="0">
              <a:cs typeface="Calibri" panose="020F0502020204030204" pitchFamily="34" charset="0"/>
            </a:endParaRPr>
          </a:p>
          <a:p>
            <a:pPr marL="342900" indent="-342900">
              <a:buFont typeface="Wingdings" panose="05000000000000000000" pitchFamily="2" charset="2"/>
              <a:buChar char="ü"/>
            </a:pPr>
            <a:r>
              <a:rPr lang="it-CH" altLang="it-CH" sz="2206" dirty="0">
                <a:solidFill>
                  <a:schemeClr val="accent1"/>
                </a:solidFill>
                <a:cs typeface="Calibri" panose="020F0502020204030204" pitchFamily="34" charset="0"/>
              </a:rPr>
              <a:t>Terziarizzazione del mercato del lavoro </a:t>
            </a:r>
          </a:p>
          <a:p>
            <a:pPr marL="342900" indent="-342900">
              <a:buFont typeface="Wingdings" panose="05000000000000000000" pitchFamily="2" charset="2"/>
              <a:buChar char="ü"/>
            </a:pPr>
            <a:endParaRPr lang="it-CH" altLang="it-CH" sz="2206" dirty="0">
              <a:solidFill>
                <a:schemeClr val="accent1"/>
              </a:solidFill>
              <a:cs typeface="Calibri" panose="020F0502020204030204" pitchFamily="34" charset="0"/>
            </a:endParaRPr>
          </a:p>
          <a:p>
            <a:pPr marL="342900" indent="-342900">
              <a:buFont typeface="Wingdings" panose="05000000000000000000" pitchFamily="2" charset="2"/>
              <a:buChar char="ü"/>
            </a:pPr>
            <a:r>
              <a:rPr lang="it-CH" altLang="it-CH" sz="2206" dirty="0">
                <a:solidFill>
                  <a:schemeClr val="accent1"/>
                </a:solidFill>
                <a:cs typeface="Calibri" panose="020F0502020204030204" pitchFamily="34" charset="0"/>
              </a:rPr>
              <a:t>Esigenze del mercato dell’impiego di avere una manodopera flessibile </a:t>
            </a:r>
            <a:r>
              <a:rPr lang="it-CH" altLang="it-CH" sz="2206" dirty="0">
                <a:cs typeface="Calibri" panose="020F0502020204030204" pitchFamily="34" charset="0"/>
              </a:rPr>
              <a:t>che si adatta meglio alle esigenze del nuovo modello di organizzazione del lavoro (incontro tra domanda e offerta di lavoro)</a:t>
            </a:r>
          </a:p>
        </p:txBody>
      </p:sp>
      <p:sp>
        <p:nvSpPr>
          <p:cNvPr id="41988" name="CasellaDiTesto 1">
            <a:extLst>
              <a:ext uri="{FF2B5EF4-FFF2-40B4-BE49-F238E27FC236}">
                <a16:creationId xmlns:a16="http://schemas.microsoft.com/office/drawing/2014/main" id="{3E123484-4C3C-B6FE-0D74-4AE8A043F1F8}"/>
              </a:ext>
            </a:extLst>
          </p:cNvPr>
          <p:cNvSpPr txBox="1">
            <a:spLocks noChangeArrowheads="1"/>
          </p:cNvSpPr>
          <p:nvPr/>
        </p:nvSpPr>
        <p:spPr bwMode="auto">
          <a:xfrm rot="10800000" flipV="1">
            <a:off x="502624" y="5781033"/>
            <a:ext cx="9527089" cy="746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spcBef>
                <a:spcPct val="20000"/>
              </a:spcBef>
            </a:pPr>
            <a:r>
              <a:rPr lang="it-CH" altLang="it-CH" sz="2206" dirty="0">
                <a:solidFill>
                  <a:schemeClr val="accent1"/>
                </a:solidFill>
              </a:rPr>
              <a:t>Questi elementi determinano le modalità con cui le donne </a:t>
            </a:r>
          </a:p>
          <a:p>
            <a:pPr algn="ctr">
              <a:spcBef>
                <a:spcPct val="20000"/>
              </a:spcBef>
            </a:pPr>
            <a:r>
              <a:rPr lang="it-CH" altLang="it-CH" sz="2206" dirty="0">
                <a:solidFill>
                  <a:schemeClr val="accent1"/>
                </a:solidFill>
              </a:rPr>
              <a:t>entrano nel mercato del lavoro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olo 1">
            <a:extLst>
              <a:ext uri="{FF2B5EF4-FFF2-40B4-BE49-F238E27FC236}">
                <a16:creationId xmlns:a16="http://schemas.microsoft.com/office/drawing/2014/main" id="{585D3D8E-8AEB-A01F-B9EC-58725E0C28D5}"/>
              </a:ext>
            </a:extLst>
          </p:cNvPr>
          <p:cNvSpPr>
            <a:spLocks noGrp="1" noChangeArrowheads="1"/>
          </p:cNvSpPr>
          <p:nvPr>
            <p:ph type="title"/>
          </p:nvPr>
        </p:nvSpPr>
        <p:spPr>
          <a:xfrm>
            <a:off x="648643" y="724999"/>
            <a:ext cx="9396113" cy="1235710"/>
          </a:xfrm>
        </p:spPr>
        <p:txBody>
          <a:bodyPr wrap="square">
            <a:normAutofit/>
          </a:bodyPr>
          <a:lstStyle/>
          <a:p>
            <a:r>
              <a:rPr lang="it-CH" altLang="it-CH" dirty="0"/>
              <a:t>Di cosa stiamo parlando?</a:t>
            </a:r>
          </a:p>
        </p:txBody>
      </p:sp>
      <p:pic>
        <p:nvPicPr>
          <p:cNvPr id="2" name="Immagine 1" descr="Immagine che contiene testo, schermata, linea, Carattere">
            <a:extLst>
              <a:ext uri="{FF2B5EF4-FFF2-40B4-BE49-F238E27FC236}">
                <a16:creationId xmlns:a16="http://schemas.microsoft.com/office/drawing/2014/main" id="{3E422937-FF7A-AAA0-0FB9-B29BFEB60CA4}"/>
              </a:ext>
            </a:extLst>
          </p:cNvPr>
          <p:cNvPicPr>
            <a:picLocks noChangeAspect="1"/>
          </p:cNvPicPr>
          <p:nvPr/>
        </p:nvPicPr>
        <p:blipFill>
          <a:blip r:embed="rId2"/>
          <a:stretch>
            <a:fillRect/>
          </a:stretch>
        </p:blipFill>
        <p:spPr>
          <a:xfrm>
            <a:off x="340926" y="1495426"/>
            <a:ext cx="4956956" cy="3581400"/>
          </a:xfrm>
          <a:prstGeom prst="rect">
            <a:avLst/>
          </a:prstGeom>
          <a:noFill/>
        </p:spPr>
      </p:pic>
      <p:sp>
        <p:nvSpPr>
          <p:cNvPr id="31747" name="Segnaposto contenuto 2">
            <a:extLst>
              <a:ext uri="{FF2B5EF4-FFF2-40B4-BE49-F238E27FC236}">
                <a16:creationId xmlns:a16="http://schemas.microsoft.com/office/drawing/2014/main" id="{E251A1D9-E2DC-F16B-54A6-3A7BC6C53416}"/>
              </a:ext>
            </a:extLst>
          </p:cNvPr>
          <p:cNvSpPr>
            <a:spLocks noGrp="1" noChangeArrowheads="1"/>
          </p:cNvSpPr>
          <p:nvPr>
            <p:ph sz="half" idx="3"/>
          </p:nvPr>
        </p:nvSpPr>
        <p:spPr>
          <a:xfrm>
            <a:off x="5395520" y="962025"/>
            <a:ext cx="4827980" cy="6019800"/>
          </a:xfrm>
        </p:spPr>
        <p:txBody>
          <a:bodyPr wrap="square">
            <a:normAutofit lnSpcReduction="10000"/>
          </a:bodyPr>
          <a:lstStyle/>
          <a:p>
            <a:pPr>
              <a:spcAft>
                <a:spcPts val="600"/>
              </a:spcAft>
            </a:pPr>
            <a:r>
              <a:rPr lang="it-CH" altLang="it-CH" dirty="0"/>
              <a:t>Nel 2023, il tasso di attività della popolazione di età superiore ai 15 anni raggiungeva il </a:t>
            </a:r>
            <a:r>
              <a:rPr lang="it-CH" altLang="it-CH" b="1" dirty="0"/>
              <a:t>67,7%</a:t>
            </a:r>
            <a:r>
              <a:rPr lang="it-CH" altLang="it-CH" dirty="0"/>
              <a:t> in Svizzera, uno dei più elevati in Europa. </a:t>
            </a:r>
          </a:p>
          <a:p>
            <a:pPr>
              <a:spcAft>
                <a:spcPts val="600"/>
              </a:spcAft>
            </a:pPr>
            <a:endParaRPr lang="it-CH" altLang="it-CH" dirty="0"/>
          </a:p>
          <a:p>
            <a:pPr>
              <a:spcAft>
                <a:spcPts val="600"/>
              </a:spcAft>
            </a:pPr>
            <a:r>
              <a:rPr lang="it-CH" altLang="it-CH" dirty="0"/>
              <a:t>La partecipazione delle donne al mercato del lavoro (</a:t>
            </a:r>
            <a:r>
              <a:rPr lang="it-CH" altLang="it-CH" b="1" dirty="0"/>
              <a:t>62,6%</a:t>
            </a:r>
            <a:r>
              <a:rPr lang="it-CH" altLang="it-CH" dirty="0"/>
              <a:t>) rimane inferiore a quella degli uomini (</a:t>
            </a:r>
            <a:r>
              <a:rPr lang="it-CH" altLang="it-CH" b="1" dirty="0"/>
              <a:t>72,9%</a:t>
            </a:r>
            <a:r>
              <a:rPr lang="it-CH" altLang="it-CH" dirty="0"/>
              <a:t>). </a:t>
            </a:r>
          </a:p>
          <a:p>
            <a:pPr>
              <a:spcAft>
                <a:spcPts val="600"/>
              </a:spcAft>
            </a:pPr>
            <a:endParaRPr lang="it-CH" altLang="it-CH" dirty="0"/>
          </a:p>
          <a:p>
            <a:pPr>
              <a:spcAft>
                <a:spcPts val="600"/>
              </a:spcAft>
            </a:pPr>
            <a:r>
              <a:rPr lang="it-CH" altLang="it-CH" dirty="0"/>
              <a:t>Tuttavia, il divario </a:t>
            </a:r>
            <a:r>
              <a:rPr lang="it-CH" altLang="it-CH" b="1" dirty="0"/>
              <a:t>si è ridotto negli ultimi 10 anni </a:t>
            </a:r>
            <a:r>
              <a:rPr lang="it-CH" altLang="it-CH" dirty="0"/>
              <a:t>(2013: divario di 13,0 punti percentuali; 2023: 10,3 punti).</a:t>
            </a:r>
          </a:p>
          <a:p>
            <a:pPr>
              <a:spcAft>
                <a:spcPts val="600"/>
              </a:spcAft>
            </a:pPr>
            <a:endParaRPr lang="it-CH" altLang="it-CH" sz="1600" dirty="0">
              <a:latin typeface="Arial" panose="020B0604020202020204" pitchFamily="34" charset="0"/>
              <a:cs typeface="Arial" panose="020B0604020202020204" pitchFamily="34" charset="0"/>
            </a:endParaRPr>
          </a:p>
          <a:p>
            <a:pPr>
              <a:spcAft>
                <a:spcPts val="600"/>
              </a:spcAft>
            </a:pPr>
            <a:endParaRPr lang="it-CH" altLang="it-CH" sz="1600" dirty="0">
              <a:latin typeface="Arial" panose="020B0604020202020204" pitchFamily="34" charset="0"/>
              <a:cs typeface="Arial" panose="020B0604020202020204" pitchFamily="34" charset="0"/>
            </a:endParaRPr>
          </a:p>
          <a:p>
            <a:pPr>
              <a:spcAft>
                <a:spcPts val="600"/>
              </a:spcAft>
            </a:pPr>
            <a:endParaRPr lang="it-CH" altLang="it-CH" sz="1600" dirty="0">
              <a:latin typeface="Arial" panose="020B0604020202020204" pitchFamily="34" charset="0"/>
              <a:cs typeface="Arial" panose="020B0604020202020204" pitchFamily="34" charset="0"/>
            </a:endParaRPr>
          </a:p>
          <a:p>
            <a:pPr>
              <a:spcAft>
                <a:spcPts val="600"/>
              </a:spcAft>
            </a:pPr>
            <a:r>
              <a:rPr lang="it-CH" altLang="it-CH" sz="1600" dirty="0">
                <a:latin typeface="Arial" panose="020B0604020202020204" pitchFamily="34" charset="0"/>
                <a:cs typeface="Arial" panose="020B0604020202020204" pitchFamily="34" charset="0"/>
              </a:rPr>
              <a:t>Il tasso di partecipazione al mercato del lavoro o tasso di attività esprime la percentuale di persone attive (occupati e disoccupati secondo la definizione dell'ILO) nella popolazione di riferimento. In altre parole, la percentuale della popolazione che offre i propri servizi sul mercato del lavoro.</a:t>
            </a:r>
          </a:p>
          <a:p>
            <a:pPr>
              <a:spcAft>
                <a:spcPts val="600"/>
              </a:spcAft>
            </a:pPr>
            <a:endParaRPr lang="it-CH" altLang="it-CH" dirty="0"/>
          </a:p>
        </p:txBody>
      </p:sp>
      <p:sp>
        <p:nvSpPr>
          <p:cNvPr id="31749" name="Segnaposto numero diapositiva 4" hidden="1">
            <a:extLst>
              <a:ext uri="{FF2B5EF4-FFF2-40B4-BE49-F238E27FC236}">
                <a16:creationId xmlns:a16="http://schemas.microsoft.com/office/drawing/2014/main" id="{B1C27F18-E311-4285-8AC2-5FF461B01884}"/>
              </a:ext>
            </a:extLst>
          </p:cNvPr>
          <p:cNvSpPr>
            <a:spLocks noGrp="1" noChangeArrowheads="1"/>
          </p:cNvSpPr>
          <p:nvPr>
            <p:ph type="sldNum" sz="quarter" idx="4294967295"/>
          </p:nvPr>
        </p:nvSpPr>
        <p:spPr>
          <a:xfrm>
            <a:off x="7699248" y="7033450"/>
            <a:ext cx="2459482" cy="25763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Aft>
                <a:spcPts val="600"/>
              </a:spcAft>
            </a:pPr>
            <a:fld id="{3A2627B2-C79E-4D49-9DF5-DF0A672E2C70}" type="slidenum">
              <a:rPr lang="it-IT" altLang="it-CH" smtClean="0"/>
              <a:pPr>
                <a:spcAft>
                  <a:spcPts val="600"/>
                </a:spcAft>
              </a:pPr>
              <a:t>24</a:t>
            </a:fld>
            <a:endParaRPr lang="it-IT" altLang="it-CH"/>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olo 1">
            <a:extLst>
              <a:ext uri="{FF2B5EF4-FFF2-40B4-BE49-F238E27FC236}">
                <a16:creationId xmlns:a16="http://schemas.microsoft.com/office/drawing/2014/main" id="{1B37E469-3EAB-73DB-5F70-D142058837B6}"/>
              </a:ext>
            </a:extLst>
          </p:cNvPr>
          <p:cNvSpPr>
            <a:spLocks noGrp="1" noChangeArrowheads="1"/>
          </p:cNvSpPr>
          <p:nvPr>
            <p:ph type="title"/>
          </p:nvPr>
        </p:nvSpPr>
        <p:spPr/>
        <p:txBody>
          <a:bodyPr/>
          <a:lstStyle/>
          <a:p>
            <a:r>
              <a:rPr lang="it-CH" altLang="it-CH"/>
              <a:t>Aumenta la partecipazione delle donne al mercato del lavoro ma…</a:t>
            </a:r>
          </a:p>
        </p:txBody>
      </p:sp>
      <p:sp>
        <p:nvSpPr>
          <p:cNvPr id="43011" name="Segnaposto contenuto 2">
            <a:extLst>
              <a:ext uri="{FF2B5EF4-FFF2-40B4-BE49-F238E27FC236}">
                <a16:creationId xmlns:a16="http://schemas.microsoft.com/office/drawing/2014/main" id="{E169BA56-F80A-F291-E0EA-94B6363CF009}"/>
              </a:ext>
            </a:extLst>
          </p:cNvPr>
          <p:cNvSpPr>
            <a:spLocks noGrp="1" noChangeArrowheads="1"/>
          </p:cNvSpPr>
          <p:nvPr>
            <p:ph idx="1"/>
          </p:nvPr>
        </p:nvSpPr>
        <p:spPr>
          <a:xfrm>
            <a:off x="2678694" y="2352887"/>
            <a:ext cx="7366061" cy="2647738"/>
          </a:xfrm>
        </p:spPr>
        <p:txBody>
          <a:bodyPr/>
          <a:lstStyle/>
          <a:p>
            <a:pPr>
              <a:buFontTx/>
              <a:buNone/>
            </a:pPr>
            <a:r>
              <a:rPr lang="fr-FR" altLang="it-CH" sz="2647" dirty="0">
                <a:cs typeface="Calibri" panose="020F0502020204030204" pitchFamily="34" charset="0"/>
              </a:rPr>
              <a:t>A </a:t>
            </a:r>
            <a:r>
              <a:rPr lang="fr-FR" altLang="it-CH" sz="2647" dirty="0" err="1">
                <a:cs typeface="Calibri" panose="020F0502020204030204" pitchFamily="34" charset="0"/>
              </a:rPr>
              <a:t>partire</a:t>
            </a:r>
            <a:r>
              <a:rPr lang="fr-FR" altLang="it-CH" sz="2647" dirty="0">
                <a:cs typeface="Calibri" panose="020F0502020204030204" pitchFamily="34" charset="0"/>
              </a:rPr>
              <a:t> </a:t>
            </a:r>
            <a:r>
              <a:rPr lang="fr-FR" altLang="it-CH" sz="2647" dirty="0" err="1">
                <a:cs typeface="Calibri" panose="020F0502020204030204" pitchFamily="34" charset="0"/>
              </a:rPr>
              <a:t>dall’età</a:t>
            </a:r>
            <a:r>
              <a:rPr lang="fr-FR" altLang="it-CH" sz="2647" dirty="0">
                <a:cs typeface="Calibri" panose="020F0502020204030204" pitchFamily="34" charset="0"/>
              </a:rPr>
              <a:t> di 25 </a:t>
            </a:r>
            <a:r>
              <a:rPr lang="fr-FR" altLang="it-CH" sz="2647" dirty="0" err="1">
                <a:cs typeface="Calibri" panose="020F0502020204030204" pitchFamily="34" charset="0"/>
              </a:rPr>
              <a:t>anni</a:t>
            </a:r>
            <a:r>
              <a:rPr lang="fr-FR" altLang="it-CH" sz="2647" dirty="0">
                <a:cs typeface="Calibri" panose="020F0502020204030204" pitchFamily="34" charset="0"/>
              </a:rPr>
              <a:t> il </a:t>
            </a:r>
            <a:r>
              <a:rPr lang="fr-FR" altLang="it-CH" sz="2647" dirty="0" err="1">
                <a:cs typeface="Calibri" panose="020F0502020204030204" pitchFamily="34" charset="0"/>
              </a:rPr>
              <a:t>tasso</a:t>
            </a:r>
            <a:r>
              <a:rPr lang="fr-FR" altLang="it-CH" sz="2647" dirty="0">
                <a:cs typeface="Calibri" panose="020F0502020204030204" pitchFamily="34" charset="0"/>
              </a:rPr>
              <a:t> di </a:t>
            </a:r>
            <a:r>
              <a:rPr lang="fr-FR" altLang="it-CH" sz="2647" dirty="0" err="1">
                <a:cs typeface="Calibri" panose="020F0502020204030204" pitchFamily="34" charset="0"/>
              </a:rPr>
              <a:t>attività</a:t>
            </a:r>
            <a:r>
              <a:rPr lang="fr-FR" altLang="it-CH" sz="2647" dirty="0">
                <a:cs typeface="Calibri" panose="020F0502020204030204" pitchFamily="34" charset="0"/>
              </a:rPr>
              <a:t> </a:t>
            </a:r>
            <a:r>
              <a:rPr lang="fr-FR" altLang="it-CH" sz="2647" dirty="0" err="1">
                <a:cs typeface="Calibri" panose="020F0502020204030204" pitchFamily="34" charset="0"/>
              </a:rPr>
              <a:t>femminile</a:t>
            </a:r>
            <a:r>
              <a:rPr lang="fr-FR" altLang="it-CH" sz="2647" dirty="0">
                <a:cs typeface="Calibri" panose="020F0502020204030204" pitchFamily="34" charset="0"/>
              </a:rPr>
              <a:t> </a:t>
            </a:r>
            <a:r>
              <a:rPr lang="fr-FR" altLang="it-CH" sz="2647" dirty="0" err="1">
                <a:cs typeface="Calibri" panose="020F0502020204030204" pitchFamily="34" charset="0"/>
              </a:rPr>
              <a:t>comincia</a:t>
            </a:r>
            <a:r>
              <a:rPr lang="fr-FR" altLang="it-CH" sz="2647" dirty="0">
                <a:cs typeface="Calibri" panose="020F0502020204030204" pitchFamily="34" charset="0"/>
              </a:rPr>
              <a:t> a </a:t>
            </a:r>
            <a:r>
              <a:rPr lang="fr-FR" altLang="it-CH" sz="2647" dirty="0" err="1">
                <a:cs typeface="Calibri" panose="020F0502020204030204" pitchFamily="34" charset="0"/>
              </a:rPr>
              <a:t>decrescere</a:t>
            </a:r>
            <a:r>
              <a:rPr lang="fr-FR" altLang="it-CH" sz="2647" dirty="0">
                <a:cs typeface="Calibri" panose="020F0502020204030204" pitchFamily="34" charset="0"/>
              </a:rPr>
              <a:t>. In </a:t>
            </a:r>
            <a:r>
              <a:rPr lang="fr-FR" altLang="it-CH" sz="2647" dirty="0" err="1">
                <a:cs typeface="Calibri" panose="020F0502020204030204" pitchFamily="34" charset="0"/>
              </a:rPr>
              <a:t>effetti</a:t>
            </a:r>
            <a:r>
              <a:rPr lang="fr-FR" altLang="it-CH" sz="2647" dirty="0">
                <a:cs typeface="Calibri" panose="020F0502020204030204" pitchFamily="34" charset="0"/>
              </a:rPr>
              <a:t> un </a:t>
            </a:r>
            <a:r>
              <a:rPr lang="fr-FR" altLang="it-CH" sz="2647" dirty="0" err="1">
                <a:cs typeface="Calibri" panose="020F0502020204030204" pitchFamily="34" charset="0"/>
              </a:rPr>
              <a:t>numero</a:t>
            </a:r>
            <a:r>
              <a:rPr lang="fr-FR" altLang="it-CH" sz="2647" dirty="0">
                <a:cs typeface="Calibri" panose="020F0502020204030204" pitchFamily="34" charset="0"/>
              </a:rPr>
              <a:t> importante di donne </a:t>
            </a:r>
            <a:r>
              <a:rPr lang="fr-FR" altLang="it-CH" sz="2647" dirty="0" err="1">
                <a:cs typeface="Calibri" panose="020F0502020204030204" pitchFamily="34" charset="0"/>
              </a:rPr>
              <a:t>lascia</a:t>
            </a:r>
            <a:r>
              <a:rPr lang="fr-FR" altLang="it-CH" sz="2647" dirty="0">
                <a:cs typeface="Calibri" panose="020F0502020204030204" pitchFamily="34" charset="0"/>
              </a:rPr>
              <a:t> il mercato </a:t>
            </a:r>
            <a:r>
              <a:rPr lang="fr-FR" altLang="it-CH" sz="2647" dirty="0" err="1">
                <a:cs typeface="Calibri" panose="020F0502020204030204" pitchFamily="34" charset="0"/>
              </a:rPr>
              <a:t>del</a:t>
            </a:r>
            <a:r>
              <a:rPr lang="fr-FR" altLang="it-CH" sz="2647" dirty="0">
                <a:cs typeface="Calibri" panose="020F0502020204030204" pitchFamily="34" charset="0"/>
              </a:rPr>
              <a:t> </a:t>
            </a:r>
            <a:r>
              <a:rPr lang="fr-FR" altLang="it-CH" sz="2647" dirty="0" err="1">
                <a:cs typeface="Calibri" panose="020F0502020204030204" pitchFamily="34" charset="0"/>
              </a:rPr>
              <a:t>lavoro</a:t>
            </a:r>
            <a:r>
              <a:rPr lang="fr-FR" altLang="it-CH" sz="2647" dirty="0">
                <a:cs typeface="Calibri" panose="020F0502020204030204" pitchFamily="34" charset="0"/>
              </a:rPr>
              <a:t> o </a:t>
            </a:r>
            <a:r>
              <a:rPr lang="fr-FR" altLang="it-CH" sz="2647" dirty="0" err="1">
                <a:cs typeface="Calibri" panose="020F0502020204030204" pitchFamily="34" charset="0"/>
              </a:rPr>
              <a:t>modifica</a:t>
            </a:r>
            <a:r>
              <a:rPr lang="fr-FR" altLang="it-CH" sz="2647" dirty="0">
                <a:cs typeface="Calibri" panose="020F0502020204030204" pitchFamily="34" charset="0"/>
              </a:rPr>
              <a:t> il modo (tempo) in </a:t>
            </a:r>
            <a:r>
              <a:rPr lang="fr-FR" altLang="it-CH" sz="2647" dirty="0" err="1">
                <a:cs typeface="Calibri" panose="020F0502020204030204" pitchFamily="34" charset="0"/>
              </a:rPr>
              <a:t>cui</a:t>
            </a:r>
            <a:r>
              <a:rPr lang="fr-FR" altLang="it-CH" sz="2647" dirty="0">
                <a:cs typeface="Calibri" panose="020F0502020204030204" pitchFamily="34" charset="0"/>
              </a:rPr>
              <a:t> resta </a:t>
            </a:r>
            <a:r>
              <a:rPr lang="fr-FR" altLang="it-CH" sz="2647" dirty="0" err="1">
                <a:cs typeface="Calibri" panose="020F0502020204030204" pitchFamily="34" charset="0"/>
              </a:rPr>
              <a:t>all’interno</a:t>
            </a:r>
            <a:r>
              <a:rPr lang="fr-FR" altLang="it-CH" sz="2647" dirty="0">
                <a:cs typeface="Calibri" panose="020F0502020204030204" pitchFamily="34" charset="0"/>
              </a:rPr>
              <a:t> </a:t>
            </a:r>
            <a:r>
              <a:rPr lang="fr-FR" altLang="it-CH" sz="2647" dirty="0" err="1">
                <a:cs typeface="Calibri" panose="020F0502020204030204" pitchFamily="34" charset="0"/>
              </a:rPr>
              <a:t>del</a:t>
            </a:r>
            <a:r>
              <a:rPr lang="fr-FR" altLang="it-CH" sz="2647" dirty="0">
                <a:cs typeface="Calibri" panose="020F0502020204030204" pitchFamily="34" charset="0"/>
              </a:rPr>
              <a:t> mercato </a:t>
            </a:r>
            <a:r>
              <a:rPr lang="fr-FR" altLang="it-CH" sz="2647" dirty="0" err="1">
                <a:cs typeface="Calibri" panose="020F0502020204030204" pitchFamily="34" charset="0"/>
              </a:rPr>
              <a:t>del</a:t>
            </a:r>
            <a:r>
              <a:rPr lang="fr-FR" altLang="it-CH" sz="2647" dirty="0">
                <a:cs typeface="Calibri" panose="020F0502020204030204" pitchFamily="34" charset="0"/>
              </a:rPr>
              <a:t> </a:t>
            </a:r>
            <a:r>
              <a:rPr lang="fr-FR" altLang="it-CH" sz="2647" dirty="0" err="1">
                <a:cs typeface="Calibri" panose="020F0502020204030204" pitchFamily="34" charset="0"/>
              </a:rPr>
              <a:t>lavoro</a:t>
            </a:r>
            <a:r>
              <a:rPr lang="fr-FR" altLang="it-CH" sz="2647" dirty="0">
                <a:cs typeface="Calibri" panose="020F0502020204030204" pitchFamily="34" charset="0"/>
              </a:rPr>
              <a:t> per </a:t>
            </a:r>
            <a:r>
              <a:rPr lang="fr-FR" altLang="it-CH" sz="2647" dirty="0" err="1">
                <a:cs typeface="Calibri" panose="020F0502020204030204" pitchFamily="34" charset="0"/>
              </a:rPr>
              <a:t>dedicarsi</a:t>
            </a:r>
            <a:r>
              <a:rPr lang="fr-FR" altLang="it-CH" sz="2647" dirty="0">
                <a:cs typeface="Calibri" panose="020F0502020204030204" pitchFamily="34" charset="0"/>
              </a:rPr>
              <a:t> alla </a:t>
            </a:r>
            <a:r>
              <a:rPr lang="fr-FR" altLang="it-CH" sz="2647" dirty="0" err="1">
                <a:cs typeface="Calibri" panose="020F0502020204030204" pitchFamily="34" charset="0"/>
              </a:rPr>
              <a:t>famiglia</a:t>
            </a:r>
            <a:r>
              <a:rPr lang="fr-FR" altLang="it-CH" sz="3088" dirty="0">
                <a:latin typeface="Calibri" panose="020F0502020204030204" pitchFamily="34" charset="0"/>
                <a:cs typeface="Calibri" panose="020F0502020204030204" pitchFamily="34" charset="0"/>
              </a:rPr>
              <a:t>. </a:t>
            </a:r>
            <a:endParaRPr lang="it-CH" altLang="it-CH" sz="3088" dirty="0">
              <a:latin typeface="Calibri" panose="020F0502020204030204" pitchFamily="34" charset="0"/>
              <a:cs typeface="Calibri" panose="020F0502020204030204" pitchFamily="34" charset="0"/>
            </a:endParaRPr>
          </a:p>
        </p:txBody>
      </p:sp>
      <p:sp>
        <p:nvSpPr>
          <p:cNvPr id="43012" name="Segnaposto numero diapositiva 3">
            <a:extLst>
              <a:ext uri="{FF2B5EF4-FFF2-40B4-BE49-F238E27FC236}">
                <a16:creationId xmlns:a16="http://schemas.microsoft.com/office/drawing/2014/main" id="{7E345657-3ABD-5789-1C86-9CA7C57E64E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B68F459-3298-48DC-8D75-3022E834E89F}" type="slidenum">
              <a:rPr lang="it-IT" altLang="it-CH" smtClean="0"/>
              <a:pPr/>
              <a:t>25</a:t>
            </a:fld>
            <a:endParaRPr lang="it-IT" altLang="it-CH"/>
          </a:p>
        </p:txBody>
      </p:sp>
      <p:pic>
        <p:nvPicPr>
          <p:cNvPr id="43013" name="Picture 4" descr="C:\Users\Sergi\AppData\Local\Microsoft\Windows\INetCache\IE\PGP5DFQL\attenzione_pedofilia[1].jpg">
            <a:extLst>
              <a:ext uri="{FF2B5EF4-FFF2-40B4-BE49-F238E27FC236}">
                <a16:creationId xmlns:a16="http://schemas.microsoft.com/office/drawing/2014/main" id="{54727CA9-94A4-40FF-82A0-F5E21D3A54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00" y="2352887"/>
            <a:ext cx="2016760" cy="2016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olo 1">
            <a:extLst>
              <a:ext uri="{FF2B5EF4-FFF2-40B4-BE49-F238E27FC236}">
                <a16:creationId xmlns:a16="http://schemas.microsoft.com/office/drawing/2014/main" id="{0E3017AE-019A-44EB-AA70-9957D02C1E0B}"/>
              </a:ext>
            </a:extLst>
          </p:cNvPr>
          <p:cNvSpPr>
            <a:spLocks noGrp="1" noChangeArrowheads="1"/>
          </p:cNvSpPr>
          <p:nvPr>
            <p:ph type="title"/>
          </p:nvPr>
        </p:nvSpPr>
        <p:spPr/>
        <p:txBody>
          <a:bodyPr/>
          <a:lstStyle/>
          <a:p>
            <a:r>
              <a:rPr lang="it-CH" altLang="it-CH"/>
              <a:t>Tasso di attività delle donne secondo l’età e la generazione</a:t>
            </a:r>
          </a:p>
        </p:txBody>
      </p:sp>
      <p:pic>
        <p:nvPicPr>
          <p:cNvPr id="44035" name="Segnaposto contenuto 5">
            <a:extLst>
              <a:ext uri="{FF2B5EF4-FFF2-40B4-BE49-F238E27FC236}">
                <a16:creationId xmlns:a16="http://schemas.microsoft.com/office/drawing/2014/main" id="{B833E694-9F29-CD88-B4C7-C5B0817473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94877" y="2113047"/>
            <a:ext cx="5703649" cy="4765296"/>
          </a:xfrm>
        </p:spPr>
      </p:pic>
      <p:sp>
        <p:nvSpPr>
          <p:cNvPr id="44036" name="Segnaposto data 3">
            <a:extLst>
              <a:ext uri="{FF2B5EF4-FFF2-40B4-BE49-F238E27FC236}">
                <a16:creationId xmlns:a16="http://schemas.microsoft.com/office/drawing/2014/main" id="{B6855D55-D78F-1546-F79F-BDB526EDB151}"/>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CH" dirty="0"/>
          </a:p>
        </p:txBody>
      </p:sp>
      <p:sp>
        <p:nvSpPr>
          <p:cNvPr id="44037" name="Segnaposto numero diapositiva 4">
            <a:extLst>
              <a:ext uri="{FF2B5EF4-FFF2-40B4-BE49-F238E27FC236}">
                <a16:creationId xmlns:a16="http://schemas.microsoft.com/office/drawing/2014/main" id="{D2CDB957-59EC-5A03-AB24-DCBE04D04C4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81523AF-39E3-4121-AA12-E576DFE84138}" type="slidenum">
              <a:rPr lang="it-IT" altLang="it-CH" smtClean="0"/>
              <a:pPr/>
              <a:t>26</a:t>
            </a:fld>
            <a:endParaRPr lang="it-IT" altLang="it-CH"/>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olo 1">
            <a:extLst>
              <a:ext uri="{FF2B5EF4-FFF2-40B4-BE49-F238E27FC236}">
                <a16:creationId xmlns:a16="http://schemas.microsoft.com/office/drawing/2014/main" id="{83B9A33C-B9AD-6D4D-18D0-EB2CDF1AD99D}"/>
              </a:ext>
            </a:extLst>
          </p:cNvPr>
          <p:cNvSpPr>
            <a:spLocks noGrp="1" noChangeArrowheads="1"/>
          </p:cNvSpPr>
          <p:nvPr>
            <p:ph type="title"/>
          </p:nvPr>
        </p:nvSpPr>
        <p:spPr/>
        <p:txBody>
          <a:bodyPr/>
          <a:lstStyle/>
          <a:p>
            <a:r>
              <a:rPr lang="it-CH" altLang="it-CH"/>
              <a:t>Tasso di attività degli uomini secondo l’età e la generazione</a:t>
            </a:r>
          </a:p>
        </p:txBody>
      </p:sp>
      <p:pic>
        <p:nvPicPr>
          <p:cNvPr id="45059" name="Segnaposto contenuto 5">
            <a:extLst>
              <a:ext uri="{FF2B5EF4-FFF2-40B4-BE49-F238E27FC236}">
                <a16:creationId xmlns:a16="http://schemas.microsoft.com/office/drawing/2014/main" id="{40AAE39A-CC5A-2F62-3147-1E598FF202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93125" y="2351137"/>
            <a:ext cx="5707151" cy="4765296"/>
          </a:xfrm>
        </p:spPr>
      </p:pic>
      <p:sp>
        <p:nvSpPr>
          <p:cNvPr id="45060" name="Segnaposto data 3">
            <a:extLst>
              <a:ext uri="{FF2B5EF4-FFF2-40B4-BE49-F238E27FC236}">
                <a16:creationId xmlns:a16="http://schemas.microsoft.com/office/drawing/2014/main" id="{AF1F4813-4516-7FE6-0D51-6FFC8D5BCE43}"/>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CH" dirty="0"/>
          </a:p>
        </p:txBody>
      </p:sp>
      <p:sp>
        <p:nvSpPr>
          <p:cNvPr id="45061" name="Segnaposto numero diapositiva 4">
            <a:extLst>
              <a:ext uri="{FF2B5EF4-FFF2-40B4-BE49-F238E27FC236}">
                <a16:creationId xmlns:a16="http://schemas.microsoft.com/office/drawing/2014/main" id="{2E585877-77FB-F63A-EC41-9ABBACD87E5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2E1D144-1CBA-4D28-8A3E-9FDCB617CD27}" type="slidenum">
              <a:rPr lang="it-IT" altLang="it-CH" smtClean="0"/>
              <a:pPr/>
              <a:t>27</a:t>
            </a:fld>
            <a:endParaRPr lang="it-IT" altLang="it-CH"/>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olo 1">
            <a:extLst>
              <a:ext uri="{FF2B5EF4-FFF2-40B4-BE49-F238E27FC236}">
                <a16:creationId xmlns:a16="http://schemas.microsoft.com/office/drawing/2014/main" id="{75B470A4-7C78-3BED-6173-EA07E5F94B1D}"/>
              </a:ext>
            </a:extLst>
          </p:cNvPr>
          <p:cNvSpPr>
            <a:spLocks noGrp="1" noChangeArrowheads="1"/>
          </p:cNvSpPr>
          <p:nvPr>
            <p:ph type="title"/>
          </p:nvPr>
        </p:nvSpPr>
        <p:spPr>
          <a:xfrm>
            <a:off x="331575" y="809625"/>
            <a:ext cx="10361825" cy="475195"/>
          </a:xfrm>
        </p:spPr>
        <p:txBody>
          <a:bodyPr/>
          <a:lstStyle/>
          <a:p>
            <a:r>
              <a:rPr lang="it-CH" altLang="it-CH" sz="3088" dirty="0"/>
              <a:t>Segregazione orizzontale (occupazionale)</a:t>
            </a:r>
          </a:p>
        </p:txBody>
      </p:sp>
      <p:sp>
        <p:nvSpPr>
          <p:cNvPr id="46083" name="Segnaposto contenuto 2">
            <a:extLst>
              <a:ext uri="{FF2B5EF4-FFF2-40B4-BE49-F238E27FC236}">
                <a16:creationId xmlns:a16="http://schemas.microsoft.com/office/drawing/2014/main" id="{042C5557-1614-0818-66D9-884C89DA5B32}"/>
              </a:ext>
            </a:extLst>
          </p:cNvPr>
          <p:cNvSpPr>
            <a:spLocks noGrp="1" noChangeArrowheads="1"/>
          </p:cNvSpPr>
          <p:nvPr>
            <p:ph idx="1"/>
          </p:nvPr>
        </p:nvSpPr>
        <p:spPr>
          <a:xfrm>
            <a:off x="321666" y="1724025"/>
            <a:ext cx="9829800" cy="1323824"/>
          </a:xfrm>
        </p:spPr>
        <p:txBody>
          <a:bodyPr/>
          <a:lstStyle/>
          <a:p>
            <a:pPr marL="2626" algn="just">
              <a:spcBef>
                <a:spcPts val="662"/>
              </a:spcBef>
              <a:tabLst>
                <a:tab pos="283613" algn="l"/>
                <a:tab pos="753674" algn="l"/>
                <a:tab pos="1509975" algn="l"/>
                <a:tab pos="2266275" algn="l"/>
                <a:tab pos="3022575" algn="l"/>
                <a:tab pos="3778875" algn="l"/>
                <a:tab pos="4535176" algn="l"/>
                <a:tab pos="5291476" algn="l"/>
                <a:tab pos="6047776" algn="l"/>
                <a:tab pos="6804076" algn="l"/>
                <a:tab pos="7560377" algn="l"/>
                <a:tab pos="8316677" algn="l"/>
                <a:tab pos="8545143" algn="l"/>
                <a:tab pos="8916728" algn="l"/>
              </a:tabLst>
              <a:defRPr/>
            </a:pPr>
            <a:r>
              <a:rPr lang="it-CH" altLang="it-CH" sz="2206" dirty="0">
                <a:ea typeface="Microsoft YaHei" charset="-122"/>
                <a:cs typeface="Calibri" panose="020F0502020204030204" pitchFamily="34" charset="0"/>
              </a:rPr>
              <a:t>Con il termine segregazione orizzontale ci si riferisce all’alta concentrazione delle donne in alcuni settori, professioni e mestieri, generalmente meno pagati e meno valorizzati di quelli tipicamente maschili.</a:t>
            </a:r>
          </a:p>
          <a:p>
            <a:endParaRPr lang="it-CH" altLang="it-CH" dirty="0">
              <a:ea typeface="Microsoft YaHei" panose="020B0503020204020204" pitchFamily="34" charset="-122"/>
              <a:cs typeface="Calibri" panose="020F0502020204030204" pitchFamily="34" charset="0"/>
            </a:endParaRPr>
          </a:p>
        </p:txBody>
      </p:sp>
      <p:pic>
        <p:nvPicPr>
          <p:cNvPr id="4098" name="Picture 2" descr="A lively and colorful illustration showing horizontal gender segregation in the labor market. On the left side, women are depicted working in stereotypically female-dominated jobs: a nurse in scrubs, a teacher in front of a chalkboard, and a retail worker arranging clothes. On the right side, men are shown in male-dominated roles: a construction worker with tools, a finance professional with charts, and an engineer with blueprints. The scene is dynamic, with characters actively engaged in their work. The background includes symbolic elements like buildings, classrooms, and stores, with vibrant colors and movement to emphasize contrast and division.">
            <a:extLst>
              <a:ext uri="{FF2B5EF4-FFF2-40B4-BE49-F238E27FC236}">
                <a16:creationId xmlns:a16="http://schemas.microsoft.com/office/drawing/2014/main" id="{F5FA887A-C96A-26F3-CD5E-CC1ED5910D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575" y="3248025"/>
            <a:ext cx="5486400" cy="3657600"/>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C09C8947-C0EA-01FE-ED2B-4E0A3B12B7CB}"/>
              </a:ext>
            </a:extLst>
          </p:cNvPr>
          <p:cNvSpPr txBox="1"/>
          <p:nvPr/>
        </p:nvSpPr>
        <p:spPr>
          <a:xfrm>
            <a:off x="6794500" y="6415385"/>
            <a:ext cx="3048000" cy="461665"/>
          </a:xfrm>
          <a:prstGeom prst="rect">
            <a:avLst/>
          </a:prstGeom>
          <a:noFill/>
        </p:spPr>
        <p:txBody>
          <a:bodyPr wrap="square" rtlCol="0">
            <a:spAutoFit/>
          </a:bodyPr>
          <a:lstStyle/>
          <a:p>
            <a:pPr marL="0" indent="0">
              <a:buNone/>
            </a:pPr>
            <a:r>
              <a:rPr lang="it-CH" sz="1200" dirty="0">
                <a:latin typeface="Arial" panose="020B0604020202020204" pitchFamily="34" charset="0"/>
                <a:cs typeface="Arial" panose="020B0604020202020204" pitchFamily="34" charset="0"/>
              </a:rPr>
              <a:t>«La segregazione orizzontale», immagine generata con </a:t>
            </a:r>
            <a:r>
              <a:rPr lang="it-CH" sz="1200" dirty="0" err="1">
                <a:latin typeface="Arial" panose="020B0604020202020204" pitchFamily="34" charset="0"/>
                <a:cs typeface="Arial" panose="020B0604020202020204" pitchFamily="34" charset="0"/>
              </a:rPr>
              <a:t>Copilot</a:t>
            </a:r>
            <a:r>
              <a:rPr lang="it-CH" sz="1200" dirty="0">
                <a:latin typeface="Arial" panose="020B0604020202020204" pitchFamily="34" charset="0"/>
                <a:cs typeface="Arial" panose="020B0604020202020204" pitchFamily="34" charset="0"/>
              </a:rPr>
              <a:t> OpenAI, 20.02.2025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olo 1">
            <a:extLst>
              <a:ext uri="{FF2B5EF4-FFF2-40B4-BE49-F238E27FC236}">
                <a16:creationId xmlns:a16="http://schemas.microsoft.com/office/drawing/2014/main" id="{147429CC-0230-3E3B-F001-98565B2A0267}"/>
              </a:ext>
            </a:extLst>
          </p:cNvPr>
          <p:cNvSpPr>
            <a:spLocks noGrp="1" noChangeArrowheads="1"/>
          </p:cNvSpPr>
          <p:nvPr>
            <p:ph type="title"/>
          </p:nvPr>
        </p:nvSpPr>
        <p:spPr>
          <a:xfrm>
            <a:off x="373052" y="802150"/>
            <a:ext cx="10361825" cy="475195"/>
          </a:xfrm>
        </p:spPr>
        <p:txBody>
          <a:bodyPr/>
          <a:lstStyle/>
          <a:p>
            <a:r>
              <a:rPr lang="it-CH" altLang="it-CH" sz="3088" dirty="0"/>
              <a:t>Segregazione verticale</a:t>
            </a:r>
          </a:p>
        </p:txBody>
      </p:sp>
      <p:sp>
        <p:nvSpPr>
          <p:cNvPr id="3" name="Segnaposto contenuto 2">
            <a:extLst>
              <a:ext uri="{FF2B5EF4-FFF2-40B4-BE49-F238E27FC236}">
                <a16:creationId xmlns:a16="http://schemas.microsoft.com/office/drawing/2014/main" id="{38E6796D-AF13-2C4D-506F-D0AEF86C0155}"/>
              </a:ext>
            </a:extLst>
          </p:cNvPr>
          <p:cNvSpPr>
            <a:spLocks noGrp="1"/>
          </p:cNvSpPr>
          <p:nvPr>
            <p:ph idx="1"/>
          </p:nvPr>
        </p:nvSpPr>
        <p:spPr>
          <a:xfrm>
            <a:off x="363701" y="1603968"/>
            <a:ext cx="9402599" cy="1527341"/>
          </a:xfrm>
        </p:spPr>
        <p:txBody>
          <a:bodyPr>
            <a:normAutofit/>
          </a:bodyPr>
          <a:lstStyle/>
          <a:p>
            <a:pPr marL="2626">
              <a:spcBef>
                <a:spcPts val="662"/>
              </a:spcBef>
              <a:tabLst>
                <a:tab pos="283613" algn="l"/>
                <a:tab pos="753674" algn="l"/>
                <a:tab pos="1509975" algn="l"/>
                <a:tab pos="2266275" algn="l"/>
                <a:tab pos="3022575" algn="l"/>
                <a:tab pos="3778875" algn="l"/>
                <a:tab pos="4535176" algn="l"/>
                <a:tab pos="5291476" algn="l"/>
                <a:tab pos="6047776" algn="l"/>
                <a:tab pos="6804076" algn="l"/>
                <a:tab pos="7560377" algn="l"/>
                <a:tab pos="8316677" algn="l"/>
                <a:tab pos="8545143" algn="l"/>
                <a:tab pos="8916728" algn="l"/>
              </a:tabLst>
              <a:defRPr/>
            </a:pPr>
            <a:r>
              <a:rPr lang="it-IT" sz="2206" dirty="0">
                <a:ea typeface="Microsoft YaHei" charset="-122"/>
                <a:cs typeface="Calibri" panose="020F0502020204030204" pitchFamily="34" charset="0"/>
              </a:rPr>
              <a:t>La segregazione verticale riguarda [invece] la collocazione nella gerarchia professionale delle condizioni di impiego. Le donne sono meno presenti nei ruoli dirigenziali e sono assunte, più degli uomini, con contratti precari e salari più bassi. </a:t>
            </a:r>
          </a:p>
          <a:p>
            <a:pPr marL="282300" indent="-280987">
              <a:spcBef>
                <a:spcPts val="662"/>
              </a:spcBef>
              <a:tabLst>
                <a:tab pos="283613" algn="l"/>
                <a:tab pos="753674" algn="l"/>
                <a:tab pos="1509975" algn="l"/>
                <a:tab pos="2266275" algn="l"/>
                <a:tab pos="3022575" algn="l"/>
                <a:tab pos="3778875" algn="l"/>
                <a:tab pos="4535176" algn="l"/>
                <a:tab pos="5291476" algn="l"/>
                <a:tab pos="6047776" algn="l"/>
                <a:tab pos="6804076" algn="l"/>
                <a:tab pos="7560377" algn="l"/>
                <a:tab pos="8316677" algn="l"/>
                <a:tab pos="8545143" algn="l"/>
                <a:tab pos="8916728" algn="l"/>
              </a:tabLst>
              <a:defRPr/>
            </a:pPr>
            <a:endParaRPr lang="it-IT" dirty="0">
              <a:latin typeface="Calibri" pitchFamily="32" charset="0"/>
              <a:ea typeface="Microsoft YaHei" charset="-122"/>
            </a:endParaRPr>
          </a:p>
          <a:p>
            <a:pPr algn="just">
              <a:defRPr/>
            </a:pPr>
            <a:endParaRPr lang="it-CH" dirty="0">
              <a:solidFill>
                <a:srgbClr val="FF0000"/>
              </a:solidFill>
              <a:cs typeface="Arial" panose="020B0604020202020204" pitchFamily="34" charset="0"/>
            </a:endParaRPr>
          </a:p>
        </p:txBody>
      </p:sp>
      <p:pic>
        <p:nvPicPr>
          <p:cNvPr id="1026" name="Picture 2" descr="A symbolic illustration highlighting gender discrimination in the workplace. On the left, a confident woman in professional attire stands at the base of a steep, cracked ladder labeled 'Career Advancement'. The ladder is broken in places and missing rungs. On the right, a man in similar attire climbs a smooth, sturdy ladder labeled 'Success', with clear steps and no obstacles. Above them, a building labeled 'Leadership' is visible. The woman’s path is blocked by signs reading 'Lower Pay', 'Precarious Jobs', and 'Bias'. The background is a muted office setting with desks and charts. The style is flat, minimalist, and uses contrasting colors to emphasize inequality.">
            <a:extLst>
              <a:ext uri="{FF2B5EF4-FFF2-40B4-BE49-F238E27FC236}">
                <a16:creationId xmlns:a16="http://schemas.microsoft.com/office/drawing/2014/main" id="{34921694-3AE1-9C4A-FF77-FCC68575D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9900" y="3324225"/>
            <a:ext cx="5486400" cy="3657600"/>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BC731A39-FE90-F54D-B6E3-AA2A942E9421}"/>
              </a:ext>
            </a:extLst>
          </p:cNvPr>
          <p:cNvSpPr txBox="1"/>
          <p:nvPr/>
        </p:nvSpPr>
        <p:spPr>
          <a:xfrm>
            <a:off x="786250" y="6372225"/>
            <a:ext cx="3352801" cy="430887"/>
          </a:xfrm>
          <a:prstGeom prst="rect">
            <a:avLst/>
          </a:prstGeom>
          <a:noFill/>
        </p:spPr>
        <p:txBody>
          <a:bodyPr wrap="square" rtlCol="0">
            <a:spAutoFit/>
          </a:bodyPr>
          <a:lstStyle/>
          <a:p>
            <a:pPr marL="0" indent="0">
              <a:buNone/>
            </a:pPr>
            <a:r>
              <a:rPr lang="it-CH" sz="1100" dirty="0">
                <a:latin typeface="Arial" panose="020B0604020202020204" pitchFamily="34" charset="0"/>
                <a:cs typeface="Arial" panose="020B0604020202020204" pitchFamily="34" charset="0"/>
              </a:rPr>
              <a:t>«La segregazione verticale», immagine generata con </a:t>
            </a:r>
            <a:r>
              <a:rPr lang="it-CH" sz="1100" dirty="0" err="1">
                <a:latin typeface="Arial" panose="020B0604020202020204" pitchFamily="34" charset="0"/>
                <a:cs typeface="Arial" panose="020B0604020202020204" pitchFamily="34" charset="0"/>
              </a:rPr>
              <a:t>Copilot</a:t>
            </a:r>
            <a:r>
              <a:rPr lang="it-CH" sz="1100" dirty="0">
                <a:latin typeface="Arial" panose="020B0604020202020204" pitchFamily="34" charset="0"/>
                <a:cs typeface="Arial" panose="020B0604020202020204" pitchFamily="34" charset="0"/>
              </a:rPr>
              <a:t> OpenAI, 20.02.2025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A09C4-4BF8-E2DA-26D8-B8D69AE1A54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C13B656-2109-85AE-6CA8-DCCDF73EF319}"/>
              </a:ext>
            </a:extLst>
          </p:cNvPr>
          <p:cNvSpPr txBox="1"/>
          <p:nvPr/>
        </p:nvSpPr>
        <p:spPr>
          <a:xfrm>
            <a:off x="1525038" y="188500"/>
            <a:ext cx="339788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a:cs typeface="Arial"/>
              </a:rPr>
              <a:t>DEASS</a:t>
            </a:r>
            <a:r>
              <a:rPr sz="1300" spc="50" dirty="0">
                <a:latin typeface="Arial"/>
                <a:cs typeface="Arial"/>
              </a:rPr>
              <a:t> </a:t>
            </a:r>
            <a:r>
              <a:rPr sz="1300" dirty="0">
                <a:latin typeface="Arial"/>
                <a:cs typeface="Arial"/>
              </a:rPr>
              <a:t>/</a:t>
            </a:r>
            <a:r>
              <a:rPr sz="1300" spc="10" dirty="0">
                <a:latin typeface="Arial"/>
                <a:cs typeface="Arial"/>
              </a:rPr>
              <a:t> </a:t>
            </a:r>
            <a:r>
              <a:rPr sz="1300" dirty="0">
                <a:latin typeface="Arial"/>
                <a:cs typeface="Arial"/>
              </a:rPr>
              <a:t>Titolo</a:t>
            </a:r>
            <a:r>
              <a:rPr sz="1300" spc="15" dirty="0">
                <a:latin typeface="Arial"/>
                <a:cs typeface="Arial"/>
              </a:rPr>
              <a:t> </a:t>
            </a:r>
            <a:r>
              <a:rPr sz="1300" dirty="0">
                <a:latin typeface="Arial"/>
                <a:cs typeface="Arial"/>
              </a:rPr>
              <a:t>principale della</a:t>
            </a:r>
            <a:r>
              <a:rPr sz="1300" spc="40" dirty="0">
                <a:latin typeface="Arial"/>
                <a:cs typeface="Arial"/>
              </a:rPr>
              <a:t> </a:t>
            </a:r>
            <a:r>
              <a:rPr sz="1300" spc="-10" dirty="0">
                <a:latin typeface="Arial"/>
                <a:cs typeface="Arial"/>
              </a:rPr>
              <a:t>presentazione</a:t>
            </a:r>
            <a:endParaRPr sz="1300">
              <a:latin typeface="Arial"/>
              <a:cs typeface="Arial"/>
            </a:endParaRPr>
          </a:p>
        </p:txBody>
      </p:sp>
      <p:pic>
        <p:nvPicPr>
          <p:cNvPr id="3" name="object 3">
            <a:extLst>
              <a:ext uri="{FF2B5EF4-FFF2-40B4-BE49-F238E27FC236}">
                <a16:creationId xmlns:a16="http://schemas.microsoft.com/office/drawing/2014/main" id="{743CCEC3-8266-8905-8C87-2A58F5B4EC8A}"/>
              </a:ext>
            </a:extLst>
          </p:cNvPr>
          <p:cNvPicPr/>
          <p:nvPr/>
        </p:nvPicPr>
        <p:blipFill>
          <a:blip r:embed="rId2" cstate="print"/>
          <a:stretch>
            <a:fillRect/>
          </a:stretch>
        </p:blipFill>
        <p:spPr>
          <a:xfrm>
            <a:off x="684276" y="225552"/>
            <a:ext cx="527304" cy="156972"/>
          </a:xfrm>
          <a:prstGeom prst="rect">
            <a:avLst/>
          </a:prstGeom>
        </p:spPr>
      </p:pic>
      <p:sp>
        <p:nvSpPr>
          <p:cNvPr id="4" name="object 4">
            <a:extLst>
              <a:ext uri="{FF2B5EF4-FFF2-40B4-BE49-F238E27FC236}">
                <a16:creationId xmlns:a16="http://schemas.microsoft.com/office/drawing/2014/main" id="{18058CB8-F597-6C3C-9F19-A06054508E13}"/>
              </a:ext>
            </a:extLst>
          </p:cNvPr>
          <p:cNvSpPr txBox="1">
            <a:spLocks noGrp="1"/>
          </p:cNvSpPr>
          <p:nvPr>
            <p:ph type="title"/>
          </p:nvPr>
        </p:nvSpPr>
        <p:spPr>
          <a:xfrm>
            <a:off x="648643" y="724999"/>
            <a:ext cx="9396113" cy="1019311"/>
          </a:xfrm>
          <a:prstGeom prst="rect">
            <a:avLst/>
          </a:prstGeom>
        </p:spPr>
        <p:txBody>
          <a:bodyPr vert="horz" wrap="square" lIns="0" tIns="201733" rIns="0" bIns="0" rtlCol="0">
            <a:spAutoFit/>
          </a:bodyPr>
          <a:lstStyle/>
          <a:p>
            <a:pPr marL="12700">
              <a:lnSpc>
                <a:spcPct val="100000"/>
              </a:lnSpc>
              <a:spcBef>
                <a:spcPts val="90"/>
              </a:spcBef>
            </a:pPr>
            <a:r>
              <a:rPr lang="it-CH" sz="5300" dirty="0">
                <a:solidFill>
                  <a:srgbClr val="FFFFFF"/>
                </a:solidFill>
              </a:rPr>
              <a:t>Per riassumere…</a:t>
            </a:r>
            <a:endParaRPr sz="5300" dirty="0"/>
          </a:p>
        </p:txBody>
      </p:sp>
      <p:sp>
        <p:nvSpPr>
          <p:cNvPr id="5" name="object 5">
            <a:extLst>
              <a:ext uri="{FF2B5EF4-FFF2-40B4-BE49-F238E27FC236}">
                <a16:creationId xmlns:a16="http://schemas.microsoft.com/office/drawing/2014/main" id="{EF44C19D-3894-DD19-93DB-03B6804137FE}"/>
              </a:ext>
            </a:extLst>
          </p:cNvPr>
          <p:cNvSpPr txBox="1"/>
          <p:nvPr/>
        </p:nvSpPr>
        <p:spPr>
          <a:xfrm>
            <a:off x="9830841" y="193002"/>
            <a:ext cx="211454" cy="226695"/>
          </a:xfrm>
          <a:prstGeom prst="rect">
            <a:avLst/>
          </a:prstGeom>
        </p:spPr>
        <p:txBody>
          <a:bodyPr vert="horz" wrap="square" lIns="0" tIns="15240" rIns="0" bIns="0" rtlCol="0">
            <a:spAutoFit/>
          </a:bodyPr>
          <a:lstStyle/>
          <a:p>
            <a:pPr marL="12700">
              <a:lnSpc>
                <a:spcPct val="100000"/>
              </a:lnSpc>
              <a:spcBef>
                <a:spcPts val="120"/>
              </a:spcBef>
            </a:pPr>
            <a:r>
              <a:rPr sz="1300" spc="-25" dirty="0">
                <a:latin typeface="Arial"/>
                <a:cs typeface="Arial"/>
              </a:rPr>
              <a:t>20</a:t>
            </a:r>
            <a:endParaRPr sz="1300">
              <a:latin typeface="Arial"/>
              <a:cs typeface="Arial"/>
            </a:endParaRPr>
          </a:p>
        </p:txBody>
      </p:sp>
    </p:spTree>
    <p:extLst>
      <p:ext uri="{BB962C8B-B14F-4D97-AF65-F5344CB8AC3E}">
        <p14:creationId xmlns:p14="http://schemas.microsoft.com/office/powerpoint/2010/main" val="849826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98CB763-89AD-832A-FCF3-AB7F7D760D64}"/>
              </a:ext>
            </a:extLst>
          </p:cNvPr>
          <p:cNvSpPr>
            <a:spLocks noGrp="1"/>
          </p:cNvSpPr>
          <p:nvPr>
            <p:ph type="title"/>
          </p:nvPr>
        </p:nvSpPr>
        <p:spPr>
          <a:xfrm>
            <a:off x="648643" y="724999"/>
            <a:ext cx="9396113" cy="407804"/>
          </a:xfrm>
        </p:spPr>
        <p:txBody>
          <a:bodyPr/>
          <a:lstStyle/>
          <a:p>
            <a:r>
              <a:rPr lang="it-CH" dirty="0"/>
              <a:t>Sistema produttivo taylorista fordista e post-fordista a confronto</a:t>
            </a:r>
          </a:p>
        </p:txBody>
      </p:sp>
      <p:sp>
        <p:nvSpPr>
          <p:cNvPr id="3" name="Segnaposto testo 2">
            <a:extLst>
              <a:ext uri="{FF2B5EF4-FFF2-40B4-BE49-F238E27FC236}">
                <a16:creationId xmlns:a16="http://schemas.microsoft.com/office/drawing/2014/main" id="{A8BB3F49-74CF-7806-C115-398AB6B98AB5}"/>
              </a:ext>
            </a:extLst>
          </p:cNvPr>
          <p:cNvSpPr>
            <a:spLocks noGrp="1"/>
          </p:cNvSpPr>
          <p:nvPr>
            <p:ph type="body" idx="1"/>
          </p:nvPr>
        </p:nvSpPr>
        <p:spPr>
          <a:xfrm>
            <a:off x="648643" y="1571625"/>
            <a:ext cx="9399356" cy="4584577"/>
          </a:xfrm>
        </p:spPr>
        <p:txBody>
          <a:bodyPr/>
          <a:lstStyle/>
          <a:p>
            <a:endParaRPr lang="it-CH" dirty="0"/>
          </a:p>
        </p:txBody>
      </p:sp>
      <p:graphicFrame>
        <p:nvGraphicFramePr>
          <p:cNvPr id="5" name="Tabella 4">
            <a:extLst>
              <a:ext uri="{FF2B5EF4-FFF2-40B4-BE49-F238E27FC236}">
                <a16:creationId xmlns:a16="http://schemas.microsoft.com/office/drawing/2014/main" id="{A75FC9F3-FDEB-B76E-6170-162F0E5DF7A1}"/>
              </a:ext>
            </a:extLst>
          </p:cNvPr>
          <p:cNvGraphicFramePr>
            <a:graphicFrameLocks noGrp="1"/>
          </p:cNvGraphicFramePr>
          <p:nvPr>
            <p:extLst>
              <p:ext uri="{D42A27DB-BD31-4B8C-83A1-F6EECF244321}">
                <p14:modId xmlns:p14="http://schemas.microsoft.com/office/powerpoint/2010/main" val="4210823258"/>
              </p:ext>
            </p:extLst>
          </p:nvPr>
        </p:nvGraphicFramePr>
        <p:xfrm>
          <a:off x="642158" y="1406648"/>
          <a:ext cx="9399355" cy="5883003"/>
        </p:xfrm>
        <a:graphic>
          <a:graphicData uri="http://schemas.openxmlformats.org/drawingml/2006/table">
            <a:tbl>
              <a:tblPr firstRow="1" firstCol="1" bandRow="1">
                <a:tableStyleId>{5C22544A-7EE6-4342-B048-85BDC9FD1C3A}</a:tableStyleId>
              </a:tblPr>
              <a:tblGrid>
                <a:gridCol w="1756594">
                  <a:extLst>
                    <a:ext uri="{9D8B030D-6E8A-4147-A177-3AD203B41FA5}">
                      <a16:colId xmlns:a16="http://schemas.microsoft.com/office/drawing/2014/main" val="568623738"/>
                    </a:ext>
                  </a:extLst>
                </a:gridCol>
                <a:gridCol w="3137263">
                  <a:extLst>
                    <a:ext uri="{9D8B030D-6E8A-4147-A177-3AD203B41FA5}">
                      <a16:colId xmlns:a16="http://schemas.microsoft.com/office/drawing/2014/main" val="3955591692"/>
                    </a:ext>
                  </a:extLst>
                </a:gridCol>
                <a:gridCol w="4505498">
                  <a:extLst>
                    <a:ext uri="{9D8B030D-6E8A-4147-A177-3AD203B41FA5}">
                      <a16:colId xmlns:a16="http://schemas.microsoft.com/office/drawing/2014/main" val="952635135"/>
                    </a:ext>
                  </a:extLst>
                </a:gridCol>
              </a:tblGrid>
              <a:tr h="710546">
                <a:tc>
                  <a:txBody>
                    <a:bodyPr/>
                    <a:lstStyle/>
                    <a:p>
                      <a:pPr marL="71755" marR="71755">
                        <a:lnSpc>
                          <a:spcPct val="115000"/>
                        </a:lnSpc>
                        <a:spcAft>
                          <a:spcPts val="800"/>
                        </a:spcAft>
                      </a:pPr>
                      <a:endParaRPr lang="it-CH" sz="600" kern="100" dirty="0">
                        <a:effectLst/>
                      </a:endParaRPr>
                    </a:p>
                    <a:p>
                      <a:pPr marL="71755" marR="71755">
                        <a:lnSpc>
                          <a:spcPct val="115000"/>
                        </a:lnSpc>
                        <a:spcAft>
                          <a:spcPts val="800"/>
                        </a:spcAft>
                      </a:pPr>
                      <a:endParaRPr lang="it-CH" sz="600" kern="100" dirty="0">
                        <a:effectLst/>
                      </a:endParaRPr>
                    </a:p>
                    <a:p>
                      <a:pPr marL="71755" marR="71755">
                        <a:lnSpc>
                          <a:spcPct val="115000"/>
                        </a:lnSpc>
                        <a:spcAft>
                          <a:spcPts val="800"/>
                        </a:spcAft>
                      </a:pPr>
                      <a:endParaRPr lang="it-CH" sz="600" kern="100" dirty="0">
                        <a:effectLst/>
                      </a:endParaRPr>
                    </a:p>
                    <a:p>
                      <a:pPr marL="71755" marR="71755">
                        <a:lnSpc>
                          <a:spcPct val="115000"/>
                        </a:lnSpc>
                        <a:spcAft>
                          <a:spcPts val="800"/>
                        </a:spcAft>
                      </a:pPr>
                      <a:endParaRPr lang="it-CH" sz="600" kern="100" dirty="0">
                        <a:effectLst/>
                      </a:endParaRPr>
                    </a:p>
                    <a:p>
                      <a:pPr marL="71755" marR="71755">
                        <a:lnSpc>
                          <a:spcPct val="115000"/>
                        </a:lnSpc>
                        <a:spcAft>
                          <a:spcPts val="800"/>
                        </a:spcAft>
                      </a:pPr>
                      <a:endParaRPr lang="it-CH" sz="600" kern="100" dirty="0">
                        <a:effectLst/>
                      </a:endParaRPr>
                    </a:p>
                    <a:p>
                      <a:pPr marL="71755" marR="71755">
                        <a:lnSpc>
                          <a:spcPct val="115000"/>
                        </a:lnSpc>
                        <a:spcAft>
                          <a:spcPts val="800"/>
                        </a:spcAft>
                      </a:pPr>
                      <a:endParaRPr lang="it-CH" sz="600" kern="100" dirty="0">
                        <a:effectLst/>
                      </a:endParaRPr>
                    </a:p>
                    <a:p>
                      <a:pPr marL="71755" marR="71755">
                        <a:lnSpc>
                          <a:spcPct val="115000"/>
                        </a:lnSpc>
                        <a:spcAft>
                          <a:spcPts val="800"/>
                        </a:spcAft>
                      </a:pPr>
                      <a:endParaRPr lang="it-CH" sz="600" kern="100" dirty="0">
                        <a:effectLst/>
                      </a:endParaRPr>
                    </a:p>
                    <a:p>
                      <a:pPr marL="71755" marR="71755">
                        <a:lnSpc>
                          <a:spcPct val="115000"/>
                        </a:lnSpc>
                        <a:spcAft>
                          <a:spcPts val="800"/>
                        </a:spcAft>
                      </a:pPr>
                      <a:endParaRPr lang="it-CH" sz="600" kern="100" dirty="0">
                        <a:effectLst/>
                      </a:endParaRPr>
                    </a:p>
                    <a:p>
                      <a:pPr marL="71755" marR="71755">
                        <a:lnSpc>
                          <a:spcPct val="115000"/>
                        </a:lnSpc>
                        <a:spcAft>
                          <a:spcPts val="800"/>
                        </a:spcAft>
                      </a:pPr>
                      <a:endParaRPr lang="it-CH" sz="600" kern="100" dirty="0">
                        <a:effectLst/>
                      </a:endParaRPr>
                    </a:p>
                    <a:p>
                      <a:pPr marL="71755" marR="71755">
                        <a:lnSpc>
                          <a:spcPct val="115000"/>
                        </a:lnSpc>
                        <a:spcAft>
                          <a:spcPts val="800"/>
                        </a:spcAft>
                      </a:pPr>
                      <a:endParaRPr lang="it-CH" sz="600" kern="100" dirty="0">
                        <a:effectLst/>
                      </a:endParaRPr>
                    </a:p>
                  </a:txBody>
                  <a:tcPr marL="36265" marR="36265" marT="0" marB="0" vert="vert270"/>
                </a:tc>
                <a:tc>
                  <a:txBody>
                    <a:bodyPr/>
                    <a:lstStyle/>
                    <a:p>
                      <a:pPr>
                        <a:lnSpc>
                          <a:spcPct val="115000"/>
                        </a:lnSpc>
                        <a:spcAft>
                          <a:spcPts val="800"/>
                        </a:spcAft>
                      </a:pPr>
                      <a:r>
                        <a:rPr lang="it-CH" sz="2000" kern="100" dirty="0">
                          <a:effectLst/>
                          <a:latin typeface="Arial" panose="020B0604020202020204" pitchFamily="34" charset="0"/>
                          <a:cs typeface="Arial" panose="020B0604020202020204" pitchFamily="34" charset="0"/>
                        </a:rPr>
                        <a:t>Modello taylorista-fordista</a:t>
                      </a:r>
                      <a:endParaRPr lang="it-CH" sz="2000" kern="100" dirty="0">
                        <a:effectLst/>
                        <a:latin typeface="Arial" panose="020B0604020202020204" pitchFamily="34" charset="0"/>
                        <a:ea typeface="Aptos" panose="020B0004020202020204" pitchFamily="34" charset="0"/>
                        <a:cs typeface="Arial" panose="020B0604020202020204" pitchFamily="34" charset="0"/>
                      </a:endParaRPr>
                    </a:p>
                  </a:txBody>
                  <a:tcPr marL="36265" marR="36265" marT="0" marB="0"/>
                </a:tc>
                <a:tc>
                  <a:txBody>
                    <a:bodyPr/>
                    <a:lstStyle/>
                    <a:p>
                      <a:pPr>
                        <a:lnSpc>
                          <a:spcPct val="115000"/>
                        </a:lnSpc>
                        <a:spcAft>
                          <a:spcPts val="800"/>
                        </a:spcAft>
                      </a:pPr>
                      <a:r>
                        <a:rPr lang="it-CH" sz="2000" b="1" kern="100" dirty="0">
                          <a:solidFill>
                            <a:schemeClr val="lt1"/>
                          </a:solidFill>
                          <a:effectLst/>
                          <a:latin typeface="Arial" panose="020B0604020202020204" pitchFamily="34" charset="0"/>
                          <a:ea typeface="+mn-ea"/>
                          <a:cs typeface="Arial" panose="020B0604020202020204" pitchFamily="34" charset="0"/>
                        </a:rPr>
                        <a:t>Modello post-fordista</a:t>
                      </a:r>
                    </a:p>
                  </a:txBody>
                  <a:tcPr marL="36265" marR="36265" marT="0" marB="0"/>
                </a:tc>
                <a:extLst>
                  <a:ext uri="{0D108BD9-81ED-4DB2-BD59-A6C34878D82A}">
                    <a16:rowId xmlns:a16="http://schemas.microsoft.com/office/drawing/2014/main" val="3616259301"/>
                  </a:ext>
                </a:extLst>
              </a:tr>
              <a:tr h="1820844">
                <a:tc>
                  <a:txBody>
                    <a:bodyPr/>
                    <a:lstStyle/>
                    <a:p>
                      <a:pPr marL="71755" marR="71755">
                        <a:lnSpc>
                          <a:spcPct val="115000"/>
                        </a:lnSpc>
                        <a:spcAft>
                          <a:spcPts val="800"/>
                        </a:spcAft>
                      </a:pPr>
                      <a:r>
                        <a:rPr lang="it-CH" sz="1800" kern="100" dirty="0">
                          <a:effectLst/>
                          <a:latin typeface="Arial" panose="020B0604020202020204" pitchFamily="34" charset="0"/>
                          <a:cs typeface="Arial" panose="020B0604020202020204" pitchFamily="34" charset="0"/>
                        </a:rPr>
                        <a:t>Modello produttivo</a:t>
                      </a:r>
                      <a:endParaRPr lang="it-CH" sz="1800" kern="100" dirty="0">
                        <a:effectLst/>
                        <a:latin typeface="Arial" panose="020B0604020202020204" pitchFamily="34" charset="0"/>
                        <a:ea typeface="Aptos" panose="020B0004020202020204" pitchFamily="34" charset="0"/>
                        <a:cs typeface="Arial" panose="020B0604020202020204" pitchFamily="34" charset="0"/>
                      </a:endParaRPr>
                    </a:p>
                  </a:txBody>
                  <a:tcPr marL="36265" marR="36265" marT="0" marB="0" vert="vert270"/>
                </a:tc>
                <a:tc>
                  <a:txBody>
                    <a:bodyPr/>
                    <a:lstStyle/>
                    <a:p>
                      <a:pPr marL="342900" lvl="0" indent="-342900">
                        <a:lnSpc>
                          <a:spcPct val="115000"/>
                        </a:lnSpc>
                        <a:buFont typeface="Symbol" panose="05050102010706020507" pitchFamily="18" charset="2"/>
                        <a:buChar char=""/>
                      </a:pPr>
                      <a:r>
                        <a:rPr lang="it-CH" sz="1600" kern="100" dirty="0">
                          <a:effectLst/>
                          <a:latin typeface="Arial" panose="020B0604020202020204" pitchFamily="34" charset="0"/>
                          <a:cs typeface="Arial" panose="020B0604020202020204" pitchFamily="34" charset="0"/>
                        </a:rPr>
                        <a:t>Produzione di massa, prodotti standardizzati, produzione orientata alle risorse</a:t>
                      </a:r>
                    </a:p>
                    <a:p>
                      <a:pPr marL="342900" lvl="0" indent="-342900">
                        <a:lnSpc>
                          <a:spcPct val="115000"/>
                        </a:lnSpc>
                        <a:spcAft>
                          <a:spcPts val="800"/>
                        </a:spcAft>
                        <a:buFont typeface="Symbol" panose="05050102010706020507" pitchFamily="18" charset="2"/>
                        <a:buChar char=""/>
                      </a:pPr>
                      <a:r>
                        <a:rPr lang="it-CH" sz="1600" kern="100" dirty="0">
                          <a:effectLst/>
                          <a:latin typeface="Arial" panose="020B0604020202020204" pitchFamily="34" charset="0"/>
                          <a:cs typeface="Arial" panose="020B0604020202020204" pitchFamily="34" charset="0"/>
                        </a:rPr>
                        <a:t>Grande impresa gerarchica Controllo burocratico</a:t>
                      </a:r>
                    </a:p>
                    <a:p>
                      <a:pPr>
                        <a:lnSpc>
                          <a:spcPct val="115000"/>
                        </a:lnSpc>
                        <a:spcAft>
                          <a:spcPts val="800"/>
                        </a:spcAft>
                      </a:pPr>
                      <a:r>
                        <a:rPr lang="it-CH" sz="1600" kern="100" dirty="0">
                          <a:effectLst/>
                          <a:latin typeface="Arial" panose="020B0604020202020204" pitchFamily="34" charset="0"/>
                          <a:cs typeface="Arial" panose="020B0604020202020204" pitchFamily="34" charset="0"/>
                        </a:rPr>
                        <a:t> </a:t>
                      </a:r>
                      <a:endParaRPr lang="it-CH" sz="1600" kern="100" dirty="0">
                        <a:effectLst/>
                        <a:latin typeface="Arial" panose="020B0604020202020204" pitchFamily="34" charset="0"/>
                        <a:ea typeface="Aptos" panose="020B0004020202020204" pitchFamily="34" charset="0"/>
                        <a:cs typeface="Arial" panose="020B0604020202020204" pitchFamily="34" charset="0"/>
                      </a:endParaRPr>
                    </a:p>
                  </a:txBody>
                  <a:tcPr marL="36265" marR="36265" marT="0" marB="0"/>
                </a:tc>
                <a:tc>
                  <a:txBody>
                    <a:bodyPr/>
                    <a:lstStyle/>
                    <a:p>
                      <a:pPr marL="342900" lvl="0" indent="-342900">
                        <a:lnSpc>
                          <a:spcPct val="115000"/>
                        </a:lnSpc>
                        <a:buFont typeface="Symbol" panose="05050102010706020507" pitchFamily="18" charset="2"/>
                        <a:buChar char=""/>
                      </a:pPr>
                      <a:r>
                        <a:rPr lang="it-CH" sz="1600" kern="100" dirty="0">
                          <a:effectLst/>
                          <a:latin typeface="Arial" panose="020B0604020202020204" pitchFamily="34" charset="0"/>
                          <a:cs typeface="Arial" panose="020B0604020202020204" pitchFamily="34" charset="0"/>
                        </a:rPr>
                        <a:t>Produzione flessibile, prodotti differenziati e personalizzati, produzione just-in-time orientata alla domanda</a:t>
                      </a:r>
                    </a:p>
                    <a:p>
                      <a:pPr marL="342900" lvl="0" indent="-342900">
                        <a:lnSpc>
                          <a:spcPct val="115000"/>
                        </a:lnSpc>
                        <a:spcAft>
                          <a:spcPts val="800"/>
                        </a:spcAft>
                        <a:buFont typeface="Symbol" panose="05050102010706020507" pitchFamily="18" charset="2"/>
                        <a:buChar char=""/>
                      </a:pPr>
                      <a:r>
                        <a:rPr lang="it-CH" sz="1600" kern="100" dirty="0">
                          <a:effectLst/>
                          <a:latin typeface="Arial" panose="020B0604020202020204" pitchFamily="34" charset="0"/>
                          <a:cs typeface="Arial" panose="020B0604020202020204" pitchFamily="34" charset="0"/>
                        </a:rPr>
                        <a:t>Medie e piccole unità produttive e imprese a rete, decentramento produttivo</a:t>
                      </a:r>
                    </a:p>
                    <a:p>
                      <a:pPr>
                        <a:lnSpc>
                          <a:spcPct val="115000"/>
                        </a:lnSpc>
                        <a:spcAft>
                          <a:spcPts val="800"/>
                        </a:spcAft>
                      </a:pPr>
                      <a:r>
                        <a:rPr lang="it-CH" sz="1600" kern="100" dirty="0">
                          <a:effectLst/>
                          <a:latin typeface="Arial" panose="020B0604020202020204" pitchFamily="34" charset="0"/>
                          <a:cs typeface="Arial" panose="020B0604020202020204" pitchFamily="34" charset="0"/>
                        </a:rPr>
                        <a:t> </a:t>
                      </a:r>
                      <a:endParaRPr lang="it-CH" sz="1600" kern="100" dirty="0">
                        <a:effectLst/>
                        <a:latin typeface="Arial" panose="020B0604020202020204" pitchFamily="34" charset="0"/>
                        <a:ea typeface="Aptos" panose="020B0004020202020204" pitchFamily="34" charset="0"/>
                        <a:cs typeface="Arial" panose="020B0604020202020204" pitchFamily="34" charset="0"/>
                      </a:endParaRPr>
                    </a:p>
                  </a:txBody>
                  <a:tcPr marL="36265" marR="36265" marT="0" marB="0"/>
                </a:tc>
                <a:extLst>
                  <a:ext uri="{0D108BD9-81ED-4DB2-BD59-A6C34878D82A}">
                    <a16:rowId xmlns:a16="http://schemas.microsoft.com/office/drawing/2014/main" val="1343219822"/>
                  </a:ext>
                </a:extLst>
              </a:tr>
              <a:tr h="1635869">
                <a:tc>
                  <a:txBody>
                    <a:bodyPr/>
                    <a:lstStyle/>
                    <a:p>
                      <a:pPr marL="71755" marR="71755">
                        <a:lnSpc>
                          <a:spcPct val="115000"/>
                        </a:lnSpc>
                        <a:spcAft>
                          <a:spcPts val="800"/>
                        </a:spcAft>
                      </a:pPr>
                      <a:r>
                        <a:rPr lang="it-CH" sz="1800" kern="100" dirty="0">
                          <a:effectLst/>
                          <a:latin typeface="Arial" panose="020B0604020202020204" pitchFamily="34" charset="0"/>
                          <a:cs typeface="Arial" panose="020B0604020202020204" pitchFamily="34" charset="0"/>
                        </a:rPr>
                        <a:t>Modello organizzativo</a:t>
                      </a:r>
                      <a:endParaRPr lang="it-CH" sz="1800" kern="100" dirty="0">
                        <a:effectLst/>
                        <a:latin typeface="Arial" panose="020B0604020202020204" pitchFamily="34" charset="0"/>
                        <a:ea typeface="Aptos" panose="020B0004020202020204" pitchFamily="34" charset="0"/>
                        <a:cs typeface="Arial" panose="020B0604020202020204" pitchFamily="34" charset="0"/>
                      </a:endParaRPr>
                    </a:p>
                  </a:txBody>
                  <a:tcPr marL="36265" marR="36265" marT="0" marB="0" vert="vert270"/>
                </a:tc>
                <a:tc>
                  <a:txBody>
                    <a:bodyPr/>
                    <a:lstStyle/>
                    <a:p>
                      <a:pPr marL="342900" lvl="0" indent="-342900">
                        <a:lnSpc>
                          <a:spcPct val="115000"/>
                        </a:lnSpc>
                        <a:buFont typeface="Symbol" panose="05050102010706020507" pitchFamily="18" charset="2"/>
                        <a:buChar char=""/>
                      </a:pPr>
                      <a:r>
                        <a:rPr lang="it-CH" sz="1600" kern="100" dirty="0">
                          <a:effectLst/>
                          <a:latin typeface="Arial" panose="020B0604020202020204" pitchFamily="34" charset="0"/>
                          <a:cs typeface="Arial" panose="020B0604020202020204" pitchFamily="34" charset="0"/>
                        </a:rPr>
                        <a:t>Lavoro parcellizzato e ripetitivo e scarsa autonomia</a:t>
                      </a:r>
                    </a:p>
                    <a:p>
                      <a:pPr marL="342900" lvl="0" indent="-342900">
                        <a:lnSpc>
                          <a:spcPct val="115000"/>
                        </a:lnSpc>
                        <a:buFont typeface="Symbol" panose="05050102010706020507" pitchFamily="18" charset="2"/>
                        <a:buChar char=""/>
                      </a:pPr>
                      <a:r>
                        <a:rPr lang="it-CH" sz="1600" kern="100" dirty="0">
                          <a:effectLst/>
                          <a:latin typeface="Arial" panose="020B0604020202020204" pitchFamily="34" charset="0"/>
                          <a:cs typeface="Arial" panose="020B0604020202020204" pitchFamily="34" charset="0"/>
                        </a:rPr>
                        <a:t>Lavoratori scarsamente qualificati</a:t>
                      </a:r>
                    </a:p>
                    <a:p>
                      <a:pPr marL="457200">
                        <a:lnSpc>
                          <a:spcPct val="115000"/>
                        </a:lnSpc>
                        <a:spcAft>
                          <a:spcPts val="800"/>
                        </a:spcAft>
                      </a:pPr>
                      <a:r>
                        <a:rPr lang="en-US" sz="1600" kern="100" dirty="0">
                          <a:effectLst/>
                          <a:latin typeface="Arial" panose="020B0604020202020204" pitchFamily="34" charset="0"/>
                          <a:cs typeface="Arial" panose="020B0604020202020204" pitchFamily="34" charset="0"/>
                        </a:rPr>
                        <a:t> </a:t>
                      </a:r>
                      <a:endParaRPr lang="it-CH" sz="1600" kern="100" dirty="0">
                        <a:effectLst/>
                        <a:latin typeface="Arial" panose="020B0604020202020204" pitchFamily="34" charset="0"/>
                        <a:ea typeface="Aptos" panose="020B0004020202020204" pitchFamily="34" charset="0"/>
                        <a:cs typeface="Arial" panose="020B0604020202020204" pitchFamily="34" charset="0"/>
                      </a:endParaRPr>
                    </a:p>
                  </a:txBody>
                  <a:tcPr marL="36265" marR="36265" marT="0" marB="0"/>
                </a:tc>
                <a:tc>
                  <a:txBody>
                    <a:bodyPr/>
                    <a:lstStyle/>
                    <a:p>
                      <a:pPr marL="285750" indent="-285750">
                        <a:lnSpc>
                          <a:spcPct val="115000"/>
                        </a:lnSpc>
                        <a:spcAft>
                          <a:spcPts val="800"/>
                        </a:spcAft>
                        <a:buFont typeface="Arial" panose="020B0604020202020204" pitchFamily="34" charset="0"/>
                        <a:buChar char="•"/>
                      </a:pPr>
                      <a:r>
                        <a:rPr lang="it-CH" sz="1600" kern="100" dirty="0">
                          <a:effectLst/>
                          <a:latin typeface="Arial" panose="020B0604020202020204" pitchFamily="34" charset="0"/>
                          <a:cs typeface="Arial" panose="020B0604020202020204" pitchFamily="34" charset="0"/>
                        </a:rPr>
                        <a:t>Maggiore autonomia e lavoro orientato agli obiettivi, nuove tecniche di gestione del personale</a:t>
                      </a:r>
                    </a:p>
                    <a:p>
                      <a:pPr marL="285750" indent="-285750">
                        <a:lnSpc>
                          <a:spcPct val="115000"/>
                        </a:lnSpc>
                        <a:spcAft>
                          <a:spcPts val="800"/>
                        </a:spcAft>
                        <a:buFont typeface="Arial" panose="020B0604020202020204" pitchFamily="34" charset="0"/>
                        <a:buChar char="•"/>
                      </a:pPr>
                      <a:r>
                        <a:rPr lang="it-CH" sz="1600" kern="100" dirty="0">
                          <a:effectLst/>
                          <a:latin typeface="Arial" panose="020B0604020202020204" pitchFamily="34" charset="0"/>
                          <a:cs typeface="Arial" panose="020B0604020202020204" pitchFamily="34" charset="0"/>
                        </a:rPr>
                        <a:t>Lavoro flessibile, ma ritmi intensi</a:t>
                      </a:r>
                    </a:p>
                    <a:p>
                      <a:pPr>
                        <a:lnSpc>
                          <a:spcPct val="115000"/>
                        </a:lnSpc>
                        <a:spcAft>
                          <a:spcPts val="800"/>
                        </a:spcAft>
                      </a:pPr>
                      <a:r>
                        <a:rPr lang="it-CH" sz="1600" kern="100" dirty="0">
                          <a:effectLst/>
                          <a:latin typeface="Arial" panose="020B0604020202020204" pitchFamily="34" charset="0"/>
                          <a:cs typeface="Arial" panose="020B0604020202020204" pitchFamily="34" charset="0"/>
                        </a:rPr>
                        <a:t> </a:t>
                      </a:r>
                      <a:endParaRPr lang="it-CH" sz="1600" kern="100" dirty="0">
                        <a:effectLst/>
                        <a:latin typeface="Arial" panose="020B0604020202020204" pitchFamily="34" charset="0"/>
                        <a:ea typeface="Aptos" panose="020B0004020202020204" pitchFamily="34" charset="0"/>
                        <a:cs typeface="Arial" panose="020B0604020202020204" pitchFamily="34" charset="0"/>
                      </a:endParaRPr>
                    </a:p>
                  </a:txBody>
                  <a:tcPr marL="36265" marR="36265" marT="0" marB="0"/>
                </a:tc>
                <a:extLst>
                  <a:ext uri="{0D108BD9-81ED-4DB2-BD59-A6C34878D82A}">
                    <a16:rowId xmlns:a16="http://schemas.microsoft.com/office/drawing/2014/main" val="2393134005"/>
                  </a:ext>
                </a:extLst>
              </a:tr>
              <a:tr h="1715744">
                <a:tc>
                  <a:txBody>
                    <a:bodyPr/>
                    <a:lstStyle/>
                    <a:p>
                      <a:pPr marL="71755" marR="71755">
                        <a:lnSpc>
                          <a:spcPct val="115000"/>
                        </a:lnSpc>
                        <a:spcAft>
                          <a:spcPts val="800"/>
                        </a:spcAft>
                      </a:pPr>
                      <a:r>
                        <a:rPr lang="it-CH" sz="1800" kern="100" dirty="0">
                          <a:effectLst/>
                          <a:latin typeface="Arial" panose="020B0604020202020204" pitchFamily="34" charset="0"/>
                          <a:cs typeface="Arial" panose="020B0604020202020204" pitchFamily="34" charset="0"/>
                        </a:rPr>
                        <a:t>Mercato del lavoro</a:t>
                      </a:r>
                      <a:endParaRPr lang="it-CH" sz="1800" kern="100" dirty="0">
                        <a:effectLst/>
                        <a:latin typeface="Arial" panose="020B0604020202020204" pitchFamily="34" charset="0"/>
                        <a:ea typeface="Aptos" panose="020B0004020202020204" pitchFamily="34" charset="0"/>
                        <a:cs typeface="Arial" panose="020B0604020202020204" pitchFamily="34" charset="0"/>
                      </a:endParaRPr>
                    </a:p>
                  </a:txBody>
                  <a:tcPr marL="36265" marR="36265" marT="0" marB="0" vert="vert270"/>
                </a:tc>
                <a:tc>
                  <a:txBody>
                    <a:bodyPr/>
                    <a:lstStyle/>
                    <a:p>
                      <a:pPr marL="342900" lvl="0" indent="-342900">
                        <a:lnSpc>
                          <a:spcPct val="115000"/>
                        </a:lnSpc>
                        <a:buFont typeface="Symbol" panose="05050102010706020507" pitchFamily="18" charset="2"/>
                        <a:buChar char=""/>
                      </a:pPr>
                      <a:r>
                        <a:rPr lang="it-CH" sz="1600" kern="100">
                          <a:effectLst/>
                          <a:latin typeface="Arial" panose="020B0604020202020204" pitchFamily="34" charset="0"/>
                          <a:cs typeface="Arial" panose="020B0604020202020204" pitchFamily="34" charset="0"/>
                        </a:rPr>
                        <a:t>Contratti standard piena occupazione (uomini bianchi)</a:t>
                      </a:r>
                    </a:p>
                    <a:p>
                      <a:pPr marL="342900" lvl="0" indent="-342900">
                        <a:lnSpc>
                          <a:spcPct val="115000"/>
                        </a:lnSpc>
                        <a:buFont typeface="Symbol" panose="05050102010706020507" pitchFamily="18" charset="2"/>
                        <a:buChar char=""/>
                      </a:pPr>
                      <a:r>
                        <a:rPr lang="it-CH" sz="1600" kern="100">
                          <a:effectLst/>
                          <a:latin typeface="Arial" panose="020B0604020202020204" pitchFamily="34" charset="0"/>
                          <a:cs typeface="Arial" panose="020B0604020202020204" pitchFamily="34" charset="0"/>
                        </a:rPr>
                        <a:t>Casalighizzazione lavoro domestico</a:t>
                      </a:r>
                    </a:p>
                    <a:p>
                      <a:pPr marL="342900" lvl="0" indent="-342900">
                        <a:lnSpc>
                          <a:spcPct val="115000"/>
                        </a:lnSpc>
                        <a:buFont typeface="Symbol" panose="05050102010706020507" pitchFamily="18" charset="2"/>
                        <a:buChar char=""/>
                      </a:pPr>
                      <a:r>
                        <a:rPr lang="it-CH" sz="1600" kern="100">
                          <a:effectLst/>
                          <a:latin typeface="Arial" panose="020B0604020202020204" pitchFamily="34" charset="0"/>
                          <a:cs typeface="Arial" panose="020B0604020202020204" pitchFamily="34" charset="0"/>
                        </a:rPr>
                        <a:t>Sicurezza sociale associata al lavoro</a:t>
                      </a:r>
                      <a:endParaRPr lang="it-CH" sz="1600" kern="100">
                        <a:effectLst/>
                        <a:latin typeface="Arial" panose="020B0604020202020204" pitchFamily="34" charset="0"/>
                        <a:ea typeface="Aptos" panose="020B0004020202020204" pitchFamily="34" charset="0"/>
                        <a:cs typeface="Arial" panose="020B0604020202020204" pitchFamily="34" charset="0"/>
                      </a:endParaRPr>
                    </a:p>
                  </a:txBody>
                  <a:tcPr marL="36265" marR="36265" marT="0" marB="0"/>
                </a:tc>
                <a:tc>
                  <a:txBody>
                    <a:bodyPr/>
                    <a:lstStyle/>
                    <a:p>
                      <a:pPr marL="342900" lvl="0" indent="-342900">
                        <a:lnSpc>
                          <a:spcPct val="115000"/>
                        </a:lnSpc>
                        <a:buFont typeface="Symbol" panose="05050102010706020507" pitchFamily="18" charset="2"/>
                        <a:buChar char=""/>
                      </a:pPr>
                      <a:r>
                        <a:rPr lang="it-CH" sz="1600" kern="100" dirty="0">
                          <a:effectLst/>
                          <a:latin typeface="Arial" panose="020B0604020202020204" pitchFamily="34" charset="0"/>
                          <a:cs typeface="Arial" panose="020B0604020202020204" pitchFamily="34" charset="0"/>
                        </a:rPr>
                        <a:t>Contratti non standard, segmentazione del mercato del lavoro, femminilizzazione dell’impiego</a:t>
                      </a:r>
                    </a:p>
                    <a:p>
                      <a:pPr marL="342900" lvl="0" indent="-342900">
                        <a:lnSpc>
                          <a:spcPct val="115000"/>
                        </a:lnSpc>
                        <a:spcAft>
                          <a:spcPts val="800"/>
                        </a:spcAft>
                        <a:buFont typeface="Symbol" panose="05050102010706020507" pitchFamily="18" charset="2"/>
                        <a:buChar char=""/>
                      </a:pPr>
                      <a:r>
                        <a:rPr lang="it-CH" sz="1600" kern="100" dirty="0">
                          <a:effectLst/>
                          <a:latin typeface="Arial" panose="020B0604020202020204" pitchFamily="34" charset="0"/>
                          <a:cs typeface="Arial" panose="020B0604020202020204" pitchFamily="34" charset="0"/>
                        </a:rPr>
                        <a:t>Riduzione della protezione sociale associata al lavoro, esternalizzazione del lavoro di riproduzione sociale</a:t>
                      </a:r>
                      <a:endParaRPr lang="it-CH" sz="1600" kern="100" dirty="0">
                        <a:effectLst/>
                        <a:latin typeface="Arial" panose="020B0604020202020204" pitchFamily="34" charset="0"/>
                        <a:ea typeface="Aptos" panose="020B0004020202020204" pitchFamily="34" charset="0"/>
                        <a:cs typeface="Arial" panose="020B0604020202020204" pitchFamily="34" charset="0"/>
                      </a:endParaRPr>
                    </a:p>
                  </a:txBody>
                  <a:tcPr marL="36265" marR="36265" marT="0" marB="0"/>
                </a:tc>
                <a:extLst>
                  <a:ext uri="{0D108BD9-81ED-4DB2-BD59-A6C34878D82A}">
                    <a16:rowId xmlns:a16="http://schemas.microsoft.com/office/drawing/2014/main" val="3850506047"/>
                  </a:ext>
                </a:extLst>
              </a:tr>
            </a:tbl>
          </a:graphicData>
        </a:graphic>
      </p:graphicFrame>
    </p:spTree>
    <p:extLst>
      <p:ext uri="{BB962C8B-B14F-4D97-AF65-F5344CB8AC3E}">
        <p14:creationId xmlns:p14="http://schemas.microsoft.com/office/powerpoint/2010/main" val="3425807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5038" y="188500"/>
            <a:ext cx="339788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a:cs typeface="Arial"/>
              </a:rPr>
              <a:t>DEASS</a:t>
            </a:r>
            <a:r>
              <a:rPr sz="1300" spc="50" dirty="0">
                <a:latin typeface="Arial"/>
                <a:cs typeface="Arial"/>
              </a:rPr>
              <a:t> </a:t>
            </a:r>
            <a:r>
              <a:rPr sz="1300" dirty="0">
                <a:latin typeface="Arial"/>
                <a:cs typeface="Arial"/>
              </a:rPr>
              <a:t>/</a:t>
            </a:r>
            <a:r>
              <a:rPr sz="1300" spc="10" dirty="0">
                <a:latin typeface="Arial"/>
                <a:cs typeface="Arial"/>
              </a:rPr>
              <a:t> </a:t>
            </a:r>
            <a:r>
              <a:rPr sz="1300" dirty="0">
                <a:latin typeface="Arial"/>
                <a:cs typeface="Arial"/>
              </a:rPr>
              <a:t>Titolo</a:t>
            </a:r>
            <a:r>
              <a:rPr sz="1300" spc="15" dirty="0">
                <a:latin typeface="Arial"/>
                <a:cs typeface="Arial"/>
              </a:rPr>
              <a:t> </a:t>
            </a:r>
            <a:r>
              <a:rPr sz="1300" dirty="0">
                <a:latin typeface="Arial"/>
                <a:cs typeface="Arial"/>
              </a:rPr>
              <a:t>principale della</a:t>
            </a:r>
            <a:r>
              <a:rPr sz="1300" spc="40" dirty="0">
                <a:latin typeface="Arial"/>
                <a:cs typeface="Arial"/>
              </a:rPr>
              <a:t> </a:t>
            </a:r>
            <a:r>
              <a:rPr sz="1300" spc="-10" dirty="0">
                <a:latin typeface="Arial"/>
                <a:cs typeface="Arial"/>
              </a:rPr>
              <a:t>presentazione</a:t>
            </a:r>
            <a:endParaRPr sz="1300">
              <a:latin typeface="Arial"/>
              <a:cs typeface="Arial"/>
            </a:endParaRPr>
          </a:p>
        </p:txBody>
      </p:sp>
      <p:pic>
        <p:nvPicPr>
          <p:cNvPr id="3" name="object 3"/>
          <p:cNvPicPr/>
          <p:nvPr/>
        </p:nvPicPr>
        <p:blipFill>
          <a:blip r:embed="rId2" cstate="print"/>
          <a:stretch>
            <a:fillRect/>
          </a:stretch>
        </p:blipFill>
        <p:spPr>
          <a:xfrm>
            <a:off x="684276" y="225552"/>
            <a:ext cx="527304" cy="156972"/>
          </a:xfrm>
          <a:prstGeom prst="rect">
            <a:avLst/>
          </a:prstGeom>
        </p:spPr>
      </p:pic>
      <p:sp>
        <p:nvSpPr>
          <p:cNvPr id="4" name="object 4"/>
          <p:cNvSpPr txBox="1">
            <a:spLocks noGrp="1"/>
          </p:cNvSpPr>
          <p:nvPr>
            <p:ph type="title"/>
          </p:nvPr>
        </p:nvSpPr>
        <p:spPr>
          <a:prstGeom prst="rect">
            <a:avLst/>
          </a:prstGeom>
        </p:spPr>
        <p:txBody>
          <a:bodyPr vert="horz" wrap="square" lIns="0" tIns="201733" rIns="0" bIns="0" rtlCol="0">
            <a:spAutoFit/>
          </a:bodyPr>
          <a:lstStyle/>
          <a:p>
            <a:pPr marL="12700">
              <a:lnSpc>
                <a:spcPct val="100000"/>
              </a:lnSpc>
              <a:spcBef>
                <a:spcPts val="90"/>
              </a:spcBef>
            </a:pPr>
            <a:r>
              <a:rPr sz="5300" dirty="0">
                <a:solidFill>
                  <a:srgbClr val="FFFFFF"/>
                </a:solidFill>
              </a:rPr>
              <a:t>La</a:t>
            </a:r>
            <a:r>
              <a:rPr sz="5300" spc="-65" dirty="0">
                <a:solidFill>
                  <a:srgbClr val="FFFFFF"/>
                </a:solidFill>
              </a:rPr>
              <a:t> </a:t>
            </a:r>
            <a:r>
              <a:rPr sz="5300" dirty="0">
                <a:solidFill>
                  <a:srgbClr val="FFFFFF"/>
                </a:solidFill>
              </a:rPr>
              <a:t>storia</a:t>
            </a:r>
            <a:r>
              <a:rPr sz="5300" spc="-110" dirty="0">
                <a:solidFill>
                  <a:srgbClr val="FFFFFF"/>
                </a:solidFill>
              </a:rPr>
              <a:t> </a:t>
            </a:r>
            <a:r>
              <a:rPr sz="5300" spc="-10" dirty="0">
                <a:solidFill>
                  <a:srgbClr val="FFFFFF"/>
                </a:solidFill>
              </a:rPr>
              <a:t>continua…</a:t>
            </a:r>
            <a:endParaRPr sz="5300"/>
          </a:p>
        </p:txBody>
      </p:sp>
      <p:sp>
        <p:nvSpPr>
          <p:cNvPr id="5" name="object 5"/>
          <p:cNvSpPr txBox="1"/>
          <p:nvPr/>
        </p:nvSpPr>
        <p:spPr>
          <a:xfrm>
            <a:off x="9830841" y="193002"/>
            <a:ext cx="211454" cy="226695"/>
          </a:xfrm>
          <a:prstGeom prst="rect">
            <a:avLst/>
          </a:prstGeom>
        </p:spPr>
        <p:txBody>
          <a:bodyPr vert="horz" wrap="square" lIns="0" tIns="15240" rIns="0" bIns="0" rtlCol="0">
            <a:spAutoFit/>
          </a:bodyPr>
          <a:lstStyle/>
          <a:p>
            <a:pPr marL="12700">
              <a:lnSpc>
                <a:spcPct val="100000"/>
              </a:lnSpc>
              <a:spcBef>
                <a:spcPts val="120"/>
              </a:spcBef>
            </a:pPr>
            <a:r>
              <a:rPr sz="1300" spc="-25" dirty="0">
                <a:latin typeface="Arial"/>
                <a:cs typeface="Arial"/>
              </a:rPr>
              <a:t>20</a:t>
            </a:r>
            <a:endParaRPr sz="130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5038" y="188500"/>
            <a:ext cx="339788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a:cs typeface="Arial"/>
              </a:rPr>
              <a:t>DEASS</a:t>
            </a:r>
            <a:r>
              <a:rPr sz="1300" spc="50" dirty="0">
                <a:latin typeface="Arial"/>
                <a:cs typeface="Arial"/>
              </a:rPr>
              <a:t> </a:t>
            </a:r>
            <a:r>
              <a:rPr sz="1300" dirty="0">
                <a:latin typeface="Arial"/>
                <a:cs typeface="Arial"/>
              </a:rPr>
              <a:t>/</a:t>
            </a:r>
            <a:r>
              <a:rPr sz="1300" spc="10" dirty="0">
                <a:latin typeface="Arial"/>
                <a:cs typeface="Arial"/>
              </a:rPr>
              <a:t> </a:t>
            </a:r>
            <a:r>
              <a:rPr sz="1300" dirty="0">
                <a:latin typeface="Arial"/>
                <a:cs typeface="Arial"/>
              </a:rPr>
              <a:t>Titolo</a:t>
            </a:r>
            <a:r>
              <a:rPr sz="1300" spc="15" dirty="0">
                <a:latin typeface="Arial"/>
                <a:cs typeface="Arial"/>
              </a:rPr>
              <a:t> </a:t>
            </a:r>
            <a:r>
              <a:rPr sz="1300" dirty="0">
                <a:latin typeface="Arial"/>
                <a:cs typeface="Arial"/>
              </a:rPr>
              <a:t>principale della</a:t>
            </a:r>
            <a:r>
              <a:rPr sz="1300" spc="40" dirty="0">
                <a:latin typeface="Arial"/>
                <a:cs typeface="Arial"/>
              </a:rPr>
              <a:t> </a:t>
            </a:r>
            <a:r>
              <a:rPr sz="1300" spc="-10" dirty="0">
                <a:latin typeface="Arial"/>
                <a:cs typeface="Arial"/>
              </a:rPr>
              <a:t>presentazione</a:t>
            </a:r>
            <a:endParaRPr sz="1300">
              <a:latin typeface="Arial"/>
              <a:cs typeface="Arial"/>
            </a:endParaRPr>
          </a:p>
        </p:txBody>
      </p:sp>
      <p:pic>
        <p:nvPicPr>
          <p:cNvPr id="3" name="object 3"/>
          <p:cNvPicPr/>
          <p:nvPr/>
        </p:nvPicPr>
        <p:blipFill>
          <a:blip r:embed="rId2" cstate="print"/>
          <a:stretch>
            <a:fillRect/>
          </a:stretch>
        </p:blipFill>
        <p:spPr>
          <a:xfrm>
            <a:off x="684276" y="225552"/>
            <a:ext cx="527304" cy="156972"/>
          </a:xfrm>
          <a:prstGeom prst="rect">
            <a:avLst/>
          </a:prstGeom>
        </p:spPr>
      </p:pic>
      <p:sp>
        <p:nvSpPr>
          <p:cNvPr id="4" name="object 4"/>
          <p:cNvSpPr txBox="1"/>
          <p:nvPr/>
        </p:nvSpPr>
        <p:spPr>
          <a:xfrm>
            <a:off x="684276" y="2230700"/>
            <a:ext cx="8428990" cy="429895"/>
          </a:xfrm>
          <a:prstGeom prst="rect">
            <a:avLst/>
          </a:prstGeom>
        </p:spPr>
        <p:txBody>
          <a:bodyPr vert="horz" wrap="square" lIns="0" tIns="12700" rIns="0" bIns="0" rtlCol="0">
            <a:spAutoFit/>
          </a:bodyPr>
          <a:lstStyle/>
          <a:p>
            <a:pPr marL="12700">
              <a:lnSpc>
                <a:spcPct val="100000"/>
              </a:lnSpc>
              <a:spcBef>
                <a:spcPts val="100"/>
              </a:spcBef>
            </a:pPr>
            <a:r>
              <a:rPr sz="2650" dirty="0">
                <a:solidFill>
                  <a:srgbClr val="2838C8"/>
                </a:solidFill>
                <a:latin typeface="Times New Roman"/>
                <a:cs typeface="Times New Roman"/>
              </a:rPr>
              <a:t>Ultima</a:t>
            </a:r>
            <a:r>
              <a:rPr sz="2650" spc="-50" dirty="0">
                <a:solidFill>
                  <a:srgbClr val="2838C8"/>
                </a:solidFill>
                <a:latin typeface="Times New Roman"/>
                <a:cs typeface="Times New Roman"/>
              </a:rPr>
              <a:t> </a:t>
            </a:r>
            <a:r>
              <a:rPr sz="2650" dirty="0">
                <a:solidFill>
                  <a:srgbClr val="2838C8"/>
                </a:solidFill>
                <a:latin typeface="Times New Roman"/>
                <a:cs typeface="Times New Roman"/>
              </a:rPr>
              <a:t>tappa</a:t>
            </a:r>
            <a:r>
              <a:rPr sz="2650" spc="-50" dirty="0">
                <a:solidFill>
                  <a:srgbClr val="2838C8"/>
                </a:solidFill>
                <a:latin typeface="Times New Roman"/>
                <a:cs typeface="Times New Roman"/>
              </a:rPr>
              <a:t> </a:t>
            </a:r>
            <a:r>
              <a:rPr sz="2650" dirty="0">
                <a:solidFill>
                  <a:srgbClr val="2838C8"/>
                </a:solidFill>
                <a:latin typeface="Times New Roman"/>
                <a:cs typeface="Times New Roman"/>
              </a:rPr>
              <a:t>di</a:t>
            </a:r>
            <a:r>
              <a:rPr sz="2650" spc="-60" dirty="0">
                <a:solidFill>
                  <a:srgbClr val="2838C8"/>
                </a:solidFill>
                <a:latin typeface="Times New Roman"/>
                <a:cs typeface="Times New Roman"/>
              </a:rPr>
              <a:t> </a:t>
            </a:r>
            <a:r>
              <a:rPr sz="2650" dirty="0">
                <a:solidFill>
                  <a:srgbClr val="2838C8"/>
                </a:solidFill>
                <a:latin typeface="Times New Roman"/>
                <a:cs typeface="Times New Roman"/>
              </a:rPr>
              <a:t>questo</a:t>
            </a:r>
            <a:r>
              <a:rPr sz="2650" spc="-65" dirty="0">
                <a:solidFill>
                  <a:srgbClr val="2838C8"/>
                </a:solidFill>
                <a:latin typeface="Times New Roman"/>
                <a:cs typeface="Times New Roman"/>
              </a:rPr>
              <a:t> </a:t>
            </a:r>
            <a:r>
              <a:rPr sz="2650" dirty="0">
                <a:solidFill>
                  <a:srgbClr val="2838C8"/>
                </a:solidFill>
                <a:latin typeface="Times New Roman"/>
                <a:cs typeface="Times New Roman"/>
              </a:rPr>
              <a:t>movimento:</a:t>
            </a:r>
            <a:r>
              <a:rPr sz="2650" spc="-65" dirty="0">
                <a:solidFill>
                  <a:srgbClr val="2838C8"/>
                </a:solidFill>
                <a:latin typeface="Times New Roman"/>
                <a:cs typeface="Times New Roman"/>
              </a:rPr>
              <a:t> </a:t>
            </a:r>
            <a:r>
              <a:rPr sz="2650" dirty="0">
                <a:solidFill>
                  <a:srgbClr val="2838C8"/>
                </a:solidFill>
                <a:latin typeface="Times New Roman"/>
                <a:cs typeface="Times New Roman"/>
              </a:rPr>
              <a:t>digitalizzazione</a:t>
            </a:r>
            <a:r>
              <a:rPr sz="2650" spc="-45" dirty="0">
                <a:solidFill>
                  <a:srgbClr val="2838C8"/>
                </a:solidFill>
                <a:latin typeface="Times New Roman"/>
                <a:cs typeface="Times New Roman"/>
              </a:rPr>
              <a:t> </a:t>
            </a:r>
            <a:r>
              <a:rPr sz="2650" dirty="0">
                <a:solidFill>
                  <a:srgbClr val="2838C8"/>
                </a:solidFill>
                <a:latin typeface="Times New Roman"/>
                <a:cs typeface="Times New Roman"/>
              </a:rPr>
              <a:t>del</a:t>
            </a:r>
            <a:r>
              <a:rPr sz="2650" spc="-85" dirty="0">
                <a:solidFill>
                  <a:srgbClr val="2838C8"/>
                </a:solidFill>
                <a:latin typeface="Times New Roman"/>
                <a:cs typeface="Times New Roman"/>
              </a:rPr>
              <a:t> </a:t>
            </a:r>
            <a:r>
              <a:rPr sz="2650" spc="-10" dirty="0">
                <a:solidFill>
                  <a:srgbClr val="2838C8"/>
                </a:solidFill>
                <a:latin typeface="Times New Roman"/>
                <a:cs typeface="Times New Roman"/>
              </a:rPr>
              <a:t>lavoro</a:t>
            </a:r>
            <a:endParaRPr sz="2650" dirty="0">
              <a:latin typeface="Times New Roman"/>
              <a:cs typeface="Times New Roman"/>
            </a:endParaRPr>
          </a:p>
        </p:txBody>
      </p:sp>
      <p:pic>
        <p:nvPicPr>
          <p:cNvPr id="7" name="Immagine 6">
            <a:extLst>
              <a:ext uri="{FF2B5EF4-FFF2-40B4-BE49-F238E27FC236}">
                <a16:creationId xmlns:a16="http://schemas.microsoft.com/office/drawing/2014/main" id="{0C0FE19D-C263-865C-5877-D903E06CE894}"/>
              </a:ext>
            </a:extLst>
          </p:cNvPr>
          <p:cNvPicPr>
            <a:picLocks noChangeAspect="1"/>
          </p:cNvPicPr>
          <p:nvPr/>
        </p:nvPicPr>
        <p:blipFill>
          <a:blip r:embed="rId3"/>
          <a:stretch>
            <a:fillRect/>
          </a:stretch>
        </p:blipFill>
        <p:spPr>
          <a:xfrm>
            <a:off x="2679700" y="3019425"/>
            <a:ext cx="4238624" cy="423862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04793" rIns="0" bIns="0" rtlCol="0">
            <a:spAutoFit/>
          </a:bodyPr>
          <a:lstStyle/>
          <a:p>
            <a:pPr marL="12700">
              <a:lnSpc>
                <a:spcPct val="100000"/>
              </a:lnSpc>
              <a:spcBef>
                <a:spcPts val="100"/>
              </a:spcBef>
            </a:pPr>
            <a:r>
              <a:rPr dirty="0"/>
              <a:t>Per</a:t>
            </a:r>
            <a:r>
              <a:rPr spc="-40" dirty="0"/>
              <a:t> </a:t>
            </a:r>
            <a:r>
              <a:rPr spc="-10" dirty="0"/>
              <a:t>approfondire</a:t>
            </a:r>
          </a:p>
        </p:txBody>
      </p:sp>
      <p:sp>
        <p:nvSpPr>
          <p:cNvPr id="3" name="object 3"/>
          <p:cNvSpPr txBox="1">
            <a:spLocks noGrp="1"/>
          </p:cNvSpPr>
          <p:nvPr>
            <p:ph type="body" idx="1"/>
          </p:nvPr>
        </p:nvSpPr>
        <p:spPr>
          <a:xfrm>
            <a:off x="645400" y="2009651"/>
            <a:ext cx="9806700" cy="4905958"/>
          </a:xfrm>
          <a:prstGeom prst="rect">
            <a:avLst/>
          </a:prstGeom>
        </p:spPr>
        <p:txBody>
          <a:bodyPr vert="horz" wrap="square" lIns="0" tIns="10160" rIns="0" bIns="0" rtlCol="0">
            <a:spAutoFit/>
          </a:bodyPr>
          <a:lstStyle/>
          <a:p>
            <a:pPr marL="15875" marR="5080">
              <a:lnSpc>
                <a:spcPct val="150000"/>
              </a:lnSpc>
            </a:pPr>
            <a:r>
              <a:rPr lang="it-CH" dirty="0"/>
              <a:t>Cavalca, G. Mingione, E. Pugliese, E. (2024). Il lavoro, dalla rivoluzione industriale alla transizione digitale. Carocci</a:t>
            </a:r>
          </a:p>
          <a:p>
            <a:pPr marL="15875" marR="5080">
              <a:lnSpc>
                <a:spcPct val="150000"/>
              </a:lnSpc>
            </a:pPr>
            <a:r>
              <a:rPr dirty="0"/>
              <a:t>Basso,</a:t>
            </a:r>
            <a:r>
              <a:rPr spc="60" dirty="0"/>
              <a:t> </a:t>
            </a:r>
            <a:r>
              <a:rPr dirty="0"/>
              <a:t>P.</a:t>
            </a:r>
            <a:r>
              <a:rPr spc="60" dirty="0"/>
              <a:t> </a:t>
            </a:r>
            <a:r>
              <a:rPr dirty="0"/>
              <a:t>Chiaretti,</a:t>
            </a:r>
            <a:r>
              <a:rPr spc="60" dirty="0"/>
              <a:t> </a:t>
            </a:r>
            <a:r>
              <a:rPr dirty="0"/>
              <a:t>G.</a:t>
            </a:r>
            <a:r>
              <a:rPr spc="60" dirty="0"/>
              <a:t> </a:t>
            </a:r>
            <a:r>
              <a:rPr dirty="0"/>
              <a:t>(2018).</a:t>
            </a:r>
            <a:r>
              <a:rPr spc="40" dirty="0"/>
              <a:t> </a:t>
            </a:r>
            <a:r>
              <a:rPr dirty="0"/>
              <a:t>Le</a:t>
            </a:r>
            <a:r>
              <a:rPr spc="70" dirty="0"/>
              <a:t> </a:t>
            </a:r>
            <a:r>
              <a:rPr dirty="0"/>
              <a:t>grandi</a:t>
            </a:r>
            <a:r>
              <a:rPr spc="50" dirty="0"/>
              <a:t> </a:t>
            </a:r>
            <a:r>
              <a:rPr dirty="0"/>
              <a:t>questioni</a:t>
            </a:r>
            <a:r>
              <a:rPr spc="50" dirty="0"/>
              <a:t> </a:t>
            </a:r>
            <a:r>
              <a:rPr dirty="0"/>
              <a:t>sociali</a:t>
            </a:r>
            <a:r>
              <a:rPr spc="50" dirty="0"/>
              <a:t> </a:t>
            </a:r>
            <a:r>
              <a:rPr dirty="0"/>
              <a:t>del</a:t>
            </a:r>
            <a:r>
              <a:rPr spc="50" dirty="0"/>
              <a:t> </a:t>
            </a:r>
            <a:r>
              <a:rPr dirty="0"/>
              <a:t>nostro</a:t>
            </a:r>
            <a:r>
              <a:rPr spc="65" dirty="0"/>
              <a:t> </a:t>
            </a:r>
            <a:r>
              <a:rPr dirty="0"/>
              <a:t>tempo.</a:t>
            </a:r>
            <a:r>
              <a:rPr spc="60" dirty="0"/>
              <a:t> </a:t>
            </a:r>
            <a:r>
              <a:rPr dirty="0"/>
              <a:t>A</a:t>
            </a:r>
            <a:r>
              <a:rPr spc="65" dirty="0"/>
              <a:t> </a:t>
            </a:r>
            <a:r>
              <a:rPr spc="-10" dirty="0"/>
              <a:t>partire </a:t>
            </a:r>
            <a:r>
              <a:rPr dirty="0"/>
              <a:t>da</a:t>
            </a:r>
            <a:r>
              <a:rPr spc="45" dirty="0"/>
              <a:t> </a:t>
            </a:r>
            <a:r>
              <a:rPr dirty="0"/>
              <a:t>Luciano</a:t>
            </a:r>
            <a:r>
              <a:rPr spc="50" dirty="0"/>
              <a:t> </a:t>
            </a:r>
            <a:r>
              <a:rPr dirty="0"/>
              <a:t>Gallino.</a:t>
            </a:r>
            <a:r>
              <a:rPr spc="65" dirty="0"/>
              <a:t> </a:t>
            </a:r>
            <a:r>
              <a:rPr dirty="0"/>
              <a:t>Edizioni</a:t>
            </a:r>
            <a:r>
              <a:rPr spc="55" dirty="0"/>
              <a:t> </a:t>
            </a:r>
            <a:r>
              <a:rPr dirty="0" err="1"/>
              <a:t>Cà</a:t>
            </a:r>
            <a:r>
              <a:rPr spc="70" dirty="0"/>
              <a:t> </a:t>
            </a:r>
            <a:r>
              <a:rPr spc="-10" dirty="0"/>
              <a:t>Foscari</a:t>
            </a:r>
            <a:endParaRPr lang="it-CH" spc="-10" dirty="0"/>
          </a:p>
          <a:p>
            <a:pPr marL="15875" marR="577850">
              <a:lnSpc>
                <a:spcPct val="150000"/>
              </a:lnSpc>
            </a:pPr>
            <a:r>
              <a:rPr dirty="0"/>
              <a:t>Castel,</a:t>
            </a:r>
            <a:r>
              <a:rPr spc="95" dirty="0"/>
              <a:t> </a:t>
            </a:r>
            <a:r>
              <a:rPr dirty="0"/>
              <a:t>R.</a:t>
            </a:r>
            <a:r>
              <a:rPr spc="100" dirty="0"/>
              <a:t> </a:t>
            </a:r>
            <a:r>
              <a:rPr dirty="0"/>
              <a:t>(2015).</a:t>
            </a:r>
            <a:r>
              <a:rPr spc="75" dirty="0"/>
              <a:t> </a:t>
            </a:r>
            <a:r>
              <a:rPr dirty="0"/>
              <a:t>Incertezze</a:t>
            </a:r>
            <a:r>
              <a:rPr spc="85" dirty="0"/>
              <a:t> </a:t>
            </a:r>
            <a:r>
              <a:rPr dirty="0"/>
              <a:t>crescenti.</a:t>
            </a:r>
            <a:r>
              <a:rPr spc="75" dirty="0"/>
              <a:t> </a:t>
            </a:r>
            <a:r>
              <a:rPr dirty="0"/>
              <a:t>Lavoro,</a:t>
            </a:r>
            <a:r>
              <a:rPr spc="100" dirty="0"/>
              <a:t> </a:t>
            </a:r>
            <a:r>
              <a:rPr dirty="0"/>
              <a:t>cittadinanza,</a:t>
            </a:r>
            <a:r>
              <a:rPr spc="75" dirty="0"/>
              <a:t> </a:t>
            </a:r>
            <a:r>
              <a:rPr dirty="0"/>
              <a:t>individuo,</a:t>
            </a:r>
            <a:r>
              <a:rPr spc="75" dirty="0"/>
              <a:t> </a:t>
            </a:r>
            <a:r>
              <a:rPr spc="-10" dirty="0"/>
              <a:t>Editrice Socialmente</a:t>
            </a:r>
          </a:p>
          <a:p>
            <a:pPr marL="15875" marR="703580">
              <a:lnSpc>
                <a:spcPct val="150000"/>
              </a:lnSpc>
            </a:pPr>
            <a:r>
              <a:rPr dirty="0" err="1"/>
              <a:t>Federici.S</a:t>
            </a:r>
            <a:r>
              <a:rPr dirty="0"/>
              <a:t>,</a:t>
            </a:r>
            <a:r>
              <a:rPr spc="35" dirty="0"/>
              <a:t> </a:t>
            </a:r>
            <a:r>
              <a:rPr dirty="0"/>
              <a:t>(2020)</a:t>
            </a:r>
            <a:r>
              <a:rPr spc="50" dirty="0"/>
              <a:t> </a:t>
            </a:r>
            <a:r>
              <a:rPr dirty="0"/>
              <a:t>Il</a:t>
            </a:r>
            <a:r>
              <a:rPr spc="50" dirty="0"/>
              <a:t> </a:t>
            </a:r>
            <a:r>
              <a:rPr dirty="0"/>
              <a:t>calibano</a:t>
            </a:r>
            <a:r>
              <a:rPr spc="45" dirty="0"/>
              <a:t> </a:t>
            </a:r>
            <a:r>
              <a:rPr dirty="0"/>
              <a:t>e</a:t>
            </a:r>
            <a:r>
              <a:rPr spc="45" dirty="0"/>
              <a:t> </a:t>
            </a:r>
            <a:r>
              <a:rPr dirty="0"/>
              <a:t>la</a:t>
            </a:r>
            <a:r>
              <a:rPr spc="45" dirty="0"/>
              <a:t> </a:t>
            </a:r>
            <a:r>
              <a:rPr dirty="0"/>
              <a:t>strega.</a:t>
            </a:r>
            <a:r>
              <a:rPr spc="60" dirty="0"/>
              <a:t> </a:t>
            </a:r>
            <a:r>
              <a:rPr dirty="0"/>
              <a:t>Le</a:t>
            </a:r>
            <a:r>
              <a:rPr spc="45" dirty="0"/>
              <a:t> </a:t>
            </a:r>
            <a:r>
              <a:rPr dirty="0"/>
              <a:t>donne,</a:t>
            </a:r>
            <a:r>
              <a:rPr spc="40" dirty="0"/>
              <a:t> </a:t>
            </a:r>
            <a:r>
              <a:rPr dirty="0"/>
              <a:t>il</a:t>
            </a:r>
            <a:r>
              <a:rPr spc="50" dirty="0"/>
              <a:t> </a:t>
            </a:r>
            <a:r>
              <a:rPr dirty="0"/>
              <a:t>corpo</a:t>
            </a:r>
            <a:r>
              <a:rPr spc="65" dirty="0"/>
              <a:t> </a:t>
            </a:r>
            <a:r>
              <a:rPr dirty="0"/>
              <a:t>e</a:t>
            </a:r>
            <a:r>
              <a:rPr spc="45" dirty="0"/>
              <a:t> </a:t>
            </a:r>
            <a:r>
              <a:rPr spc="-10" dirty="0"/>
              <a:t>l’accumulazione </a:t>
            </a:r>
            <a:r>
              <a:rPr dirty="0"/>
              <a:t>originaria.</a:t>
            </a:r>
            <a:r>
              <a:rPr spc="80" dirty="0"/>
              <a:t> </a:t>
            </a:r>
            <a:r>
              <a:rPr spc="-20" dirty="0"/>
              <a:t>Mimes</a:t>
            </a:r>
            <a:endParaRPr lang="it-CH" spc="-20" dirty="0"/>
          </a:p>
          <a:p>
            <a:pPr marL="15875" marR="200660">
              <a:lnSpc>
                <a:spcPct val="150000"/>
              </a:lnSpc>
            </a:pPr>
            <a:r>
              <a:rPr dirty="0" err="1"/>
              <a:t>Honneth</a:t>
            </a:r>
            <a:r>
              <a:rPr dirty="0"/>
              <a:t>.</a:t>
            </a:r>
            <a:r>
              <a:rPr spc="60" dirty="0"/>
              <a:t> </a:t>
            </a:r>
            <a:r>
              <a:rPr dirty="0"/>
              <a:t>A,</a:t>
            </a:r>
            <a:r>
              <a:rPr spc="65" dirty="0"/>
              <a:t> </a:t>
            </a:r>
            <a:r>
              <a:rPr dirty="0"/>
              <a:t>Sennet.</a:t>
            </a:r>
            <a:r>
              <a:rPr spc="40" dirty="0"/>
              <a:t> </a:t>
            </a:r>
            <a:r>
              <a:rPr dirty="0"/>
              <a:t>R,</a:t>
            </a:r>
            <a:r>
              <a:rPr spc="85" dirty="0"/>
              <a:t> </a:t>
            </a:r>
            <a:r>
              <a:rPr dirty="0"/>
              <a:t>Supiot,</a:t>
            </a:r>
            <a:r>
              <a:rPr spc="60" dirty="0"/>
              <a:t> </a:t>
            </a:r>
            <a:r>
              <a:rPr dirty="0"/>
              <a:t>A.</a:t>
            </a:r>
            <a:r>
              <a:rPr spc="65" dirty="0"/>
              <a:t> </a:t>
            </a:r>
            <a:r>
              <a:rPr dirty="0"/>
              <a:t>Perché</a:t>
            </a:r>
            <a:r>
              <a:rPr spc="70" dirty="0"/>
              <a:t> </a:t>
            </a:r>
            <a:r>
              <a:rPr dirty="0"/>
              <a:t>lavoro?</a:t>
            </a:r>
            <a:r>
              <a:rPr spc="65" dirty="0"/>
              <a:t> </a:t>
            </a:r>
            <a:r>
              <a:rPr dirty="0"/>
              <a:t>Narrative</a:t>
            </a:r>
            <a:r>
              <a:rPr spc="50" dirty="0"/>
              <a:t> </a:t>
            </a:r>
            <a:r>
              <a:rPr dirty="0"/>
              <a:t>e</a:t>
            </a:r>
            <a:r>
              <a:rPr spc="65" dirty="0"/>
              <a:t> </a:t>
            </a:r>
            <a:r>
              <a:rPr dirty="0"/>
              <a:t>diritti</a:t>
            </a:r>
            <a:r>
              <a:rPr spc="55" dirty="0"/>
              <a:t> </a:t>
            </a:r>
            <a:r>
              <a:rPr dirty="0"/>
              <a:t>per</a:t>
            </a:r>
            <a:r>
              <a:rPr spc="50" dirty="0"/>
              <a:t> </a:t>
            </a:r>
            <a:r>
              <a:rPr dirty="0"/>
              <a:t>lavoratori</a:t>
            </a:r>
            <a:r>
              <a:rPr spc="50" dirty="0"/>
              <a:t> </a:t>
            </a:r>
            <a:r>
              <a:rPr spc="-50" dirty="0"/>
              <a:t>e </a:t>
            </a:r>
            <a:r>
              <a:rPr dirty="0"/>
              <a:t>lavoratrici</a:t>
            </a:r>
            <a:r>
              <a:rPr spc="45" dirty="0"/>
              <a:t> </a:t>
            </a:r>
            <a:r>
              <a:rPr dirty="0"/>
              <a:t>del</a:t>
            </a:r>
            <a:r>
              <a:rPr spc="70" dirty="0"/>
              <a:t> </a:t>
            </a:r>
            <a:r>
              <a:rPr dirty="0"/>
              <a:t>XXI</a:t>
            </a:r>
            <a:r>
              <a:rPr spc="80" dirty="0"/>
              <a:t> </a:t>
            </a:r>
            <a:r>
              <a:rPr dirty="0"/>
              <a:t>secolo.</a:t>
            </a:r>
            <a:r>
              <a:rPr spc="35" dirty="0"/>
              <a:t> </a:t>
            </a:r>
            <a:r>
              <a:rPr spc="-10" dirty="0"/>
              <a:t>Feltrinelli</a:t>
            </a:r>
          </a:p>
          <a:p>
            <a:pPr marL="15875">
              <a:lnSpc>
                <a:spcPct val="150000"/>
              </a:lnSpc>
            </a:pPr>
            <a:r>
              <a:rPr dirty="0" err="1"/>
              <a:t>Gallino</a:t>
            </a:r>
            <a:r>
              <a:rPr dirty="0"/>
              <a:t>,</a:t>
            </a:r>
            <a:r>
              <a:rPr spc="55" dirty="0"/>
              <a:t> </a:t>
            </a:r>
            <a:r>
              <a:rPr dirty="0"/>
              <a:t>L.</a:t>
            </a:r>
            <a:r>
              <a:rPr spc="30" dirty="0"/>
              <a:t> </a:t>
            </a:r>
            <a:r>
              <a:rPr dirty="0"/>
              <a:t>(2009).</a:t>
            </a:r>
            <a:r>
              <a:rPr spc="55" dirty="0"/>
              <a:t> </a:t>
            </a:r>
            <a:r>
              <a:rPr dirty="0"/>
              <a:t>Il</a:t>
            </a:r>
            <a:r>
              <a:rPr spc="45" dirty="0"/>
              <a:t> </a:t>
            </a:r>
            <a:r>
              <a:rPr dirty="0"/>
              <a:t>lavoro</a:t>
            </a:r>
            <a:r>
              <a:rPr spc="40" dirty="0"/>
              <a:t> </a:t>
            </a:r>
            <a:r>
              <a:rPr dirty="0"/>
              <a:t>non</a:t>
            </a:r>
            <a:r>
              <a:rPr spc="60" dirty="0"/>
              <a:t> </a:t>
            </a:r>
            <a:r>
              <a:rPr dirty="0"/>
              <a:t>è</a:t>
            </a:r>
            <a:r>
              <a:rPr spc="40" dirty="0"/>
              <a:t> </a:t>
            </a:r>
            <a:r>
              <a:rPr dirty="0"/>
              <a:t>una</a:t>
            </a:r>
            <a:r>
              <a:rPr spc="60" dirty="0"/>
              <a:t> </a:t>
            </a:r>
            <a:r>
              <a:rPr dirty="0"/>
              <a:t>merce.</a:t>
            </a:r>
            <a:r>
              <a:rPr spc="55" dirty="0"/>
              <a:t> </a:t>
            </a:r>
            <a:r>
              <a:rPr spc="-10" dirty="0"/>
              <a:t>Laterza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CC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owerpoint_DEASS_1 copia">
  <a:themeElements>
    <a:clrScheme name="SUPSI 1">
      <a:dk1>
        <a:srgbClr val="000000"/>
      </a:dk1>
      <a:lt1>
        <a:sysClr val="window" lastClr="FFFFFF"/>
      </a:lt1>
      <a:dk2>
        <a:srgbClr val="141C64"/>
      </a:dk2>
      <a:lt2>
        <a:srgbClr val="FFFFFF"/>
      </a:lt2>
      <a:accent1>
        <a:srgbClr val="141C78"/>
      </a:accent1>
      <a:accent2>
        <a:srgbClr val="2838C8"/>
      </a:accent2>
      <a:accent3>
        <a:srgbClr val="0063C8"/>
      </a:accent3>
      <a:accent4>
        <a:srgbClr val="0096FF"/>
      </a:accent4>
      <a:accent5>
        <a:srgbClr val="46A01E"/>
      </a:accent5>
      <a:accent6>
        <a:srgbClr val="8CD23C"/>
      </a:accent6>
      <a:hlink>
        <a:srgbClr val="000000"/>
      </a:hlink>
      <a:folHlink>
        <a:srgbClr val="646464"/>
      </a:folHlink>
    </a:clrScheme>
    <a:fontScheme name="SUPSI_DSA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w="9525">
          <a:noFill/>
          <a:miter lim="800000"/>
          <a:headEnd/>
          <a:tailEnd/>
        </a:ln>
      </a:spPr>
      <a:bodyPr lIns="0" tIns="0" rIns="0" bIns="0">
        <a:prstTxWarp prst="textNoShape">
          <a:avLst/>
        </a:prstTxWarp>
      </a:bodyPr>
      <a:lstStyle>
        <a:defPPr eaLnBrk="0" hangingPunct="0">
          <a:spcBef>
            <a:spcPct val="20000"/>
          </a:spcBef>
          <a:defRPr sz="1400" kern="0" dirty="0" smtClean="0">
            <a:latin typeface="+mn-lt"/>
            <a:ea typeface="ＭＳ Ｐゴシック" pitchFamily="-112" charset="-128"/>
            <a:cs typeface="ＭＳ Ｐゴシック" pitchFamily="-112" charset="-128"/>
          </a:defRPr>
        </a:defPPr>
      </a:lstStyle>
    </a:txDef>
  </a:objectDefaults>
  <a:extraClrSchemeLst>
    <a:extraClrScheme>
      <a:clrScheme name="SUPSI_DSA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PSI_DSA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PSI_DSA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PSI_DSA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PSI_DSA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PSI_DSA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PSI_DSA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PSI_DSA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PSI_DSA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PSI_DSA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PSI_DSA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PSI_DSA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owerpoint_DEASS_1 [modalità compatibilità]" id="{B6E7AA00-6E6C-45F9-B3C9-891E4676802B}" vid="{B5BF2088-8072-4D56-88D7-C6AC9A61A814}"/>
    </a:ext>
  </a:extLst>
</a:theme>
</file>

<file path=docMetadata/LabelInfo.xml><?xml version="1.0" encoding="utf-8"?>
<clbl:labelList xmlns:clbl="http://schemas.microsoft.com/office/2020/mipLabelMetadata">
  <clbl:label id="{832538a4-939e-4f12-952e-e33cf9e5689d}" enabled="0" method="" siteId="{832538a4-939e-4f12-952e-e33cf9e5689d}" removed="1"/>
</clbl:labelList>
</file>

<file path=docProps/app.xml><?xml version="1.0" encoding="utf-8"?>
<Properties xmlns="http://schemas.openxmlformats.org/officeDocument/2006/extended-properties" xmlns:vt="http://schemas.openxmlformats.org/officeDocument/2006/docPropsVTypes">
  <Template/>
  <TotalTime>0</TotalTime>
  <Words>2156</Words>
  <Application>Microsoft Office PowerPoint</Application>
  <PresentationFormat>Personalizzato</PresentationFormat>
  <Paragraphs>275</Paragraphs>
  <Slides>34</Slides>
  <Notes>0</Notes>
  <HiddenSlides>0</HiddenSlides>
  <MMClips>0</MMClips>
  <ScaleCrop>false</ScaleCrop>
  <HeadingPairs>
    <vt:vector size="6" baseType="variant">
      <vt:variant>
        <vt:lpstr>Caratteri utilizzati</vt:lpstr>
      </vt:variant>
      <vt:variant>
        <vt:i4>8</vt:i4>
      </vt:variant>
      <vt:variant>
        <vt:lpstr>Tema</vt:lpstr>
      </vt:variant>
      <vt:variant>
        <vt:i4>2</vt:i4>
      </vt:variant>
      <vt:variant>
        <vt:lpstr>Titoli diapositive</vt:lpstr>
      </vt:variant>
      <vt:variant>
        <vt:i4>34</vt:i4>
      </vt:variant>
    </vt:vector>
  </HeadingPairs>
  <TitlesOfParts>
    <vt:vector size="44" baseType="lpstr">
      <vt:lpstr>Microsoft YaHei</vt:lpstr>
      <vt:lpstr>MS PGothic</vt:lpstr>
      <vt:lpstr>Arial</vt:lpstr>
      <vt:lpstr>Arial MT</vt:lpstr>
      <vt:lpstr>Calibri</vt:lpstr>
      <vt:lpstr>Symbol</vt:lpstr>
      <vt:lpstr>Times New Roman</vt:lpstr>
      <vt:lpstr>Wingdings</vt:lpstr>
      <vt:lpstr>Office Theme</vt:lpstr>
      <vt:lpstr>Powerpoint_DEASS_1 copia</vt:lpstr>
      <vt:lpstr>Il lavoro e le sue trasformazioni: una prospettiva storica 2</vt:lpstr>
      <vt:lpstr>Lavoro (“lavoro occupazionale”)</vt:lpstr>
      <vt:lpstr>L’organizzazione del lavoro in fabbrica</vt:lpstr>
      <vt:lpstr>Le quattro rivoluzioni industriali</vt:lpstr>
      <vt:lpstr>Presentazione standard di PowerPoint</vt:lpstr>
      <vt:lpstr>Nascita dei taylorismo</vt:lpstr>
      <vt:lpstr>I principi del taylorismo</vt:lpstr>
      <vt:lpstr>Il fordismo</vt:lpstr>
      <vt:lpstr>Antonio Gramsci (1891-1937)  Americanismo e fordismo, ne I Quaderni dal carcere</vt:lpstr>
      <vt:lpstr>Presentazione standard di PowerPoint</vt:lpstr>
      <vt:lpstr>Critiche e crisi del sistema taylorista-fordista</vt:lpstr>
      <vt:lpstr>Dai sociologi del lavoro</vt:lpstr>
      <vt:lpstr>Dai lavoratori e dalle lavoratrici</vt:lpstr>
      <vt:lpstr>Presentazione standard di PowerPoint</vt:lpstr>
      <vt:lpstr>Dal management</vt:lpstr>
      <vt:lpstr>Crisi del fordismo</vt:lpstr>
      <vt:lpstr>Modello giapponese, azienda di rete e flessibilizzazione</vt:lpstr>
      <vt:lpstr>Presentazione standard di PowerPoint</vt:lpstr>
      <vt:lpstr>Presentazione standard di PowerPoint</vt:lpstr>
      <vt:lpstr>La produzione snella (modello giapponese)</vt:lpstr>
      <vt:lpstr>Gestione delle risorse umane (human resource management) </vt:lpstr>
      <vt:lpstr>Presentazione standard di PowerPoint</vt:lpstr>
      <vt:lpstr>Principali elementi che hanno spinto verso la femminilizzazione del impiego</vt:lpstr>
      <vt:lpstr>Di cosa stiamo parlando?</vt:lpstr>
      <vt:lpstr>Aumenta la partecipazione delle donne al mercato del lavoro ma…</vt:lpstr>
      <vt:lpstr>Tasso di attività delle donne secondo l’età e la generazione</vt:lpstr>
      <vt:lpstr>Tasso di attività degli uomini secondo l’età e la generazione</vt:lpstr>
      <vt:lpstr>Segregazione orizzontale (occupazionale)</vt:lpstr>
      <vt:lpstr>Segregazione verticale</vt:lpstr>
      <vt:lpstr>Per riassumere…</vt:lpstr>
      <vt:lpstr>Sistema produttivo taylorista fordista e post-fordista a confronto</vt:lpstr>
      <vt:lpstr>La storia continua…</vt:lpstr>
      <vt:lpstr>Presentazione standard di PowerPoint</vt:lpstr>
      <vt:lpstr>Per approfondire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storia del lavoro 2024 parte prima</dc:title>
  <dc:creator>Angelica Lepori</dc:creator>
  <cp:lastModifiedBy>Lepori Angelica</cp:lastModifiedBy>
  <cp:revision>5</cp:revision>
  <dcterms:created xsi:type="dcterms:W3CDTF">2025-01-21T10:27:46Z</dcterms:created>
  <dcterms:modified xsi:type="dcterms:W3CDTF">2026-02-20T13:37:10Z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2024-02-18T00:00:00Z</vt:filetime>
  </property>
  <property fmtid="{D5CDD505-2E9C-101B-9397-08002B2CF9AE}" pid="3" name="LastSaved">
    <vt:filetime>2025-01-21T00:00:00Z</vt:filetime>
  </property>
  <property fmtid="{D5CDD505-2E9C-101B-9397-08002B2CF9AE}" pid="4" name="Producer">
    <vt:lpwstr>Microsoft: Print To PDF</vt:lpwstr>
  </property>
</Properties>
</file>