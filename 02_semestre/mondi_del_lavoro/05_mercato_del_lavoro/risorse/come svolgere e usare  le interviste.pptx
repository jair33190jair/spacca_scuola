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12"/>
  </p:notesMasterIdLst>
  <p:handoutMasterIdLst>
    <p:handoutMasterId r:id="rId13"/>
  </p:handoutMasterIdLst>
  <p:sldIdLst>
    <p:sldId id="300" r:id="rId2"/>
    <p:sldId id="302" r:id="rId3"/>
    <p:sldId id="299" r:id="rId4"/>
    <p:sldId id="304" r:id="rId5"/>
    <p:sldId id="305" r:id="rId6"/>
    <p:sldId id="306" r:id="rId7"/>
    <p:sldId id="307" r:id="rId8"/>
    <p:sldId id="308" r:id="rId9"/>
    <p:sldId id="309" r:id="rId10"/>
    <p:sldId id="310" r:id="rId11"/>
  </p:sldIdLst>
  <p:sldSz cx="9144000" cy="6858000" type="screen4x3"/>
  <p:notesSz cx="6797675" cy="9926638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431" autoAdjust="0"/>
  </p:normalViewPr>
  <p:slideViewPr>
    <p:cSldViewPr>
      <p:cViewPr varScale="1">
        <p:scale>
          <a:sx n="104" d="100"/>
          <a:sy n="104" d="100"/>
        </p:scale>
        <p:origin x="1860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680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pori Angelica" userId="55a5bc30-81af-4e93-b812-e5e14fd30480" providerId="ADAL" clId="{D2172EE2-CC9E-43EC-8C00-080A388CF3C0}"/>
    <pc:docChg chg="delSld">
      <pc:chgData name="Lepori Angelica" userId="55a5bc30-81af-4e93-b812-e5e14fd30480" providerId="ADAL" clId="{D2172EE2-CC9E-43EC-8C00-080A388CF3C0}" dt="2026-02-13T11:48:55.401" v="1" actId="2696"/>
      <pc:docMkLst>
        <pc:docMk/>
      </pc:docMkLst>
      <pc:sldChg chg="del">
        <pc:chgData name="Lepori Angelica" userId="55a5bc30-81af-4e93-b812-e5e14fd30480" providerId="ADAL" clId="{D2172EE2-CC9E-43EC-8C00-080A388CF3C0}" dt="2026-02-13T11:48:55.401" v="1" actId="2696"/>
        <pc:sldMkLst>
          <pc:docMk/>
          <pc:sldMk cId="1108168067" sldId="263"/>
        </pc:sldMkLst>
      </pc:sldChg>
      <pc:sldChg chg="del">
        <pc:chgData name="Lepori Angelica" userId="55a5bc30-81af-4e93-b812-e5e14fd30480" providerId="ADAL" clId="{D2172EE2-CC9E-43EC-8C00-080A388CF3C0}" dt="2026-02-13T11:48:55.401" v="1" actId="2696"/>
        <pc:sldMkLst>
          <pc:docMk/>
          <pc:sldMk cId="1650995112" sldId="297"/>
        </pc:sldMkLst>
      </pc:sldChg>
      <pc:sldChg chg="del">
        <pc:chgData name="Lepori Angelica" userId="55a5bc30-81af-4e93-b812-e5e14fd30480" providerId="ADAL" clId="{D2172EE2-CC9E-43EC-8C00-080A388CF3C0}" dt="2026-02-13T11:48:55.401" v="1" actId="2696"/>
        <pc:sldMkLst>
          <pc:docMk/>
          <pc:sldMk cId="2520853983" sldId="298"/>
        </pc:sldMkLst>
      </pc:sldChg>
      <pc:sldChg chg="del">
        <pc:chgData name="Lepori Angelica" userId="55a5bc30-81af-4e93-b812-e5e14fd30480" providerId="ADAL" clId="{D2172EE2-CC9E-43EC-8C00-080A388CF3C0}" dt="2026-02-13T11:48:55.401" v="1" actId="2696"/>
        <pc:sldMkLst>
          <pc:docMk/>
          <pc:sldMk cId="1997117261" sldId="311"/>
        </pc:sldMkLst>
      </pc:sldChg>
      <pc:sldChg chg="del">
        <pc:chgData name="Lepori Angelica" userId="55a5bc30-81af-4e93-b812-e5e14fd30480" providerId="ADAL" clId="{D2172EE2-CC9E-43EC-8C00-080A388CF3C0}" dt="2026-02-13T11:48:55.401" v="1" actId="2696"/>
        <pc:sldMkLst>
          <pc:docMk/>
          <pc:sldMk cId="1667381808" sldId="331"/>
        </pc:sldMkLst>
      </pc:sldChg>
      <pc:sldChg chg="del">
        <pc:chgData name="Lepori Angelica" userId="55a5bc30-81af-4e93-b812-e5e14fd30480" providerId="ADAL" clId="{D2172EE2-CC9E-43EC-8C00-080A388CF3C0}" dt="2026-02-13T11:48:55.401" v="1" actId="2696"/>
        <pc:sldMkLst>
          <pc:docMk/>
          <pc:sldMk cId="1412848689" sldId="332"/>
        </pc:sldMkLst>
      </pc:sldChg>
      <pc:sldChg chg="del">
        <pc:chgData name="Lepori Angelica" userId="55a5bc30-81af-4e93-b812-e5e14fd30480" providerId="ADAL" clId="{D2172EE2-CC9E-43EC-8C00-080A388CF3C0}" dt="2026-02-13T11:48:55.401" v="1" actId="2696"/>
        <pc:sldMkLst>
          <pc:docMk/>
          <pc:sldMk cId="3975085505" sldId="333"/>
        </pc:sldMkLst>
      </pc:sldChg>
      <pc:sldChg chg="del">
        <pc:chgData name="Lepori Angelica" userId="55a5bc30-81af-4e93-b812-e5e14fd30480" providerId="ADAL" clId="{D2172EE2-CC9E-43EC-8C00-080A388CF3C0}" dt="2026-02-13T11:48:55.401" v="1" actId="2696"/>
        <pc:sldMkLst>
          <pc:docMk/>
          <pc:sldMk cId="252825398" sldId="334"/>
        </pc:sldMkLst>
      </pc:sldChg>
      <pc:sldChg chg="del">
        <pc:chgData name="Lepori Angelica" userId="55a5bc30-81af-4e93-b812-e5e14fd30480" providerId="ADAL" clId="{D2172EE2-CC9E-43EC-8C00-080A388CF3C0}" dt="2026-02-13T11:48:55.401" v="1" actId="2696"/>
        <pc:sldMkLst>
          <pc:docMk/>
          <pc:sldMk cId="3381140273" sldId="335"/>
        </pc:sldMkLst>
      </pc:sldChg>
      <pc:sldChg chg="del">
        <pc:chgData name="Lepori Angelica" userId="55a5bc30-81af-4e93-b812-e5e14fd30480" providerId="ADAL" clId="{D2172EE2-CC9E-43EC-8C00-080A388CF3C0}" dt="2026-02-13T11:48:55.401" v="1" actId="2696"/>
        <pc:sldMkLst>
          <pc:docMk/>
          <pc:sldMk cId="4013161194" sldId="336"/>
        </pc:sldMkLst>
      </pc:sldChg>
      <pc:sldChg chg="del">
        <pc:chgData name="Lepori Angelica" userId="55a5bc30-81af-4e93-b812-e5e14fd30480" providerId="ADAL" clId="{D2172EE2-CC9E-43EC-8C00-080A388CF3C0}" dt="2026-02-13T11:48:37.960" v="0" actId="47"/>
        <pc:sldMkLst>
          <pc:docMk/>
          <pc:sldMk cId="589532171" sldId="337"/>
        </pc:sldMkLst>
      </pc:sldChg>
      <pc:sldMasterChg chg="delSldLayout">
        <pc:chgData name="Lepori Angelica" userId="55a5bc30-81af-4e93-b812-e5e14fd30480" providerId="ADAL" clId="{D2172EE2-CC9E-43EC-8C00-080A388CF3C0}" dt="2026-02-13T11:48:55.401" v="1" actId="2696"/>
        <pc:sldMasterMkLst>
          <pc:docMk/>
          <pc:sldMasterMk cId="0" sldId="2147483649"/>
        </pc:sldMasterMkLst>
        <pc:sldLayoutChg chg="del">
          <pc:chgData name="Lepori Angelica" userId="55a5bc30-81af-4e93-b812-e5e14fd30480" providerId="ADAL" clId="{D2172EE2-CC9E-43EC-8C00-080A388CF3C0}" dt="2026-02-13T11:48:55.401" v="1" actId="2696"/>
          <pc:sldLayoutMkLst>
            <pc:docMk/>
            <pc:sldMasterMk cId="0" sldId="2147483649"/>
            <pc:sldLayoutMk cId="356652101" sldId="214748418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129D914-0B39-4C17-9E2B-0F3BEAA2B758}" type="datetime1">
              <a:rPr lang="it-IT" altLang="it-CH"/>
              <a:pPr/>
              <a:t>13/02/2026</a:t>
            </a:fld>
            <a:endParaRPr lang="it-IT" altLang="it-CH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5385738-1E04-4B85-A1C6-26864BF6CDEE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22185399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Click to edit Master text styles</a:t>
            </a:r>
          </a:p>
          <a:p>
            <a:pPr lvl="1"/>
            <a:r>
              <a:rPr lang="it-IT" noProof="0"/>
              <a:t>Second level</a:t>
            </a:r>
          </a:p>
          <a:p>
            <a:pPr lvl="2"/>
            <a:r>
              <a:rPr lang="it-IT" noProof="0"/>
              <a:t>Third level</a:t>
            </a:r>
          </a:p>
          <a:p>
            <a:pPr lvl="3"/>
            <a:r>
              <a:rPr lang="it-IT" noProof="0"/>
              <a:t>Fourth level</a:t>
            </a:r>
          </a:p>
          <a:p>
            <a:pPr lvl="4"/>
            <a:r>
              <a:rPr lang="it-IT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FDBBFEC-49EA-4A44-A157-BBED27DC7A80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19458774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MS PGothic" panose="020B0600070205080204" pitchFamily="34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DBBFEC-49EA-4A44-A157-BBED27DC7A80}" type="slidenum">
              <a:rPr lang="it-IT" altLang="it-CH" smtClean="0"/>
              <a:pPr/>
              <a:t>1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2021623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egnaposto immagine diapositiva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1203" name="Segnaposto note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it-CH" dirty="0">
              <a:latin typeface="Arial" charset="0"/>
              <a:ea typeface="ＭＳ Ｐゴシック"/>
              <a:cs typeface="ＭＳ Ｐゴシック"/>
            </a:endParaRPr>
          </a:p>
        </p:txBody>
      </p:sp>
      <p:sp>
        <p:nvSpPr>
          <p:cNvPr id="51204" name="Segnaposto numero diapositiva 3"/>
          <p:cNvSpPr txBox="1">
            <a:spLocks noGrp="1"/>
          </p:cNvSpPr>
          <p:nvPr/>
        </p:nvSpPr>
        <p:spPr bwMode="auto">
          <a:xfrm>
            <a:off x="4023993" y="9721106"/>
            <a:ext cx="307842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798" tIns="47399" rIns="94798" bIns="47399" anchor="b"/>
          <a:lstStyle/>
          <a:p>
            <a:pPr algn="r" defTabSz="947979">
              <a:defRPr/>
            </a:pPr>
            <a:fld id="{0E60E3BE-2432-47FF-9952-767D69972F6E}" type="slidenum">
              <a:rPr lang="it-IT" sz="1200">
                <a:solidFill>
                  <a:srgbClr val="000000"/>
                </a:solidFill>
              </a:rPr>
              <a:pPr algn="r" defTabSz="947979">
                <a:defRPr/>
              </a:pPr>
              <a:t>2</a:t>
            </a:fld>
            <a:endParaRPr lang="it-IT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712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47979">
              <a:defRPr/>
            </a:pPr>
            <a:fld id="{5CA45901-156B-476E-90B0-FD4E33669E34}" type="slidenum">
              <a:rPr lang="it-IT">
                <a:solidFill>
                  <a:srgbClr val="000000"/>
                </a:solidFill>
              </a:rPr>
              <a:pPr defTabSz="947979">
                <a:defRPr/>
              </a:pPr>
              <a:t>4</a:t>
            </a:fld>
            <a:endParaRPr lang="it-IT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596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DBBFEC-49EA-4A44-A157-BBED27DC7A80}" type="slidenum">
              <a:rPr lang="it-IT" altLang="it-CH" smtClean="0"/>
              <a:pPr/>
              <a:t>7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2834051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/>
        </p:nvSpPr>
        <p:spPr>
          <a:xfrm>
            <a:off x="0" y="0"/>
            <a:ext cx="9144000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>
              <a:solidFill>
                <a:srgbClr val="FFFFFF"/>
              </a:solidFill>
            </a:endParaRPr>
          </a:p>
        </p:txBody>
      </p:sp>
      <p:pic>
        <p:nvPicPr>
          <p:cNvPr id="6" name="Immagine 9" descr="140925 DEASS_PowerPoint_Pagina_1.bm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" y="185738"/>
            <a:ext cx="65659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773238"/>
            <a:ext cx="8496300" cy="1584325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3850" y="3357563"/>
            <a:ext cx="8496300" cy="1900237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13" name="Segnaposto testo 12"/>
          <p:cNvSpPr>
            <a:spLocks noGrp="1"/>
          </p:cNvSpPr>
          <p:nvPr>
            <p:ph type="body" sz="quarter" idx="13"/>
          </p:nvPr>
        </p:nvSpPr>
        <p:spPr>
          <a:xfrm>
            <a:off x="326931" y="5371908"/>
            <a:ext cx="8497183" cy="952691"/>
          </a:xfrm>
        </p:spPr>
        <p:txBody>
          <a:bodyPr/>
          <a:lstStyle>
            <a:lvl1pPr algn="l">
              <a:buNone/>
              <a:defRPr sz="1800"/>
            </a:lvl1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4"/>
          </p:nvPr>
        </p:nvSpPr>
        <p:spPr>
          <a:xfrm>
            <a:off x="323850" y="6454775"/>
            <a:ext cx="2133600" cy="403225"/>
          </a:xfrm>
        </p:spPr>
        <p:txBody>
          <a:bodyPr/>
          <a:lstStyle>
            <a:lvl1pPr>
              <a:defRPr/>
            </a:lvl1pPr>
          </a:lstStyle>
          <a:p>
            <a:fld id="{492B2C80-6A95-4C40-87FA-B874B2A8153B}" type="datetime1">
              <a:rPr lang="it-IT" altLang="it-CH"/>
              <a:pPr/>
              <a:t>13/02/2026</a:t>
            </a:fld>
            <a:endParaRPr lang="it-IT" altLang="it-CH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5"/>
          </p:nvPr>
        </p:nvSpPr>
        <p:spPr>
          <a:xfrm>
            <a:off x="2484438" y="6454775"/>
            <a:ext cx="6335712" cy="4032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E616BFC5-CB45-4248-A8B9-5DDBADF2CA13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1979555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05E352-5877-41C0-AF8D-976409EC7F47}" type="datetime1">
              <a:rPr lang="it-IT" altLang="it-CH"/>
              <a:pPr/>
              <a:t>13/02/2026</a:t>
            </a:fld>
            <a:endParaRPr lang="it-IT" altLang="it-CH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3F5EF8-5760-46B8-83F8-3AD7AF70226D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207831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323850" y="1916113"/>
            <a:ext cx="417195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16113"/>
            <a:ext cx="4171950" cy="4321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8" name="Segnaposto data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B2070-B6EF-4CEB-96FF-867F799D513A}" type="datetime1">
              <a:rPr lang="it-IT" altLang="it-CH" smtClean="0"/>
              <a:pPr/>
              <a:t>13/02/2026</a:t>
            </a:fld>
            <a:endParaRPr lang="it-IT" altLang="it-CH"/>
          </a:p>
        </p:txBody>
      </p:sp>
      <p:sp>
        <p:nvSpPr>
          <p:cNvPr id="9" name="Segnaposto piè di pagina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0" name="Segnaposto numero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E9E2-1F74-434E-91AC-2CE158EBDC3E}" type="slidenum">
              <a:rPr lang="it-IT" altLang="it-CH" smtClean="0"/>
              <a:pPr/>
              <a:t>‹N›</a:t>
            </a:fld>
            <a:endParaRPr lang="it-IT" altLang="it-CH"/>
          </a:p>
        </p:txBody>
      </p:sp>
      <p:sp>
        <p:nvSpPr>
          <p:cNvPr id="11" name="Tito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620890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04800" y="1126800"/>
            <a:ext cx="8534400" cy="579438"/>
          </a:xfrm>
        </p:spPr>
        <p:txBody>
          <a:bodyPr/>
          <a:lstStyle>
            <a:lvl1pPr>
              <a:defRPr sz="2400"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304800" y="1752600"/>
            <a:ext cx="4192588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304800" y="2438399"/>
            <a:ext cx="4192588" cy="36877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752600"/>
            <a:ext cx="4194175" cy="639762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194175" cy="3687763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buNone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fr-CH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CA38A2-9106-467E-8243-F94578A6B5A5}" type="datetime1">
              <a:rPr lang="it-IT" altLang="it-CH"/>
              <a:pPr/>
              <a:t>13/02/2026</a:t>
            </a:fld>
            <a:endParaRPr lang="it-IT" altLang="it-CH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32665F-4C14-45FC-A241-2843F0E88CF9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525260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05999" y="1125538"/>
            <a:ext cx="8516267" cy="719137"/>
          </a:xfrm>
        </p:spPr>
        <p:txBody>
          <a:bodyPr/>
          <a:lstStyle>
            <a:lvl1pPr>
              <a:defRPr sz="2400"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D762D1-D827-451F-9CF4-6B875B86FCA4}" type="datetime1">
              <a:rPr lang="it-IT" altLang="it-CH"/>
              <a:pPr/>
              <a:t>13/02/2026</a:t>
            </a:fld>
            <a:endParaRPr lang="it-IT" altLang="it-CH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66D9C8-8801-44A2-AB14-A2AB3C9CBF31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550367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BEE26B-B242-44EE-81DB-0DCCA61CEBFC}" type="datetime1">
              <a:rPr lang="it-IT" altLang="it-CH"/>
              <a:pPr/>
              <a:t>13/02/2026</a:t>
            </a:fld>
            <a:endParaRPr lang="it-IT" altLang="it-CH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7BC471-58DE-4D27-88B8-06EECFE703F2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240434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26335" y="1127797"/>
            <a:ext cx="3026465" cy="914400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1126800"/>
            <a:ext cx="5244820" cy="499552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326336" y="2133600"/>
            <a:ext cx="3026464" cy="3992563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9240BF-FB55-4824-A8D2-0D09A946D124}" type="datetime1">
              <a:rPr lang="it-IT" altLang="it-CH"/>
              <a:pPr/>
              <a:t>13/02/2026</a:t>
            </a:fld>
            <a:endParaRPr lang="it-IT" altLang="it-CH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E1FB96-2B51-46C5-A50F-92AC3B39A825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2206135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04800" y="4800600"/>
            <a:ext cx="8519314" cy="566738"/>
          </a:xfrm>
        </p:spPr>
        <p:txBody>
          <a:bodyPr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304800" y="5367338"/>
            <a:ext cx="8519314" cy="804862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6C8CBA-8577-4714-804C-5EA67F10CAF7}" type="datetime1">
              <a:rPr lang="it-IT" altLang="it-CH"/>
              <a:pPr/>
              <a:t>13/02/2026</a:t>
            </a:fld>
            <a:endParaRPr lang="it-IT" altLang="it-CH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737822-A613-4E97-BCD9-80FC21C634B1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3494834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oletto fondo celeste">
    <p:bg>
      <p:bgPr>
        <a:solidFill>
          <a:srgbClr val="009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/>
        </p:nvSpPr>
        <p:spPr bwMode="auto">
          <a:xfrm>
            <a:off x="1116012" y="170456"/>
            <a:ext cx="66611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CH" sz="1200" dirty="0">
                <a:solidFill>
                  <a:srgbClr val="FFFFFF"/>
                </a:solidFill>
              </a:rPr>
              <a:t>DEASS accompagnamento</a:t>
            </a:r>
            <a:r>
              <a:rPr lang="it-IT" altLang="it-CH" sz="1200" baseline="0" dirty="0">
                <a:solidFill>
                  <a:srgbClr val="FFFFFF"/>
                </a:solidFill>
              </a:rPr>
              <a:t> allo studio</a:t>
            </a:r>
            <a:endParaRPr lang="it-IT" altLang="it-CH" sz="1200" dirty="0">
              <a:solidFill>
                <a:srgbClr val="FFFFFF"/>
              </a:solidFill>
            </a:endParaRPr>
          </a:p>
          <a:p>
            <a:endParaRPr lang="it-IT" altLang="it-CH" sz="1200" dirty="0">
              <a:solidFill>
                <a:srgbClr val="FFFFFF"/>
              </a:solidFill>
            </a:endParaRPr>
          </a:p>
          <a:p>
            <a:endParaRPr lang="it-IT" altLang="it-CH" sz="1200" dirty="0">
              <a:solidFill>
                <a:srgbClr val="FFFFFF"/>
              </a:solidFill>
            </a:endParaRPr>
          </a:p>
        </p:txBody>
      </p:sp>
      <p:pic>
        <p:nvPicPr>
          <p:cNvPr id="4" name="Immagine 2" descr="logo_SUPSI_acr_ne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209550"/>
            <a:ext cx="469900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olo 1"/>
          <p:cNvSpPr>
            <a:spLocks noGrp="1"/>
          </p:cNvSpPr>
          <p:nvPr>
            <p:ph type="title"/>
          </p:nvPr>
        </p:nvSpPr>
        <p:spPr>
          <a:xfrm>
            <a:off x="324000" y="1854000"/>
            <a:ext cx="8519314" cy="21846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fr-CH" dirty="0"/>
              <a:t>Fare clic per modificare stile</a:t>
            </a:r>
            <a:endParaRPr lang="it-IT" dirty="0"/>
          </a:p>
        </p:txBody>
      </p:sp>
      <p:sp>
        <p:nvSpPr>
          <p:cNvPr id="5" name="Segnaposto data 2"/>
          <p:cNvSpPr>
            <a:spLocks noGrp="1"/>
          </p:cNvSpPr>
          <p:nvPr>
            <p:ph type="dt" sz="half" idx="10"/>
          </p:nvPr>
        </p:nvSpPr>
        <p:spPr>
          <a:xfrm>
            <a:off x="323850" y="6453188"/>
            <a:ext cx="2133600" cy="404812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it-CH" altLang="it-CH" dirty="0"/>
              <a:t>2 ottobre 2018</a:t>
            </a:r>
            <a:endParaRPr lang="it-IT" altLang="it-CH" dirty="0"/>
          </a:p>
        </p:txBody>
      </p:sp>
      <p:sp>
        <p:nvSpPr>
          <p:cNvPr id="6" name="Segnaposto piè di pagina 3"/>
          <p:cNvSpPr>
            <a:spLocks noGrp="1"/>
          </p:cNvSpPr>
          <p:nvPr>
            <p:ph type="ftr" sz="quarter" idx="11"/>
          </p:nvPr>
        </p:nvSpPr>
        <p:spPr>
          <a:xfrm>
            <a:off x="2484438" y="6453188"/>
            <a:ext cx="6335712" cy="404812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8077200" y="188913"/>
            <a:ext cx="742950" cy="4762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FC372616-F2A0-4318-A20D-F5329E2CF2F4}" type="slidenum">
              <a:rPr lang="it-IT" altLang="it-CH"/>
              <a:pPr/>
              <a:t>‹N›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2669321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066C3-B48B-4F25-8BE5-3E21A309C7C7}" type="datetime1">
              <a:rPr lang="it-IT"/>
              <a:pPr>
                <a:defRPr/>
              </a:pPr>
              <a:t>13/02/2026</a:t>
            </a:fld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4ABB4F-BE52-48DA-B381-BDB52B670DBB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619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1125538"/>
            <a:ext cx="84963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H" altLang="it-CH"/>
              <a:t>Fare clic per modificare stile</a:t>
            </a:r>
            <a:endParaRPr lang="it-IT" altLang="it-CH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916113"/>
            <a:ext cx="84963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H" altLang="it-CH" dirty="0" err="1"/>
              <a:t>Fare</a:t>
            </a:r>
            <a:r>
              <a:rPr lang="fr-CH" altLang="it-CH" dirty="0"/>
              <a:t> clic per </a:t>
            </a:r>
            <a:r>
              <a:rPr lang="fr-CH" altLang="it-CH" dirty="0" err="1"/>
              <a:t>modificare</a:t>
            </a:r>
            <a:r>
              <a:rPr lang="fr-CH" altLang="it-CH" dirty="0"/>
              <a:t> </a:t>
            </a:r>
            <a:r>
              <a:rPr lang="fr-CH" altLang="it-CH" dirty="0" err="1"/>
              <a:t>gli</a:t>
            </a:r>
            <a:r>
              <a:rPr lang="fr-CH" altLang="it-CH" dirty="0"/>
              <a:t> </a:t>
            </a:r>
            <a:r>
              <a:rPr lang="fr-CH" altLang="it-CH" dirty="0" err="1"/>
              <a:t>stili</a:t>
            </a:r>
            <a:r>
              <a:rPr lang="fr-CH" altLang="it-CH" dirty="0"/>
              <a:t> </a:t>
            </a:r>
            <a:r>
              <a:rPr lang="fr-CH" altLang="it-CH" dirty="0" err="1"/>
              <a:t>del</a:t>
            </a:r>
            <a:r>
              <a:rPr lang="fr-CH" altLang="it-CH" dirty="0"/>
              <a:t> </a:t>
            </a:r>
            <a:r>
              <a:rPr lang="fr-CH" altLang="it-CH" dirty="0" err="1"/>
              <a:t>testo</a:t>
            </a:r>
            <a:r>
              <a:rPr lang="fr-CH" altLang="it-CH" dirty="0"/>
              <a:t> </a:t>
            </a:r>
            <a:r>
              <a:rPr lang="fr-CH" altLang="it-CH" dirty="0" err="1"/>
              <a:t>dello</a:t>
            </a:r>
            <a:r>
              <a:rPr lang="fr-CH" altLang="it-CH" dirty="0"/>
              <a:t> </a:t>
            </a:r>
            <a:r>
              <a:rPr lang="fr-CH" altLang="it-CH" dirty="0" err="1"/>
              <a:t>schema</a:t>
            </a:r>
            <a:endParaRPr lang="fr-CH" altLang="it-CH" dirty="0"/>
          </a:p>
          <a:p>
            <a:pPr lvl="1"/>
            <a:r>
              <a:rPr lang="fr-CH" altLang="it-CH" dirty="0" err="1"/>
              <a:t>Secondo</a:t>
            </a:r>
            <a:r>
              <a:rPr lang="fr-CH" altLang="it-CH" dirty="0"/>
              <a:t> </a:t>
            </a:r>
            <a:r>
              <a:rPr lang="fr-CH" altLang="it-CH" dirty="0" err="1"/>
              <a:t>livello</a:t>
            </a:r>
            <a:endParaRPr lang="fr-CH" altLang="it-CH" dirty="0"/>
          </a:p>
          <a:p>
            <a:pPr lvl="2"/>
            <a:r>
              <a:rPr lang="fr-CH" altLang="it-CH" dirty="0" err="1"/>
              <a:t>Terzo</a:t>
            </a:r>
            <a:r>
              <a:rPr lang="fr-CH" altLang="it-CH" dirty="0"/>
              <a:t> </a:t>
            </a:r>
            <a:r>
              <a:rPr lang="fr-CH" altLang="it-CH" dirty="0" err="1"/>
              <a:t>livello</a:t>
            </a:r>
            <a:endParaRPr lang="fr-CH" altLang="it-CH" dirty="0"/>
          </a:p>
          <a:p>
            <a:pPr lvl="3"/>
            <a:r>
              <a:rPr lang="fr-CH" altLang="it-CH" dirty="0"/>
              <a:t>Quarto </a:t>
            </a:r>
            <a:r>
              <a:rPr lang="fr-CH" altLang="it-CH" dirty="0" err="1"/>
              <a:t>livello</a:t>
            </a:r>
            <a:endParaRPr lang="fr-CH" altLang="it-CH" dirty="0"/>
          </a:p>
          <a:p>
            <a:pPr lvl="4"/>
            <a:r>
              <a:rPr lang="fr-CH" altLang="it-CH" dirty="0"/>
              <a:t>Quinto </a:t>
            </a:r>
            <a:r>
              <a:rPr lang="fr-CH" altLang="it-CH" dirty="0" err="1"/>
              <a:t>livello</a:t>
            </a:r>
            <a:endParaRPr lang="it-IT" altLang="it-CH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3850" y="6453188"/>
            <a:ext cx="2133600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3C8B2070-B6EF-4CEB-96FF-867F799D513A}" type="datetime1">
              <a:rPr lang="it-IT" altLang="it-CH"/>
              <a:pPr/>
              <a:t>13/02/2026</a:t>
            </a:fld>
            <a:endParaRPr lang="it-IT" altLang="it-CH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84438" y="6453188"/>
            <a:ext cx="6335712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188913"/>
            <a:ext cx="8191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9DEE9E2-1F74-434E-91AC-2CE158EBDC3E}" type="slidenum">
              <a:rPr lang="it-IT" altLang="it-CH"/>
              <a:pPr/>
              <a:t>‹N›</a:t>
            </a:fld>
            <a:endParaRPr lang="it-IT" altLang="it-CH"/>
          </a:p>
        </p:txBody>
      </p:sp>
      <p:sp>
        <p:nvSpPr>
          <p:cNvPr id="1031" name="Rectangle 3"/>
          <p:cNvSpPr>
            <a:spLocks noGrp="1" noChangeArrowheads="1"/>
          </p:cNvSpPr>
          <p:nvPr/>
        </p:nvSpPr>
        <p:spPr bwMode="auto">
          <a:xfrm>
            <a:off x="1117600" y="185738"/>
            <a:ext cx="6807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it-IT" altLang="it-CH" sz="1200" dirty="0"/>
              <a:t>DEASS / Accompagnamento allo studio</a:t>
            </a:r>
          </a:p>
          <a:p>
            <a:endParaRPr lang="it-IT" altLang="it-CH" sz="1200" dirty="0"/>
          </a:p>
          <a:p>
            <a:endParaRPr lang="it-IT" altLang="it-CH" sz="1200" dirty="0"/>
          </a:p>
        </p:txBody>
      </p:sp>
      <p:pic>
        <p:nvPicPr>
          <p:cNvPr id="1032" name="Immagine 6" descr="logo_SUPSI_acr.gif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209550"/>
            <a:ext cx="469900" cy="1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8" r:id="rId9"/>
    <p:sldLayoutId id="2147484180" r:id="rId10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+mj-lt"/>
          <a:ea typeface="MS PGothic" panose="020B0600070205080204" pitchFamily="34" charset="-128"/>
          <a:cs typeface="ＭＳ Ｐゴシック" pitchFamily="-112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MS PGothic" panose="020B0600070205080204" pitchFamily="34" charset="-128"/>
          <a:cs typeface="ＭＳ Ｐゴシック" pitchFamily="-11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MS PGothic" panose="020B0600070205080204" pitchFamily="34" charset="-128"/>
          <a:cs typeface="ＭＳ Ｐゴシック" pitchFamily="-11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MS PGothic" panose="020B0600070205080204" pitchFamily="34" charset="-128"/>
          <a:cs typeface="ＭＳ Ｐゴシック" pitchFamily="-11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Times New Roman" pitchFamily="-112" charset="-52"/>
          <a:ea typeface="MS PGothic" panose="020B0600070205080204" pitchFamily="34" charset="-128"/>
          <a:cs typeface="ＭＳ Ｐゴシック" pitchFamily="-11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2"/>
          </a:solidFill>
          <a:latin typeface="Times New Roman" pitchFamily="-112" charset="-5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-112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>
          <a:xfrm>
            <a:off x="312343" y="2336700"/>
            <a:ext cx="8519314" cy="2184600"/>
          </a:xfrm>
        </p:spPr>
        <p:txBody>
          <a:bodyPr anchor="ctr"/>
          <a:lstStyle/>
          <a:p>
            <a:pPr algn="ctr"/>
            <a:r>
              <a:rPr lang="it-CH" dirty="0">
                <a:latin typeface="Arial" panose="020B0604020202020204" pitchFamily="34" charset="0"/>
                <a:cs typeface="Arial" panose="020B0604020202020204" pitchFamily="34" charset="0"/>
              </a:rPr>
              <a:t>Alcuni consigli per svolgere le interviste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EBB-FDB4-4789-9999-42843AD5DACB}" type="slidenum">
              <a:rPr lang="it-IT" altLang="it-CH" smtClean="0"/>
              <a:pPr/>
              <a:t>1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2768866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el 1"/>
          <p:cNvSpPr>
            <a:spLocks noGrp="1"/>
          </p:cNvSpPr>
          <p:nvPr>
            <p:ph type="title" idx="4294967295"/>
          </p:nvPr>
        </p:nvSpPr>
        <p:spPr>
          <a:xfrm>
            <a:off x="647700" y="620713"/>
            <a:ext cx="8496300" cy="719137"/>
          </a:xfrm>
        </p:spPr>
        <p:txBody>
          <a:bodyPr/>
          <a:lstStyle/>
          <a:p>
            <a:pPr eaLnBrk="1" hangingPunct="1"/>
            <a:r>
              <a:rPr lang="it-CH" b="1" dirty="0">
                <a:latin typeface="+mn-lt"/>
                <a:ea typeface="ＭＳ Ｐゴシック"/>
                <a:cs typeface="ＭＳ Ｐゴシック"/>
              </a:rPr>
              <a:t>Le fasi dell’intervista </a:t>
            </a:r>
          </a:p>
        </p:txBody>
      </p:sp>
      <p:sp>
        <p:nvSpPr>
          <p:cNvPr id="21506" name="Inhaltsplatzhalter 2"/>
          <p:cNvSpPr>
            <a:spLocks noGrp="1"/>
          </p:cNvSpPr>
          <p:nvPr>
            <p:ph idx="4294967295"/>
          </p:nvPr>
        </p:nvSpPr>
        <p:spPr>
          <a:xfrm>
            <a:off x="611188" y="1196975"/>
            <a:ext cx="7848600" cy="5111750"/>
          </a:xfrm>
        </p:spPr>
        <p:txBody>
          <a:bodyPr/>
          <a:lstStyle/>
          <a:p>
            <a:pPr>
              <a:spcBef>
                <a:spcPct val="30000"/>
              </a:spcBef>
            </a:pPr>
            <a:r>
              <a:rPr lang="it-CH" sz="2000" dirty="0"/>
              <a:t>Fase del contatto (appuntamento) risulta essere cruciale per una buona riuscita</a:t>
            </a:r>
            <a:br>
              <a:rPr lang="it-CH" sz="2000" dirty="0"/>
            </a:br>
            <a:endParaRPr lang="it-IT" sz="2000" dirty="0"/>
          </a:p>
          <a:p>
            <a:pPr marL="457200" indent="-457200">
              <a:spcBef>
                <a:spcPct val="30000"/>
              </a:spcBef>
            </a:pPr>
            <a:r>
              <a:rPr lang="it-IT" sz="2000" dirty="0"/>
              <a:t>Importante: </a:t>
            </a:r>
          </a:p>
          <a:p>
            <a:pPr marL="457200" indent="-457200">
              <a:spcBef>
                <a:spcPct val="30000"/>
              </a:spcBef>
              <a:buFontTx/>
              <a:buChar char="-"/>
            </a:pPr>
            <a:r>
              <a:rPr lang="it-CH" sz="2000" dirty="0"/>
              <a:t>Fornire informazioni sullo studio </a:t>
            </a:r>
          </a:p>
          <a:p>
            <a:pPr marL="457200" indent="-457200">
              <a:spcBef>
                <a:spcPct val="30000"/>
              </a:spcBef>
              <a:buFontTx/>
              <a:buChar char="-"/>
            </a:pPr>
            <a:r>
              <a:rPr lang="it-CH" sz="2000" dirty="0"/>
              <a:t>Nella lettera o al telefono indicare la durata e fornire garanzie sull’anonimato (eventualmente far firmare consenso)</a:t>
            </a:r>
          </a:p>
          <a:p>
            <a:pPr marL="0" indent="0">
              <a:buNone/>
            </a:pPr>
            <a:endParaRPr lang="it-CH" sz="2000" dirty="0">
              <a:ea typeface="ＭＳ Ｐゴシック"/>
              <a:cs typeface="ＭＳ Ｐゴシック"/>
            </a:endParaRPr>
          </a:p>
        </p:txBody>
      </p:sp>
      <p:sp>
        <p:nvSpPr>
          <p:cNvPr id="50180" name="Foliennummernplatzhalter 4"/>
          <p:cNvSpPr txBox="1">
            <a:spLocks noGrp="1"/>
          </p:cNvSpPr>
          <p:nvPr/>
        </p:nvSpPr>
        <p:spPr bwMode="auto">
          <a:xfrm>
            <a:off x="8001000" y="188913"/>
            <a:ext cx="8191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B8EE96-D670-49FB-BB74-98FE0C095834}" type="slidenum"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673055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dirty="0"/>
              <a:t>Preparazione della traccia di intervista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CH" dirty="0"/>
              <a:t>Si tratta di una fase molto importante e fondamentale per la riuscita dell’intervista stessa.</a:t>
            </a:r>
          </a:p>
          <a:p>
            <a:pPr marL="0" indent="0">
              <a:buNone/>
            </a:pPr>
            <a:endParaRPr lang="it-CH" dirty="0"/>
          </a:p>
          <a:p>
            <a:pPr marL="0" indent="0">
              <a:buNone/>
            </a:pPr>
            <a:r>
              <a:rPr lang="it-CH" dirty="0"/>
              <a:t>Bisogna quindi prestare molta attenzione alla costruzione della traccia dell’intervista. </a:t>
            </a:r>
          </a:p>
          <a:p>
            <a:pPr marL="0" indent="0">
              <a:buNone/>
            </a:pPr>
            <a:endParaRPr lang="it-CH" dirty="0"/>
          </a:p>
          <a:p>
            <a:pPr marL="0" indent="0">
              <a:buNone/>
            </a:pPr>
            <a:r>
              <a:rPr lang="it-CH" dirty="0"/>
              <a:t>Importante prima costruire una mappa tematica, agenda o elenco di argomenti che si vogliono trattare e poi pensare alle domande. Quando si formulano le domande prestare attenzione che ogni domanda contenga un solo interrogativo e sia chiara.  </a:t>
            </a:r>
          </a:p>
          <a:p>
            <a:endParaRPr lang="it-CH" dirty="0"/>
          </a:p>
          <a:p>
            <a:pPr marL="0" indent="0">
              <a:buNone/>
            </a:pPr>
            <a:endParaRPr lang="it-CH" dirty="0"/>
          </a:p>
          <a:p>
            <a:endParaRPr lang="it-CH" dirty="0"/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E066C3-B48B-4F25-8BE5-3E21A309C7C7}" type="datetime1">
              <a:rPr lang="it-IT" smtClean="0"/>
              <a:pPr>
                <a:defRPr/>
              </a:pPr>
              <a:t>13/02/2026</a:t>
            </a:fld>
            <a:endParaRPr lang="it-IT"/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ABB4F-BE52-48DA-B381-BDB52B670DBB}" type="slidenum">
              <a:rPr lang="it-IT" smtClean="0"/>
              <a:pPr>
                <a:defRPr/>
              </a:pPr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108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340882" y="766068"/>
            <a:ext cx="8496300" cy="719137"/>
          </a:xfrm>
        </p:spPr>
        <p:txBody>
          <a:bodyPr/>
          <a:lstStyle/>
          <a:p>
            <a:r>
              <a:rPr lang="it-CH" b="1" dirty="0"/>
              <a:t>Alcuni elementi per condurre l’intervista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idx="1"/>
          </p:nvPr>
        </p:nvSpPr>
        <p:spPr>
          <a:xfrm>
            <a:off x="340882" y="1700808"/>
            <a:ext cx="8496300" cy="43211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it-CH" dirty="0"/>
              <a:t>Mantenere costante l’attenzione</a:t>
            </a:r>
          </a:p>
          <a:p>
            <a:pPr algn="just">
              <a:lnSpc>
                <a:spcPct val="150000"/>
              </a:lnSpc>
            </a:pPr>
            <a:r>
              <a:rPr lang="it-CH" dirty="0"/>
              <a:t>Mantenere una padronanza delle proprie emozioni e dei propri sentimenti</a:t>
            </a:r>
          </a:p>
          <a:p>
            <a:pPr algn="just">
              <a:lnSpc>
                <a:spcPct val="150000"/>
              </a:lnSpc>
            </a:pPr>
            <a:r>
              <a:rPr lang="it-CH" dirty="0"/>
              <a:t>Saper stare in silenzio</a:t>
            </a:r>
          </a:p>
          <a:p>
            <a:pPr algn="just">
              <a:lnSpc>
                <a:spcPct val="150000"/>
              </a:lnSpc>
            </a:pPr>
            <a:r>
              <a:rPr lang="it-CH" dirty="0"/>
              <a:t>Essere in grado di dare dei suggerimenti (riformulare, fare esempi, ecc.)</a:t>
            </a:r>
          </a:p>
          <a:p>
            <a:pPr algn="just">
              <a:lnSpc>
                <a:spcPct val="150000"/>
              </a:lnSpc>
            </a:pPr>
            <a:r>
              <a:rPr lang="it-CH" dirty="0"/>
              <a:t>Riformulare le risposte se poco chiare</a:t>
            </a:r>
          </a:p>
          <a:p>
            <a:pPr algn="just">
              <a:lnSpc>
                <a:spcPct val="150000"/>
              </a:lnSpc>
            </a:pPr>
            <a:r>
              <a:rPr lang="it-CH" dirty="0"/>
              <a:t>Mantenere sempre un atteggiamento non giudicante</a:t>
            </a:r>
          </a:p>
          <a:p>
            <a:pPr algn="just">
              <a:lnSpc>
                <a:spcPct val="150000"/>
              </a:lnSpc>
            </a:pPr>
            <a:r>
              <a:rPr lang="it-CH" dirty="0"/>
              <a:t>Utilizzare delle provocazioni o materiali di stimolo, se necessario.</a:t>
            </a:r>
          </a:p>
          <a:p>
            <a:pPr algn="just">
              <a:lnSpc>
                <a:spcPct val="150000"/>
              </a:lnSpc>
            </a:pPr>
            <a:r>
              <a:rPr lang="it-CH" dirty="0"/>
              <a:t>Prendere nota degli elementi della comunicazione non verbale</a:t>
            </a:r>
          </a:p>
          <a:p>
            <a:endParaRPr lang="it-CH" dirty="0"/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4CFC1B-E95E-4E3E-9AFE-79776FB5F19F}" type="datetime1">
              <a:rPr kumimoji="0" lang="it-IT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13/02/2026</a:t>
            </a:fld>
            <a:endParaRPr kumimoji="0" lang="it-IT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54C286-9B49-494B-ADE0-050BD5B58CD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17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b="1" dirty="0">
                <a:latin typeface="+mn-lt"/>
              </a:rPr>
              <a:t>Consigli pratici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CH" dirty="0"/>
              <a:t>Si possono scegliere quattro opzioni per raccogliere le informazioni durante l’intervista:</a:t>
            </a:r>
          </a:p>
          <a:p>
            <a:endParaRPr lang="it-CH" dirty="0"/>
          </a:p>
          <a:p>
            <a:pPr lvl="1"/>
            <a:r>
              <a:rPr lang="it-CH" dirty="0"/>
              <a:t>Registrare l’intervista (trascriverla in un secondo momento)</a:t>
            </a:r>
          </a:p>
          <a:p>
            <a:pPr lvl="1"/>
            <a:r>
              <a:rPr lang="it-CH" dirty="0"/>
              <a:t>Prendere appunti durante l’intervista</a:t>
            </a:r>
          </a:p>
          <a:p>
            <a:pPr lvl="1"/>
            <a:r>
              <a:rPr lang="it-CH" dirty="0"/>
              <a:t>Scrivere delle note una volta che l’intervista è conclusa</a:t>
            </a:r>
          </a:p>
          <a:p>
            <a:pPr lvl="1"/>
            <a:r>
              <a:rPr lang="it-CH" dirty="0"/>
              <a:t>Registrare e al contempo prendere appunti</a:t>
            </a:r>
          </a:p>
          <a:p>
            <a:pPr lvl="1"/>
            <a:endParaRPr lang="it-CH" dirty="0"/>
          </a:p>
          <a:p>
            <a:pPr lvl="0"/>
            <a:r>
              <a:rPr lang="it-CH" dirty="0">
                <a:solidFill>
                  <a:srgbClr val="000000"/>
                </a:solidFill>
              </a:rPr>
              <a:t>La trascrizione richiede molto tempo (x 4 la durata dell’intervista), ma permette di cogliere tutti le informazioni e i dettagli. Se si sceglie di prendere unicamente gli appunti inevitabilmente si perderanno alcune informazioni. Prendere note alla fine di un’intervista permette di non distrarre l’intervistato, bisogna però avere una buona memoria. L’approccio ideale è quello di registrare e prendere qualche appunto durante l’intervista.</a:t>
            </a:r>
            <a:endParaRPr lang="it-CH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159C29-42BF-41D7-874C-A46AD9AF8BDA}" type="datetime1">
              <a:rPr lang="it-IT" smtClean="0"/>
              <a:pPr>
                <a:defRPr/>
              </a:pPr>
              <a:t>13/02/2026</a:t>
            </a:fld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138CEA-CCD4-4AFC-AFB7-8D161AE3C855}" type="slidenum">
              <a:rPr lang="it-IT" smtClean="0"/>
              <a:pPr>
                <a:defRPr/>
              </a:pPr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478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b="1" dirty="0">
                <a:latin typeface="+mn-lt"/>
              </a:rPr>
              <a:t>Consigli pratici</a:t>
            </a:r>
          </a:p>
        </p:txBody>
      </p:sp>
      <p:pic>
        <p:nvPicPr>
          <p:cNvPr id="6" name="Segnaposto contenut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879778"/>
            <a:ext cx="5174169" cy="5573410"/>
          </a:xfrm>
        </p:spPr>
      </p:pic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159C29-42BF-41D7-874C-A46AD9AF8BDA}" type="datetime1">
              <a:rPr lang="it-IT" smtClean="0"/>
              <a:pPr>
                <a:defRPr/>
              </a:pPr>
              <a:t>13/02/2026</a:t>
            </a:fld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138CEA-CCD4-4AFC-AFB7-8D161AE3C855}" type="slidenum">
              <a:rPr lang="it-IT" smtClean="0"/>
              <a:pPr>
                <a:defRPr/>
              </a:pPr>
              <a:t>6</a:t>
            </a:fld>
            <a:endParaRPr lang="it-IT"/>
          </a:p>
        </p:txBody>
      </p:sp>
      <p:sp>
        <p:nvSpPr>
          <p:cNvPr id="7" name="CasellaDiTesto 6"/>
          <p:cNvSpPr txBox="1"/>
          <p:nvPr/>
        </p:nvSpPr>
        <p:spPr bwMode="auto">
          <a:xfrm>
            <a:off x="395536" y="2060848"/>
            <a:ext cx="2736304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rtlCol="0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CH" kern="0" dirty="0">
                <a:latin typeface="+mn-lt"/>
                <a:ea typeface="ＭＳ Ｐゴシック" pitchFamily="-112" charset="-128"/>
                <a:cs typeface="ＭＳ Ｐゴシック" pitchFamily="-112" charset="-128"/>
              </a:rPr>
              <a:t>È possibile compilare una scheda riassuntiva al termine dell’intervista. (Carey, p. 144)</a:t>
            </a:r>
          </a:p>
        </p:txBody>
      </p:sp>
    </p:spTree>
    <p:extLst>
      <p:ext uri="{BB962C8B-B14F-4D97-AF65-F5344CB8AC3E}">
        <p14:creationId xmlns:p14="http://schemas.microsoft.com/office/powerpoint/2010/main" val="3674495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>
          <a:xfrm>
            <a:off x="312343" y="2336700"/>
            <a:ext cx="8519314" cy="2184600"/>
          </a:xfrm>
        </p:spPr>
        <p:txBody>
          <a:bodyPr anchor="ctr"/>
          <a:lstStyle/>
          <a:p>
            <a:pPr algn="ctr"/>
            <a:r>
              <a:rPr lang="it-CH" dirty="0">
                <a:latin typeface="Arial" panose="020B0604020202020204" pitchFamily="34" charset="0"/>
                <a:cs typeface="Arial" panose="020B0604020202020204" pitchFamily="34" charset="0"/>
              </a:rPr>
              <a:t>Come utilizzare le interviste</a:t>
            </a:r>
          </a:p>
        </p:txBody>
      </p:sp>
      <p:sp>
        <p:nvSpPr>
          <p:cNvPr id="3" name="Segnaposto numero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1AEBB-FDB4-4789-9999-42843AD5DACB}" type="slidenum">
              <a:rPr lang="it-IT" altLang="it-CH" smtClean="0"/>
              <a:pPr/>
              <a:t>7</a:t>
            </a:fld>
            <a:endParaRPr lang="it-IT" altLang="it-CH"/>
          </a:p>
        </p:txBody>
      </p:sp>
    </p:spTree>
    <p:extLst>
      <p:ext uri="{BB962C8B-B14F-4D97-AF65-F5344CB8AC3E}">
        <p14:creationId xmlns:p14="http://schemas.microsoft.com/office/powerpoint/2010/main" val="188136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b="1" dirty="0">
                <a:latin typeface="+mn-lt"/>
              </a:rPr>
              <a:t>Come utilizzare le interviste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CH" dirty="0"/>
              <a:t>Riascoltare la registrazione e trascrivere (si possono anche trascrivere solo le parti più importanti)</a:t>
            </a:r>
          </a:p>
          <a:p>
            <a:r>
              <a:rPr lang="it-CH" dirty="0"/>
              <a:t>Mettere in evidenza le grandi linee del discorso e dividerle in temi - stabilire la lista dei temi ritenuti importanti, raggrupparli in categorie e inserire le diverse citazioni all’interno dei temi individuati.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159C29-42BF-41D7-874C-A46AD9AF8BDA}" type="datetime1">
              <a:rPr lang="it-IT" smtClean="0"/>
              <a:pPr>
                <a:defRPr/>
              </a:pPr>
              <a:t>13/02/2026</a:t>
            </a:fld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138CEA-CCD4-4AFC-AFB7-8D161AE3C855}" type="slidenum">
              <a:rPr lang="it-IT" smtClean="0"/>
              <a:pPr>
                <a:defRPr/>
              </a:pPr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0133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dirty="0"/>
              <a:t>Analisi tematica o trasversale 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CH" dirty="0"/>
              <a:t>Trascrivere le parole di ogni intervistato su ciascun tema - aggiungere accanto teorie relative al tema e riassunto idee principali.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E352-5877-41C0-AF8D-976409EC7F47}" type="datetime1">
              <a:rPr lang="it-IT" altLang="it-CH" smtClean="0"/>
              <a:pPr/>
              <a:t>13/02/2026</a:t>
            </a:fld>
            <a:endParaRPr lang="it-IT" altLang="it-CH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5EF8-5760-46B8-83F8-3AD7AF70226D}" type="slidenum">
              <a:rPr lang="it-IT" altLang="it-CH" smtClean="0"/>
              <a:pPr/>
              <a:t>9</a:t>
            </a:fld>
            <a:endParaRPr lang="it-IT" altLang="it-CH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651214"/>
            <a:ext cx="7720741" cy="36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3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CH" dirty="0"/>
              <a:t>Analisi verticale (caso per caso) 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CH" dirty="0"/>
              <a:t>Ritrasmettere ogni intervista nella sua totalità - Riscrivere ciascuna l’intervista organizzandola attorno ai temi A, B,.. 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5E352-5877-41C0-AF8D-976409EC7F47}" type="datetime1">
              <a:rPr lang="it-IT" altLang="it-CH" smtClean="0"/>
              <a:pPr/>
              <a:t>13/02/2026</a:t>
            </a:fld>
            <a:endParaRPr lang="it-IT" altLang="it-CH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5EF8-5760-46B8-83F8-3AD7AF70226D}" type="slidenum">
              <a:rPr lang="it-IT" altLang="it-CH" smtClean="0"/>
              <a:pPr/>
              <a:t>10</a:t>
            </a:fld>
            <a:endParaRPr lang="it-IT" altLang="it-CH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40" y="2636647"/>
            <a:ext cx="8172870" cy="370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05013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_DEASS_1 copia">
  <a:themeElements>
    <a:clrScheme name="SUPSI 1">
      <a:dk1>
        <a:srgbClr val="000000"/>
      </a:dk1>
      <a:lt1>
        <a:sysClr val="window" lastClr="FFFFFF"/>
      </a:lt1>
      <a:dk2>
        <a:srgbClr val="141C64"/>
      </a:dk2>
      <a:lt2>
        <a:srgbClr val="FFFFFF"/>
      </a:lt2>
      <a:accent1>
        <a:srgbClr val="141C78"/>
      </a:accent1>
      <a:accent2>
        <a:srgbClr val="2838C8"/>
      </a:accent2>
      <a:accent3>
        <a:srgbClr val="0063C8"/>
      </a:accent3>
      <a:accent4>
        <a:srgbClr val="0096FF"/>
      </a:accent4>
      <a:accent5>
        <a:srgbClr val="46A01E"/>
      </a:accent5>
      <a:accent6>
        <a:srgbClr val="8CD23C"/>
      </a:accent6>
      <a:hlink>
        <a:srgbClr val="000000"/>
      </a:hlink>
      <a:folHlink>
        <a:srgbClr val="646464"/>
      </a:folHlink>
    </a:clrScheme>
    <a:fontScheme name="SUPSI_DSA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lIns="0" tIns="0" rIns="0" bIns="0">
        <a:prstTxWarp prst="textNoShape">
          <a:avLst/>
        </a:prstTxWarp>
      </a:bodyPr>
      <a:lstStyle>
        <a:defPPr eaLnBrk="0" hangingPunct="0">
          <a:spcBef>
            <a:spcPct val="20000"/>
          </a:spcBef>
          <a:defRPr sz="1400" kern="0" dirty="0" smtClean="0">
            <a:latin typeface="+mn-lt"/>
            <a:ea typeface="ＭＳ Ｐゴシック" pitchFamily="-112" charset="-128"/>
            <a:cs typeface="ＭＳ Ｐゴシック" pitchFamily="-112" charset="-128"/>
          </a:defRPr>
        </a:defPPr>
      </a:lstStyle>
    </a:txDef>
  </a:objectDefaults>
  <a:extraClrSchemeLst>
    <a:extraClrScheme>
      <a:clrScheme name="SUPSI_DSA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PSI_DSA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PSI_DSA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zione standard2" id="{2B90B0BC-121B-4171-AAED-C38E80922BAA}" vid="{32AE268A-F2C7-4D3F-8F37-673196A954E6}"/>
    </a:ext>
  </a:ext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32538a4-939e-4f12-952e-e33cf9e5689d}" enabled="0" method="" siteId="{832538a4-939e-4f12-952e-e33cf9e5689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Presentazione standard2</Template>
  <TotalTime>0</TotalTime>
  <Words>445</Words>
  <Application>Microsoft Office PowerPoint</Application>
  <PresentationFormat>Presentazione su schermo (4:3)</PresentationFormat>
  <Paragraphs>62</Paragraphs>
  <Slides>10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ＭＳ Ｐゴシック</vt:lpstr>
      <vt:lpstr>Arial</vt:lpstr>
      <vt:lpstr>Times New Roman</vt:lpstr>
      <vt:lpstr>Powerpoint_DEASS_1 copia</vt:lpstr>
      <vt:lpstr>Alcuni consigli per svolgere le interviste</vt:lpstr>
      <vt:lpstr>Le fasi dell’intervista </vt:lpstr>
      <vt:lpstr>Preparazione della traccia di intervista</vt:lpstr>
      <vt:lpstr>Alcuni elementi per condurre l’intervista</vt:lpstr>
      <vt:lpstr>Consigli pratici</vt:lpstr>
      <vt:lpstr>Consigli pratici</vt:lpstr>
      <vt:lpstr>Come utilizzare le interviste</vt:lpstr>
      <vt:lpstr>Come utilizzare le interviste</vt:lpstr>
      <vt:lpstr>Analisi tematica o trasversale </vt:lpstr>
      <vt:lpstr>Analisi verticale (caso per caso) </vt:lpstr>
    </vt:vector>
  </TitlesOfParts>
  <Company>Servizio Informatico TI-EDU - USI-SUPSI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Gestire le fonti</dc:title>
  <dc:creator>Lepori Angelica</dc:creator>
  <cp:lastModifiedBy>Lepori Angelica</cp:lastModifiedBy>
  <cp:revision>42</cp:revision>
  <cp:lastPrinted>2018-10-02T06:26:03Z</cp:lastPrinted>
  <dcterms:created xsi:type="dcterms:W3CDTF">2018-09-20T09:47:33Z</dcterms:created>
  <dcterms:modified xsi:type="dcterms:W3CDTF">2026-02-13T11:48:55Z</dcterms:modified>
</cp:coreProperties>
</file>