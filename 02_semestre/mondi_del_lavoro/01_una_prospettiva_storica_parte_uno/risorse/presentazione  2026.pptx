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59" r:id="rId5"/>
    <p:sldId id="266" r:id="rId6"/>
    <p:sldId id="270" r:id="rId7"/>
    <p:sldId id="271" r:id="rId8"/>
    <p:sldId id="260" r:id="rId9"/>
    <p:sldId id="267" r:id="rId10"/>
    <p:sldId id="268" r:id="rId11"/>
    <p:sldId id="262" r:id="rId12"/>
    <p:sldId id="264" r:id="rId1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23CFB-A7F4-4B56-827D-29A2780F689A}" v="1" dt="2026-02-05T14:08:21.53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>
      <p:cViewPr varScale="1">
        <p:scale>
          <a:sx n="63" d="100"/>
          <a:sy n="63" d="100"/>
        </p:scale>
        <p:origin x="102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pori Angelica" userId="55a5bc30-81af-4e93-b812-e5e14fd30480" providerId="ADAL" clId="{D2172EE2-CC9E-43EC-8C00-080A388CF3C0}"/>
    <pc:docChg chg="undo custSel addSld delSld modSld">
      <pc:chgData name="Lepori Angelica" userId="55a5bc30-81af-4e93-b812-e5e14fd30480" providerId="ADAL" clId="{D2172EE2-CC9E-43EC-8C00-080A388CF3C0}" dt="2026-02-05T14:29:35.701" v="1325" actId="20577"/>
      <pc:docMkLst>
        <pc:docMk/>
      </pc:docMkLst>
      <pc:sldChg chg="addSp delSp modSp mod">
        <pc:chgData name="Lepori Angelica" userId="55a5bc30-81af-4e93-b812-e5e14fd30480" providerId="ADAL" clId="{D2172EE2-CC9E-43EC-8C00-080A388CF3C0}" dt="2026-02-05T14:08:38.767" v="6" actId="14100"/>
        <pc:sldMkLst>
          <pc:docMk/>
          <pc:sldMk cId="2047831974" sldId="266"/>
        </pc:sldMkLst>
        <pc:graphicFrameChg chg="add mod modGraphic">
          <ac:chgData name="Lepori Angelica" userId="55a5bc30-81af-4e93-b812-e5e14fd30480" providerId="ADAL" clId="{D2172EE2-CC9E-43EC-8C00-080A388CF3C0}" dt="2026-02-05T14:08:38.767" v="6" actId="14100"/>
          <ac:graphicFrameMkLst>
            <pc:docMk/>
            <pc:sldMk cId="2047831974" sldId="266"/>
            <ac:graphicFrameMk id="2" creationId="{C40F140E-7B84-E729-9D85-992679C08347}"/>
          </ac:graphicFrameMkLst>
        </pc:graphicFrameChg>
        <pc:graphicFrameChg chg="del">
          <ac:chgData name="Lepori Angelica" userId="55a5bc30-81af-4e93-b812-e5e14fd30480" providerId="ADAL" clId="{D2172EE2-CC9E-43EC-8C00-080A388CF3C0}" dt="2026-02-05T14:08:07.652" v="2" actId="478"/>
          <ac:graphicFrameMkLst>
            <pc:docMk/>
            <pc:sldMk cId="2047831974" sldId="266"/>
            <ac:graphicFrameMk id="3" creationId="{1A974782-0676-04D6-91DB-391A5137392F}"/>
          </ac:graphicFrameMkLst>
        </pc:graphicFrameChg>
      </pc:sldChg>
      <pc:sldChg chg="modSp mod">
        <pc:chgData name="Lepori Angelica" userId="55a5bc30-81af-4e93-b812-e5e14fd30480" providerId="ADAL" clId="{D2172EE2-CC9E-43EC-8C00-080A388CF3C0}" dt="2026-02-02T12:47:08.333" v="1" actId="20577"/>
        <pc:sldMkLst>
          <pc:docMk/>
          <pc:sldMk cId="1098694419" sldId="268"/>
        </pc:sldMkLst>
        <pc:spChg chg="mod">
          <ac:chgData name="Lepori Angelica" userId="55a5bc30-81af-4e93-b812-e5e14fd30480" providerId="ADAL" clId="{D2172EE2-CC9E-43EC-8C00-080A388CF3C0}" dt="2026-02-02T12:47:08.333" v="1" actId="20577"/>
          <ac:spMkLst>
            <pc:docMk/>
            <pc:sldMk cId="1098694419" sldId="268"/>
            <ac:spMk id="3" creationId="{370FC8F8-71E4-E43D-C35B-426E3F79C820}"/>
          </ac:spMkLst>
        </pc:spChg>
      </pc:sldChg>
      <pc:sldChg chg="new del">
        <pc:chgData name="Lepori Angelica" userId="55a5bc30-81af-4e93-b812-e5e14fd30480" providerId="ADAL" clId="{D2172EE2-CC9E-43EC-8C00-080A388CF3C0}" dt="2026-02-05T14:09:35.039" v="9" actId="47"/>
        <pc:sldMkLst>
          <pc:docMk/>
          <pc:sldMk cId="2338801254" sldId="269"/>
        </pc:sldMkLst>
      </pc:sldChg>
      <pc:sldChg chg="addSp modSp new mod">
        <pc:chgData name="Lepori Angelica" userId="55a5bc30-81af-4e93-b812-e5e14fd30480" providerId="ADAL" clId="{D2172EE2-CC9E-43EC-8C00-080A388CF3C0}" dt="2026-02-05T14:29:35.701" v="1325" actId="20577"/>
        <pc:sldMkLst>
          <pc:docMk/>
          <pc:sldMk cId="1627363176" sldId="270"/>
        </pc:sldMkLst>
        <pc:spChg chg="mod">
          <ac:chgData name="Lepori Angelica" userId="55a5bc30-81af-4e93-b812-e5e14fd30480" providerId="ADAL" clId="{D2172EE2-CC9E-43EC-8C00-080A388CF3C0}" dt="2026-02-05T14:16:35.883" v="549" actId="1076"/>
          <ac:spMkLst>
            <pc:docMk/>
            <pc:sldMk cId="1627363176" sldId="270"/>
            <ac:spMk id="2" creationId="{4E320B46-E461-7CAA-E59F-8D02E06E0CA6}"/>
          </ac:spMkLst>
        </pc:spChg>
        <pc:spChg chg="mod">
          <ac:chgData name="Lepori Angelica" userId="55a5bc30-81af-4e93-b812-e5e14fd30480" providerId="ADAL" clId="{D2172EE2-CC9E-43EC-8C00-080A388CF3C0}" dt="2026-02-05T14:11:57.771" v="237" actId="20577"/>
          <ac:spMkLst>
            <pc:docMk/>
            <pc:sldMk cId="1627363176" sldId="270"/>
            <ac:spMk id="3" creationId="{0F39F6DD-DBDE-A3D7-F7FD-5481B3914877}"/>
          </ac:spMkLst>
        </pc:spChg>
        <pc:graphicFrameChg chg="add mod modGraphic">
          <ac:chgData name="Lepori Angelica" userId="55a5bc30-81af-4e93-b812-e5e14fd30480" providerId="ADAL" clId="{D2172EE2-CC9E-43EC-8C00-080A388CF3C0}" dt="2026-02-05T14:29:35.701" v="1325" actId="20577"/>
          <ac:graphicFrameMkLst>
            <pc:docMk/>
            <pc:sldMk cId="1627363176" sldId="270"/>
            <ac:graphicFrameMk id="4" creationId="{042219A7-9340-056F-5F85-960A44675791}"/>
          </ac:graphicFrameMkLst>
        </pc:graphicFrameChg>
      </pc:sldChg>
      <pc:sldChg chg="delSp modSp new mod">
        <pc:chgData name="Lepori Angelica" userId="55a5bc30-81af-4e93-b812-e5e14fd30480" providerId="ADAL" clId="{D2172EE2-CC9E-43EC-8C00-080A388CF3C0}" dt="2026-02-05T14:22:43.341" v="1323" actId="20577"/>
        <pc:sldMkLst>
          <pc:docMk/>
          <pc:sldMk cId="247506684" sldId="271"/>
        </pc:sldMkLst>
        <pc:spChg chg="del mod">
          <ac:chgData name="Lepori Angelica" userId="55a5bc30-81af-4e93-b812-e5e14fd30480" providerId="ADAL" clId="{D2172EE2-CC9E-43EC-8C00-080A388CF3C0}" dt="2026-02-05T14:17:10.049" v="552" actId="478"/>
          <ac:spMkLst>
            <pc:docMk/>
            <pc:sldMk cId="247506684" sldId="271"/>
            <ac:spMk id="2" creationId="{CC456AC4-A9BC-9F49-B8CD-53091FF3A298}"/>
          </ac:spMkLst>
        </pc:spChg>
        <pc:spChg chg="mod">
          <ac:chgData name="Lepori Angelica" userId="55a5bc30-81af-4e93-b812-e5e14fd30480" providerId="ADAL" clId="{D2172EE2-CC9E-43EC-8C00-080A388CF3C0}" dt="2026-02-05T14:22:43.341" v="1323" actId="20577"/>
          <ac:spMkLst>
            <pc:docMk/>
            <pc:sldMk cId="247506684" sldId="271"/>
            <ac:spMk id="3" creationId="{679B972E-1A16-2B1B-79C9-1E0B7913FA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D0573-0288-488C-832D-3FDC760E4490}" type="datetimeFigureOut">
              <a:rPr lang="it-CH" smtClean="0"/>
              <a:t>05.02.2026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5C7E4-626D-40A0-96BC-5E246AAD138C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85392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5C7E4-626D-40A0-96BC-5E246AAD138C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48671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4275" y="225552"/>
            <a:ext cx="527304" cy="1569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7980" y="910926"/>
            <a:ext cx="2789099" cy="8044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4637" y="1709371"/>
            <a:ext cx="7932420" cy="521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iccolo.cuppini@supsi.ch" TargetMode="External"/><Relationship Id="rId2" Type="http://schemas.openxmlformats.org/officeDocument/2006/relationships/hyperlink" Target="mailto:angelica.lepori@supsi.c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oliver.galfetti@supsi.ch" TargetMode="External"/><Relationship Id="rId4" Type="http://schemas.openxmlformats.org/officeDocument/2006/relationships/hyperlink" Target="mailto:ornella.larenza@supsi.ch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0"/>
            <a:ext cx="10081260" cy="1955800"/>
            <a:chOff x="304800" y="0"/>
            <a:chExt cx="10081260" cy="1955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4" y="237942"/>
              <a:ext cx="498968" cy="1384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4800" y="0"/>
              <a:ext cx="10081260" cy="1932939"/>
            </a:xfrm>
            <a:custGeom>
              <a:avLst/>
              <a:gdLst/>
              <a:ahLst/>
              <a:cxnLst/>
              <a:rect l="l" t="t" r="r" b="b"/>
              <a:pathLst>
                <a:path w="10081260" h="1932939">
                  <a:moveTo>
                    <a:pt x="10081260" y="1932432"/>
                  </a:moveTo>
                  <a:lnTo>
                    <a:pt x="0" y="1932432"/>
                  </a:lnTo>
                  <a:lnTo>
                    <a:pt x="0" y="0"/>
                  </a:lnTo>
                  <a:lnTo>
                    <a:pt x="10081260" y="0"/>
                  </a:lnTo>
                  <a:lnTo>
                    <a:pt x="10081260" y="1932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227" y="198120"/>
              <a:ext cx="4419600" cy="16230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316" y="205740"/>
              <a:ext cx="7240523" cy="174955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8693" y="2239645"/>
            <a:ext cx="569023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dirty="0"/>
              <a:t>Mondi</a:t>
            </a:r>
            <a:r>
              <a:rPr sz="4850" spc="-95" dirty="0"/>
              <a:t> </a:t>
            </a:r>
            <a:r>
              <a:rPr sz="4850" dirty="0"/>
              <a:t>del</a:t>
            </a:r>
            <a:r>
              <a:rPr sz="4850" spc="-45" dirty="0"/>
              <a:t> </a:t>
            </a:r>
            <a:r>
              <a:rPr sz="4850" dirty="0" err="1"/>
              <a:t>lavoro</a:t>
            </a:r>
            <a:r>
              <a:rPr sz="4850" spc="-105" dirty="0"/>
              <a:t> </a:t>
            </a:r>
            <a:r>
              <a:rPr sz="4850" spc="-20" dirty="0"/>
              <a:t>202</a:t>
            </a:r>
            <a:r>
              <a:rPr lang="it-CH" sz="4850" spc="-20" dirty="0"/>
              <a:t>6</a:t>
            </a:r>
            <a:endParaRPr sz="4850" dirty="0"/>
          </a:p>
        </p:txBody>
      </p:sp>
      <p:sp>
        <p:nvSpPr>
          <p:cNvPr id="8" name="object 8"/>
          <p:cNvSpPr txBox="1"/>
          <p:nvPr/>
        </p:nvSpPr>
        <p:spPr>
          <a:xfrm>
            <a:off x="9916124" y="191529"/>
            <a:ext cx="118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1038225"/>
            <a:ext cx="4419600" cy="891182"/>
          </a:xfrm>
          <a:prstGeom prst="rect">
            <a:avLst/>
          </a:prstGeom>
        </p:spPr>
        <p:txBody>
          <a:bodyPr vert="horz" wrap="square" lIns="0" tIns="333923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Chi</a:t>
            </a:r>
            <a:r>
              <a:rPr sz="3600" spc="-90" dirty="0"/>
              <a:t> </a:t>
            </a:r>
            <a:r>
              <a:rPr sz="3600" spc="-10" dirty="0"/>
              <a:t>siamo?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500" y="2409825"/>
            <a:ext cx="7727035" cy="21607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Arial"/>
                <a:cs typeface="Arial"/>
              </a:rPr>
              <a:t>Angelica</a:t>
            </a:r>
            <a:r>
              <a:rPr sz="2000" b="1" spc="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Lepori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(responsabile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modulo),</a:t>
            </a:r>
            <a:r>
              <a:rPr sz="2000" spc="90" dirty="0">
                <a:latin typeface="Arial"/>
                <a:cs typeface="Arial"/>
              </a:rPr>
              <a:t> </a:t>
            </a:r>
            <a:r>
              <a:rPr sz="2000" u="sng" spc="-10" dirty="0"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/>
              </a:rPr>
              <a:t>angelica.lepori@supsi.ch</a:t>
            </a:r>
            <a:endParaRPr sz="2000" dirty="0">
              <a:latin typeface="Arial"/>
              <a:cs typeface="Arial"/>
            </a:endParaRPr>
          </a:p>
          <a:p>
            <a:pPr marL="12700" marR="2444750">
              <a:lnSpc>
                <a:spcPct val="204000"/>
              </a:lnSpc>
              <a:spcBef>
                <a:spcPts val="370"/>
              </a:spcBef>
            </a:pPr>
            <a:r>
              <a:rPr sz="2000" b="1" dirty="0">
                <a:latin typeface="Arial"/>
                <a:cs typeface="Arial"/>
              </a:rPr>
              <a:t>Niccolò</a:t>
            </a:r>
            <a:r>
              <a:rPr sz="2000" b="1" spc="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Cuppini,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u="sng" spc="-10" dirty="0"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3"/>
              </a:rPr>
              <a:t>niccolo.cuppini@supsi.ch</a:t>
            </a:r>
            <a:r>
              <a:rPr sz="2000" u="none" spc="-10" dirty="0">
                <a:latin typeface="Arial"/>
                <a:cs typeface="Arial"/>
              </a:rPr>
              <a:t> </a:t>
            </a:r>
            <a:r>
              <a:rPr sz="2000" b="1" u="none" dirty="0">
                <a:latin typeface="Arial"/>
                <a:cs typeface="Arial"/>
              </a:rPr>
              <a:t>Ornella</a:t>
            </a:r>
            <a:r>
              <a:rPr sz="2000" b="1" u="none" spc="55" dirty="0">
                <a:latin typeface="Arial"/>
                <a:cs typeface="Arial"/>
              </a:rPr>
              <a:t> </a:t>
            </a:r>
            <a:r>
              <a:rPr sz="2000" b="1" u="none" dirty="0">
                <a:latin typeface="Arial"/>
                <a:cs typeface="Arial"/>
              </a:rPr>
              <a:t>Larenza,</a:t>
            </a:r>
            <a:r>
              <a:rPr sz="2000" b="1" u="none" spc="95" dirty="0">
                <a:latin typeface="Arial"/>
                <a:cs typeface="Arial"/>
              </a:rPr>
              <a:t> </a:t>
            </a:r>
            <a:r>
              <a:rPr sz="2000" u="sng" spc="-10" dirty="0"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4"/>
              </a:rPr>
              <a:t>ornella.larenza@supsi.ch</a:t>
            </a:r>
            <a:r>
              <a:rPr sz="2000" u="none" spc="-10" dirty="0">
                <a:latin typeface="Arial"/>
                <a:cs typeface="Arial"/>
              </a:rPr>
              <a:t> </a:t>
            </a:r>
            <a:r>
              <a:rPr lang="it-CH" sz="2000" b="1" u="none" dirty="0">
                <a:latin typeface="Arial"/>
                <a:cs typeface="Arial"/>
              </a:rPr>
              <a:t>Oliver Galfetti</a:t>
            </a:r>
            <a:r>
              <a:rPr sz="2000" b="1" u="none" dirty="0">
                <a:latin typeface="Arial"/>
                <a:cs typeface="Arial"/>
              </a:rPr>
              <a:t>,</a:t>
            </a:r>
            <a:r>
              <a:rPr sz="2000" b="1" u="none" spc="-10" dirty="0">
                <a:latin typeface="Arial"/>
                <a:cs typeface="Arial"/>
              </a:rPr>
              <a:t> </a:t>
            </a:r>
            <a:r>
              <a:rPr sz="2000" u="sng" spc="-10" dirty="0"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5"/>
              </a:rPr>
              <a:t>oliver.galfetti@supsi.ch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793FFF2-183E-7159-C990-DDA6D2D88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2257425"/>
            <a:ext cx="9677400" cy="3886200"/>
          </a:xfrm>
        </p:spPr>
        <p:txBody>
          <a:bodyPr/>
          <a:lstStyle/>
          <a:p>
            <a:pPr algn="just"/>
            <a:r>
              <a:rPr lang="it-CH" sz="2000" dirty="0"/>
              <a:t>Di fronte alle trasformazioni che attraversano il mercato e l’organizzazione del lavoro in questi ultimi anni, il modulo si propone di analizzare l’evoluzione storica del lavoro e delle modalità attraverso le quali questo si è organizzato nel tempo.</a:t>
            </a:r>
          </a:p>
          <a:p>
            <a:pPr algn="just"/>
            <a:endParaRPr lang="it-CH" sz="2000" dirty="0"/>
          </a:p>
          <a:p>
            <a:pPr algn="just"/>
            <a:r>
              <a:rPr lang="it-CH" sz="2000" dirty="0"/>
              <a:t>Un’attenzione particolare sarà data ai fenomeni attuali quali la flessibilità e la precarietà dell’ impiego con riferimento alle conseguenze di questi ultimi sulla qualità di vita dei lavoratori e delle lavoratrici.</a:t>
            </a:r>
          </a:p>
          <a:p>
            <a:pPr algn="just"/>
            <a:endParaRPr lang="it-CH" sz="2000" dirty="0"/>
          </a:p>
          <a:p>
            <a:pPr algn="just"/>
            <a:r>
              <a:rPr lang="it-CH" sz="2000" dirty="0"/>
              <a:t>I temi trattati toccano direttamente il lavoro sociale e gli operatori e le operatrici sociali sia quali futuri lavoratori/</a:t>
            </a:r>
            <a:r>
              <a:rPr lang="it-CH" sz="2000" dirty="0" err="1"/>
              <a:t>trici</a:t>
            </a:r>
            <a:r>
              <a:rPr lang="it-CH" sz="2000" dirty="0"/>
              <a:t>, inseriti quindi in un contesto lavorativo in continuo mutamento, sia in relazione agli ambiti di lavoro legati per esempio al reinserimento lavorativo di categorie «vulnerabili».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12BBF17-249F-2E1D-AAE1-91B84186D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1190625"/>
            <a:ext cx="2789099" cy="804458"/>
          </a:xfrm>
          <a:prstGeom prst="rect">
            <a:avLst/>
          </a:prstGeom>
        </p:spPr>
        <p:txBody>
          <a:bodyPr vert="horz" wrap="square" lIns="0" tIns="253234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Obiettivi</a:t>
            </a:r>
          </a:p>
        </p:txBody>
      </p:sp>
    </p:spTree>
    <p:extLst>
      <p:ext uri="{BB962C8B-B14F-4D97-AF65-F5344CB8AC3E}">
        <p14:creationId xmlns:p14="http://schemas.microsoft.com/office/powerpoint/2010/main" val="2044610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700" y="885825"/>
            <a:ext cx="4648200" cy="715674"/>
          </a:xfrm>
          <a:prstGeom prst="rect">
            <a:avLst/>
          </a:prstGeom>
        </p:spPr>
        <p:txBody>
          <a:bodyPr vert="horz" wrap="square" lIns="0" tIns="251553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Contenuti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2105025"/>
            <a:ext cx="9601200" cy="405373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37185" marR="1769745" indent="-325120" algn="just">
              <a:lnSpc>
                <a:spcPct val="102099"/>
              </a:lnSpc>
              <a:spcBef>
                <a:spcPts val="80"/>
              </a:spcBef>
              <a:buChar char="•"/>
              <a:tabLst>
                <a:tab pos="337185" algn="l"/>
              </a:tabLst>
            </a:pPr>
            <a:r>
              <a:rPr sz="2400" dirty="0">
                <a:latin typeface="Arial"/>
                <a:cs typeface="Arial"/>
              </a:rPr>
              <a:t>Definizione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dei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termini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lavoro 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impiego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attività, </a:t>
            </a:r>
            <a:r>
              <a:rPr sz="2400" dirty="0">
                <a:latin typeface="Arial"/>
                <a:cs typeface="Arial"/>
              </a:rPr>
              <a:t>occupazione/sotto-</a:t>
            </a:r>
            <a:r>
              <a:rPr sz="2400" spc="200" dirty="0">
                <a:latin typeface="Arial"/>
                <a:cs typeface="Arial"/>
              </a:rPr>
              <a:t> </a:t>
            </a:r>
            <a:r>
              <a:rPr sz="2400" spc="-10" dirty="0" err="1">
                <a:latin typeface="Arial"/>
                <a:cs typeface="Arial"/>
              </a:rPr>
              <a:t>occupazione</a:t>
            </a:r>
            <a:r>
              <a:rPr sz="2400" spc="-10" dirty="0">
                <a:latin typeface="Arial"/>
                <a:cs typeface="Arial"/>
              </a:rPr>
              <a:t>…)</a:t>
            </a:r>
            <a:endParaRPr lang="it-CH" sz="2400" spc="-10" dirty="0">
              <a:latin typeface="Arial"/>
              <a:cs typeface="Arial"/>
            </a:endParaRPr>
          </a:p>
          <a:p>
            <a:pPr marL="337185" marR="1769745" indent="-325120" algn="just">
              <a:lnSpc>
                <a:spcPct val="102099"/>
              </a:lnSpc>
              <a:spcBef>
                <a:spcPts val="80"/>
              </a:spcBef>
              <a:buChar char="•"/>
              <a:tabLst>
                <a:tab pos="337185" algn="l"/>
              </a:tabLst>
            </a:pPr>
            <a:endParaRPr sz="2400" dirty="0">
              <a:latin typeface="Arial"/>
              <a:cs typeface="Arial"/>
            </a:endParaRPr>
          </a:p>
          <a:p>
            <a:pPr marL="337185" marR="68580" indent="-325120" algn="just">
              <a:lnSpc>
                <a:spcPct val="101499"/>
              </a:lnSpc>
              <a:spcBef>
                <a:spcPts val="445"/>
              </a:spcBef>
              <a:buChar char="•"/>
              <a:tabLst>
                <a:tab pos="337185" algn="l"/>
              </a:tabLst>
            </a:pPr>
            <a:r>
              <a:rPr sz="2400" dirty="0">
                <a:latin typeface="Arial"/>
                <a:cs typeface="Arial"/>
              </a:rPr>
              <a:t>Analisi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dell’evoluzione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storica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dell’organizzazione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lavoro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dei </a:t>
            </a:r>
            <a:r>
              <a:rPr sz="2400" dirty="0">
                <a:latin typeface="Arial"/>
                <a:cs typeface="Arial"/>
              </a:rPr>
              <a:t>rapporti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</a:t>
            </a:r>
            <a:r>
              <a:rPr sz="2400" spc="120" dirty="0">
                <a:latin typeface="Arial"/>
                <a:cs typeface="Arial"/>
              </a:rPr>
              <a:t> </a:t>
            </a:r>
            <a:r>
              <a:rPr sz="2400" spc="-10" dirty="0" err="1">
                <a:latin typeface="Arial"/>
                <a:cs typeface="Arial"/>
              </a:rPr>
              <a:t>impiego</a:t>
            </a:r>
            <a:r>
              <a:rPr lang="it-CH" sz="2400" spc="-10" dirty="0">
                <a:latin typeface="Arial"/>
                <a:cs typeface="Arial"/>
              </a:rPr>
              <a:t>.</a:t>
            </a:r>
          </a:p>
          <a:p>
            <a:pPr marL="337185" marR="68580" indent="-325120" algn="just">
              <a:lnSpc>
                <a:spcPct val="101499"/>
              </a:lnSpc>
              <a:spcBef>
                <a:spcPts val="445"/>
              </a:spcBef>
              <a:buChar char="•"/>
              <a:tabLst>
                <a:tab pos="337185" algn="l"/>
              </a:tabLst>
            </a:pPr>
            <a:endParaRPr lang="it-CH" sz="2400" spc="-10" dirty="0">
              <a:latin typeface="Arial"/>
              <a:cs typeface="Arial"/>
            </a:endParaRPr>
          </a:p>
          <a:p>
            <a:pPr marL="337185" marR="509270" indent="-325120" algn="just">
              <a:lnSpc>
                <a:spcPct val="101600"/>
              </a:lnSpc>
              <a:spcBef>
                <a:spcPts val="455"/>
              </a:spcBef>
              <a:buChar char="•"/>
              <a:tabLst>
                <a:tab pos="337185" algn="l"/>
              </a:tabLst>
            </a:pPr>
            <a:r>
              <a:rPr sz="2400" dirty="0">
                <a:latin typeface="Arial"/>
                <a:cs typeface="Arial"/>
              </a:rPr>
              <a:t>Quadro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generale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riferimento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dirty="0" err="1">
                <a:latin typeface="Arial"/>
                <a:cs typeface="Arial"/>
              </a:rPr>
              <a:t>analisi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lang="it-CH" sz="2400" dirty="0">
                <a:latin typeface="Arial"/>
                <a:cs typeface="Arial"/>
              </a:rPr>
              <a:t> </a:t>
            </a:r>
            <a:r>
              <a:rPr sz="2400" dirty="0" err="1">
                <a:latin typeface="Arial"/>
                <a:cs typeface="Arial"/>
              </a:rPr>
              <a:t>mercato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lavoro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Svizzera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Ticino.</a:t>
            </a:r>
            <a:endParaRPr lang="it-CH" sz="2400" spc="-10" dirty="0">
              <a:latin typeface="Arial"/>
              <a:cs typeface="Arial"/>
            </a:endParaRPr>
          </a:p>
          <a:p>
            <a:pPr marL="337185" marR="509270" indent="-325120" algn="just">
              <a:lnSpc>
                <a:spcPct val="101600"/>
              </a:lnSpc>
              <a:spcBef>
                <a:spcPts val="455"/>
              </a:spcBef>
              <a:buChar char="•"/>
              <a:tabLst>
                <a:tab pos="337185" algn="l"/>
              </a:tabLst>
            </a:pPr>
            <a:endParaRPr lang="it-CH" sz="2400" spc="-10" dirty="0">
              <a:latin typeface="Arial"/>
              <a:cs typeface="Arial"/>
            </a:endParaRPr>
          </a:p>
          <a:p>
            <a:pPr marL="337185" marR="509270" indent="-325120" algn="just">
              <a:lnSpc>
                <a:spcPct val="101600"/>
              </a:lnSpc>
              <a:spcBef>
                <a:spcPts val="455"/>
              </a:spcBef>
              <a:buChar char="•"/>
              <a:tabLst>
                <a:tab pos="337185" algn="l"/>
              </a:tabLst>
            </a:pPr>
            <a:r>
              <a:rPr lang="it-CH" sz="2400" spc="-10" dirty="0">
                <a:latin typeface="Arial"/>
                <a:cs typeface="Arial"/>
              </a:rPr>
              <a:t>Storia e ruolo delle organizzazioni sindacali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C40F140E-7B84-E729-9D85-992679C08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78492"/>
              </p:ext>
            </p:extLst>
          </p:nvPr>
        </p:nvGraphicFramePr>
        <p:xfrm>
          <a:off x="1841500" y="276225"/>
          <a:ext cx="6172200" cy="6934199"/>
        </p:xfrm>
        <a:graphic>
          <a:graphicData uri="http://schemas.openxmlformats.org/drawingml/2006/table">
            <a:tbl>
              <a:tblPr firstRow="1" firstCol="1" bandRow="1"/>
              <a:tblGrid>
                <a:gridCol w="615423">
                  <a:extLst>
                    <a:ext uri="{9D8B030D-6E8A-4147-A177-3AD203B41FA5}">
                      <a16:colId xmlns:a16="http://schemas.microsoft.com/office/drawing/2014/main" val="1257927159"/>
                    </a:ext>
                  </a:extLst>
                </a:gridCol>
                <a:gridCol w="3199045">
                  <a:extLst>
                    <a:ext uri="{9D8B030D-6E8A-4147-A177-3AD203B41FA5}">
                      <a16:colId xmlns:a16="http://schemas.microsoft.com/office/drawing/2014/main" val="2841118852"/>
                    </a:ext>
                  </a:extLst>
                </a:gridCol>
                <a:gridCol w="2357732">
                  <a:extLst>
                    <a:ext uri="{9D8B030D-6E8A-4147-A177-3AD203B41FA5}">
                      <a16:colId xmlns:a16="http://schemas.microsoft.com/office/drawing/2014/main" val="2336233500"/>
                    </a:ext>
                  </a:extLst>
                </a:gridCol>
              </a:tblGrid>
              <a:tr h="2874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TEMA (ore 8.45 – 10.15)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SEMINARIO (ore 10.30 – 12)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96156"/>
                  </a:ext>
                </a:extLst>
              </a:tr>
              <a:tr h="9175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16.02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Introduzione al modulo 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Introduzione storica sulle trasformazioni dell’organizzazione del lavoro Parte 1 (Angelica Lepori)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Visione Film di Ken Loach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“Sorry we missed you” (2019)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390780"/>
                  </a:ext>
                </a:extLst>
              </a:tr>
              <a:tr h="61699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23.02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Introduzione storica sulle trasformazioni dell’organizzazione del lavoro Parte 1 (Angelica Lepori) 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Discussione sul film e introduzione all’inchiesta 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21215"/>
                  </a:ext>
                </a:extLst>
              </a:tr>
              <a:tr h="5796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2.03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Digitalizzazione e lavoro -parte 1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Piattaforme e digitalizzazione (Niccolò Cuppini)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Lavoro di gruppo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876476"/>
                  </a:ext>
                </a:extLst>
              </a:tr>
              <a:tr h="5796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9.03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Digitalizzazione e lavoro - parte 2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Rivoluzione industriale 4.0 (Niccolò Cuppini)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Lavoro di gruppo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596229"/>
                  </a:ext>
                </a:extLst>
              </a:tr>
              <a:tr h="5796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16.03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Il mercato del lavoro: una lettura economica (Ornella Larenza) 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Lavoro di gruppo 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Consegna della scheda progetto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079587"/>
                  </a:ext>
                </a:extLst>
              </a:tr>
              <a:tr h="61699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23.03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Mercato del lavoro ticinese: tendenze ed evoluzione (Maurizio Bigotta, Ufficio cantonale di statistica)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Lavoro di gruppo</a:t>
                      </a:r>
                      <a:endParaRPr lang="it-CH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it-CH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3" marR="6863" marT="6863" marB="68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978747"/>
                  </a:ext>
                </a:extLst>
              </a:tr>
              <a:tr h="44802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30.03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Il lavoro nel percorso di vita e ruolo delle donne (Ornella Larenza, Angelica Lepori)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Lavoro di gruppo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3" marR="6863" marT="6863" marB="68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167344"/>
                  </a:ext>
                </a:extLst>
              </a:tr>
              <a:tr h="279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Intera mattinata dedicata al lavoro di inchiesta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0984"/>
                  </a:ext>
                </a:extLst>
              </a:tr>
              <a:tr h="44802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20.04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Il lavoro alla frontiera (Paolo Barcella, Università di Bergamo)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Lavoro di gruppo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412658"/>
                  </a:ext>
                </a:extLst>
              </a:tr>
              <a:tr h="44802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27.04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Storia del sindacato in Svizzera accenni al diritto del lavoro (Oliver Galfetti)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Lavoro di gruppo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321018"/>
                  </a:ext>
                </a:extLst>
              </a:tr>
              <a:tr h="279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04.05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Intera mattinata dedicata al lavoro di inchiesta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783276"/>
                  </a:ext>
                </a:extLst>
              </a:tr>
              <a:tr h="279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11.05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Presentazione in classe dei reel prodotti in seminario (4 ore)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928901"/>
                  </a:ext>
                </a:extLst>
              </a:tr>
              <a:tr h="2874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18.05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Presentazione in classe dei reel prodotti in seminario (4ore)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505796"/>
                  </a:ext>
                </a:extLst>
              </a:tr>
              <a:tr h="2874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01.06</a:t>
                      </a:r>
                      <a:endParaRPr lang="it-CH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CH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Stesura elaborato</a:t>
                      </a:r>
                      <a:endParaRPr lang="it-CH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55" marR="45755" marT="45755" marB="457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62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83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320B46-E461-7CAA-E59F-8D02E06E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68" y="771504"/>
            <a:ext cx="7932420" cy="461665"/>
          </a:xfrm>
        </p:spPr>
        <p:txBody>
          <a:bodyPr/>
          <a:lstStyle/>
          <a:p>
            <a:r>
              <a:rPr lang="it-CH" dirty="0"/>
              <a:t>Dispensa collettiva del corso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39F6DD-DBDE-A3D7-F7FD-5481B3914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900" y="1647825"/>
            <a:ext cx="8076157" cy="1015663"/>
          </a:xfrm>
        </p:spPr>
        <p:txBody>
          <a:bodyPr/>
          <a:lstStyle/>
          <a:p>
            <a:r>
              <a:rPr lang="it-CH" dirty="0"/>
              <a:t>Ogni gruppo di seminario dovrà sistematizzare gli appunti di alcune lezioni e consegnarle al/alla docente di riferimento. I gruppi sono divisi come segue.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42219A7-9340-056F-5F85-960A44675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973092"/>
              </p:ext>
            </p:extLst>
          </p:nvPr>
        </p:nvGraphicFramePr>
        <p:xfrm>
          <a:off x="850900" y="2938722"/>
          <a:ext cx="8534400" cy="337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544523786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1007998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836200680"/>
                    </a:ext>
                  </a:extLst>
                </a:gridCol>
              </a:tblGrid>
              <a:tr h="622120">
                <a:tc>
                  <a:txBody>
                    <a:bodyPr/>
                    <a:lstStyle/>
                    <a:p>
                      <a:endParaRPr lang="it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602385"/>
                  </a:ext>
                </a:extLst>
              </a:tr>
              <a:tr h="687606"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Lezione del 16 e del 23 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Gruppo docente Lepori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marzo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59391"/>
                  </a:ext>
                </a:extLst>
              </a:tr>
              <a:tr h="687606"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Lezioni del 2 marzo e 9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Gruppo docente Cuppini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 </a:t>
                      </a:r>
                      <a:r>
                        <a:rPr lang="it-CH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 2026</a:t>
                      </a:r>
                      <a:endParaRPr lang="it-CH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322379"/>
                  </a:ext>
                </a:extLst>
              </a:tr>
              <a:tr h="687606"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Lezioni del 16 marzo e del 23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Gruppo docente Larenza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marzo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462428"/>
                  </a:ext>
                </a:extLst>
              </a:tr>
              <a:tr h="687606"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Lezioni 30 marzo, 20 aprile e 27 aprile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Gruppo docente Galfetti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maggio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133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36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9B972E-1A16-2B1B-79C9-1E0B7913F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14425"/>
            <a:ext cx="8304757" cy="5755422"/>
          </a:xfrm>
        </p:spPr>
        <p:txBody>
          <a:bodyPr/>
          <a:lstStyle/>
          <a:p>
            <a:r>
              <a:rPr lang="it-CH" dirty="0"/>
              <a:t>Indicativamente ogni studentessa/studente prende individualmente appunti e poi nel gruppo autonomamente vi organizzate per produrre un documento unico.</a:t>
            </a:r>
          </a:p>
          <a:p>
            <a:endParaRPr lang="it-CH" dirty="0"/>
          </a:p>
          <a:p>
            <a:r>
              <a:rPr lang="it-CH" dirty="0"/>
              <a:t>Si tratta di produrre un testo completo (evitare punti elenco, abbreviazioni, </a:t>
            </a:r>
            <a:r>
              <a:rPr lang="it-CH" dirty="0" err="1"/>
              <a:t>ecc</a:t>
            </a:r>
            <a:r>
              <a:rPr lang="it-CH" dirty="0"/>
              <a:t>) con riferimenti bibliografici corretti e una buona sintassi.</a:t>
            </a:r>
          </a:p>
          <a:p>
            <a:endParaRPr lang="it-CH" dirty="0"/>
          </a:p>
          <a:p>
            <a:r>
              <a:rPr lang="it-CH" dirty="0"/>
              <a:t>La lunghezza può variare da un minimo di 12.000 caratteri ad un massimo di 28.000 caratteri spazi inclusi (Arial 11).</a:t>
            </a:r>
          </a:p>
          <a:p>
            <a:endParaRPr lang="it-CH" dirty="0"/>
          </a:p>
          <a:p>
            <a:r>
              <a:rPr lang="it-CH" dirty="0"/>
              <a:t>Al termine del corso gli appunti, rivisti dalle/dai docenti, verranno messi a disposizione della classe.</a:t>
            </a:r>
          </a:p>
          <a:p>
            <a:endParaRPr lang="it-CH" dirty="0"/>
          </a:p>
          <a:p>
            <a:r>
              <a:rPr lang="it-CH" dirty="0"/>
              <a:t>Il documento è da caricare in piattaforma nella cartella dispensa collettiva che si trova in fondo alla pagina. </a:t>
            </a:r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24750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839568"/>
            <a:ext cx="2789099" cy="804458"/>
          </a:xfrm>
          <a:prstGeom prst="rect">
            <a:avLst/>
          </a:prstGeom>
        </p:spPr>
        <p:txBody>
          <a:bodyPr vert="horz" wrap="square" lIns="0" tIns="286668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Organizzazione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397" y="1933356"/>
            <a:ext cx="6737103" cy="657872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950" dirty="0">
                <a:latin typeface="Arial"/>
                <a:cs typeface="Arial"/>
              </a:rPr>
              <a:t>Lezioni: </a:t>
            </a:r>
            <a:r>
              <a:rPr sz="1950" b="1" dirty="0">
                <a:latin typeface="Arial"/>
                <a:cs typeface="Arial"/>
              </a:rPr>
              <a:t>8.45</a:t>
            </a:r>
            <a:r>
              <a:rPr sz="1950" b="1" spc="-1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–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10.15</a:t>
            </a:r>
            <a:r>
              <a:rPr sz="1950" b="1" spc="1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aula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209</a:t>
            </a: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950" dirty="0">
                <a:latin typeface="Arial"/>
                <a:cs typeface="Arial"/>
              </a:rPr>
              <a:t>Seminari: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10.30 –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12.00</a:t>
            </a:r>
            <a:r>
              <a:rPr sz="1950" b="1" spc="-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aule </a:t>
            </a:r>
            <a:r>
              <a:rPr sz="1950" spc="-10" dirty="0">
                <a:latin typeface="Arial"/>
                <a:cs typeface="Arial"/>
              </a:rPr>
              <a:t>301/303/401/403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9397" y="2884354"/>
            <a:ext cx="8946903" cy="602857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80"/>
              </a:spcBef>
            </a:pPr>
            <a:r>
              <a:rPr sz="1950" dirty="0">
                <a:latin typeface="Arial"/>
                <a:cs typeface="Arial"/>
              </a:rPr>
              <a:t>I</a:t>
            </a:r>
            <a:r>
              <a:rPr lang="it-CH" sz="1950" dirty="0">
                <a:latin typeface="Arial"/>
                <a:cs typeface="Arial"/>
              </a:rPr>
              <a:t>l</a:t>
            </a:r>
            <a:r>
              <a:rPr sz="1950" spc="200" dirty="0">
                <a:latin typeface="Arial"/>
                <a:cs typeface="Arial"/>
              </a:rPr>
              <a:t> </a:t>
            </a:r>
            <a:r>
              <a:rPr sz="1950" dirty="0" err="1">
                <a:latin typeface="Arial"/>
                <a:cs typeface="Arial"/>
              </a:rPr>
              <a:t>seminari</a:t>
            </a:r>
            <a:r>
              <a:rPr lang="it-CH" sz="1950" dirty="0">
                <a:latin typeface="Arial"/>
                <a:cs typeface="Arial"/>
              </a:rPr>
              <a:t>o</a:t>
            </a:r>
            <a:r>
              <a:rPr sz="1950" spc="210" dirty="0">
                <a:latin typeface="Arial"/>
                <a:cs typeface="Arial"/>
              </a:rPr>
              <a:t> </a:t>
            </a:r>
            <a:r>
              <a:rPr lang="it-CH" sz="1950" dirty="0">
                <a:latin typeface="Arial"/>
                <a:cs typeface="Arial"/>
              </a:rPr>
              <a:t>è organizzato </a:t>
            </a:r>
            <a:r>
              <a:rPr sz="1950" dirty="0">
                <a:latin typeface="Arial"/>
                <a:cs typeface="Arial"/>
              </a:rPr>
              <a:t>in</a:t>
            </a:r>
            <a:r>
              <a:rPr sz="1950" spc="200" dirty="0">
                <a:latin typeface="Arial"/>
                <a:cs typeface="Arial"/>
              </a:rPr>
              <a:t> </a:t>
            </a:r>
            <a:r>
              <a:rPr lang="it-CH" sz="1950" b="1" dirty="0">
                <a:latin typeface="Arial"/>
                <a:cs typeface="Arial"/>
              </a:rPr>
              <a:t>4</a:t>
            </a:r>
            <a:r>
              <a:rPr sz="1950" b="1" spc="204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gruppi</a:t>
            </a:r>
            <a:r>
              <a:rPr sz="1950" b="1" spc="19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e</a:t>
            </a:r>
            <a:r>
              <a:rPr sz="1950" spc="20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sarà</a:t>
            </a:r>
            <a:r>
              <a:rPr sz="1950" spc="18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dedicato</a:t>
            </a:r>
            <a:r>
              <a:rPr sz="1950" spc="20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ad</a:t>
            </a:r>
            <a:r>
              <a:rPr sz="1950" spc="180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un</a:t>
            </a:r>
            <a:r>
              <a:rPr lang="it-CH" sz="1950" spc="-25" dirty="0">
                <a:latin typeface="Arial"/>
                <a:cs typeface="Arial"/>
              </a:rPr>
              <a:t> un lavoro di gruppo. 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9397" y="3792699"/>
            <a:ext cx="8946903" cy="18557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0010">
              <a:lnSpc>
                <a:spcPct val="101600"/>
              </a:lnSpc>
              <a:spcBef>
                <a:spcPts val="90"/>
              </a:spcBef>
            </a:pPr>
            <a:r>
              <a:rPr sz="1950" dirty="0">
                <a:latin typeface="Arial"/>
                <a:cs typeface="Arial"/>
              </a:rPr>
              <a:t>In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alcune</a:t>
            </a:r>
            <a:r>
              <a:rPr sz="1950" spc="-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occasioni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l’intera</a:t>
            </a:r>
            <a:r>
              <a:rPr sz="1950" spc="1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mattinata</a:t>
            </a:r>
            <a:r>
              <a:rPr sz="1950" spc="2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sarà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dedicata</a:t>
            </a:r>
            <a:r>
              <a:rPr sz="1950" spc="2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al</a:t>
            </a:r>
            <a:r>
              <a:rPr sz="1950" spc="2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lavoro</a:t>
            </a:r>
            <a:r>
              <a:rPr sz="1950" spc="1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di</a:t>
            </a:r>
            <a:r>
              <a:rPr sz="1950" spc="2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gruppo. </a:t>
            </a:r>
            <a:r>
              <a:rPr sz="1950" dirty="0">
                <a:latin typeface="Arial"/>
                <a:cs typeface="Arial"/>
              </a:rPr>
              <a:t>Prestate</a:t>
            </a:r>
            <a:r>
              <a:rPr sz="1950" spc="11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attenzione</a:t>
            </a:r>
            <a:r>
              <a:rPr sz="1950" spc="3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al</a:t>
            </a:r>
            <a:r>
              <a:rPr sz="1950" spc="80" dirty="0">
                <a:latin typeface="Arial"/>
                <a:cs typeface="Arial"/>
              </a:rPr>
              <a:t> </a:t>
            </a:r>
            <a:r>
              <a:rPr sz="1950" spc="-10" dirty="0" err="1">
                <a:latin typeface="Arial"/>
                <a:cs typeface="Arial"/>
              </a:rPr>
              <a:t>calendario</a:t>
            </a:r>
            <a:r>
              <a:rPr sz="1950" spc="-10" dirty="0">
                <a:latin typeface="Arial"/>
                <a:cs typeface="Arial"/>
              </a:rPr>
              <a:t>.</a:t>
            </a:r>
            <a:endParaRPr lang="it-CH" sz="1950" spc="-10" dirty="0">
              <a:latin typeface="Arial"/>
              <a:cs typeface="Arial"/>
            </a:endParaRPr>
          </a:p>
          <a:p>
            <a:pPr marL="12700" marR="80010">
              <a:lnSpc>
                <a:spcPct val="101600"/>
              </a:lnSpc>
              <a:spcBef>
                <a:spcPts val="90"/>
              </a:spcBef>
            </a:pPr>
            <a:endParaRPr lang="it-CH" sz="1950" spc="-1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950" dirty="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sz="1950" b="1" dirty="0">
                <a:latin typeface="Arial"/>
                <a:cs typeface="Arial"/>
              </a:rPr>
              <a:t>La</a:t>
            </a:r>
            <a:r>
              <a:rPr sz="1950" b="1" spc="4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frequenza ai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seminari</a:t>
            </a:r>
            <a:r>
              <a:rPr sz="1950" b="1" spc="7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è</a:t>
            </a:r>
            <a:r>
              <a:rPr sz="1950" b="1" spc="2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obbligatoria</a:t>
            </a:r>
            <a:r>
              <a:rPr sz="1950" dirty="0">
                <a:latin typeface="Arial"/>
                <a:cs typeface="Arial"/>
              </a:rPr>
              <a:t>.</a:t>
            </a:r>
            <a:r>
              <a:rPr sz="1950" spc="-2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Assenze superiori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al</a:t>
            </a:r>
            <a:r>
              <a:rPr sz="1950" spc="3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20%</a:t>
            </a:r>
            <a:r>
              <a:rPr sz="1950" spc="35" dirty="0">
                <a:latin typeface="Arial"/>
                <a:cs typeface="Arial"/>
              </a:rPr>
              <a:t> </a:t>
            </a:r>
            <a:r>
              <a:rPr sz="1950" spc="-10" dirty="0" err="1">
                <a:latin typeface="Arial"/>
                <a:cs typeface="Arial"/>
              </a:rPr>
              <a:t>delle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dirty="0" err="1">
                <a:latin typeface="Arial"/>
                <a:cs typeface="Arial"/>
              </a:rPr>
              <a:t>lezioni</a:t>
            </a:r>
            <a:r>
              <a:rPr lang="it-CH" sz="1950" dirty="0">
                <a:latin typeface="Arial"/>
                <a:cs typeface="Arial"/>
              </a:rPr>
              <a:t> di seminario</a:t>
            </a:r>
            <a:r>
              <a:rPr sz="1950" spc="10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pregiudicano</a:t>
            </a:r>
            <a:r>
              <a:rPr sz="1950" spc="8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la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possibilità</a:t>
            </a:r>
            <a:r>
              <a:rPr sz="1950" spc="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di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sostenere</a:t>
            </a:r>
            <a:r>
              <a:rPr sz="1950" spc="1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l’esame</a:t>
            </a:r>
            <a:endParaRPr sz="1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5EF23-97A9-8A5B-487A-C0A45FB5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6" y="962025"/>
            <a:ext cx="4738204" cy="461665"/>
          </a:xfrm>
        </p:spPr>
        <p:txBody>
          <a:bodyPr/>
          <a:lstStyle/>
          <a:p>
            <a:r>
              <a:rPr lang="it-CH" dirty="0"/>
              <a:t>Cosa faremo al seminario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338F4E-045C-F05F-FDAE-C4B38EDE7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96" y="1876425"/>
            <a:ext cx="9462604" cy="3724096"/>
          </a:xfrm>
        </p:spPr>
        <p:txBody>
          <a:bodyPr/>
          <a:lstStyle/>
          <a:p>
            <a:r>
              <a:rPr lang="it-IT" dirty="0"/>
              <a:t>Il lavoro del seminario consiste in una breve inchiesta su un luogo di lavoro del nostro territorio. </a:t>
            </a:r>
          </a:p>
          <a:p>
            <a:endParaRPr lang="it-IT" dirty="0"/>
          </a:p>
          <a:p>
            <a:r>
              <a:rPr lang="it-IT" dirty="0"/>
              <a:t>L’analisi dovrà essere svolta tendendo conto delle tematiche discusse all’interno delle lezioni plenarie del modulo.</a:t>
            </a:r>
          </a:p>
          <a:p>
            <a:r>
              <a:rPr lang="it-IT" dirty="0"/>
              <a:t>Obiettivo del lavoro è quello di analizzare un luogo di lavoro mettendone in evidenza la storia, le caratteristiche, il ruolo nel tessuto economico e sociale del cantone e le condizioni di lavoro.</a:t>
            </a:r>
          </a:p>
          <a:p>
            <a:endParaRPr lang="it-IT" dirty="0"/>
          </a:p>
          <a:p>
            <a:endParaRPr lang="it-IT" dirty="0"/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410418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0324E9-EBAD-D92E-99E7-4F07FEF9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733426"/>
            <a:ext cx="7932420" cy="609600"/>
          </a:xfrm>
        </p:spPr>
        <p:txBody>
          <a:bodyPr/>
          <a:lstStyle/>
          <a:p>
            <a:r>
              <a:rPr lang="it-CH" dirty="0"/>
              <a:t>Presentazione del lavoro di seminario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0FC8F8-71E4-E43D-C35B-426E3F79C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900" y="1343026"/>
            <a:ext cx="9372599" cy="3724096"/>
          </a:xfrm>
        </p:spPr>
        <p:txBody>
          <a:bodyPr/>
          <a:lstStyle/>
          <a:p>
            <a:r>
              <a:rPr lang="it-IT" dirty="0"/>
              <a:t>Per presentare le inchieste ogni gruppo dovrà tradurre il proprio lavoro in un contenuto per i social media (indicativamente un </a:t>
            </a:r>
            <a:r>
              <a:rPr lang="it-IT" dirty="0" err="1"/>
              <a:t>carusel</a:t>
            </a:r>
            <a:r>
              <a:rPr lang="it-IT" dirty="0"/>
              <a:t> e un </a:t>
            </a:r>
            <a:r>
              <a:rPr lang="it-IT" dirty="0" err="1"/>
              <a:t>reel</a:t>
            </a:r>
            <a:r>
              <a:rPr lang="it-IT" dirty="0"/>
              <a:t> per Instagram o </a:t>
            </a:r>
            <a:r>
              <a:rPr lang="it-IT" dirty="0" err="1"/>
              <a:t>Tik</a:t>
            </a:r>
            <a:r>
              <a:rPr lang="it-IT" dirty="0"/>
              <a:t> </a:t>
            </a:r>
            <a:r>
              <a:rPr lang="it-IT" dirty="0" err="1"/>
              <a:t>Tok</a:t>
            </a:r>
            <a:r>
              <a:rPr lang="it-IT" dirty="0"/>
              <a:t>). </a:t>
            </a:r>
          </a:p>
          <a:p>
            <a:endParaRPr lang="it-IT" dirty="0"/>
          </a:p>
          <a:p>
            <a:r>
              <a:rPr lang="it-IT" dirty="0"/>
              <a:t>Durante le lezioni del </a:t>
            </a:r>
            <a:r>
              <a:rPr lang="it-IT" b="1" dirty="0"/>
              <a:t>11 e 18 maggio </a:t>
            </a:r>
            <a:r>
              <a:rPr lang="it-IT" dirty="0"/>
              <a:t>i prodotti verranno presentati alla classe che voterà ciascun prodotto elaborato dai gruppi di lavoro.</a:t>
            </a:r>
          </a:p>
          <a:p>
            <a:endParaRPr lang="it-IT" dirty="0"/>
          </a:p>
          <a:p>
            <a:r>
              <a:rPr lang="it-IT" dirty="0"/>
              <a:t>Inoltre, ogni gruppo dovrà redigere </a:t>
            </a:r>
            <a:r>
              <a:rPr lang="it-IT" b="1" u="sng" dirty="0"/>
              <a:t>un elaborato scritto </a:t>
            </a:r>
            <a:r>
              <a:rPr lang="it-IT" dirty="0"/>
              <a:t>(circa 25/30.000 segni spazi inclusi) da consegnare in piattaforma entro il </a:t>
            </a:r>
            <a:r>
              <a:rPr lang="it-IT" b="1" dirty="0"/>
              <a:t>8 </a:t>
            </a:r>
            <a:r>
              <a:rPr lang="it-IT" b="1"/>
              <a:t>giugno </a:t>
            </a:r>
            <a:r>
              <a:rPr lang="it-IT"/>
              <a:t>2026.</a:t>
            </a:r>
            <a:endParaRPr lang="it-IT" dirty="0"/>
          </a:p>
          <a:p>
            <a:endParaRPr lang="it-IT" dirty="0"/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109869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962025"/>
            <a:ext cx="1828800" cy="484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Valutazione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69900" y="1800225"/>
            <a:ext cx="9601200" cy="4932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8605" algn="just">
              <a:lnSpc>
                <a:spcPct val="100200"/>
              </a:lnSpc>
              <a:spcBef>
                <a:spcPts val="100"/>
              </a:spcBef>
            </a:pPr>
            <a:r>
              <a:rPr dirty="0"/>
              <a:t>La</a:t>
            </a:r>
            <a:r>
              <a:rPr spc="490" dirty="0"/>
              <a:t> </a:t>
            </a:r>
            <a:r>
              <a:rPr dirty="0"/>
              <a:t>valutazione</a:t>
            </a:r>
            <a:r>
              <a:rPr spc="475" dirty="0"/>
              <a:t> </a:t>
            </a:r>
            <a:r>
              <a:rPr dirty="0"/>
              <a:t>del</a:t>
            </a:r>
            <a:r>
              <a:rPr spc="500" dirty="0"/>
              <a:t> </a:t>
            </a:r>
            <a:r>
              <a:rPr dirty="0"/>
              <a:t>modulo</a:t>
            </a:r>
            <a:r>
              <a:rPr spc="495" dirty="0"/>
              <a:t> </a:t>
            </a:r>
            <a:r>
              <a:rPr dirty="0"/>
              <a:t>prevede</a:t>
            </a:r>
            <a:r>
              <a:rPr spc="490" dirty="0"/>
              <a:t> </a:t>
            </a:r>
            <a:r>
              <a:rPr dirty="0"/>
              <a:t>un</a:t>
            </a:r>
            <a:r>
              <a:rPr spc="475" dirty="0"/>
              <a:t> </a:t>
            </a:r>
            <a:r>
              <a:rPr dirty="0"/>
              <a:t>esame</a:t>
            </a:r>
            <a:r>
              <a:rPr spc="475" dirty="0"/>
              <a:t> </a:t>
            </a:r>
            <a:r>
              <a:rPr dirty="0"/>
              <a:t>scritto</a:t>
            </a:r>
            <a:r>
              <a:rPr spc="475" dirty="0"/>
              <a:t> </a:t>
            </a:r>
            <a:r>
              <a:rPr spc="-10" dirty="0"/>
              <a:t>sulla </a:t>
            </a:r>
            <a:r>
              <a:rPr dirty="0"/>
              <a:t>parte</a:t>
            </a:r>
            <a:r>
              <a:rPr spc="260" dirty="0"/>
              <a:t> </a:t>
            </a:r>
            <a:r>
              <a:rPr dirty="0"/>
              <a:t>plenaria</a:t>
            </a:r>
            <a:r>
              <a:rPr spc="285" dirty="0"/>
              <a:t> </a:t>
            </a:r>
            <a:r>
              <a:rPr dirty="0"/>
              <a:t>e</a:t>
            </a:r>
            <a:r>
              <a:rPr spc="285" dirty="0"/>
              <a:t> </a:t>
            </a:r>
            <a:r>
              <a:rPr dirty="0"/>
              <a:t>un</a:t>
            </a:r>
            <a:r>
              <a:rPr spc="280" dirty="0"/>
              <a:t>  </a:t>
            </a:r>
            <a:r>
              <a:rPr dirty="0"/>
              <a:t>lavoro</a:t>
            </a:r>
            <a:r>
              <a:rPr spc="285" dirty="0"/>
              <a:t> </a:t>
            </a:r>
            <a:r>
              <a:rPr dirty="0"/>
              <a:t>di</a:t>
            </a:r>
            <a:r>
              <a:rPr spc="275" dirty="0"/>
              <a:t> </a:t>
            </a:r>
            <a:r>
              <a:rPr dirty="0"/>
              <a:t>gruppo</a:t>
            </a:r>
            <a:r>
              <a:rPr spc="285" dirty="0"/>
              <a:t> </a:t>
            </a:r>
            <a:r>
              <a:rPr dirty="0"/>
              <a:t>per</a:t>
            </a:r>
            <a:r>
              <a:rPr spc="265" dirty="0"/>
              <a:t> </a:t>
            </a:r>
            <a:r>
              <a:rPr dirty="0"/>
              <a:t>quanto</a:t>
            </a:r>
            <a:r>
              <a:rPr spc="285" dirty="0"/>
              <a:t> </a:t>
            </a:r>
            <a:r>
              <a:rPr dirty="0"/>
              <a:t>riguarda</a:t>
            </a:r>
            <a:r>
              <a:rPr spc="285" dirty="0"/>
              <a:t> </a:t>
            </a:r>
            <a:r>
              <a:rPr spc="-25" dirty="0"/>
              <a:t>il </a:t>
            </a:r>
            <a:r>
              <a:rPr dirty="0"/>
              <a:t>seminario.</a:t>
            </a:r>
            <a:r>
              <a:rPr spc="10" dirty="0"/>
              <a:t>  </a:t>
            </a:r>
            <a:r>
              <a:rPr dirty="0"/>
              <a:t>L’esame</a:t>
            </a:r>
            <a:r>
              <a:rPr spc="15" dirty="0"/>
              <a:t>  </a:t>
            </a:r>
            <a:r>
              <a:rPr dirty="0"/>
              <a:t>scritto</a:t>
            </a:r>
            <a:r>
              <a:rPr spc="25" dirty="0"/>
              <a:t>  </a:t>
            </a:r>
            <a:r>
              <a:rPr dirty="0"/>
              <a:t>si</a:t>
            </a:r>
            <a:r>
              <a:rPr spc="20" dirty="0"/>
              <a:t>  </a:t>
            </a:r>
            <a:r>
              <a:rPr dirty="0"/>
              <a:t>baserà</a:t>
            </a:r>
            <a:r>
              <a:rPr spc="25" dirty="0"/>
              <a:t>  </a:t>
            </a:r>
            <a:r>
              <a:rPr dirty="0" err="1"/>
              <a:t>sul</a:t>
            </a:r>
            <a:r>
              <a:rPr spc="240" dirty="0"/>
              <a:t>   </a:t>
            </a:r>
            <a:r>
              <a:rPr dirty="0" err="1"/>
              <a:t>contenuto</a:t>
            </a:r>
            <a:r>
              <a:rPr lang="it-CH" spc="25" dirty="0"/>
              <a:t> dei testi proposti che verranno spiegati e approfonditi in classe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pc="-10" dirty="0"/>
          </a:p>
          <a:p>
            <a:pPr marL="12700" marR="5080" algn="just">
              <a:lnSpc>
                <a:spcPct val="100200"/>
              </a:lnSpc>
              <a:spcBef>
                <a:spcPts val="5"/>
              </a:spcBef>
            </a:pPr>
            <a:r>
              <a:rPr b="1" dirty="0"/>
              <a:t>Il</a:t>
            </a:r>
            <a:r>
              <a:rPr b="1" spc="400" dirty="0"/>
              <a:t> </a:t>
            </a:r>
            <a:r>
              <a:rPr b="1" dirty="0"/>
              <a:t>voto</a:t>
            </a:r>
            <a:r>
              <a:rPr b="1" spc="395" dirty="0"/>
              <a:t> </a:t>
            </a:r>
            <a:r>
              <a:rPr b="1" dirty="0"/>
              <a:t>sarà</a:t>
            </a:r>
            <a:r>
              <a:rPr b="1" spc="375" dirty="0"/>
              <a:t> </a:t>
            </a:r>
            <a:r>
              <a:rPr b="1" dirty="0"/>
              <a:t>una</a:t>
            </a:r>
            <a:r>
              <a:rPr b="1" spc="375" dirty="0"/>
              <a:t> </a:t>
            </a:r>
            <a:r>
              <a:rPr b="1" dirty="0"/>
              <a:t>media</a:t>
            </a:r>
            <a:r>
              <a:rPr b="1" spc="395" dirty="0"/>
              <a:t> </a:t>
            </a:r>
            <a:r>
              <a:rPr b="1" dirty="0"/>
              <a:t>ponderata</a:t>
            </a:r>
            <a:r>
              <a:rPr b="1" spc="380" dirty="0"/>
              <a:t> </a:t>
            </a:r>
            <a:r>
              <a:rPr b="1" dirty="0"/>
              <a:t>delle</a:t>
            </a:r>
            <a:r>
              <a:rPr b="1" spc="375" dirty="0"/>
              <a:t> </a:t>
            </a:r>
            <a:r>
              <a:rPr b="1" dirty="0"/>
              <a:t>due</a:t>
            </a:r>
            <a:r>
              <a:rPr b="1" spc="395" dirty="0"/>
              <a:t> </a:t>
            </a:r>
            <a:r>
              <a:rPr b="1" dirty="0"/>
              <a:t>valutazioni</a:t>
            </a:r>
            <a:r>
              <a:rPr b="1" spc="385" dirty="0"/>
              <a:t> </a:t>
            </a:r>
            <a:r>
              <a:rPr b="1" spc="-20" dirty="0"/>
              <a:t>(70% </a:t>
            </a:r>
            <a:r>
              <a:rPr b="1" dirty="0"/>
              <a:t>esame</a:t>
            </a:r>
            <a:r>
              <a:rPr b="1" spc="-35" dirty="0"/>
              <a:t> </a:t>
            </a:r>
            <a:r>
              <a:rPr b="1" dirty="0"/>
              <a:t>scritto</a:t>
            </a:r>
            <a:r>
              <a:rPr b="1" spc="-35" dirty="0"/>
              <a:t> </a:t>
            </a:r>
            <a:r>
              <a:rPr b="1" dirty="0"/>
              <a:t>e</a:t>
            </a:r>
            <a:r>
              <a:rPr b="1" spc="-5" dirty="0"/>
              <a:t> </a:t>
            </a:r>
            <a:r>
              <a:rPr b="1" dirty="0"/>
              <a:t>30%</a:t>
            </a:r>
            <a:r>
              <a:rPr b="1" spc="-20" dirty="0"/>
              <a:t>  </a:t>
            </a:r>
            <a:r>
              <a:rPr b="1" dirty="0"/>
              <a:t>lavoro</a:t>
            </a:r>
            <a:r>
              <a:rPr b="1" spc="-30" dirty="0"/>
              <a:t> </a:t>
            </a:r>
            <a:r>
              <a:rPr b="1" dirty="0"/>
              <a:t>di</a:t>
            </a:r>
            <a:r>
              <a:rPr b="1" spc="-20" dirty="0"/>
              <a:t> </a:t>
            </a:r>
            <a:r>
              <a:rPr b="1" dirty="0"/>
              <a:t>seminario),</a:t>
            </a:r>
            <a:r>
              <a:rPr b="1" spc="-15" dirty="0"/>
              <a:t> </a:t>
            </a:r>
            <a:r>
              <a:rPr b="1" dirty="0"/>
              <a:t>il</a:t>
            </a:r>
            <a:r>
              <a:rPr b="1" spc="-25" dirty="0"/>
              <a:t> </a:t>
            </a:r>
            <a:r>
              <a:rPr b="1" dirty="0"/>
              <a:t>modulo</a:t>
            </a:r>
            <a:r>
              <a:rPr b="1" spc="-30" dirty="0"/>
              <a:t> </a:t>
            </a:r>
            <a:r>
              <a:rPr b="1" dirty="0"/>
              <a:t>è</a:t>
            </a:r>
            <a:r>
              <a:rPr b="1" spc="-10" dirty="0"/>
              <a:t> certificato </a:t>
            </a:r>
            <a:r>
              <a:rPr b="1" dirty="0"/>
              <a:t>se</a:t>
            </a:r>
            <a:r>
              <a:rPr b="1" spc="509" dirty="0"/>
              <a:t> </a:t>
            </a:r>
            <a:r>
              <a:rPr b="1" dirty="0"/>
              <a:t>la</a:t>
            </a:r>
            <a:r>
              <a:rPr b="1" spc="509" dirty="0"/>
              <a:t> </a:t>
            </a:r>
            <a:r>
              <a:rPr b="1" dirty="0"/>
              <a:t>nota</a:t>
            </a:r>
            <a:r>
              <a:rPr b="1" spc="470" dirty="0"/>
              <a:t> </a:t>
            </a:r>
            <a:r>
              <a:rPr b="1" dirty="0"/>
              <a:t>finale</a:t>
            </a:r>
            <a:r>
              <a:rPr b="1" spc="495" dirty="0"/>
              <a:t> </a:t>
            </a:r>
            <a:r>
              <a:rPr b="1" dirty="0"/>
              <a:t>(media</a:t>
            </a:r>
            <a:r>
              <a:rPr b="1" spc="490" dirty="0"/>
              <a:t> </a:t>
            </a:r>
            <a:r>
              <a:rPr b="1" dirty="0"/>
              <a:t>ponderata</a:t>
            </a:r>
            <a:r>
              <a:rPr b="1" spc="490" dirty="0"/>
              <a:t>  </a:t>
            </a:r>
            <a:r>
              <a:rPr b="1" dirty="0"/>
              <a:t>delle</a:t>
            </a:r>
            <a:r>
              <a:rPr b="1" spc="495" dirty="0"/>
              <a:t> </a:t>
            </a:r>
            <a:r>
              <a:rPr b="1" dirty="0"/>
              <a:t>due</a:t>
            </a:r>
            <a:r>
              <a:rPr b="1" spc="490" dirty="0"/>
              <a:t> </a:t>
            </a:r>
            <a:r>
              <a:rPr b="1" dirty="0"/>
              <a:t>valutazioni)</a:t>
            </a:r>
            <a:r>
              <a:rPr b="1" spc="480" dirty="0"/>
              <a:t> </a:t>
            </a:r>
            <a:r>
              <a:rPr b="1" spc="-50" dirty="0"/>
              <a:t>è </a:t>
            </a:r>
            <a:r>
              <a:rPr b="1" dirty="0"/>
              <a:t>superiore</a:t>
            </a:r>
            <a:r>
              <a:rPr b="1" spc="215" dirty="0"/>
              <a:t>  </a:t>
            </a:r>
            <a:r>
              <a:rPr b="1" dirty="0"/>
              <a:t>o</a:t>
            </a:r>
            <a:r>
              <a:rPr b="1" spc="215" dirty="0"/>
              <a:t>  </a:t>
            </a:r>
            <a:r>
              <a:rPr b="1" dirty="0"/>
              <a:t>uguale</a:t>
            </a:r>
            <a:r>
              <a:rPr b="1" spc="220" dirty="0"/>
              <a:t>  </a:t>
            </a:r>
            <a:r>
              <a:rPr b="1" dirty="0"/>
              <a:t>a</a:t>
            </a:r>
            <a:r>
              <a:rPr b="1" spc="235" dirty="0"/>
              <a:t>  </a:t>
            </a:r>
            <a:r>
              <a:rPr b="1" dirty="0"/>
              <a:t>4</a:t>
            </a:r>
            <a:r>
              <a:rPr lang="it-CH" b="1" spc="220" dirty="0"/>
              <a:t>  </a:t>
            </a:r>
            <a:r>
              <a:rPr lang="it-CH" b="1" dirty="0"/>
              <a:t>e</a:t>
            </a:r>
            <a:r>
              <a:rPr lang="it-CH" b="1" spc="229" dirty="0"/>
              <a:t>  </a:t>
            </a:r>
            <a:r>
              <a:rPr lang="it-CH" b="1" dirty="0"/>
              <a:t>se</a:t>
            </a:r>
            <a:r>
              <a:rPr lang="it-CH" b="1" spc="215" dirty="0"/>
              <a:t>  </a:t>
            </a:r>
            <a:r>
              <a:rPr lang="it-CH" b="1" dirty="0"/>
              <a:t>l</a:t>
            </a:r>
            <a:r>
              <a:rPr b="1" dirty="0"/>
              <a:t>a</a:t>
            </a:r>
            <a:r>
              <a:rPr b="1" spc="229" dirty="0"/>
              <a:t>  </a:t>
            </a:r>
            <a:r>
              <a:rPr b="1" dirty="0"/>
              <a:t>nota</a:t>
            </a:r>
            <a:r>
              <a:rPr b="1" spc="215" dirty="0"/>
              <a:t>  </a:t>
            </a:r>
            <a:r>
              <a:rPr b="1" dirty="0"/>
              <a:t>dell’esame</a:t>
            </a:r>
            <a:r>
              <a:rPr b="1" spc="220" dirty="0"/>
              <a:t>  </a:t>
            </a:r>
            <a:r>
              <a:rPr b="1" spc="-10" dirty="0"/>
              <a:t>scritto </a:t>
            </a:r>
            <a:r>
              <a:rPr b="1" dirty="0"/>
              <a:t>individuale</a:t>
            </a:r>
            <a:r>
              <a:rPr b="1" spc="-35" dirty="0"/>
              <a:t> </a:t>
            </a:r>
            <a:r>
              <a:rPr b="1" dirty="0"/>
              <a:t>è</a:t>
            </a:r>
            <a:r>
              <a:rPr b="1" spc="-30" dirty="0"/>
              <a:t> </a:t>
            </a:r>
            <a:r>
              <a:rPr b="1" dirty="0"/>
              <a:t>superiore</a:t>
            </a:r>
            <a:r>
              <a:rPr b="1" spc="-10" dirty="0"/>
              <a:t> </a:t>
            </a:r>
            <a:r>
              <a:rPr b="1" dirty="0"/>
              <a:t>a</a:t>
            </a:r>
            <a:r>
              <a:rPr b="1" spc="-50" dirty="0"/>
              <a:t> </a:t>
            </a:r>
            <a:r>
              <a:rPr b="1" spc="-20" dirty="0"/>
              <a:t>3</a:t>
            </a:r>
            <a:r>
              <a:rPr lang="it-CH" b="1" spc="-20" dirty="0"/>
              <a:t>.</a:t>
            </a:r>
            <a:r>
              <a:rPr b="1" spc="-20" dirty="0"/>
              <a:t>5.</a:t>
            </a: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pc="-20" dirty="0"/>
          </a:p>
          <a:p>
            <a:pPr marL="12700" marR="411480" algn="just">
              <a:lnSpc>
                <a:spcPct val="100200"/>
              </a:lnSpc>
            </a:pPr>
            <a:r>
              <a:rPr dirty="0"/>
              <a:t>Nella</a:t>
            </a:r>
            <a:r>
              <a:rPr spc="254" dirty="0"/>
              <a:t>   </a:t>
            </a:r>
            <a:r>
              <a:rPr dirty="0"/>
              <a:t>valutazione</a:t>
            </a:r>
            <a:r>
              <a:rPr spc="260" dirty="0"/>
              <a:t>   </a:t>
            </a:r>
            <a:r>
              <a:rPr dirty="0"/>
              <a:t>finale</a:t>
            </a:r>
            <a:r>
              <a:rPr spc="254" dirty="0"/>
              <a:t>   </a:t>
            </a:r>
            <a:r>
              <a:rPr dirty="0"/>
              <a:t>avrà</a:t>
            </a:r>
            <a:r>
              <a:rPr spc="254" dirty="0"/>
              <a:t>   </a:t>
            </a:r>
            <a:r>
              <a:rPr dirty="0"/>
              <a:t>un</a:t>
            </a:r>
            <a:r>
              <a:rPr spc="254" dirty="0"/>
              <a:t>   </a:t>
            </a:r>
            <a:r>
              <a:rPr dirty="0"/>
              <a:t>peso</a:t>
            </a:r>
            <a:r>
              <a:rPr spc="254" dirty="0"/>
              <a:t>   </a:t>
            </a:r>
            <a:r>
              <a:rPr dirty="0"/>
              <a:t>anche</a:t>
            </a:r>
            <a:r>
              <a:rPr spc="254" dirty="0"/>
              <a:t>   </a:t>
            </a:r>
            <a:r>
              <a:rPr spc="-25" dirty="0"/>
              <a:t>la </a:t>
            </a:r>
            <a:r>
              <a:rPr dirty="0"/>
              <a:t>partecipazione</a:t>
            </a:r>
            <a:r>
              <a:rPr spc="155" dirty="0"/>
              <a:t> </a:t>
            </a:r>
            <a:r>
              <a:rPr dirty="0"/>
              <a:t>alle</a:t>
            </a:r>
            <a:r>
              <a:rPr spc="155" dirty="0"/>
              <a:t> </a:t>
            </a:r>
            <a:r>
              <a:rPr dirty="0"/>
              <a:t>lezioni</a:t>
            </a:r>
            <a:r>
              <a:rPr spc="185" dirty="0"/>
              <a:t> </a:t>
            </a:r>
            <a:r>
              <a:rPr dirty="0"/>
              <a:t>e</a:t>
            </a:r>
            <a:r>
              <a:rPr spc="180" dirty="0"/>
              <a:t> </a:t>
            </a:r>
            <a:r>
              <a:rPr dirty="0"/>
              <a:t>ai</a:t>
            </a:r>
            <a:r>
              <a:rPr spc="180" dirty="0"/>
              <a:t>  </a:t>
            </a:r>
            <a:r>
              <a:rPr dirty="0"/>
              <a:t>lavori</a:t>
            </a:r>
            <a:r>
              <a:rPr spc="185" dirty="0"/>
              <a:t> </a:t>
            </a:r>
            <a:r>
              <a:rPr dirty="0"/>
              <a:t>di</a:t>
            </a:r>
            <a:r>
              <a:rPr spc="185" dirty="0"/>
              <a:t> </a:t>
            </a:r>
            <a:r>
              <a:rPr dirty="0"/>
              <a:t>gruppo</a:t>
            </a:r>
            <a:r>
              <a:rPr spc="155" dirty="0"/>
              <a:t> </a:t>
            </a:r>
            <a:r>
              <a:rPr dirty="0"/>
              <a:t>e</a:t>
            </a:r>
            <a:r>
              <a:rPr spc="175" dirty="0"/>
              <a:t> </a:t>
            </a:r>
            <a:r>
              <a:rPr dirty="0"/>
              <a:t>il</a:t>
            </a:r>
            <a:r>
              <a:rPr spc="190" dirty="0"/>
              <a:t> </a:t>
            </a:r>
            <a:r>
              <a:rPr spc="-10" dirty="0"/>
              <a:t>rispetto </a:t>
            </a:r>
            <a:r>
              <a:rPr dirty="0"/>
              <a:t>delle</a:t>
            </a:r>
            <a:r>
              <a:rPr spc="-15" dirty="0"/>
              <a:t> </a:t>
            </a:r>
            <a:r>
              <a:rPr dirty="0"/>
              <a:t>consegne</a:t>
            </a:r>
            <a:r>
              <a:rPr spc="-5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dirty="0"/>
              <a:t>dei</a:t>
            </a:r>
            <a:r>
              <a:rPr spc="-20" dirty="0"/>
              <a:t> </a:t>
            </a:r>
            <a:r>
              <a:rPr dirty="0"/>
              <a:t>compiti</a:t>
            </a:r>
            <a:r>
              <a:rPr spc="-35" dirty="0"/>
              <a:t> </a:t>
            </a:r>
            <a:r>
              <a:rPr spc="-10" dirty="0"/>
              <a:t>assegnati.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5" y="225552"/>
            <a:ext cx="527304" cy="156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91182" y="3295910"/>
            <a:ext cx="7594600" cy="6892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97735" marR="5080" indent="-2185670">
              <a:lnSpc>
                <a:spcPct val="100899"/>
              </a:lnSpc>
              <a:spcBef>
                <a:spcPts val="90"/>
              </a:spcBef>
            </a:pP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Trovate</a:t>
            </a:r>
            <a:r>
              <a:rPr sz="225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tutto</a:t>
            </a:r>
            <a:r>
              <a:rPr sz="225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il</a:t>
            </a:r>
            <a:r>
              <a:rPr sz="225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materiale</a:t>
            </a:r>
            <a:r>
              <a:rPr sz="225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per</a:t>
            </a:r>
            <a:r>
              <a:rPr sz="225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il</a:t>
            </a:r>
            <a:r>
              <a:rPr sz="225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corso</a:t>
            </a:r>
            <a:r>
              <a:rPr sz="225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sulla</a:t>
            </a:r>
            <a:r>
              <a:rPr sz="225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piattaforma</a:t>
            </a:r>
            <a:r>
              <a:rPr sz="225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000000"/>
                </a:solidFill>
                <a:latin typeface="Arial"/>
                <a:cs typeface="Arial"/>
              </a:rPr>
              <a:t>icorsi: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Mondi</a:t>
            </a:r>
            <a:r>
              <a:rPr sz="225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00000"/>
                </a:solidFill>
                <a:latin typeface="Arial"/>
                <a:cs typeface="Arial"/>
              </a:rPr>
              <a:t>del</a:t>
            </a:r>
            <a:r>
              <a:rPr sz="225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50" dirty="0" err="1">
                <a:solidFill>
                  <a:srgbClr val="000000"/>
                </a:solidFill>
                <a:latin typeface="Arial"/>
                <a:cs typeface="Arial"/>
              </a:rPr>
              <a:t>lavoro</a:t>
            </a:r>
            <a:r>
              <a:rPr sz="225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CH" sz="2250" spc="-20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sz="22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32538a4-939e-4f12-952e-e33cf9e5689d}" enabled="0" method="" siteId="{832538a4-939e-4f12-952e-e33cf9e568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1034</Words>
  <Application>Microsoft Office PowerPoint</Application>
  <PresentationFormat>Personalizzato</PresentationFormat>
  <Paragraphs>116</Paragraphs>
  <Slides>12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Mondi del lavoro 2026</vt:lpstr>
      <vt:lpstr>Chi siamo?</vt:lpstr>
      <vt:lpstr>Obiettivi</vt:lpstr>
      <vt:lpstr>Contenuti</vt:lpstr>
      <vt:lpstr>Presentazione standard di PowerPoint</vt:lpstr>
      <vt:lpstr>Dispensa collettiva del corso</vt:lpstr>
      <vt:lpstr>Presentazione standard di PowerPoint</vt:lpstr>
      <vt:lpstr>Organizzazione</vt:lpstr>
      <vt:lpstr>Cosa faremo al seminario</vt:lpstr>
      <vt:lpstr>Presentazione del lavoro di seminario</vt:lpstr>
      <vt:lpstr>Valutazione</vt:lpstr>
      <vt:lpstr>Trovate tutto il materiale per il corso sulla piattaforma icorsi: Mondi del lavoro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presentazione prima lezione 2024 def</dc:title>
  <dc:creator>Angelica Lepori</dc:creator>
  <cp:lastModifiedBy>Lepori Angelica</cp:lastModifiedBy>
  <cp:revision>4</cp:revision>
  <dcterms:created xsi:type="dcterms:W3CDTF">2025-01-21T10:25:54Z</dcterms:created>
  <dcterms:modified xsi:type="dcterms:W3CDTF">2026-02-05T14:29:37Z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2024-02-18T00:00:00Z</vt:filetime>
  </property>
  <property fmtid="{D5CDD505-2E9C-101B-9397-08002B2CF9AE}" pid="3" name="LastSaved">
    <vt:filetime>2025-01-21T00:00:00Z</vt:filetime>
  </property>
  <property fmtid="{D5CDD505-2E9C-101B-9397-08002B2CF9AE}" pid="4" name="Producer">
    <vt:lpwstr>Microsoft: Print To PDF</vt:lpwstr>
  </property>
</Properties>
</file>