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302" r:id="rId9"/>
    <p:sldId id="310" r:id="rId10"/>
    <p:sldId id="381" r:id="rId11"/>
    <p:sldId id="270" r:id="rId12"/>
    <p:sldId id="271" r:id="rId1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07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324" y="237942"/>
            <a:ext cx="498968" cy="1384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4800" y="0"/>
            <a:ext cx="10081260" cy="1932939"/>
          </a:xfrm>
          <a:custGeom>
            <a:avLst/>
            <a:gdLst/>
            <a:ahLst/>
            <a:cxnLst/>
            <a:rect l="l" t="t" r="r" b="b"/>
            <a:pathLst>
              <a:path w="10081260" h="1932939">
                <a:moveTo>
                  <a:pt x="10081260" y="1932432"/>
                </a:moveTo>
                <a:lnTo>
                  <a:pt x="0" y="1932432"/>
                </a:lnTo>
                <a:lnTo>
                  <a:pt x="0" y="0"/>
                </a:lnTo>
                <a:lnTo>
                  <a:pt x="10081260" y="0"/>
                </a:lnTo>
                <a:lnTo>
                  <a:pt x="10081260" y="1932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227" y="198120"/>
            <a:ext cx="4419600" cy="162305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316" y="205740"/>
            <a:ext cx="7240523" cy="17495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8693" y="2239645"/>
            <a:ext cx="7776209" cy="2244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0"/>
            <a:ext cx="10081260" cy="7560945"/>
          </a:xfrm>
          <a:custGeom>
            <a:avLst/>
            <a:gdLst/>
            <a:ahLst/>
            <a:cxnLst/>
            <a:rect l="l" t="t" r="r" b="b"/>
            <a:pathLst>
              <a:path w="10081260" h="7560945">
                <a:moveTo>
                  <a:pt x="10081260" y="7560564"/>
                </a:moveTo>
                <a:lnTo>
                  <a:pt x="0" y="7560564"/>
                </a:lnTo>
                <a:lnTo>
                  <a:pt x="0" y="0"/>
                </a:lnTo>
                <a:lnTo>
                  <a:pt x="10081260" y="0"/>
                </a:lnTo>
                <a:lnTo>
                  <a:pt x="10081260" y="7560564"/>
                </a:lnTo>
                <a:close/>
              </a:path>
            </a:pathLst>
          </a:custGeom>
          <a:solidFill>
            <a:srgbClr val="009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94A48C5-CD8A-D538-7680-39375AEF52A4}"/>
              </a:ext>
            </a:extLst>
          </p:cNvPr>
          <p:cNvSpPr/>
          <p:nvPr/>
        </p:nvSpPr>
        <p:spPr>
          <a:xfrm>
            <a:off x="0" y="0"/>
            <a:ext cx="10693400" cy="1932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>
              <a:solidFill>
                <a:srgbClr val="FFFFFF"/>
              </a:solidFill>
            </a:endParaRPr>
          </a:p>
        </p:txBody>
      </p:sp>
      <p:pic>
        <p:nvPicPr>
          <p:cNvPr id="3" name="Immagine 9" descr="140925 DEASS_PowerPoint_Pagina_1.bmp">
            <a:extLst>
              <a:ext uri="{FF2B5EF4-FFF2-40B4-BE49-F238E27FC236}">
                <a16:creationId xmlns:a16="http://schemas.microsoft.com/office/drawing/2014/main" id="{A786BA9E-50F6-1900-E60B-CBAB1D63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82" y="204828"/>
            <a:ext cx="7678455" cy="175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8725" y="1955488"/>
            <a:ext cx="9935951" cy="1747158"/>
          </a:xfrm>
        </p:spPr>
        <p:txBody>
          <a:bodyPr/>
          <a:lstStyle>
            <a:lvl1pPr>
              <a:defRPr sz="5293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8725" y="3702646"/>
            <a:ext cx="9935951" cy="209553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382328" y="5924022"/>
            <a:ext cx="9936983" cy="1050606"/>
          </a:xfrm>
        </p:spPr>
        <p:txBody>
          <a:bodyPr/>
          <a:lstStyle>
            <a:lvl1pPr algn="l">
              <a:buNone/>
              <a:defRPr sz="1985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DADD95-A5F1-BD7E-6A2A-D5364689D11F}"/>
              </a:ext>
            </a:extLst>
          </p:cNvPr>
          <p:cNvSpPr>
            <a:spLocks noGrp="1" noChangeArrowheads="1"/>
          </p:cNvSpPr>
          <p:nvPr>
            <p:ph type="dt" sz="half" idx="14"/>
          </p:nvPr>
        </p:nvSpPr>
        <p:spPr>
          <a:xfrm>
            <a:off x="378724" y="7118183"/>
            <a:ext cx="2495127" cy="44466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5C8A6-4875-4F18-9597-36FEC6C70DF0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61FD92-D0DD-1ABE-A7A1-D39BB1DAF42A}"/>
              </a:ext>
            </a:extLst>
          </p:cNvPr>
          <p:cNvSpPr>
            <a:spLocks noGrp="1" noChangeArrowheads="1"/>
          </p:cNvSpPr>
          <p:nvPr>
            <p:ph type="ftr" sz="quarter" idx="15"/>
          </p:nvPr>
        </p:nvSpPr>
        <p:spPr>
          <a:xfrm>
            <a:off x="2905412" y="7118183"/>
            <a:ext cx="7409263" cy="44466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612151-5078-17F1-3109-11B85BDFB33F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E8F46-776B-454A-8C12-4CEE967F53C8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12698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47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985"/>
            </a:lvl1pPr>
            <a:lvl2pPr>
              <a:defRPr sz="1985"/>
            </a:lvl2pPr>
            <a:lvl3pPr>
              <a:defRPr sz="1985"/>
            </a:lvl3pPr>
            <a:lvl4pPr>
              <a:defRPr sz="1985"/>
            </a:lvl4pPr>
            <a:lvl5pPr>
              <a:defRPr sz="1985"/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D3AE0FA-55D8-4B25-3C77-DEFC8707DA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FCCC6-70A9-47A1-B8F9-DC9F18741DF3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75244D-5C20-6AB2-F709-EF2703F11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D71ED7-DB0E-465A-CEE6-82662BC0C6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B99B3-EB5B-4E2E-93AA-F6BD27DDD55D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740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47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78724" y="2113047"/>
            <a:ext cx="4878864" cy="4765296"/>
          </a:xfrm>
        </p:spPr>
        <p:txBody>
          <a:bodyPr/>
          <a:lstStyle>
            <a:lvl1pPr>
              <a:defRPr sz="1985"/>
            </a:lvl1pPr>
            <a:lvl2pPr>
              <a:defRPr sz="1985"/>
            </a:lvl2pPr>
            <a:lvl3pPr>
              <a:defRPr sz="1985"/>
            </a:lvl3pPr>
            <a:lvl4pPr>
              <a:defRPr sz="1985"/>
            </a:lvl4pPr>
            <a:lvl5pPr>
              <a:defRPr sz="1985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435812" y="2113047"/>
            <a:ext cx="4878864" cy="4765296"/>
          </a:xfrm>
        </p:spPr>
        <p:txBody>
          <a:bodyPr/>
          <a:lstStyle>
            <a:lvl1pPr>
              <a:defRPr sz="1985"/>
            </a:lvl1pPr>
            <a:lvl2pPr>
              <a:defRPr sz="1985"/>
            </a:lvl2pPr>
            <a:lvl3pPr>
              <a:defRPr sz="1985"/>
            </a:lvl3pPr>
            <a:lvl4pPr>
              <a:defRPr sz="1985"/>
            </a:lvl4pPr>
            <a:lvl5pPr>
              <a:defRPr sz="1985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6867D-4C38-8F71-C928-838CE574CB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EDBBF-FB0F-4D61-8C98-7ECAD6E6121A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E2101-2757-F1D0-EFEA-1FA7F4F689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73174-0974-C914-1337-411D8EDE15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ACDAA-EA99-4A07-A18A-F9D8C7F597CC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8383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56447" y="1242610"/>
            <a:ext cx="9980507" cy="638991"/>
          </a:xfrm>
        </p:spPr>
        <p:txBody>
          <a:bodyPr/>
          <a:lstStyle>
            <a:lvl1pPr>
              <a:defRPr sz="2647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56447" y="1932728"/>
            <a:ext cx="4902999" cy="705515"/>
          </a:xfrm>
        </p:spPr>
        <p:txBody>
          <a:bodyPr/>
          <a:lstStyle>
            <a:lvl1pPr marL="0" indent="0">
              <a:buNone/>
              <a:defRPr sz="1985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56447" y="2689013"/>
            <a:ext cx="4902999" cy="4066783"/>
          </a:xfrm>
        </p:spPr>
        <p:txBody>
          <a:bodyPr/>
          <a:lstStyle>
            <a:lvl1pPr>
              <a:defRPr sz="1985"/>
            </a:lvl1pPr>
            <a:lvl2pPr>
              <a:defRPr sz="1985"/>
            </a:lvl2pPr>
            <a:lvl3pPr>
              <a:defRPr sz="1985"/>
            </a:lvl3pPr>
            <a:lvl4pPr>
              <a:defRPr sz="1985"/>
            </a:lvl4pPr>
            <a:lvl5pPr>
              <a:defRPr sz="1985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432099" y="1932728"/>
            <a:ext cx="4904855" cy="705515"/>
          </a:xfrm>
        </p:spPr>
        <p:txBody>
          <a:bodyPr/>
          <a:lstStyle>
            <a:lvl1pPr marL="0" indent="0">
              <a:buNone/>
              <a:defRPr sz="1985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432099" y="2689013"/>
            <a:ext cx="4904855" cy="4066783"/>
          </a:xfrm>
        </p:spPr>
        <p:txBody>
          <a:bodyPr>
            <a:noAutofit/>
          </a:bodyPr>
          <a:lstStyle>
            <a:lvl1pPr>
              <a:defRPr sz="1985"/>
            </a:lvl1pPr>
            <a:lvl2pPr>
              <a:defRPr sz="1985"/>
            </a:lvl2pPr>
            <a:lvl3pPr>
              <a:defRPr sz="1985"/>
            </a:lvl3pPr>
            <a:lvl4pPr>
              <a:defRPr sz="1985"/>
            </a:lvl4pPr>
            <a:lvl5pPr>
              <a:buNone/>
              <a:defRPr sz="1985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E4D8F5-8AEB-5563-F0E2-29FFAA75D2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CD069-73FB-435F-B92B-D4A6004B2F0C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5543046-9522-2A9E-EBE7-5983A9D83E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B89CD3B-F759-2AD8-587B-75D36064B6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C0B3-DAD5-4AC5-A574-E1DC405997C6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93599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57849" y="1241219"/>
            <a:ext cx="9959301" cy="793048"/>
          </a:xfrm>
        </p:spPr>
        <p:txBody>
          <a:bodyPr/>
          <a:lstStyle>
            <a:lvl1pPr>
              <a:defRPr sz="2647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D9B636F-647F-79EC-92E9-BD5BAD3923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AF5F8-5CCF-485C-9675-671504865334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952BE01-CAEC-9B86-673F-83D2677116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823D65-E26B-066E-9E6C-ECDD1B493D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07ACE-0B86-4369-B797-8369CA9132C2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406832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F4C1FA4-3FBF-E343-F38A-C1B6FA3429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95E43-4667-4603-BCDF-C1D6816FB1CB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BEC2546-5F3B-CDB6-72BB-A1D02FA3A1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756169-3369-A8FE-51B3-84EBE4ECA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68742-6CCD-48F8-B1BA-AB2E2AA314AE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974417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81631" y="1243709"/>
            <a:ext cx="3539283" cy="1008380"/>
          </a:xfrm>
        </p:spPr>
        <p:txBody>
          <a:bodyPr/>
          <a:lstStyle>
            <a:lvl1pPr algn="l">
              <a:defRPr sz="2647" b="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180822" y="1242611"/>
            <a:ext cx="6133526" cy="5508954"/>
          </a:xfrm>
        </p:spPr>
        <p:txBody>
          <a:bodyPr/>
          <a:lstStyle>
            <a:lvl1pPr>
              <a:defRPr sz="1985"/>
            </a:lvl1pPr>
            <a:lvl2pPr>
              <a:defRPr sz="1985"/>
            </a:lvl2pPr>
            <a:lvl3pPr>
              <a:defRPr sz="1985"/>
            </a:lvl3pPr>
            <a:lvl4pPr>
              <a:defRPr sz="1985"/>
            </a:lvl4pPr>
            <a:lvl5pPr>
              <a:defRPr sz="1985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81632" y="2352887"/>
            <a:ext cx="3539282" cy="4402910"/>
          </a:xfrm>
        </p:spPr>
        <p:txBody>
          <a:bodyPr/>
          <a:lstStyle>
            <a:lvl1pPr marL="0" indent="0">
              <a:buNone/>
              <a:defRPr sz="1985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B483F-CAA4-C90C-657B-F29EFE4C5A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B80AD-A70C-4C44-A3CE-7B4C5599ABF6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0631E-19FE-2DDD-FE57-5A6E660ED2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4AC822-B13D-37E2-DE94-341758D9A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E2777-A32C-4171-9C6B-302E6CE55B9B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177258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56447" y="5293995"/>
            <a:ext cx="9962864" cy="624986"/>
          </a:xfrm>
        </p:spPr>
        <p:txBody>
          <a:bodyPr/>
          <a:lstStyle>
            <a:lvl1pPr algn="l">
              <a:defRPr sz="2647" b="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095981" y="675755"/>
            <a:ext cx="6416040" cy="4537710"/>
          </a:xfrm>
        </p:spPr>
        <p:txBody>
          <a:bodyPr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pPr lv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56447" y="5918981"/>
            <a:ext cx="9962864" cy="887584"/>
          </a:xfrm>
        </p:spPr>
        <p:txBody>
          <a:bodyPr/>
          <a:lstStyle>
            <a:lvl1pPr marL="0" indent="0">
              <a:buNone/>
              <a:defRPr sz="1985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D0298-BBE9-3FE6-0DFA-9CAE280BA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9A5C2-22E5-4D20-A462-054B5A844315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880EE-8B2C-1F08-CAE9-2CD14C8FF4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19E1E7-527D-7034-41CB-C4E5199D0C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E897E-D03E-452D-84D9-002DFB25510C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979285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103D17D-9AD8-096F-B64E-8D3FB9BC4A7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03/06/14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811AD1D-D6B9-B9C1-6EAE-AC7AD8833BB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AEBBB-158A-4347-BD02-5CAD5384E4E3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333810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BEB7-C942-6EA5-A87F-6A3BB26E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7BDF9-A12D-4B4A-AA8C-C664338E4EF5}" type="datetime1">
              <a:rPr lang="fr-FR" altLang="it-CH"/>
              <a:pPr>
                <a:defRPr/>
              </a:pPr>
              <a:t>22/01/2026</a:t>
            </a:fld>
            <a:endParaRPr lang="en-US" altLang="it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2868-C900-164D-D2B8-B3586748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9B9D3-A3C2-C650-4455-021F81A0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6E1F1-E75C-48ED-902C-B677A26A8720}" type="slidenum">
              <a:rPr lang="en-US" altLang="it-CH"/>
              <a:pPr>
                <a:defRPr/>
              </a:pPr>
              <a:t>‹N›</a:t>
            </a:fld>
            <a:endParaRPr lang="en-US" altLang="it-CH"/>
          </a:p>
        </p:txBody>
      </p:sp>
    </p:spTree>
    <p:extLst>
      <p:ext uri="{BB962C8B-B14F-4D97-AF65-F5344CB8AC3E}">
        <p14:creationId xmlns:p14="http://schemas.microsoft.com/office/powerpoint/2010/main" val="352244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4275" y="225552"/>
            <a:ext cx="527304" cy="1569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643" y="724999"/>
            <a:ext cx="9396113" cy="1235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2838C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400" y="2009652"/>
            <a:ext cx="9402599" cy="414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572359E-4169-E166-E688-36E5B8746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8725" y="1241219"/>
            <a:ext cx="9935951" cy="793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it-CH"/>
              <a:t>Fare clic per modificare stile</a:t>
            </a:r>
            <a:endParaRPr lang="it-IT" altLang="it-CH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9059D56-7527-1022-0B06-CE7DCFA48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8725" y="2113047"/>
            <a:ext cx="9935951" cy="4765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it-CH"/>
              <a:t>Fare clic per modificare gli stili del testo dello schema</a:t>
            </a:r>
          </a:p>
          <a:p>
            <a:pPr lvl="1"/>
            <a:r>
              <a:rPr lang="fr-CH" altLang="it-CH"/>
              <a:t>Secondo livello</a:t>
            </a:r>
          </a:p>
          <a:p>
            <a:pPr lvl="2"/>
            <a:r>
              <a:rPr lang="fr-CH" altLang="it-CH"/>
              <a:t>Terzo livello</a:t>
            </a:r>
          </a:p>
          <a:p>
            <a:pPr lvl="3"/>
            <a:r>
              <a:rPr lang="fr-CH" altLang="it-CH"/>
              <a:t>Quarto livello</a:t>
            </a:r>
          </a:p>
          <a:p>
            <a:pPr lvl="4"/>
            <a:r>
              <a:rPr lang="fr-CH" altLang="it-CH"/>
              <a:t>Quinto livello</a:t>
            </a:r>
            <a:endParaRPr lang="it-IT" altLang="it-CH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2A5F6EB-ACB1-3C1D-8C41-4DB36ACE8A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8724" y="7116432"/>
            <a:ext cx="2495127" cy="44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3"/>
            </a:lvl1pPr>
          </a:lstStyle>
          <a:p>
            <a:pPr>
              <a:defRPr/>
            </a:pPr>
            <a:fld id="{765BB6E1-6839-4E82-8964-C6C87846DAB6}" type="datetime1">
              <a:rPr lang="it-IT" altLang="it-CH"/>
              <a:pPr>
                <a:defRPr/>
              </a:pPr>
              <a:t>22/01/2026</a:t>
            </a:fld>
            <a:endParaRPr lang="it-IT" altLang="it-CH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72DF124-6E81-9C0C-F29B-B40FC57A3A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05412" y="7116432"/>
            <a:ext cx="7409263" cy="44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3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4C079ED-23CE-C7AC-9E40-87A19B9BAE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6725" y="208329"/>
            <a:ext cx="957950" cy="525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23"/>
            </a:lvl1pPr>
          </a:lstStyle>
          <a:p>
            <a:pPr>
              <a:defRPr/>
            </a:pPr>
            <a:fld id="{B3C73D34-8BD9-4BE8-9103-7A805CBFB073}" type="slidenum">
              <a:rPr lang="it-IT" altLang="it-CH"/>
              <a:pPr>
                <a:defRPr/>
              </a:pPr>
              <a:t>‹N›</a:t>
            </a:fld>
            <a:endParaRPr lang="it-IT" altLang="it-CH"/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00F2A5FD-021B-72A1-FC75-2FB60042570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306971" y="204828"/>
            <a:ext cx="7960642" cy="5251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it-IT" altLang="it-CH" sz="1323"/>
              <a:t>DEASS / Titolo principale della presentazione</a:t>
            </a:r>
          </a:p>
          <a:p>
            <a:pPr>
              <a:defRPr/>
            </a:pPr>
            <a:endParaRPr lang="it-IT" altLang="it-CH" sz="1323"/>
          </a:p>
          <a:p>
            <a:pPr>
              <a:defRPr/>
            </a:pPr>
            <a:endParaRPr lang="it-IT" altLang="it-CH" sz="1323"/>
          </a:p>
        </p:txBody>
      </p:sp>
      <p:pic>
        <p:nvPicPr>
          <p:cNvPr id="2056" name="Immagine 6" descr="logo_SUPSI_acr.gif">
            <a:extLst>
              <a:ext uri="{FF2B5EF4-FFF2-40B4-BE49-F238E27FC236}">
                <a16:creationId xmlns:a16="http://schemas.microsoft.com/office/drawing/2014/main" id="{92E96CFE-6D90-B8A7-C03D-791EC02833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15" y="231088"/>
            <a:ext cx="549522" cy="14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97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47">
          <a:solidFill>
            <a:schemeClr val="accent2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47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47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47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47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MS PGothic" charset="0"/>
        </a:defRPr>
      </a:lvl5pPr>
      <a:lvl6pPr marL="504200" algn="l" rtl="0" eaLnBrk="1" fontAlgn="base" hangingPunct="1">
        <a:spcBef>
          <a:spcPct val="0"/>
        </a:spcBef>
        <a:spcAft>
          <a:spcPct val="0"/>
        </a:spcAft>
        <a:defRPr sz="3088">
          <a:solidFill>
            <a:schemeClr val="accent2"/>
          </a:solidFill>
          <a:latin typeface="Times New Roman" pitchFamily="-112" charset="-52"/>
        </a:defRPr>
      </a:lvl6pPr>
      <a:lvl7pPr marL="1008400" algn="l" rtl="0" eaLnBrk="1" fontAlgn="base" hangingPunct="1">
        <a:spcBef>
          <a:spcPct val="0"/>
        </a:spcBef>
        <a:spcAft>
          <a:spcPct val="0"/>
        </a:spcAft>
        <a:defRPr sz="3088">
          <a:solidFill>
            <a:schemeClr val="accent2"/>
          </a:solidFill>
          <a:latin typeface="Times New Roman" pitchFamily="-112" charset="-52"/>
        </a:defRPr>
      </a:lvl7pPr>
      <a:lvl8pPr marL="1512600" algn="l" rtl="0" eaLnBrk="1" fontAlgn="base" hangingPunct="1">
        <a:spcBef>
          <a:spcPct val="0"/>
        </a:spcBef>
        <a:spcAft>
          <a:spcPct val="0"/>
        </a:spcAft>
        <a:defRPr sz="3088">
          <a:solidFill>
            <a:schemeClr val="accent2"/>
          </a:solidFill>
          <a:latin typeface="Times New Roman" pitchFamily="-112" charset="-52"/>
        </a:defRPr>
      </a:lvl8pPr>
      <a:lvl9pPr marL="2016801" algn="l" rtl="0" eaLnBrk="1" fontAlgn="base" hangingPunct="1">
        <a:spcBef>
          <a:spcPct val="0"/>
        </a:spcBef>
        <a:spcAft>
          <a:spcPct val="0"/>
        </a:spcAft>
        <a:defRPr sz="3088">
          <a:solidFill>
            <a:schemeClr val="accent2"/>
          </a:solidFill>
          <a:latin typeface="Times New Roman" pitchFamily="-112" charset="-52"/>
        </a:defRPr>
      </a:lvl9pPr>
    </p:titleStyle>
    <p:bodyStyle>
      <a:lvl1pPr marL="378150" indent="-3781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819325" indent="-315125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260500" indent="-2521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764701" indent="-2521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268901" indent="-2521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773101" indent="-252100" algn="l" rtl="0" eaLnBrk="1" fontAlgn="base" hangingPunct="1">
        <a:spcBef>
          <a:spcPct val="20000"/>
        </a:spcBef>
        <a:spcAft>
          <a:spcPct val="0"/>
        </a:spcAft>
        <a:buChar char="»"/>
        <a:defRPr sz="1323">
          <a:solidFill>
            <a:schemeClr val="tx1"/>
          </a:solidFill>
          <a:latin typeface="+mn-lt"/>
          <a:ea typeface="ＭＳ Ｐゴシック" pitchFamily="-112" charset="-128"/>
        </a:defRPr>
      </a:lvl6pPr>
      <a:lvl7pPr marL="3277301" indent="-252100" algn="l" rtl="0" eaLnBrk="1" fontAlgn="base" hangingPunct="1">
        <a:spcBef>
          <a:spcPct val="20000"/>
        </a:spcBef>
        <a:spcAft>
          <a:spcPct val="0"/>
        </a:spcAft>
        <a:buChar char="»"/>
        <a:defRPr sz="1323">
          <a:solidFill>
            <a:schemeClr val="tx1"/>
          </a:solidFill>
          <a:latin typeface="+mn-lt"/>
          <a:ea typeface="ＭＳ Ｐゴシック" pitchFamily="-112" charset="-128"/>
        </a:defRPr>
      </a:lvl7pPr>
      <a:lvl8pPr marL="3781501" indent="-252100" algn="l" rtl="0" eaLnBrk="1" fontAlgn="base" hangingPunct="1">
        <a:spcBef>
          <a:spcPct val="20000"/>
        </a:spcBef>
        <a:spcAft>
          <a:spcPct val="0"/>
        </a:spcAft>
        <a:buChar char="»"/>
        <a:defRPr sz="1323">
          <a:solidFill>
            <a:schemeClr val="tx1"/>
          </a:solidFill>
          <a:latin typeface="+mn-lt"/>
          <a:ea typeface="ＭＳ Ｐゴシック" pitchFamily="-112" charset="-128"/>
        </a:defRPr>
      </a:lvl8pPr>
      <a:lvl9pPr marL="4285701" indent="-252100" algn="l" rtl="0" eaLnBrk="1" fontAlgn="base" hangingPunct="1">
        <a:spcBef>
          <a:spcPct val="20000"/>
        </a:spcBef>
        <a:spcAft>
          <a:spcPct val="0"/>
        </a:spcAft>
        <a:buChar char="»"/>
        <a:defRPr sz="1323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48693" y="2239645"/>
            <a:ext cx="7776209" cy="22512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it-CH" sz="4850" dirty="0"/>
              <a:t>Il lavoro e le sue trasformazioni: una </a:t>
            </a:r>
            <a:r>
              <a:rPr lang="it-CH" sz="4850"/>
              <a:t>prospettiva storica 1</a:t>
            </a:r>
            <a:endParaRPr sz="4850" dirty="0"/>
          </a:p>
        </p:txBody>
      </p:sp>
      <p:sp>
        <p:nvSpPr>
          <p:cNvPr id="3" name="object 3"/>
          <p:cNvSpPr txBox="1"/>
          <p:nvPr/>
        </p:nvSpPr>
        <p:spPr>
          <a:xfrm>
            <a:off x="648737" y="5661156"/>
            <a:ext cx="31178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3333CC"/>
                </a:solidFill>
                <a:latin typeface="Times New Roman"/>
                <a:cs typeface="Times New Roman"/>
              </a:rPr>
              <a:t>Mondi</a:t>
            </a:r>
            <a:r>
              <a:rPr sz="2650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3333CC"/>
                </a:solidFill>
                <a:latin typeface="Times New Roman"/>
                <a:cs typeface="Times New Roman"/>
              </a:rPr>
              <a:t>del</a:t>
            </a:r>
            <a:r>
              <a:rPr sz="2650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650" dirty="0" err="1">
                <a:solidFill>
                  <a:srgbClr val="3333CC"/>
                </a:solidFill>
                <a:latin typeface="Times New Roman"/>
                <a:cs typeface="Times New Roman"/>
              </a:rPr>
              <a:t>lavoro</a:t>
            </a:r>
            <a:r>
              <a:rPr sz="2650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it-CH" sz="2650" spc="-20">
                <a:solidFill>
                  <a:srgbClr val="3333CC"/>
                </a:solidFill>
                <a:latin typeface="Times New Roman"/>
                <a:cs typeface="Times New Roman"/>
              </a:rPr>
              <a:t>2026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6124" y="191529"/>
            <a:ext cx="118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38" y="188500"/>
            <a:ext cx="33978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DEASS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/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Titolo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principale della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presentazione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5" y="225552"/>
            <a:ext cx="527304" cy="1569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0505" y="1206436"/>
            <a:ext cx="5425440" cy="8324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300" dirty="0">
                <a:solidFill>
                  <a:srgbClr val="FFFFFF"/>
                </a:solidFill>
              </a:rPr>
              <a:t>Che</a:t>
            </a:r>
            <a:r>
              <a:rPr sz="5300" spc="-90" dirty="0">
                <a:solidFill>
                  <a:srgbClr val="FFFFFF"/>
                </a:solidFill>
              </a:rPr>
              <a:t> </a:t>
            </a:r>
            <a:r>
              <a:rPr sz="5300" dirty="0">
                <a:solidFill>
                  <a:srgbClr val="FFFFFF"/>
                </a:solidFill>
              </a:rPr>
              <a:t>cos’è</a:t>
            </a:r>
            <a:r>
              <a:rPr sz="5300" spc="-90" dirty="0">
                <a:solidFill>
                  <a:srgbClr val="FFFFFF"/>
                </a:solidFill>
              </a:rPr>
              <a:t> </a:t>
            </a:r>
            <a:r>
              <a:rPr sz="5300" dirty="0">
                <a:solidFill>
                  <a:srgbClr val="FFFFFF"/>
                </a:solidFill>
              </a:rPr>
              <a:t>il</a:t>
            </a:r>
            <a:r>
              <a:rPr sz="5300" spc="-60" dirty="0">
                <a:solidFill>
                  <a:srgbClr val="FFFFFF"/>
                </a:solidFill>
              </a:rPr>
              <a:t> </a:t>
            </a:r>
            <a:r>
              <a:rPr sz="5300" spc="-10" dirty="0">
                <a:solidFill>
                  <a:srgbClr val="FFFFFF"/>
                </a:solidFill>
              </a:rPr>
              <a:t>lavoro?</a:t>
            </a:r>
            <a:endParaRPr sz="5300"/>
          </a:p>
        </p:txBody>
      </p:sp>
      <p:sp>
        <p:nvSpPr>
          <p:cNvPr id="5" name="object 5"/>
          <p:cNvSpPr txBox="1"/>
          <p:nvPr/>
        </p:nvSpPr>
        <p:spPr>
          <a:xfrm>
            <a:off x="9923849" y="193002"/>
            <a:ext cx="1187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0" y="225552"/>
            <a:ext cx="5398135" cy="1888489"/>
            <a:chOff x="533400" y="225552"/>
            <a:chExt cx="5398135" cy="18884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" y="225552"/>
              <a:ext cx="527304" cy="1569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237744"/>
              <a:ext cx="5398007" cy="1876043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583691" y="2606040"/>
            <a:ext cx="5303520" cy="1911350"/>
            <a:chOff x="583691" y="2606040"/>
            <a:chExt cx="5303520" cy="19113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691" y="2606040"/>
              <a:ext cx="2572511" cy="18882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2488" y="2638043"/>
              <a:ext cx="2744724" cy="187909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412" y="4922520"/>
            <a:ext cx="5353811" cy="20116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98564" y="2545080"/>
            <a:ext cx="3140964" cy="20924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4180" y="4742688"/>
            <a:ext cx="3142487" cy="210311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28156" y="260116"/>
            <a:ext cx="2877185" cy="2177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3500" dirty="0"/>
              <a:t>Cosa</a:t>
            </a:r>
            <a:r>
              <a:rPr sz="3500" spc="40" dirty="0"/>
              <a:t> </a:t>
            </a:r>
            <a:r>
              <a:rPr sz="3500" dirty="0"/>
              <a:t>c’è</a:t>
            </a:r>
            <a:r>
              <a:rPr sz="3500" spc="45" dirty="0"/>
              <a:t> </a:t>
            </a:r>
            <a:r>
              <a:rPr sz="3500" spc="-25" dirty="0"/>
              <a:t>di </a:t>
            </a:r>
            <a:r>
              <a:rPr sz="3500" dirty="0"/>
              <a:t>diverso</a:t>
            </a:r>
            <a:r>
              <a:rPr sz="3500" spc="50" dirty="0"/>
              <a:t> </a:t>
            </a:r>
            <a:r>
              <a:rPr sz="3500" dirty="0"/>
              <a:t>e cosa</a:t>
            </a:r>
            <a:r>
              <a:rPr sz="3500" spc="35" dirty="0"/>
              <a:t> </a:t>
            </a:r>
            <a:r>
              <a:rPr sz="3500" spc="-50" dirty="0"/>
              <a:t>è </a:t>
            </a:r>
            <a:r>
              <a:rPr sz="3500" dirty="0"/>
              <a:t>simile</a:t>
            </a:r>
            <a:r>
              <a:rPr sz="3500" spc="25" dirty="0"/>
              <a:t> </a:t>
            </a:r>
            <a:r>
              <a:rPr sz="3500" dirty="0"/>
              <a:t>in</a:t>
            </a:r>
            <a:r>
              <a:rPr sz="3500" spc="-25" dirty="0"/>
              <a:t> </a:t>
            </a:r>
            <a:r>
              <a:rPr sz="3500" spc="-10" dirty="0"/>
              <a:t>queste immagini?</a:t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487" y="678180"/>
            <a:ext cx="9681971" cy="68351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941" y="677689"/>
            <a:ext cx="122174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0" dirty="0">
                <a:solidFill>
                  <a:srgbClr val="000000"/>
                </a:solidFill>
                <a:latin typeface="Calibri"/>
                <a:cs typeface="Calibri"/>
              </a:rPr>
              <a:t>Attività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0084" y="1589358"/>
            <a:ext cx="6254750" cy="46507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680"/>
              </a:spcBef>
              <a:buChar char="•"/>
              <a:tabLst>
                <a:tab pos="390525" algn="l"/>
              </a:tabLst>
            </a:pPr>
            <a:r>
              <a:rPr sz="1850" dirty="0">
                <a:latin typeface="Arial MT"/>
                <a:cs typeface="Arial MT"/>
              </a:rPr>
              <a:t>Tutto</a:t>
            </a:r>
            <a:r>
              <a:rPr sz="1850" spc="4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quello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che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si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fa</a:t>
            </a:r>
            <a:r>
              <a:rPr sz="1850" spc="55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-</a:t>
            </a:r>
            <a:r>
              <a:rPr sz="1850" dirty="0">
                <a:latin typeface="Arial MT"/>
                <a:cs typeface="Arial MT"/>
              </a:rPr>
              <a:t>&gt;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utilità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sociale</a:t>
            </a:r>
            <a:endParaRPr sz="1850">
              <a:latin typeface="Arial MT"/>
              <a:cs typeface="Arial MT"/>
            </a:endParaRPr>
          </a:p>
          <a:p>
            <a:pPr marL="390525" marR="5080" indent="-378460">
              <a:lnSpc>
                <a:spcPct val="101099"/>
              </a:lnSpc>
              <a:spcBef>
                <a:spcPts val="565"/>
              </a:spcBef>
              <a:buChar char="•"/>
              <a:tabLst>
                <a:tab pos="390525" algn="l"/>
              </a:tabLst>
            </a:pPr>
            <a:r>
              <a:rPr sz="1850" dirty="0">
                <a:latin typeface="Arial MT"/>
                <a:cs typeface="Arial MT"/>
              </a:rPr>
              <a:t>Esempi:</a:t>
            </a:r>
            <a:r>
              <a:rPr sz="1850" spc="55" dirty="0">
                <a:latin typeface="Arial MT"/>
                <a:cs typeface="Arial MT"/>
              </a:rPr>
              <a:t> </a:t>
            </a:r>
            <a:r>
              <a:rPr sz="1850" i="1" dirty="0">
                <a:latin typeface="Arial"/>
                <a:cs typeface="Arial"/>
              </a:rPr>
              <a:t>cucinare,</a:t>
            </a:r>
            <a:r>
              <a:rPr sz="1850" i="1" spc="5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fare</a:t>
            </a:r>
            <a:r>
              <a:rPr sz="1850" i="1" spc="7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una</a:t>
            </a:r>
            <a:r>
              <a:rPr sz="1850" i="1" spc="7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passeggiata</a:t>
            </a:r>
            <a:r>
              <a:rPr sz="1850" i="1" spc="9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con</a:t>
            </a:r>
            <a:r>
              <a:rPr sz="1850" i="1" spc="8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la</a:t>
            </a:r>
            <a:r>
              <a:rPr sz="1850" i="1" spc="5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nonna, </a:t>
            </a:r>
            <a:r>
              <a:rPr sz="1850" i="1" dirty="0">
                <a:latin typeface="Arial"/>
                <a:cs typeface="Arial"/>
              </a:rPr>
              <a:t>giocare</a:t>
            </a:r>
            <a:r>
              <a:rPr sz="1850" i="1" spc="4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a</a:t>
            </a:r>
            <a:r>
              <a:rPr sz="1850" i="1" spc="5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calcio,</a:t>
            </a:r>
            <a:r>
              <a:rPr sz="1850" i="1" spc="6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cambiare</a:t>
            </a:r>
            <a:r>
              <a:rPr sz="1850" i="1" spc="4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il</a:t>
            </a:r>
            <a:r>
              <a:rPr sz="1850" i="1" spc="4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pannolino</a:t>
            </a:r>
            <a:r>
              <a:rPr sz="1850" i="1" spc="7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di</a:t>
            </a:r>
            <a:r>
              <a:rPr sz="1850" i="1" spc="4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un</a:t>
            </a:r>
            <a:r>
              <a:rPr sz="1850" i="1" spc="7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bambino…</a:t>
            </a:r>
            <a:endParaRPr sz="1850">
              <a:latin typeface="Arial"/>
              <a:cs typeface="Arial"/>
            </a:endParaRPr>
          </a:p>
          <a:p>
            <a:pPr marR="224790" algn="ctr">
              <a:lnSpc>
                <a:spcPct val="100000"/>
              </a:lnSpc>
              <a:spcBef>
                <a:spcPts val="2055"/>
              </a:spcBef>
            </a:pPr>
            <a:r>
              <a:rPr sz="3050" b="1" spc="-10" dirty="0">
                <a:latin typeface="Calibri"/>
                <a:cs typeface="Calibri"/>
              </a:rPr>
              <a:t>Lavoro</a:t>
            </a:r>
            <a:endParaRPr sz="3050">
              <a:latin typeface="Calibri"/>
              <a:cs typeface="Calibri"/>
            </a:endParaRPr>
          </a:p>
          <a:p>
            <a:pPr marL="731520" marR="841375" lvl="1" indent="-378460">
              <a:lnSpc>
                <a:spcPct val="89800"/>
              </a:lnSpc>
              <a:spcBef>
                <a:spcPts val="1970"/>
              </a:spcBef>
              <a:buChar char="•"/>
              <a:tabLst>
                <a:tab pos="731520" algn="l"/>
              </a:tabLst>
            </a:pPr>
            <a:r>
              <a:rPr sz="2100" dirty="0">
                <a:latin typeface="Arial MT"/>
                <a:cs typeface="Arial MT"/>
              </a:rPr>
              <a:t>Attività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produzione</a:t>
            </a:r>
            <a:r>
              <a:rPr sz="2100" spc="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 beni 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servizi </a:t>
            </a:r>
            <a:r>
              <a:rPr sz="2100" spc="-25" dirty="0">
                <a:latin typeface="Arial MT"/>
                <a:cs typeface="Arial MT"/>
              </a:rPr>
              <a:t>ai </a:t>
            </a:r>
            <a:r>
              <a:rPr sz="2100" dirty="0">
                <a:latin typeface="Arial MT"/>
                <a:cs typeface="Arial MT"/>
              </a:rPr>
              <a:t>quali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viene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riconosciuto un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valore </a:t>
            </a:r>
            <a:r>
              <a:rPr sz="2100" dirty="0">
                <a:latin typeface="Arial MT"/>
                <a:cs typeface="Arial MT"/>
              </a:rPr>
              <a:t>economico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+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risponde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ad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obbligo</a:t>
            </a:r>
            <a:endParaRPr sz="2100">
              <a:latin typeface="Arial MT"/>
              <a:cs typeface="Arial MT"/>
            </a:endParaRPr>
          </a:p>
          <a:p>
            <a:pPr marL="731520">
              <a:lnSpc>
                <a:spcPts val="2270"/>
              </a:lnSpc>
            </a:pPr>
            <a:r>
              <a:rPr sz="2100" spc="-25" dirty="0">
                <a:latin typeface="Arial MT"/>
                <a:cs typeface="Arial MT"/>
              </a:rPr>
              <a:t>-</a:t>
            </a:r>
            <a:r>
              <a:rPr sz="2100" dirty="0">
                <a:latin typeface="Arial MT"/>
                <a:cs typeface="Arial MT"/>
              </a:rPr>
              <a:t>&gt;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prezzo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(retribuzione)</a:t>
            </a:r>
            <a:endParaRPr sz="2100">
              <a:latin typeface="Arial MT"/>
              <a:cs typeface="Arial MT"/>
            </a:endParaRPr>
          </a:p>
          <a:p>
            <a:pPr marL="731520" marR="674370" lvl="1" indent="-378460">
              <a:lnSpc>
                <a:spcPct val="89800"/>
              </a:lnSpc>
              <a:spcBef>
                <a:spcPts val="509"/>
              </a:spcBef>
              <a:buChar char="•"/>
              <a:tabLst>
                <a:tab pos="731520" algn="l"/>
              </a:tabLst>
            </a:pPr>
            <a:r>
              <a:rPr sz="2100" dirty="0">
                <a:latin typeface="Arial MT"/>
                <a:cs typeface="Arial MT"/>
              </a:rPr>
              <a:t>Esempi: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i="1" dirty="0">
                <a:latin typeface="Arial"/>
                <a:cs typeface="Arial"/>
              </a:rPr>
              <a:t>cucinare come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cuoco,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andare</a:t>
            </a:r>
            <a:r>
              <a:rPr sz="2100" i="1" spc="-5" dirty="0">
                <a:latin typeface="Arial"/>
                <a:cs typeface="Arial"/>
              </a:rPr>
              <a:t> </a:t>
            </a:r>
            <a:r>
              <a:rPr sz="2100" i="1" spc="-50" dirty="0">
                <a:latin typeface="Arial"/>
                <a:cs typeface="Arial"/>
              </a:rPr>
              <a:t>a </a:t>
            </a:r>
            <a:r>
              <a:rPr sz="2100" i="1" dirty="0">
                <a:latin typeface="Arial"/>
                <a:cs typeface="Arial"/>
              </a:rPr>
              <a:t>spasso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con</a:t>
            </a:r>
            <a:r>
              <a:rPr sz="2100" i="1" spc="-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una</a:t>
            </a:r>
            <a:r>
              <a:rPr sz="2100" i="1" spc="-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persona</a:t>
            </a:r>
            <a:r>
              <a:rPr sz="2100" i="1" spc="1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anziana</a:t>
            </a:r>
            <a:r>
              <a:rPr sz="2100" i="1" spc="15" dirty="0">
                <a:latin typeface="Arial"/>
                <a:cs typeface="Arial"/>
              </a:rPr>
              <a:t> </a:t>
            </a:r>
            <a:r>
              <a:rPr sz="2100" i="1" spc="-20" dirty="0">
                <a:latin typeface="Arial"/>
                <a:cs typeface="Arial"/>
              </a:rPr>
              <a:t>come </a:t>
            </a:r>
            <a:r>
              <a:rPr sz="2100" i="1" dirty="0">
                <a:latin typeface="Arial"/>
                <a:cs typeface="Arial"/>
              </a:rPr>
              <a:t>aiuto</a:t>
            </a:r>
            <a:r>
              <a:rPr sz="2100" i="1" spc="-2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domiciliare,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giocare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a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pallone</a:t>
            </a:r>
            <a:r>
              <a:rPr sz="2100" i="1" spc="5" dirty="0">
                <a:latin typeface="Arial"/>
                <a:cs typeface="Arial"/>
              </a:rPr>
              <a:t> </a:t>
            </a:r>
            <a:r>
              <a:rPr sz="2100" i="1" spc="-20" dirty="0">
                <a:latin typeface="Arial"/>
                <a:cs typeface="Arial"/>
              </a:rPr>
              <a:t>come </a:t>
            </a:r>
            <a:r>
              <a:rPr sz="2100" i="1" dirty="0">
                <a:latin typeface="Arial"/>
                <a:cs typeface="Arial"/>
              </a:rPr>
              <a:t>calciatore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professionista,</a:t>
            </a:r>
            <a:r>
              <a:rPr sz="2100" i="1" spc="-3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cambiare</a:t>
            </a:r>
            <a:r>
              <a:rPr sz="2100" i="1" spc="-15" dirty="0">
                <a:latin typeface="Arial"/>
                <a:cs typeface="Arial"/>
              </a:rPr>
              <a:t> </a:t>
            </a:r>
            <a:r>
              <a:rPr sz="2100" i="1" spc="-25" dirty="0">
                <a:latin typeface="Arial"/>
                <a:cs typeface="Arial"/>
              </a:rPr>
              <a:t>il </a:t>
            </a:r>
            <a:r>
              <a:rPr sz="2100" i="1" dirty="0">
                <a:latin typeface="Arial"/>
                <a:cs typeface="Arial"/>
              </a:rPr>
              <a:t>pannolino</a:t>
            </a:r>
            <a:r>
              <a:rPr sz="2100" i="1" spc="1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come</a:t>
            </a:r>
            <a:r>
              <a:rPr sz="2100" i="1" spc="-30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maestra</a:t>
            </a:r>
            <a:r>
              <a:rPr sz="2100" i="1" spc="-25" dirty="0">
                <a:latin typeface="Arial"/>
                <a:cs typeface="Arial"/>
              </a:rPr>
              <a:t> </a:t>
            </a:r>
            <a:r>
              <a:rPr sz="2100" i="1" dirty="0">
                <a:latin typeface="Arial"/>
                <a:cs typeface="Arial"/>
              </a:rPr>
              <a:t>d’asilo</a:t>
            </a:r>
            <a:r>
              <a:rPr sz="2100" i="1" spc="-10" dirty="0">
                <a:latin typeface="Arial"/>
                <a:cs typeface="Arial"/>
              </a:rPr>
              <a:t> nido…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97893" y="3935729"/>
            <a:ext cx="91976" cy="1871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320873" y="3079895"/>
            <a:ext cx="3070860" cy="2421890"/>
            <a:chOff x="7320873" y="3079895"/>
            <a:chExt cx="3070860" cy="2421890"/>
          </a:xfrm>
        </p:grpSpPr>
        <p:sp>
          <p:nvSpPr>
            <p:cNvPr id="7" name="object 7"/>
            <p:cNvSpPr/>
            <p:nvPr/>
          </p:nvSpPr>
          <p:spPr>
            <a:xfrm>
              <a:off x="7397474" y="3085229"/>
              <a:ext cx="2935605" cy="2342515"/>
            </a:xfrm>
            <a:custGeom>
              <a:avLst/>
              <a:gdLst/>
              <a:ahLst/>
              <a:cxnLst/>
              <a:rect l="l" t="t" r="r" b="b"/>
              <a:pathLst>
                <a:path w="2935604" h="2342515">
                  <a:moveTo>
                    <a:pt x="208878" y="652640"/>
                  </a:moveTo>
                  <a:lnTo>
                    <a:pt x="209303" y="648110"/>
                  </a:lnTo>
                  <a:lnTo>
                    <a:pt x="217827" y="601767"/>
                  </a:lnTo>
                  <a:lnTo>
                    <a:pt x="223451" y="581420"/>
                  </a:lnTo>
                </a:path>
                <a:path w="2935604" h="2342515">
                  <a:moveTo>
                    <a:pt x="224829" y="576434"/>
                  </a:moveTo>
                  <a:lnTo>
                    <a:pt x="230239" y="556858"/>
                  </a:lnTo>
                  <a:lnTo>
                    <a:pt x="233509" y="548091"/>
                  </a:lnTo>
                </a:path>
                <a:path w="2935604" h="2342515">
                  <a:moveTo>
                    <a:pt x="237148" y="538334"/>
                  </a:moveTo>
                  <a:lnTo>
                    <a:pt x="238878" y="533697"/>
                  </a:lnTo>
                </a:path>
                <a:path w="2935604" h="2342515">
                  <a:moveTo>
                    <a:pt x="241885" y="525634"/>
                  </a:moveTo>
                  <a:lnTo>
                    <a:pt x="246364" y="513625"/>
                  </a:lnTo>
                  <a:lnTo>
                    <a:pt x="266027" y="472307"/>
                  </a:lnTo>
                  <a:lnTo>
                    <a:pt x="268112" y="468760"/>
                  </a:lnTo>
                </a:path>
                <a:path w="2935604" h="2342515">
                  <a:moveTo>
                    <a:pt x="272008" y="462134"/>
                  </a:moveTo>
                  <a:lnTo>
                    <a:pt x="278769" y="450636"/>
                  </a:lnTo>
                </a:path>
                <a:path w="2935604" h="2342515">
                  <a:moveTo>
                    <a:pt x="279475" y="449434"/>
                  </a:moveTo>
                  <a:lnTo>
                    <a:pt x="289053" y="433144"/>
                  </a:lnTo>
                  <a:lnTo>
                    <a:pt x="295592" y="423973"/>
                  </a:lnTo>
                  <a:lnTo>
                    <a:pt x="303033" y="413537"/>
                  </a:lnTo>
                </a:path>
                <a:path w="2935604" h="2342515">
                  <a:moveTo>
                    <a:pt x="304603" y="411334"/>
                  </a:moveTo>
                  <a:lnTo>
                    <a:pt x="315268" y="396376"/>
                  </a:lnTo>
                  <a:lnTo>
                    <a:pt x="333564" y="375010"/>
                  </a:lnTo>
                </a:path>
                <a:path w="2935604" h="2342515">
                  <a:moveTo>
                    <a:pt x="338772" y="368928"/>
                  </a:moveTo>
                  <a:lnTo>
                    <a:pt x="344496" y="362244"/>
                  </a:lnTo>
                  <a:lnTo>
                    <a:pt x="376562" y="330987"/>
                  </a:lnTo>
                  <a:lnTo>
                    <a:pt x="411291" y="302846"/>
                  </a:lnTo>
                  <a:lnTo>
                    <a:pt x="418951" y="297745"/>
                  </a:lnTo>
                </a:path>
                <a:path w="2935604" h="2342515">
                  <a:moveTo>
                    <a:pt x="420018" y="297034"/>
                  </a:moveTo>
                  <a:lnTo>
                    <a:pt x="460320" y="271729"/>
                  </a:lnTo>
                  <a:lnTo>
                    <a:pt x="513605" y="246224"/>
                  </a:lnTo>
                  <a:lnTo>
                    <a:pt x="529710" y="239517"/>
                  </a:lnTo>
                  <a:lnTo>
                    <a:pt x="573343" y="226239"/>
                  </a:lnTo>
                  <a:lnTo>
                    <a:pt x="593716" y="222220"/>
                  </a:lnTo>
                </a:path>
                <a:path w="2935604" h="2342515">
                  <a:moveTo>
                    <a:pt x="600742" y="220834"/>
                  </a:moveTo>
                  <a:lnTo>
                    <a:pt x="618765" y="217278"/>
                  </a:lnTo>
                  <a:lnTo>
                    <a:pt x="672155" y="212289"/>
                  </a:lnTo>
                  <a:lnTo>
                    <a:pt x="725332" y="213947"/>
                  </a:lnTo>
                  <a:lnTo>
                    <a:pt x="770006" y="220834"/>
                  </a:lnTo>
                </a:path>
                <a:path w="2935604" h="2342515">
                  <a:moveTo>
                    <a:pt x="965542" y="220834"/>
                  </a:moveTo>
                  <a:lnTo>
                    <a:pt x="980904" y="200340"/>
                  </a:lnTo>
                  <a:lnTo>
                    <a:pt x="1013772" y="166065"/>
                  </a:lnTo>
                  <a:lnTo>
                    <a:pt x="1024071" y="157658"/>
                  </a:lnTo>
                </a:path>
                <a:path w="2935604" h="2342515">
                  <a:moveTo>
                    <a:pt x="1024469" y="157334"/>
                  </a:moveTo>
                  <a:lnTo>
                    <a:pt x="1036965" y="147134"/>
                  </a:lnTo>
                </a:path>
                <a:path w="2935604" h="2342515">
                  <a:moveTo>
                    <a:pt x="1040028" y="144634"/>
                  </a:moveTo>
                  <a:lnTo>
                    <a:pt x="1049829" y="136633"/>
                  </a:lnTo>
                  <a:lnTo>
                    <a:pt x="1075844" y="120241"/>
                  </a:lnTo>
                </a:path>
                <a:path w="2935604" h="2342515">
                  <a:moveTo>
                    <a:pt x="1077442" y="119234"/>
                  </a:moveTo>
                  <a:lnTo>
                    <a:pt x="1088603" y="112201"/>
                  </a:lnTo>
                  <a:lnTo>
                    <a:pt x="1129625" y="92921"/>
                  </a:lnTo>
                  <a:lnTo>
                    <a:pt x="1172424" y="78948"/>
                  </a:lnTo>
                  <a:lnTo>
                    <a:pt x="1216530" y="70435"/>
                  </a:lnTo>
                  <a:lnTo>
                    <a:pt x="1227098" y="69753"/>
                  </a:lnTo>
                </a:path>
                <a:path w="2935604" h="2342515">
                  <a:moveTo>
                    <a:pt x="1247560" y="68434"/>
                  </a:moveTo>
                  <a:lnTo>
                    <a:pt x="1261472" y="67537"/>
                  </a:lnTo>
                  <a:lnTo>
                    <a:pt x="1275633" y="68434"/>
                  </a:lnTo>
                </a:path>
                <a:path w="2935604" h="2342515">
                  <a:moveTo>
                    <a:pt x="1617598" y="68434"/>
                  </a:moveTo>
                  <a:lnTo>
                    <a:pt x="1648434" y="45763"/>
                  </a:lnTo>
                  <a:lnTo>
                    <a:pt x="1674723" y="31782"/>
                  </a:lnTo>
                </a:path>
                <a:path w="2935604" h="2342515">
                  <a:moveTo>
                    <a:pt x="1677446" y="30334"/>
                  </a:moveTo>
                  <a:lnTo>
                    <a:pt x="1687205" y="25144"/>
                  </a:lnTo>
                  <a:lnTo>
                    <a:pt x="1728222" y="10501"/>
                  </a:lnTo>
                  <a:lnTo>
                    <a:pt x="1753472" y="5495"/>
                  </a:lnTo>
                </a:path>
                <a:path w="2935604" h="2342515">
                  <a:moveTo>
                    <a:pt x="1756300" y="4934"/>
                  </a:moveTo>
                  <a:lnTo>
                    <a:pt x="1770847" y="2049"/>
                  </a:lnTo>
                  <a:lnTo>
                    <a:pt x="1814441" y="0"/>
                  </a:lnTo>
                  <a:lnTo>
                    <a:pt x="1858365" y="4566"/>
                  </a:lnTo>
                  <a:lnTo>
                    <a:pt x="1859773" y="4934"/>
                  </a:lnTo>
                </a:path>
                <a:path w="2935604" h="2342515">
                  <a:moveTo>
                    <a:pt x="2266674" y="4934"/>
                  </a:moveTo>
                  <a:lnTo>
                    <a:pt x="2287926" y="1632"/>
                  </a:lnTo>
                  <a:lnTo>
                    <a:pt x="2332057" y="813"/>
                  </a:lnTo>
                  <a:lnTo>
                    <a:pt x="2366964" y="4934"/>
                  </a:lnTo>
                </a:path>
                <a:path w="2935604" h="2342515">
                  <a:moveTo>
                    <a:pt x="1262078" y="2342504"/>
                  </a:moveTo>
                  <a:lnTo>
                    <a:pt x="1260874" y="2341734"/>
                  </a:lnTo>
                </a:path>
                <a:path w="2935604" h="2342515">
                  <a:moveTo>
                    <a:pt x="1208704" y="2304263"/>
                  </a:moveTo>
                  <a:lnTo>
                    <a:pt x="1207913" y="2303634"/>
                  </a:lnTo>
                </a:path>
                <a:path w="2935604" h="2342515">
                  <a:moveTo>
                    <a:pt x="790977" y="2266528"/>
                  </a:moveTo>
                  <a:lnTo>
                    <a:pt x="779805" y="2265534"/>
                  </a:lnTo>
                </a:path>
                <a:path w="2935604" h="2342515">
                  <a:moveTo>
                    <a:pt x="625827" y="2229447"/>
                  </a:moveTo>
                  <a:lnTo>
                    <a:pt x="623830" y="2228727"/>
                  </a:lnTo>
                  <a:lnTo>
                    <a:pt x="621015" y="2227434"/>
                  </a:lnTo>
                </a:path>
                <a:path w="2935604" h="2342515">
                  <a:moveTo>
                    <a:pt x="510896" y="2165331"/>
                  </a:moveTo>
                  <a:lnTo>
                    <a:pt x="508852" y="2163934"/>
                  </a:lnTo>
                </a:path>
                <a:path w="2935604" h="2342515">
                  <a:moveTo>
                    <a:pt x="224141" y="1960926"/>
                  </a:moveTo>
                  <a:lnTo>
                    <a:pt x="223429" y="1960734"/>
                  </a:lnTo>
                </a:path>
                <a:path w="2935604" h="2342515">
                  <a:moveTo>
                    <a:pt x="64166" y="1847003"/>
                  </a:moveTo>
                  <a:lnTo>
                    <a:pt x="63783" y="1846434"/>
                  </a:lnTo>
                </a:path>
                <a:path w="2935604" h="2342515">
                  <a:moveTo>
                    <a:pt x="27453" y="1783299"/>
                  </a:moveTo>
                  <a:lnTo>
                    <a:pt x="27275" y="1782934"/>
                  </a:lnTo>
                </a:path>
                <a:path w="2935604" h="2342515">
                  <a:moveTo>
                    <a:pt x="21" y="1681842"/>
                  </a:moveTo>
                  <a:lnTo>
                    <a:pt x="0" y="1681335"/>
                  </a:lnTo>
                </a:path>
                <a:path w="2935604" h="2342515">
                  <a:moveTo>
                    <a:pt x="2777464" y="1605134"/>
                  </a:moveTo>
                  <a:lnTo>
                    <a:pt x="2776681" y="1605706"/>
                  </a:lnTo>
                </a:path>
                <a:path w="2935604" h="2342515">
                  <a:moveTo>
                    <a:pt x="2632846" y="1668634"/>
                  </a:moveTo>
                  <a:lnTo>
                    <a:pt x="2631899" y="1668828"/>
                  </a:lnTo>
                </a:path>
                <a:path w="2935604" h="2342515">
                  <a:moveTo>
                    <a:pt x="2570910" y="1808307"/>
                  </a:moveTo>
                  <a:lnTo>
                    <a:pt x="2568841" y="1815772"/>
                  </a:lnTo>
                </a:path>
                <a:path w="2935604" h="2342515">
                  <a:moveTo>
                    <a:pt x="2533666" y="1897234"/>
                  </a:moveTo>
                  <a:lnTo>
                    <a:pt x="2533135" y="1898306"/>
                  </a:lnTo>
                  <a:lnTo>
                    <a:pt x="2531697" y="1900603"/>
                  </a:lnTo>
                </a:path>
                <a:path w="2935604" h="2342515">
                  <a:moveTo>
                    <a:pt x="2517900" y="1922634"/>
                  </a:moveTo>
                  <a:lnTo>
                    <a:pt x="2517614" y="1923091"/>
                  </a:lnTo>
                </a:path>
                <a:path w="2935604" h="2342515">
                  <a:moveTo>
                    <a:pt x="2410039" y="2036934"/>
                  </a:moveTo>
                  <a:lnTo>
                    <a:pt x="2409413" y="2037365"/>
                  </a:lnTo>
                </a:path>
                <a:path w="2935604" h="2342515">
                  <a:moveTo>
                    <a:pt x="860753" y="2265534"/>
                  </a:moveTo>
                  <a:lnTo>
                    <a:pt x="841761" y="2267097"/>
                  </a:lnTo>
                </a:path>
                <a:path w="2935604" h="2342515">
                  <a:moveTo>
                    <a:pt x="1135401" y="2228898"/>
                  </a:moveTo>
                  <a:lnTo>
                    <a:pt x="1134172" y="2227434"/>
                  </a:lnTo>
                </a:path>
                <a:path w="2935604" h="2342515">
                  <a:moveTo>
                    <a:pt x="1019423" y="2227434"/>
                  </a:moveTo>
                  <a:lnTo>
                    <a:pt x="1018867" y="2227695"/>
                  </a:lnTo>
                  <a:lnTo>
                    <a:pt x="1016066" y="2228720"/>
                  </a:lnTo>
                </a:path>
                <a:path w="2935604" h="2342515">
                  <a:moveTo>
                    <a:pt x="1107969" y="2189917"/>
                  </a:moveTo>
                  <a:lnTo>
                    <a:pt x="1107570" y="2189334"/>
                  </a:lnTo>
                </a:path>
                <a:path w="2935604" h="2342515">
                  <a:moveTo>
                    <a:pt x="2368683" y="5137"/>
                  </a:moveTo>
                  <a:lnTo>
                    <a:pt x="2376050" y="6006"/>
                  </a:lnTo>
                  <a:lnTo>
                    <a:pt x="2419324" y="17253"/>
                  </a:lnTo>
                  <a:lnTo>
                    <a:pt x="2450982" y="30334"/>
                  </a:lnTo>
                </a:path>
                <a:path w="2935604" h="2342515">
                  <a:moveTo>
                    <a:pt x="2457598" y="33068"/>
                  </a:moveTo>
                  <a:lnTo>
                    <a:pt x="2461295" y="34595"/>
                  </a:lnTo>
                  <a:lnTo>
                    <a:pt x="2501383" y="58076"/>
                  </a:lnTo>
                  <a:lnTo>
                    <a:pt x="2514583" y="68483"/>
                  </a:lnTo>
                  <a:lnTo>
                    <a:pt x="2539005" y="87738"/>
                  </a:lnTo>
                  <a:lnTo>
                    <a:pt x="2573155" y="123107"/>
                  </a:lnTo>
                  <a:lnTo>
                    <a:pt x="2588883" y="144634"/>
                  </a:lnTo>
                </a:path>
                <a:path w="2935604" h="2342515">
                  <a:moveTo>
                    <a:pt x="2589297" y="145200"/>
                  </a:moveTo>
                  <a:lnTo>
                    <a:pt x="2598163" y="157334"/>
                  </a:lnTo>
                </a:path>
                <a:path w="2935604" h="2342515">
                  <a:moveTo>
                    <a:pt x="2598495" y="157789"/>
                  </a:moveTo>
                  <a:lnTo>
                    <a:pt x="2602257" y="162938"/>
                  </a:lnTo>
                  <a:lnTo>
                    <a:pt x="2606108" y="170008"/>
                  </a:lnTo>
                  <a:lnTo>
                    <a:pt x="2613037" y="182734"/>
                  </a:lnTo>
                </a:path>
                <a:path w="2935604" h="2342515">
                  <a:moveTo>
                    <a:pt x="2613682" y="183917"/>
                  </a:moveTo>
                  <a:lnTo>
                    <a:pt x="2626019" y="206573"/>
                  </a:lnTo>
                  <a:lnTo>
                    <a:pt x="2631546" y="220834"/>
                  </a:lnTo>
                </a:path>
                <a:path w="2935604" h="2342515">
                  <a:moveTo>
                    <a:pt x="2631969" y="221925"/>
                  </a:moveTo>
                  <a:lnTo>
                    <a:pt x="2636477" y="233558"/>
                  </a:lnTo>
                  <a:lnTo>
                    <a:pt x="2644149" y="253354"/>
                  </a:lnTo>
                  <a:lnTo>
                    <a:pt x="2645531" y="258934"/>
                  </a:lnTo>
                </a:path>
                <a:path w="2935604" h="2342515">
                  <a:moveTo>
                    <a:pt x="2645685" y="259557"/>
                  </a:moveTo>
                  <a:lnTo>
                    <a:pt x="2648680" y="271647"/>
                  </a:lnTo>
                  <a:lnTo>
                    <a:pt x="2651821" y="284324"/>
                  </a:lnTo>
                  <a:lnTo>
                    <a:pt x="2656353" y="302622"/>
                  </a:lnTo>
                  <a:lnTo>
                    <a:pt x="2698189" y="317792"/>
                  </a:lnTo>
                  <a:lnTo>
                    <a:pt x="2737343" y="337585"/>
                  </a:lnTo>
                  <a:lnTo>
                    <a:pt x="2773604" y="361630"/>
                  </a:lnTo>
                  <a:lnTo>
                    <a:pt x="2787403" y="373251"/>
                  </a:lnTo>
                  <a:lnTo>
                    <a:pt x="2802576" y="386030"/>
                  </a:lnTo>
                  <a:lnTo>
                    <a:pt x="2806763" y="389556"/>
                  </a:lnTo>
                  <a:lnTo>
                    <a:pt x="2813661" y="396822"/>
                  </a:lnTo>
                </a:path>
                <a:path w="2935604" h="2342515">
                  <a:moveTo>
                    <a:pt x="2828565" y="412522"/>
                  </a:moveTo>
                  <a:lnTo>
                    <a:pt x="2836609" y="420996"/>
                  </a:lnTo>
                  <a:lnTo>
                    <a:pt x="2838922" y="424034"/>
                  </a:lnTo>
                </a:path>
                <a:path w="2935604" h="2342515">
                  <a:moveTo>
                    <a:pt x="2839233" y="424443"/>
                  </a:moveTo>
                  <a:lnTo>
                    <a:pt x="2858256" y="449434"/>
                  </a:lnTo>
                </a:path>
                <a:path w="2935604" h="2342515">
                  <a:moveTo>
                    <a:pt x="2859046" y="450471"/>
                  </a:moveTo>
                  <a:lnTo>
                    <a:pt x="2862933" y="455577"/>
                  </a:lnTo>
                  <a:lnTo>
                    <a:pt x="2885525" y="492931"/>
                  </a:lnTo>
                  <a:lnTo>
                    <a:pt x="2888950" y="500234"/>
                  </a:lnTo>
                </a:path>
                <a:path w="2935604" h="2342515">
                  <a:moveTo>
                    <a:pt x="2889525" y="501460"/>
                  </a:moveTo>
                  <a:lnTo>
                    <a:pt x="2894908" y="512934"/>
                  </a:lnTo>
                </a:path>
                <a:path w="2935604" h="2342515">
                  <a:moveTo>
                    <a:pt x="2895621" y="514455"/>
                  </a:moveTo>
                  <a:lnTo>
                    <a:pt x="2900865" y="525634"/>
                  </a:lnTo>
                </a:path>
                <a:path w="2935604" h="2342515">
                  <a:moveTo>
                    <a:pt x="2901717" y="527451"/>
                  </a:moveTo>
                  <a:lnTo>
                    <a:pt x="2904174" y="532688"/>
                  </a:lnTo>
                  <a:lnTo>
                    <a:pt x="2906133" y="538334"/>
                  </a:lnTo>
                </a:path>
                <a:path w="2935604" h="2342515">
                  <a:moveTo>
                    <a:pt x="2906289" y="538785"/>
                  </a:moveTo>
                  <a:lnTo>
                    <a:pt x="2910539" y="551034"/>
                  </a:lnTo>
                </a:path>
                <a:path w="2935604" h="2342515">
                  <a:moveTo>
                    <a:pt x="2910861" y="551963"/>
                  </a:moveTo>
                  <a:lnTo>
                    <a:pt x="2914944" y="563734"/>
                  </a:lnTo>
                </a:path>
                <a:path w="2935604" h="2342515">
                  <a:moveTo>
                    <a:pt x="2915433" y="565142"/>
                  </a:moveTo>
                  <a:lnTo>
                    <a:pt x="2918672" y="574477"/>
                  </a:lnTo>
                  <a:lnTo>
                    <a:pt x="2925053" y="601834"/>
                  </a:lnTo>
                </a:path>
                <a:path w="2935604" h="2342515">
                  <a:moveTo>
                    <a:pt x="2926101" y="606328"/>
                  </a:moveTo>
                  <a:lnTo>
                    <a:pt x="2928807" y="617930"/>
                  </a:lnTo>
                  <a:lnTo>
                    <a:pt x="2929964" y="627234"/>
                  </a:lnTo>
                </a:path>
                <a:path w="2935604" h="2342515">
                  <a:moveTo>
                    <a:pt x="2930673" y="632935"/>
                  </a:moveTo>
                  <a:lnTo>
                    <a:pt x="2931543" y="639934"/>
                  </a:lnTo>
                </a:path>
                <a:path w="2935604" h="2342515">
                  <a:moveTo>
                    <a:pt x="2932197" y="645195"/>
                  </a:moveTo>
                  <a:lnTo>
                    <a:pt x="2933122" y="652634"/>
                  </a:lnTo>
                </a:path>
                <a:path w="2935604" h="2342515">
                  <a:moveTo>
                    <a:pt x="2933721" y="657455"/>
                  </a:moveTo>
                  <a:lnTo>
                    <a:pt x="2934370" y="662675"/>
                  </a:lnTo>
                  <a:lnTo>
                    <a:pt x="2934416" y="665334"/>
                  </a:lnTo>
                </a:path>
                <a:path w="2935604" h="2342515">
                  <a:moveTo>
                    <a:pt x="2934761" y="685516"/>
                  </a:moveTo>
                  <a:lnTo>
                    <a:pt x="2935152" y="708343"/>
                  </a:lnTo>
                  <a:lnTo>
                    <a:pt x="2933877" y="722334"/>
                  </a:lnTo>
                </a:path>
                <a:path w="2935604" h="2342515">
                  <a:moveTo>
                    <a:pt x="883046" y="258934"/>
                  </a:moveTo>
                  <a:lnTo>
                    <a:pt x="926613" y="282810"/>
                  </a:lnTo>
                  <a:lnTo>
                    <a:pt x="932618" y="272395"/>
                  </a:lnTo>
                </a:path>
                <a:path w="2935604" h="2342515">
                  <a:moveTo>
                    <a:pt x="855381" y="247057"/>
                  </a:moveTo>
                  <a:lnTo>
                    <a:pt x="878939" y="256683"/>
                  </a:lnTo>
                  <a:lnTo>
                    <a:pt x="883046" y="258934"/>
                  </a:lnTo>
                </a:path>
                <a:path w="2935604" h="2342515">
                  <a:moveTo>
                    <a:pt x="940379" y="258934"/>
                  </a:moveTo>
                  <a:lnTo>
                    <a:pt x="947701" y="246234"/>
                  </a:lnTo>
                </a:path>
                <a:path w="2935604" h="2342515">
                  <a:moveTo>
                    <a:pt x="822487" y="234488"/>
                  </a:moveTo>
                  <a:lnTo>
                    <a:pt x="829190" y="236356"/>
                  </a:lnTo>
                  <a:lnTo>
                    <a:pt x="853365" y="246234"/>
                  </a:lnTo>
                </a:path>
                <a:path w="2935604" h="2342515">
                  <a:moveTo>
                    <a:pt x="947701" y="246234"/>
                  </a:moveTo>
                  <a:lnTo>
                    <a:pt x="951694" y="239307"/>
                  </a:lnTo>
                  <a:lnTo>
                    <a:pt x="955483" y="234252"/>
                  </a:lnTo>
                </a:path>
                <a:path w="2935604" h="2342515">
                  <a:moveTo>
                    <a:pt x="770006" y="220834"/>
                  </a:moveTo>
                  <a:lnTo>
                    <a:pt x="777833" y="222040"/>
                  </a:lnTo>
                  <a:lnTo>
                    <a:pt x="819065" y="233534"/>
                  </a:lnTo>
                </a:path>
                <a:path w="2935604" h="2342515">
                  <a:moveTo>
                    <a:pt x="956022" y="233534"/>
                  </a:moveTo>
                  <a:lnTo>
                    <a:pt x="964323" y="222460"/>
                  </a:lnTo>
                </a:path>
                <a:path w="2935604" h="2342515">
                  <a:moveTo>
                    <a:pt x="1514065" y="170034"/>
                  </a:moveTo>
                  <a:lnTo>
                    <a:pt x="1528593" y="183750"/>
                  </a:lnTo>
                </a:path>
                <a:path w="2935604" h="2342515">
                  <a:moveTo>
                    <a:pt x="1530993" y="179400"/>
                  </a:moveTo>
                  <a:lnTo>
                    <a:pt x="1536162" y="170034"/>
                  </a:lnTo>
                </a:path>
                <a:path w="2935604" h="2342515">
                  <a:moveTo>
                    <a:pt x="1499672" y="157334"/>
                  </a:moveTo>
                  <a:lnTo>
                    <a:pt x="1507710" y="164033"/>
                  </a:lnTo>
                  <a:lnTo>
                    <a:pt x="1514065" y="170034"/>
                  </a:lnTo>
                </a:path>
                <a:path w="2935604" h="2342515">
                  <a:moveTo>
                    <a:pt x="1536162" y="170034"/>
                  </a:moveTo>
                  <a:lnTo>
                    <a:pt x="1541646" y="160095"/>
                  </a:lnTo>
                </a:path>
                <a:path w="2935604" h="2342515">
                  <a:moveTo>
                    <a:pt x="1484324" y="144734"/>
                  </a:moveTo>
                  <a:lnTo>
                    <a:pt x="1486112" y="146031"/>
                  </a:lnTo>
                  <a:lnTo>
                    <a:pt x="1499672" y="157334"/>
                  </a:lnTo>
                </a:path>
                <a:path w="2935604" h="2342515">
                  <a:moveTo>
                    <a:pt x="1543170" y="157334"/>
                  </a:moveTo>
                  <a:lnTo>
                    <a:pt x="1549860" y="145211"/>
                  </a:lnTo>
                </a:path>
                <a:path w="2935604" h="2342515">
                  <a:moveTo>
                    <a:pt x="1466677" y="131934"/>
                  </a:moveTo>
                  <a:lnTo>
                    <a:pt x="1484186" y="144634"/>
                  </a:lnTo>
                </a:path>
                <a:path w="2935604" h="2342515">
                  <a:moveTo>
                    <a:pt x="1550178" y="144634"/>
                  </a:moveTo>
                  <a:lnTo>
                    <a:pt x="1551989" y="141353"/>
                  </a:lnTo>
                  <a:lnTo>
                    <a:pt x="1559100" y="131954"/>
                  </a:lnTo>
                </a:path>
                <a:path w="2935604" h="2342515">
                  <a:moveTo>
                    <a:pt x="1446742" y="119234"/>
                  </a:moveTo>
                  <a:lnTo>
                    <a:pt x="1463656" y="129743"/>
                  </a:lnTo>
                  <a:lnTo>
                    <a:pt x="1466677" y="131934"/>
                  </a:lnTo>
                </a:path>
                <a:path w="2935604" h="2342515">
                  <a:moveTo>
                    <a:pt x="1559115" y="131934"/>
                  </a:moveTo>
                  <a:lnTo>
                    <a:pt x="1568122" y="120028"/>
                  </a:lnTo>
                </a:path>
                <a:path w="2935604" h="2342515">
                  <a:moveTo>
                    <a:pt x="2008916" y="81134"/>
                  </a:moveTo>
                  <a:lnTo>
                    <a:pt x="2029727" y="101906"/>
                  </a:lnTo>
                  <a:lnTo>
                    <a:pt x="2043752" y="119196"/>
                  </a:lnTo>
                  <a:lnTo>
                    <a:pt x="2052849" y="130410"/>
                  </a:lnTo>
                  <a:lnTo>
                    <a:pt x="2072372" y="108939"/>
                  </a:lnTo>
                </a:path>
                <a:path w="2935604" h="2342515">
                  <a:moveTo>
                    <a:pt x="2080498" y="100003"/>
                  </a:moveTo>
                  <a:lnTo>
                    <a:pt x="2085582" y="94412"/>
                  </a:lnTo>
                  <a:lnTo>
                    <a:pt x="2098063" y="83953"/>
                  </a:lnTo>
                </a:path>
                <a:path w="2935604" h="2342515">
                  <a:moveTo>
                    <a:pt x="1422362" y="106534"/>
                  </a:moveTo>
                  <a:lnTo>
                    <a:pt x="1440201" y="115170"/>
                  </a:lnTo>
                  <a:lnTo>
                    <a:pt x="1446742" y="119234"/>
                  </a:lnTo>
                </a:path>
                <a:path w="2935604" h="2342515">
                  <a:moveTo>
                    <a:pt x="1568723" y="119234"/>
                  </a:moveTo>
                  <a:lnTo>
                    <a:pt x="1578331" y="106534"/>
                  </a:lnTo>
                </a:path>
                <a:path w="2935604" h="2342515">
                  <a:moveTo>
                    <a:pt x="1395996" y="93863"/>
                  </a:moveTo>
                  <a:lnTo>
                    <a:pt x="1396616" y="94070"/>
                  </a:lnTo>
                  <a:lnTo>
                    <a:pt x="1422362" y="106534"/>
                  </a:lnTo>
                </a:path>
                <a:path w="2935604" h="2342515">
                  <a:moveTo>
                    <a:pt x="1578331" y="106534"/>
                  </a:moveTo>
                  <a:lnTo>
                    <a:pt x="1580187" y="104080"/>
                  </a:lnTo>
                  <a:lnTo>
                    <a:pt x="1590570" y="93834"/>
                  </a:lnTo>
                </a:path>
                <a:path w="2935604" h="2342515">
                  <a:moveTo>
                    <a:pt x="1359741" y="81784"/>
                  </a:moveTo>
                  <a:lnTo>
                    <a:pt x="1395908" y="93834"/>
                  </a:lnTo>
                </a:path>
                <a:path w="2935604" h="2342515">
                  <a:moveTo>
                    <a:pt x="1590571" y="93834"/>
                  </a:moveTo>
                  <a:lnTo>
                    <a:pt x="1603441" y="81134"/>
                  </a:lnTo>
                </a:path>
                <a:path w="2935604" h="2342515">
                  <a:moveTo>
                    <a:pt x="1298325" y="69871"/>
                  </a:moveTo>
                  <a:lnTo>
                    <a:pt x="1306781" y="70407"/>
                  </a:lnTo>
                  <a:lnTo>
                    <a:pt x="1351985" y="79200"/>
                  </a:lnTo>
                  <a:lnTo>
                    <a:pt x="1357789" y="81134"/>
                  </a:lnTo>
                </a:path>
                <a:path w="2935604" h="2342515">
                  <a:moveTo>
                    <a:pt x="1603441" y="81134"/>
                  </a:moveTo>
                  <a:lnTo>
                    <a:pt x="1612548" y="72146"/>
                  </a:lnTo>
                  <a:lnTo>
                    <a:pt x="1617598" y="68434"/>
                  </a:lnTo>
                </a:path>
                <a:path w="2935604" h="2342515">
                  <a:moveTo>
                    <a:pt x="1994252" y="68434"/>
                  </a:moveTo>
                  <a:lnTo>
                    <a:pt x="2003891" y="76117"/>
                  </a:lnTo>
                  <a:lnTo>
                    <a:pt x="2008916" y="81134"/>
                  </a:lnTo>
                </a:path>
                <a:path w="2935604" h="2342515">
                  <a:moveTo>
                    <a:pt x="2101428" y="81134"/>
                  </a:moveTo>
                  <a:lnTo>
                    <a:pt x="2115018" y="69745"/>
                  </a:lnTo>
                </a:path>
                <a:path w="2935604" h="2342515">
                  <a:moveTo>
                    <a:pt x="1978320" y="55734"/>
                  </a:moveTo>
                  <a:lnTo>
                    <a:pt x="1994252" y="68434"/>
                  </a:lnTo>
                </a:path>
                <a:path w="2935604" h="2342515">
                  <a:moveTo>
                    <a:pt x="2116584" y="68434"/>
                  </a:moveTo>
                  <a:lnTo>
                    <a:pt x="2121669" y="64172"/>
                  </a:lnTo>
                  <a:lnTo>
                    <a:pt x="2135128" y="55707"/>
                  </a:lnTo>
                </a:path>
                <a:path w="2935604" h="2342515">
                  <a:moveTo>
                    <a:pt x="1935240" y="30334"/>
                  </a:moveTo>
                  <a:lnTo>
                    <a:pt x="1944645" y="34398"/>
                  </a:lnTo>
                  <a:lnTo>
                    <a:pt x="1975482" y="53472"/>
                  </a:lnTo>
                  <a:lnTo>
                    <a:pt x="1978320" y="55734"/>
                  </a:lnTo>
                </a:path>
                <a:path w="2935604" h="2342515">
                  <a:moveTo>
                    <a:pt x="2135086" y="55734"/>
                  </a:moveTo>
                  <a:lnTo>
                    <a:pt x="2154931" y="43253"/>
                  </a:lnTo>
                </a:path>
                <a:path w="2935604" h="2342515">
                  <a:moveTo>
                    <a:pt x="2156177" y="42469"/>
                  </a:moveTo>
                  <a:lnTo>
                    <a:pt x="2160529" y="39732"/>
                  </a:lnTo>
                  <a:lnTo>
                    <a:pt x="2181273" y="30334"/>
                  </a:lnTo>
                </a:path>
                <a:path w="2935604" h="2342515">
                  <a:moveTo>
                    <a:pt x="1905850" y="17634"/>
                  </a:moveTo>
                  <a:lnTo>
                    <a:pt x="1935240" y="30334"/>
                  </a:lnTo>
                </a:path>
                <a:path w="2935604" h="2342515">
                  <a:moveTo>
                    <a:pt x="2181273" y="30334"/>
                  </a:moveTo>
                  <a:lnTo>
                    <a:pt x="2201580" y="21133"/>
                  </a:lnTo>
                  <a:lnTo>
                    <a:pt x="2213322" y="17634"/>
                  </a:lnTo>
                </a:path>
                <a:path w="2935604" h="2342515">
                  <a:moveTo>
                    <a:pt x="1859773" y="4934"/>
                  </a:moveTo>
                  <a:lnTo>
                    <a:pt x="1901979" y="15961"/>
                  </a:lnTo>
                  <a:lnTo>
                    <a:pt x="1905850" y="17634"/>
                  </a:lnTo>
                </a:path>
                <a:path w="2935604" h="2342515">
                  <a:moveTo>
                    <a:pt x="2213322" y="17634"/>
                  </a:moveTo>
                  <a:lnTo>
                    <a:pt x="2244240" y="8419"/>
                  </a:lnTo>
                  <a:lnTo>
                    <a:pt x="2264435" y="5282"/>
                  </a:lnTo>
                </a:path>
              </a:pathLst>
            </a:custGeom>
            <a:ln w="10668">
              <a:solidFill>
                <a:srgbClr val="00CC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24088" y="3208020"/>
              <a:ext cx="1732280" cy="187325"/>
            </a:xfrm>
            <a:custGeom>
              <a:avLst/>
              <a:gdLst/>
              <a:ahLst/>
              <a:cxnLst/>
              <a:rect l="l" t="t" r="r" b="b"/>
              <a:pathLst>
                <a:path w="1732279" h="187325">
                  <a:moveTo>
                    <a:pt x="1729739" y="172211"/>
                  </a:moveTo>
                  <a:lnTo>
                    <a:pt x="1732181" y="186943"/>
                  </a:lnTo>
                </a:path>
                <a:path w="1732279" h="187325">
                  <a:moveTo>
                    <a:pt x="0" y="158495"/>
                  </a:moveTo>
                  <a:lnTo>
                    <a:pt x="4534" y="161599"/>
                  </a:lnTo>
                </a:path>
                <a:path w="1732279" h="187325">
                  <a:moveTo>
                    <a:pt x="598582" y="68868"/>
                  </a:moveTo>
                  <a:lnTo>
                    <a:pt x="601980" y="61486"/>
                  </a:lnTo>
                </a:path>
                <a:path w="1732279" h="187325">
                  <a:moveTo>
                    <a:pt x="603947" y="57211"/>
                  </a:moveTo>
                  <a:lnTo>
                    <a:pt x="605028" y="54863"/>
                  </a:lnTo>
                </a:path>
                <a:path w="1732279" h="187325">
                  <a:moveTo>
                    <a:pt x="1119622" y="6987"/>
                  </a:moveTo>
                  <a:lnTo>
                    <a:pt x="1124712" y="0"/>
                  </a:lnTo>
                </a:path>
              </a:pathLst>
            </a:custGeom>
            <a:ln w="10668">
              <a:solidFill>
                <a:srgbClr val="00CC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0873" y="3079895"/>
              <a:ext cx="3070521" cy="242179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328559" y="3600450"/>
            <a:ext cx="2237105" cy="1567815"/>
            <a:chOff x="7328559" y="3600450"/>
            <a:chExt cx="2237105" cy="156781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3670" y="5066029"/>
              <a:ext cx="75610" cy="1022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5957" y="4481829"/>
              <a:ext cx="84062" cy="1884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28559" y="3872237"/>
              <a:ext cx="282972" cy="27623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52816" y="3607308"/>
              <a:ext cx="1506220" cy="1376680"/>
            </a:xfrm>
            <a:custGeom>
              <a:avLst/>
              <a:gdLst/>
              <a:ahLst/>
              <a:cxnLst/>
              <a:rect l="l" t="t" r="r" b="b"/>
              <a:pathLst>
                <a:path w="1506220" h="1376679">
                  <a:moveTo>
                    <a:pt x="993648" y="0"/>
                  </a:moveTo>
                  <a:lnTo>
                    <a:pt x="1025651" y="0"/>
                  </a:lnTo>
                  <a:lnTo>
                    <a:pt x="1025651" y="30480"/>
                  </a:lnTo>
                  <a:lnTo>
                    <a:pt x="993648" y="30480"/>
                  </a:lnTo>
                  <a:lnTo>
                    <a:pt x="993648" y="0"/>
                  </a:lnTo>
                  <a:close/>
                </a:path>
                <a:path w="1506220" h="1376679">
                  <a:moveTo>
                    <a:pt x="1473707" y="1345691"/>
                  </a:moveTo>
                  <a:lnTo>
                    <a:pt x="1505712" y="1345691"/>
                  </a:lnTo>
                  <a:lnTo>
                    <a:pt x="1505712" y="1376172"/>
                  </a:lnTo>
                  <a:lnTo>
                    <a:pt x="1473707" y="1376172"/>
                  </a:lnTo>
                  <a:lnTo>
                    <a:pt x="1473707" y="1345691"/>
                  </a:lnTo>
                  <a:close/>
                </a:path>
                <a:path w="1506220" h="1376679">
                  <a:moveTo>
                    <a:pt x="1411223" y="1345691"/>
                  </a:moveTo>
                  <a:lnTo>
                    <a:pt x="1443228" y="1345691"/>
                  </a:lnTo>
                  <a:lnTo>
                    <a:pt x="1443228" y="1376172"/>
                  </a:lnTo>
                  <a:lnTo>
                    <a:pt x="1411223" y="1376172"/>
                  </a:lnTo>
                  <a:lnTo>
                    <a:pt x="1411223" y="1345691"/>
                  </a:lnTo>
                  <a:close/>
                </a:path>
                <a:path w="1506220" h="1376679">
                  <a:moveTo>
                    <a:pt x="1312164" y="1345691"/>
                  </a:moveTo>
                  <a:lnTo>
                    <a:pt x="1344167" y="1345691"/>
                  </a:lnTo>
                  <a:lnTo>
                    <a:pt x="1344167" y="1376172"/>
                  </a:lnTo>
                  <a:lnTo>
                    <a:pt x="1312164" y="1376172"/>
                  </a:lnTo>
                  <a:lnTo>
                    <a:pt x="1312164" y="1345691"/>
                  </a:lnTo>
                  <a:close/>
                </a:path>
                <a:path w="1506220" h="1376679">
                  <a:moveTo>
                    <a:pt x="199644" y="1260348"/>
                  </a:moveTo>
                  <a:lnTo>
                    <a:pt x="231648" y="1260348"/>
                  </a:lnTo>
                  <a:lnTo>
                    <a:pt x="231648" y="1376172"/>
                  </a:lnTo>
                  <a:lnTo>
                    <a:pt x="199644" y="1376172"/>
                  </a:lnTo>
                  <a:lnTo>
                    <a:pt x="199644" y="1260348"/>
                  </a:lnTo>
                  <a:close/>
                </a:path>
                <a:path w="1506220" h="1376679">
                  <a:moveTo>
                    <a:pt x="0" y="1260348"/>
                  </a:moveTo>
                  <a:lnTo>
                    <a:pt x="32003" y="1260348"/>
                  </a:lnTo>
                  <a:lnTo>
                    <a:pt x="32003" y="1376172"/>
                  </a:lnTo>
                  <a:lnTo>
                    <a:pt x="0" y="1376172"/>
                  </a:lnTo>
                  <a:lnTo>
                    <a:pt x="0" y="1260348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5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dirty="0"/>
              <a:t>Attività</a:t>
            </a:r>
            <a:r>
              <a:rPr sz="3500" spc="20" dirty="0"/>
              <a:t> </a:t>
            </a:r>
            <a:r>
              <a:rPr sz="3500" dirty="0"/>
              <a:t>(“lavoro</a:t>
            </a:r>
            <a:r>
              <a:rPr sz="3500" spc="35" dirty="0"/>
              <a:t> </a:t>
            </a:r>
            <a:r>
              <a:rPr sz="3500" spc="-10" dirty="0"/>
              <a:t>sostanziale”)</a:t>
            </a:r>
            <a:endParaRPr sz="3500" dirty="0"/>
          </a:p>
        </p:txBody>
      </p:sp>
      <p:sp>
        <p:nvSpPr>
          <p:cNvPr id="3" name="object 3"/>
          <p:cNvSpPr txBox="1"/>
          <p:nvPr/>
        </p:nvSpPr>
        <p:spPr>
          <a:xfrm>
            <a:off x="653272" y="2254971"/>
            <a:ext cx="9722628" cy="20226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26390" marR="5080" indent="-314325">
              <a:lnSpc>
                <a:spcPct val="102099"/>
              </a:lnSpc>
              <a:spcBef>
                <a:spcPts val="80"/>
              </a:spcBef>
              <a:buChar char="•"/>
              <a:tabLst>
                <a:tab pos="32766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Attività</a:t>
            </a:r>
            <a:r>
              <a:rPr sz="24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4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4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svolge</a:t>
            </a:r>
            <a:r>
              <a:rPr sz="24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indipendentemente</a:t>
            </a:r>
            <a:r>
              <a:rPr sz="24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dal</a:t>
            </a:r>
            <a:r>
              <a:rPr sz="24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quadro</a:t>
            </a:r>
            <a:r>
              <a:rPr sz="24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formale</a:t>
            </a:r>
            <a:r>
              <a:rPr sz="24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sz="24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quale</a:t>
            </a:r>
            <a:r>
              <a:rPr sz="24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 err="1">
                <a:latin typeface="Arial" panose="020B0604020202020204" pitchFamily="34" charset="0"/>
                <a:cs typeface="Arial" panose="020B0604020202020204" pitchFamily="34" charset="0"/>
              </a:rPr>
              <a:t>essa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 err="1">
                <a:latin typeface="Arial" panose="020B0604020202020204" pitchFamily="34" charset="0"/>
                <a:cs typeface="Arial" panose="020B0604020202020204" pitchFamily="34" charset="0"/>
              </a:rPr>
              <a:t>avviene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Font typeface="Arial MT"/>
              <a:buChar char="•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6390" marR="326390" indent="-314325">
              <a:lnSpc>
                <a:spcPct val="101499"/>
              </a:lnSpc>
              <a:buChar char="•"/>
              <a:tabLst>
                <a:tab pos="32766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Esiste</a:t>
            </a:r>
            <a:r>
              <a:rPr sz="24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4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legame</a:t>
            </a:r>
            <a:r>
              <a:rPr sz="24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diretto</a:t>
            </a:r>
            <a:r>
              <a:rPr sz="24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sz="24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attività</a:t>
            </a:r>
            <a:r>
              <a:rPr sz="24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4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svolgo</a:t>
            </a:r>
            <a:r>
              <a:rPr sz="24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4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soddisfacimento</a:t>
            </a:r>
            <a:r>
              <a:rPr sz="24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4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sz="2400" spc="-10" dirty="0" err="1">
                <a:latin typeface="Arial" panose="020B0604020202020204" pitchFamily="34" charset="0"/>
                <a:cs typeface="Arial" panose="020B0604020202020204" pitchFamily="34" charset="0"/>
              </a:rPr>
              <a:t>bisogno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862" y="816249"/>
            <a:ext cx="594614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dirty="0"/>
              <a:t>Lavoro</a:t>
            </a:r>
            <a:r>
              <a:rPr sz="3500" spc="35" dirty="0"/>
              <a:t> </a:t>
            </a:r>
            <a:r>
              <a:rPr sz="3500" dirty="0"/>
              <a:t>(“lavoro</a:t>
            </a:r>
            <a:r>
              <a:rPr sz="3500" spc="35" dirty="0"/>
              <a:t> </a:t>
            </a:r>
            <a:r>
              <a:rPr sz="3500" spc="-10" dirty="0"/>
              <a:t>occupazionale”)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727924" y="1936473"/>
            <a:ext cx="9571776" cy="383002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30"/>
              </a:spcBef>
              <a:buChar char="•"/>
              <a:tabLst>
                <a:tab pos="32639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Termine</a:t>
            </a:r>
            <a:r>
              <a:rPr sz="20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interessa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scienze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sociali.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Arial MT"/>
              <a:buChar char="•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6390" marR="101600" indent="-314325">
              <a:lnSpc>
                <a:spcPct val="101800"/>
              </a:lnSpc>
              <a:buChar char="•"/>
              <a:tabLst>
                <a:tab pos="3276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Attività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sistematica</a:t>
            </a:r>
            <a:r>
              <a:rPr sz="20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specializzata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svolta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determinato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contesto,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sottoposta 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determinate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regole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garantisce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retribuzione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(salario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caso 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dell’impiego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salariato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rendita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sz="2000" spc="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dell’impiego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indipendente/autonomo)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Font typeface="Arial MT"/>
              <a:buChar char="•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6390" marR="5080" indent="-314325">
              <a:lnSpc>
                <a:spcPct val="101899"/>
              </a:lnSpc>
              <a:buChar char="•"/>
              <a:tabLst>
                <a:tab pos="3276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dipendente,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eterodiretto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(nel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senso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mezzi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fini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sono 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imposti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dal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e/o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dalla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direzione)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dove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lavoratore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sz="20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proprietario 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mezzi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produzione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dove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esiste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legame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diretto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quello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si 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produce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bisogno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immediato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lavoratore.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2735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(Reynaud,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E.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Maruani,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M.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2004)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F997-F508-3FAD-4C35-07C20C3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19AEA3-D464-CCB3-09AB-41704978BEE3}"/>
              </a:ext>
            </a:extLst>
          </p:cNvPr>
          <p:cNvSpPr txBox="1"/>
          <p:nvPr/>
        </p:nvSpPr>
        <p:spPr>
          <a:xfrm>
            <a:off x="1525038" y="188500"/>
            <a:ext cx="33978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DEASS</a:t>
            </a:r>
            <a:r>
              <a:rPr sz="1300" spc="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/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Titolo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principale della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presentazione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AEE880D-135F-4587-7E9F-E5D9413786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5" y="225552"/>
            <a:ext cx="527304" cy="15697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E9727B6-1093-E4F8-7DCA-6FBAA6B09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05" y="1206436"/>
            <a:ext cx="8292465" cy="16427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it-CH" sz="5300" spc="-10" dirty="0">
                <a:solidFill>
                  <a:srgbClr val="FFFFFF"/>
                </a:solidFill>
              </a:rPr>
              <a:t>Il lavoro da una prospettiva storica</a:t>
            </a:r>
            <a:endParaRPr sz="53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CD656E5-5E46-17A6-1F12-FE5342F9509C}"/>
              </a:ext>
            </a:extLst>
          </p:cNvPr>
          <p:cNvSpPr txBox="1"/>
          <p:nvPr/>
        </p:nvSpPr>
        <p:spPr>
          <a:xfrm>
            <a:off x="9830841" y="193002"/>
            <a:ext cx="211454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Arial MT"/>
                <a:cs typeface="Arial MT"/>
              </a:rPr>
              <a:t>19</a:t>
            </a:r>
            <a:endParaRPr sz="13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285353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7232F-208F-7DC8-16C0-C49BFE9A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643" y="724998"/>
            <a:ext cx="9396113" cy="681649"/>
          </a:xfrm>
        </p:spPr>
        <p:txBody>
          <a:bodyPr/>
          <a:lstStyle/>
          <a:p>
            <a:r>
              <a:rPr lang="it-CH" dirty="0"/>
              <a:t>Il lavoro nelle società </a:t>
            </a:r>
            <a:r>
              <a:rPr lang="it-CH" dirty="0" err="1"/>
              <a:t>pre</a:t>
            </a:r>
            <a:r>
              <a:rPr lang="it-CH" dirty="0"/>
              <a:t>-industriali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B40CFD-6171-1735-6BF0-0B133D9C1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418712"/>
            <a:ext cx="9399356" cy="5840060"/>
          </a:xfrm>
        </p:spPr>
        <p:txBody>
          <a:bodyPr/>
          <a:lstStyle/>
          <a:p>
            <a:r>
              <a:rPr lang="it-CH" sz="2000" b="1" dirty="0">
                <a:latin typeface="Arial" panose="020B0604020202020204" pitchFamily="34" charset="0"/>
                <a:cs typeface="Arial" panose="020B0604020202020204" pitchFamily="34" charset="0"/>
              </a:rPr>
              <a:t>Seconda metà del XVIII secolo</a:t>
            </a:r>
          </a:p>
          <a:p>
            <a:endParaRPr 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>
                <a:latin typeface="Arial" panose="020B0604020202020204" pitchFamily="34" charset="0"/>
                <a:cs typeface="Arial" panose="020B0604020202020204" pitchFamily="34" charset="0"/>
              </a:rPr>
              <a:t>Lavoro prevalentemente agricolo (liberi contadini, servi della gleba, schiavi).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>
                <a:latin typeface="Arial" panose="020B0604020202020204" pitchFamily="34" charset="0"/>
                <a:cs typeface="Arial" panose="020B0604020202020204" pitchFamily="34" charset="0"/>
              </a:rPr>
              <a:t>Contadini trattenevano parte del raccolto per soddisfare i bisogni della loro famiglia e producevano capi di abbigliamento e mezzi di produzione.</a:t>
            </a:r>
          </a:p>
          <a:p>
            <a:pPr algn="ctr"/>
            <a:endParaRPr 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it-CH" sz="2000" b="1" dirty="0">
                <a:latin typeface="Arial" panose="020B0604020202020204" pitchFamily="34" charset="0"/>
                <a:cs typeface="Arial" panose="020B0604020202020204" pitchFamily="34" charset="0"/>
              </a:rPr>
              <a:t>Esisteva un legame diretto tra produzione e soddisfacimento del bisogno.</a:t>
            </a:r>
          </a:p>
          <a:p>
            <a:endParaRPr 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>
                <a:latin typeface="Arial" panose="020B0604020202020204" pitchFamily="34" charset="0"/>
                <a:cs typeface="Arial" panose="020B0604020202020204" pitchFamily="34" charset="0"/>
              </a:rPr>
              <a:t>Il lavoro è dettato dai ritmi stagionali e dalle tradizioni, è scarsamente specializzato e non esiste praticamente divisione tra uomini, donne, giovani, anziani.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>
                <a:latin typeface="Arial" panose="020B0604020202020204" pitchFamily="34" charset="0"/>
                <a:cs typeface="Arial" panose="020B0604020202020204" pitchFamily="34" charset="0"/>
              </a:rPr>
              <a:t>Le condizioni di vita sono precarie (invecchiamento precoce, durata della vita breve, morti per parti). </a:t>
            </a:r>
          </a:p>
          <a:p>
            <a:endParaRPr 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CH" sz="2000" dirty="0">
                <a:latin typeface="Arial" panose="020B0604020202020204" pitchFamily="34" charset="0"/>
                <a:cs typeface="Arial" panose="020B0604020202020204" pitchFamily="34" charset="0"/>
              </a:rPr>
              <a:t>Artigiani e commercianti sono una minoranza che si dedica essenzialmente alla  produzione per bisogni di lusso delle classi dirigenti.</a:t>
            </a:r>
          </a:p>
          <a:p>
            <a:endParaRPr 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37626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6A3602-5F10-9335-813F-43E69D3D2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25" y="1241219"/>
            <a:ext cx="9935951" cy="793048"/>
          </a:xfrm>
        </p:spPr>
        <p:txBody>
          <a:bodyPr wrap="square" anchor="t">
            <a:normAutofit/>
          </a:bodyPr>
          <a:lstStyle/>
          <a:p>
            <a:r>
              <a:rPr lang="it-CH" dirty="0"/>
              <a:t>Il lavoro dopo la rivoluzione industriale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A4FF0D-CB3D-BD22-BF05-3032DB5D5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724" y="1876425"/>
            <a:ext cx="9768576" cy="4765296"/>
          </a:xfrm>
        </p:spPr>
        <p:txBody>
          <a:bodyPr wrap="square" anchor="t">
            <a:normAutofit lnSpcReduction="100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it-CH" altLang="it-CH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kumimoji="0" lang="it-CH" altLang="it-CH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Il lavoratore è libero di vendere la forza lavoro, </a:t>
            </a:r>
            <a:r>
              <a:rPr lang="it-CH" altLang="it-CH" sz="2000" dirty="0">
                <a:latin typeface="Arial" panose="020B0604020202020204" pitchFamily="34" charset="0"/>
                <a:cs typeface="Arial" panose="020B0604020202020204" pitchFamily="34" charset="0"/>
              </a:rPr>
              <a:t>è separato dai mezzi di produzione e può accedervi solo vendendo la sua forza lavoro ricevendo in cambio un salario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it-CH" altLang="it-CH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it-CH" alt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it-CH" altLang="it-CH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it-CH" altLang="it-CH" sz="2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endenzialmente</a:t>
            </a:r>
            <a:r>
              <a:rPr kumimoji="0" lang="it-CH" altLang="it-CH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luogo di vita e luogo di lavoro si separano. </a:t>
            </a:r>
          </a:p>
          <a:p>
            <a:pPr marL="0" indent="0" algn="just">
              <a:lnSpc>
                <a:spcPct val="90000"/>
              </a:lnSpc>
              <a:buNone/>
              <a:defRPr/>
            </a:pPr>
            <a:endParaRPr lang="it-CH" altLang="it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kumimoji="0" lang="it-CH" altLang="it-CH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 casa diventa il luogo del lavoro di riproduzione sociale non remunerato tendenzialmente svolto dalle donne. Si assiste quindi anche alla divisione sessuale del lavoro.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it-CH" altLang="it-CH" sz="2000" dirty="0"/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it-CH" altLang="it-CH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it-CH" altLang="it-CH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</a:t>
            </a:r>
            <a:r>
              <a:rPr kumimoji="0" lang="it-CH" altLang="fr-FR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’</a:t>
            </a:r>
            <a:r>
              <a:rPr kumimoji="0" lang="it-CH" altLang="it-CH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obiettivo finale del lavoro non è tanto quello di produrre beni per un consumo immediato da parte del produttore, ma produrre beni per il mercato.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lang="it-CH" altLang="it-CH" sz="2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it-CH" sz="2400" b="1" dirty="0"/>
              <a:t>Il lavoro diventa una «merce».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8F0DF5-D729-1CB7-7CEF-800D64C3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8724" y="7116432"/>
            <a:ext cx="2495127" cy="446418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37FFCCC6-70A9-47A1-B8F9-DC9F18741DF3}" type="datetime1">
              <a:rPr lang="it-IT" altLang="it-CH" smtClean="0"/>
              <a:pPr>
                <a:spcAft>
                  <a:spcPts val="600"/>
                </a:spcAft>
                <a:defRPr/>
              </a:pPr>
              <a:t>22/01/2026</a:t>
            </a:fld>
            <a:endParaRPr lang="it-IT" alt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BDEEE23-F82C-291E-817C-23D9AB97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725" y="208329"/>
            <a:ext cx="957950" cy="525198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377B99B3-EB5B-4E2E-93AA-F6BD27DDD55D}" type="slidenum">
              <a:rPr lang="it-IT" altLang="it-CH" smtClean="0"/>
              <a:pPr>
                <a:spcAft>
                  <a:spcPts val="600"/>
                </a:spcAft>
                <a:defRPr/>
              </a:pPr>
              <a:t>9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05240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8724" y="2034267"/>
            <a:ext cx="9519423" cy="232512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215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Nel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mercato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lavoratore</a:t>
            </a:r>
            <a:r>
              <a:rPr sz="20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lavoratrice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vendono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loro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forza</a:t>
            </a:r>
            <a:r>
              <a:rPr sz="20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lavoro.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sz="20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diventa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merce?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4453890">
              <a:lnSpc>
                <a:spcPct val="117400"/>
              </a:lnSpc>
            </a:pP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000" spc="-3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cos’è</a:t>
            </a:r>
            <a:r>
              <a:rPr sz="2000" spc="-6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-4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prezzo</a:t>
            </a:r>
            <a:r>
              <a:rPr sz="2000" spc="-6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1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lavoro?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Cosa</a:t>
            </a:r>
            <a:r>
              <a:rPr sz="2000" spc="-95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determina</a:t>
            </a:r>
            <a:r>
              <a:rPr sz="2000" spc="-9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questo</a:t>
            </a:r>
            <a:r>
              <a:rPr sz="2000" spc="-95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prezzo?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</a:t>
            </a:r>
            <a:r>
              <a:rPr sz="2000" spc="-45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sono</a:t>
            </a:r>
            <a:r>
              <a:rPr sz="2000" spc="-9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2000" spc="-6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caratteristiche</a:t>
            </a:r>
            <a:r>
              <a:rPr sz="2000" spc="-6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000" spc="-4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questa</a:t>
            </a:r>
            <a:r>
              <a:rPr sz="2000" spc="-6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merce?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4422F03-BF68-0ADD-B925-CF2594D6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sz="2800" dirty="0"/>
              <a:t>Il</a:t>
            </a:r>
            <a:r>
              <a:rPr lang="it-CH" sz="2800" spc="20" dirty="0"/>
              <a:t> </a:t>
            </a:r>
            <a:r>
              <a:rPr lang="it-CH" sz="2800" dirty="0"/>
              <a:t>lavoro</a:t>
            </a:r>
            <a:r>
              <a:rPr lang="it-CH" sz="2800" spc="20" dirty="0"/>
              <a:t> </a:t>
            </a:r>
            <a:r>
              <a:rPr lang="it-CH" sz="2800" dirty="0"/>
              <a:t>salariato:</a:t>
            </a:r>
            <a:r>
              <a:rPr lang="it-CH" sz="2800" spc="60" dirty="0"/>
              <a:t> </a:t>
            </a:r>
            <a:r>
              <a:rPr lang="it-CH" sz="2800" dirty="0"/>
              <a:t>una</a:t>
            </a:r>
            <a:r>
              <a:rPr lang="it-CH" sz="2800" spc="40" dirty="0"/>
              <a:t> </a:t>
            </a:r>
            <a:r>
              <a:rPr lang="it-CH" sz="2800" dirty="0"/>
              <a:t>merce</a:t>
            </a:r>
            <a:r>
              <a:rPr lang="it-CH" sz="2800" spc="40" dirty="0"/>
              <a:t> </a:t>
            </a:r>
            <a:r>
              <a:rPr lang="it-CH" sz="2800" dirty="0"/>
              <a:t>o</a:t>
            </a:r>
            <a:r>
              <a:rPr lang="it-CH" sz="2800" spc="20" dirty="0"/>
              <a:t> </a:t>
            </a:r>
            <a:r>
              <a:rPr lang="it-CH" sz="2800" dirty="0"/>
              <a:t>un</a:t>
            </a:r>
            <a:r>
              <a:rPr lang="it-CH" sz="2800" spc="20" dirty="0"/>
              <a:t> </a:t>
            </a:r>
            <a:r>
              <a:rPr lang="it-CH" sz="2800" dirty="0"/>
              <a:t>rapporto</a:t>
            </a:r>
            <a:r>
              <a:rPr lang="it-CH" sz="2800" spc="15" dirty="0"/>
              <a:t> </a:t>
            </a:r>
            <a:r>
              <a:rPr lang="it-CH" sz="2800" spc="-10" dirty="0"/>
              <a:t>sociale?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326091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34" y="917002"/>
            <a:ext cx="5193030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00" dirty="0"/>
              <a:t>Un</a:t>
            </a:r>
            <a:r>
              <a:rPr sz="2800" spc="-25" dirty="0"/>
              <a:t> </a:t>
            </a:r>
            <a:r>
              <a:rPr sz="2800" dirty="0"/>
              <a:t>mercato</a:t>
            </a:r>
            <a:r>
              <a:rPr sz="2800" spc="-15" dirty="0"/>
              <a:t> </a:t>
            </a:r>
            <a:r>
              <a:rPr sz="2800" spc="-10" dirty="0"/>
              <a:t>particolare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648634" y="1724025"/>
            <a:ext cx="9300317" cy="3706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merce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venduta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nata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essere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venduta.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00299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merce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venduta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è</a:t>
            </a:r>
            <a:r>
              <a:rPr sz="22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separabile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dalla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persona</a:t>
            </a:r>
            <a:r>
              <a:rPr sz="2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vende,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rapporto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compravendita</a:t>
            </a:r>
            <a:r>
              <a:rPr sz="2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non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esaurisce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vendita</a:t>
            </a:r>
            <a:r>
              <a:rPr sz="2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della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merce,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ogni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decisione</a:t>
            </a:r>
            <a:r>
              <a:rPr sz="2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sul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prezzo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della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merce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impatto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sulle condizioni</a:t>
            </a:r>
            <a:r>
              <a:rPr sz="2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vita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del 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dipendente.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86995">
              <a:lnSpc>
                <a:spcPct val="100499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merce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venduta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può</a:t>
            </a:r>
            <a:r>
              <a:rPr sz="22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contrattare</a:t>
            </a:r>
            <a:r>
              <a:rPr sz="2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direttamente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2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suo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prezzo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sia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2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termini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salario</a:t>
            </a:r>
            <a:r>
              <a:rPr sz="2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che</a:t>
            </a:r>
            <a:r>
              <a:rPr sz="22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condizioni</a:t>
            </a:r>
            <a:r>
              <a:rPr sz="2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spc="-10" dirty="0" err="1">
                <a:latin typeface="Arial" panose="020B0604020202020204" pitchFamily="34" charset="0"/>
                <a:cs typeface="Arial" panose="020B0604020202020204" pitchFamily="34" charset="0"/>
              </a:rPr>
              <a:t>lavoro</a:t>
            </a:r>
            <a:r>
              <a:rPr sz="22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it-CH" sz="2200" spc="-10" dirty="0">
                <a:latin typeface="Arial" panose="020B0604020202020204" pitchFamily="34" charset="0"/>
                <a:cs typeface="Arial" panose="020B0604020202020204" pitchFamily="34" charset="0"/>
              </a:rPr>
              <a:t> In questa compravendita entra in gioco anche la legislazione del lavoro e le politiche di Welfare. </a:t>
            </a: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80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werpoint_DEASS_1 copia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owerpoint_DEASS_1 [modalità compatibilità]" id="{B6E7AA00-6E6C-45F9-B3C9-891E4676802B}" vid="{B5BF2088-8072-4D56-88D7-C6AC9A61A8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666</Words>
  <Application>Microsoft Office PowerPoint</Application>
  <PresentationFormat>Personalizzato</PresentationFormat>
  <Paragraphs>67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Times New Roman</vt:lpstr>
      <vt:lpstr>Office Theme</vt:lpstr>
      <vt:lpstr>Powerpoint_DEASS_1 copia</vt:lpstr>
      <vt:lpstr>Il lavoro e le sue trasformazioni: una prospettiva storica 1</vt:lpstr>
      <vt:lpstr>Che cos’è il lavoro?</vt:lpstr>
      <vt:lpstr>Cosa c’è di diverso e cosa è simile in queste immagini?</vt:lpstr>
      <vt:lpstr>Attività</vt:lpstr>
      <vt:lpstr>Attività (“lavoro sostanziale”)</vt:lpstr>
      <vt:lpstr>Lavoro (“lavoro occupazionale”)</vt:lpstr>
      <vt:lpstr>Il lavoro da una prospettiva storica</vt:lpstr>
      <vt:lpstr>Il lavoro nelle società pre-industriali </vt:lpstr>
      <vt:lpstr>Il lavoro dopo la rivoluzione industriale </vt:lpstr>
      <vt:lpstr>Il lavoro salariato: una merce o un rapporto sociale?</vt:lpstr>
      <vt:lpstr>Un mercato particolare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storia del lavoro 2024 parte prima</dc:title>
  <dc:creator>Angelica Lepori</dc:creator>
  <cp:lastModifiedBy>Lepori Angelica</cp:lastModifiedBy>
  <cp:revision>4</cp:revision>
  <dcterms:created xsi:type="dcterms:W3CDTF">2025-01-21T10:27:46Z</dcterms:created>
  <dcterms:modified xsi:type="dcterms:W3CDTF">2026-01-22T12:49:08Z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2024-02-18T00:00:00Z</vt:filetime>
  </property>
  <property fmtid="{D5CDD505-2E9C-101B-9397-08002B2CF9AE}" pid="3" name="LastSaved">
    <vt:filetime>2025-01-21T00:00:00Z</vt:filetime>
  </property>
  <property fmtid="{D5CDD505-2E9C-101B-9397-08002B2CF9AE}" pid="4" name="Producer">
    <vt:lpwstr>Microsoft: Print To PDF</vt:lpwstr>
  </property>
</Properties>
</file>