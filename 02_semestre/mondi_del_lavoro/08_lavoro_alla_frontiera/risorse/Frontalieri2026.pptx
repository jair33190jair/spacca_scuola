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4" r:id="rId3"/>
    <p:sldId id="285" r:id="rId4"/>
    <p:sldId id="286" r:id="rId5"/>
    <p:sldId id="287" r:id="rId6"/>
    <p:sldId id="283" r:id="rId7"/>
    <p:sldId id="257" r:id="rId8"/>
    <p:sldId id="281" r:id="rId9"/>
    <p:sldId id="288" r:id="rId10"/>
    <p:sldId id="282" r:id="rId11"/>
    <p:sldId id="258" r:id="rId12"/>
    <p:sldId id="259" r:id="rId13"/>
    <p:sldId id="260" r:id="rId14"/>
    <p:sldId id="261" r:id="rId15"/>
    <p:sldId id="262" r:id="rId16"/>
    <p:sldId id="263" r:id="rId17"/>
    <p:sldId id="264" r:id="rId18"/>
    <p:sldId id="289" r:id="rId19"/>
    <p:sldId id="265" r:id="rId20"/>
    <p:sldId id="290" r:id="rId21"/>
    <p:sldId id="291" r:id="rId22"/>
    <p:sldId id="266" r:id="rId23"/>
    <p:sldId id="267" r:id="rId24"/>
    <p:sldId id="268" r:id="rId25"/>
    <p:sldId id="269" r:id="rId26"/>
    <p:sldId id="270" r:id="rId27"/>
    <p:sldId id="271" r:id="rId28"/>
    <p:sldId id="280" r:id="rId29"/>
    <p:sldId id="272" r:id="rId30"/>
    <p:sldId id="273" r:id="rId31"/>
    <p:sldId id="274" r:id="rId32"/>
    <p:sldId id="275" r:id="rId33"/>
    <p:sldId id="276" r:id="rId34"/>
    <p:sldId id="277" r:id="rId35"/>
    <p:sldId id="278" r:id="rId36"/>
    <p:sldId id="279" r:id="rId3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ile chiaro 3 - Color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35"/>
    <p:restoredTop sz="94677"/>
  </p:normalViewPr>
  <p:slideViewPr>
    <p:cSldViewPr snapToGrid="0">
      <p:cViewPr varScale="1">
        <p:scale>
          <a:sx n="101" d="100"/>
          <a:sy n="101" d="100"/>
        </p:scale>
        <p:origin x="728" y="18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D275F5-9BC3-48AE-91CC-9B52BD0F756B}"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38E75E26-013E-4632-9954-DA9D46778A5D}">
      <dgm:prSet/>
      <dgm:spPr/>
      <dgm:t>
        <a:bodyPr/>
        <a:lstStyle/>
        <a:p>
          <a:r>
            <a:rPr lang="it-IT" dirty="0"/>
            <a:t>Queste rappresentazioni hanno inciso sul senso comune dei cittadini, hanno alimentano immaginari, hanno contribuito a generare o rafforzare stereotipi con i quali, in un modo o nell’altro, tutti devono fare i conti.</a:t>
          </a:r>
          <a:endParaRPr lang="en-US" dirty="0"/>
        </a:p>
      </dgm:t>
    </dgm:pt>
    <dgm:pt modelId="{7F812FDB-05E8-43BE-99A9-212F604BEA72}" type="parTrans" cxnId="{478F7EE0-95C3-473F-BE56-8ED432D5724F}">
      <dgm:prSet/>
      <dgm:spPr/>
      <dgm:t>
        <a:bodyPr/>
        <a:lstStyle/>
        <a:p>
          <a:endParaRPr lang="en-US"/>
        </a:p>
      </dgm:t>
    </dgm:pt>
    <dgm:pt modelId="{7FE313FC-20AE-4472-90D8-3887A15D53CA}" type="sibTrans" cxnId="{478F7EE0-95C3-473F-BE56-8ED432D5724F}">
      <dgm:prSet/>
      <dgm:spPr/>
      <dgm:t>
        <a:bodyPr/>
        <a:lstStyle/>
        <a:p>
          <a:endParaRPr lang="en-US"/>
        </a:p>
      </dgm:t>
    </dgm:pt>
    <dgm:pt modelId="{F16D469B-D6EB-4409-A73A-4BBFF4A16E57}">
      <dgm:prSet/>
      <dgm:spPr/>
      <dgm:t>
        <a:bodyPr/>
        <a:lstStyle/>
        <a:p>
          <a:r>
            <a:rPr lang="it-IT" dirty="0"/>
            <a:t>Iniziare ad affrontare un tema di questo genere da una prospettiva scientifica richiede uno sforzo importante, ovvero quello di provare ad assumere un approccio «laico» al tema, allentando per quanto possibile la propria visione e rendendosi disponibili ad apprendere qualcosa che non confermerà necessariamente le proprie convinzioni.</a:t>
          </a:r>
          <a:endParaRPr lang="en-US" dirty="0"/>
        </a:p>
      </dgm:t>
    </dgm:pt>
    <dgm:pt modelId="{EFB44022-2435-4738-B1E8-228A2301C72D}" type="parTrans" cxnId="{BE307D27-E916-4612-9CF9-4498D064F6DB}">
      <dgm:prSet/>
      <dgm:spPr/>
      <dgm:t>
        <a:bodyPr/>
        <a:lstStyle/>
        <a:p>
          <a:endParaRPr lang="en-US"/>
        </a:p>
      </dgm:t>
    </dgm:pt>
    <dgm:pt modelId="{31CAD392-8301-4DB0-96AB-E661DF10CF97}" type="sibTrans" cxnId="{BE307D27-E916-4612-9CF9-4498D064F6DB}">
      <dgm:prSet/>
      <dgm:spPr/>
      <dgm:t>
        <a:bodyPr/>
        <a:lstStyle/>
        <a:p>
          <a:endParaRPr lang="en-US"/>
        </a:p>
      </dgm:t>
    </dgm:pt>
    <dgm:pt modelId="{01541A55-AD7E-8F44-8D77-97C7B8DB9395}" type="pres">
      <dgm:prSet presAssocID="{D3D275F5-9BC3-48AE-91CC-9B52BD0F756B}" presName="diagram" presStyleCnt="0">
        <dgm:presLayoutVars>
          <dgm:dir/>
          <dgm:resizeHandles val="exact"/>
        </dgm:presLayoutVars>
      </dgm:prSet>
      <dgm:spPr/>
    </dgm:pt>
    <dgm:pt modelId="{485032B7-889A-6249-A39B-BF3F7E263F18}" type="pres">
      <dgm:prSet presAssocID="{38E75E26-013E-4632-9954-DA9D46778A5D}" presName="node" presStyleLbl="node1" presStyleIdx="0" presStyleCnt="2">
        <dgm:presLayoutVars>
          <dgm:bulletEnabled val="1"/>
        </dgm:presLayoutVars>
      </dgm:prSet>
      <dgm:spPr/>
    </dgm:pt>
    <dgm:pt modelId="{2345C64E-59D9-7F43-AB4C-E8C24C0504E4}" type="pres">
      <dgm:prSet presAssocID="{7FE313FC-20AE-4472-90D8-3887A15D53CA}" presName="sibTrans" presStyleCnt="0"/>
      <dgm:spPr/>
    </dgm:pt>
    <dgm:pt modelId="{02439233-51B0-9149-8071-F4A919910C03}" type="pres">
      <dgm:prSet presAssocID="{F16D469B-D6EB-4409-A73A-4BBFF4A16E57}" presName="node" presStyleLbl="node1" presStyleIdx="1" presStyleCnt="2">
        <dgm:presLayoutVars>
          <dgm:bulletEnabled val="1"/>
        </dgm:presLayoutVars>
      </dgm:prSet>
      <dgm:spPr/>
    </dgm:pt>
  </dgm:ptLst>
  <dgm:cxnLst>
    <dgm:cxn modelId="{842BF51B-DBC1-7D4F-B368-0D3561027FB6}" type="presOf" srcId="{38E75E26-013E-4632-9954-DA9D46778A5D}" destId="{485032B7-889A-6249-A39B-BF3F7E263F18}" srcOrd="0" destOrd="0" presId="urn:microsoft.com/office/officeart/2005/8/layout/default"/>
    <dgm:cxn modelId="{BE307D27-E916-4612-9CF9-4498D064F6DB}" srcId="{D3D275F5-9BC3-48AE-91CC-9B52BD0F756B}" destId="{F16D469B-D6EB-4409-A73A-4BBFF4A16E57}" srcOrd="1" destOrd="0" parTransId="{EFB44022-2435-4738-B1E8-228A2301C72D}" sibTransId="{31CAD392-8301-4DB0-96AB-E661DF10CF97}"/>
    <dgm:cxn modelId="{FCBD1736-5B9F-7748-B60E-79B61447FD9D}" type="presOf" srcId="{F16D469B-D6EB-4409-A73A-4BBFF4A16E57}" destId="{02439233-51B0-9149-8071-F4A919910C03}" srcOrd="0" destOrd="0" presId="urn:microsoft.com/office/officeart/2005/8/layout/default"/>
    <dgm:cxn modelId="{0F5EE48A-57D5-2D46-ACF2-0CE67E0BD13B}" type="presOf" srcId="{D3D275F5-9BC3-48AE-91CC-9B52BD0F756B}" destId="{01541A55-AD7E-8F44-8D77-97C7B8DB9395}" srcOrd="0" destOrd="0" presId="urn:microsoft.com/office/officeart/2005/8/layout/default"/>
    <dgm:cxn modelId="{478F7EE0-95C3-473F-BE56-8ED432D5724F}" srcId="{D3D275F5-9BC3-48AE-91CC-9B52BD0F756B}" destId="{38E75E26-013E-4632-9954-DA9D46778A5D}" srcOrd="0" destOrd="0" parTransId="{7F812FDB-05E8-43BE-99A9-212F604BEA72}" sibTransId="{7FE313FC-20AE-4472-90D8-3887A15D53CA}"/>
    <dgm:cxn modelId="{A84D53B8-ABB5-514C-8FCF-0A4CE1E20714}" type="presParOf" srcId="{01541A55-AD7E-8F44-8D77-97C7B8DB9395}" destId="{485032B7-889A-6249-A39B-BF3F7E263F18}" srcOrd="0" destOrd="0" presId="urn:microsoft.com/office/officeart/2005/8/layout/default"/>
    <dgm:cxn modelId="{C411E4EB-699D-B543-8F8A-18C10999D6E1}" type="presParOf" srcId="{01541A55-AD7E-8F44-8D77-97C7B8DB9395}" destId="{2345C64E-59D9-7F43-AB4C-E8C24C0504E4}" srcOrd="1" destOrd="0" presId="urn:microsoft.com/office/officeart/2005/8/layout/default"/>
    <dgm:cxn modelId="{EBB4C030-C97A-3242-95AD-8B59AA9327F1}" type="presParOf" srcId="{01541A55-AD7E-8F44-8D77-97C7B8DB9395}" destId="{02439233-51B0-9149-8071-F4A919910C03}"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A43CB4-07A4-4576-9BC8-DA36EA24F15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40B5C49-1DAC-40DF-8513-70C900FDAE0E}">
      <dgm:prSet/>
      <dgm:spPr/>
      <dgm:t>
        <a:bodyPr/>
        <a:lstStyle/>
        <a:p>
          <a:r>
            <a:rPr lang="it-IT"/>
            <a:t>A cavallo tra Ottocento e Novecento, si sviluppano processi che favoriscono </a:t>
          </a:r>
          <a:r>
            <a:rPr lang="it-IT" b="1"/>
            <a:t>definizioni delle frontiere e delle normative relative al superamento delle frontiere stesse</a:t>
          </a:r>
          <a:r>
            <a:rPr lang="it-IT"/>
            <a:t>.</a:t>
          </a:r>
          <a:endParaRPr lang="en-US"/>
        </a:p>
      </dgm:t>
    </dgm:pt>
    <dgm:pt modelId="{E7944E33-BB64-4380-A48D-AA16CABADB92}" type="parTrans" cxnId="{9EE34B50-ECCC-4812-A5F2-6CF631CBC38D}">
      <dgm:prSet/>
      <dgm:spPr/>
      <dgm:t>
        <a:bodyPr/>
        <a:lstStyle/>
        <a:p>
          <a:endParaRPr lang="en-US"/>
        </a:p>
      </dgm:t>
    </dgm:pt>
    <dgm:pt modelId="{243907F6-1632-41E7-9457-047B091F5CCF}" type="sibTrans" cxnId="{9EE34B50-ECCC-4812-A5F2-6CF631CBC38D}">
      <dgm:prSet/>
      <dgm:spPr/>
      <dgm:t>
        <a:bodyPr/>
        <a:lstStyle/>
        <a:p>
          <a:endParaRPr lang="en-US"/>
        </a:p>
      </dgm:t>
    </dgm:pt>
    <dgm:pt modelId="{595479B0-7BEC-4005-BDD3-2438B34301A2}">
      <dgm:prSet/>
      <dgm:spPr/>
      <dgm:t>
        <a:bodyPr/>
        <a:lstStyle/>
        <a:p>
          <a:r>
            <a:rPr lang="it-IT"/>
            <a:t>In questo quadro ebbero un ruolo centrale la Svizzera e il Lussemburgo, che diventarono i due paesi con la presenza di frontalieri più consistente.</a:t>
          </a:r>
          <a:endParaRPr lang="en-US"/>
        </a:p>
      </dgm:t>
    </dgm:pt>
    <dgm:pt modelId="{3CBC8424-B671-4911-A4BF-35931C9C0EAD}" type="parTrans" cxnId="{13CC0002-F50C-4212-8B51-3778CCB0482F}">
      <dgm:prSet/>
      <dgm:spPr/>
      <dgm:t>
        <a:bodyPr/>
        <a:lstStyle/>
        <a:p>
          <a:endParaRPr lang="en-US"/>
        </a:p>
      </dgm:t>
    </dgm:pt>
    <dgm:pt modelId="{13DF1A56-3F72-4575-B9A6-9F7DA993E47A}" type="sibTrans" cxnId="{13CC0002-F50C-4212-8B51-3778CCB0482F}">
      <dgm:prSet/>
      <dgm:spPr/>
      <dgm:t>
        <a:bodyPr/>
        <a:lstStyle/>
        <a:p>
          <a:endParaRPr lang="en-US"/>
        </a:p>
      </dgm:t>
    </dgm:pt>
    <dgm:pt modelId="{4A5FFEF7-18B2-7E41-BC18-87053CB67CBD}" type="pres">
      <dgm:prSet presAssocID="{8BA43CB4-07A4-4576-9BC8-DA36EA24F155}" presName="vert0" presStyleCnt="0">
        <dgm:presLayoutVars>
          <dgm:dir/>
          <dgm:animOne val="branch"/>
          <dgm:animLvl val="lvl"/>
        </dgm:presLayoutVars>
      </dgm:prSet>
      <dgm:spPr/>
    </dgm:pt>
    <dgm:pt modelId="{5F5B425A-EBA3-8942-8AB9-F628E8E6C040}" type="pres">
      <dgm:prSet presAssocID="{A40B5C49-1DAC-40DF-8513-70C900FDAE0E}" presName="thickLine" presStyleLbl="alignNode1" presStyleIdx="0" presStyleCnt="2"/>
      <dgm:spPr/>
    </dgm:pt>
    <dgm:pt modelId="{DCC9A9CA-64D3-804A-9DD2-E864E4FE78DC}" type="pres">
      <dgm:prSet presAssocID="{A40B5C49-1DAC-40DF-8513-70C900FDAE0E}" presName="horz1" presStyleCnt="0"/>
      <dgm:spPr/>
    </dgm:pt>
    <dgm:pt modelId="{0A792C4A-F24C-714E-AA60-11BCA6D8F179}" type="pres">
      <dgm:prSet presAssocID="{A40B5C49-1DAC-40DF-8513-70C900FDAE0E}" presName="tx1" presStyleLbl="revTx" presStyleIdx="0" presStyleCnt="2"/>
      <dgm:spPr/>
    </dgm:pt>
    <dgm:pt modelId="{647C51C0-F930-C344-90BD-D4129CF41251}" type="pres">
      <dgm:prSet presAssocID="{A40B5C49-1DAC-40DF-8513-70C900FDAE0E}" presName="vert1" presStyleCnt="0"/>
      <dgm:spPr/>
    </dgm:pt>
    <dgm:pt modelId="{4E34BD5F-9947-C945-B5D5-292458B34360}" type="pres">
      <dgm:prSet presAssocID="{595479B0-7BEC-4005-BDD3-2438B34301A2}" presName="thickLine" presStyleLbl="alignNode1" presStyleIdx="1" presStyleCnt="2"/>
      <dgm:spPr/>
    </dgm:pt>
    <dgm:pt modelId="{7598DBB6-2264-5244-8E7B-D8699CD5040B}" type="pres">
      <dgm:prSet presAssocID="{595479B0-7BEC-4005-BDD3-2438B34301A2}" presName="horz1" presStyleCnt="0"/>
      <dgm:spPr/>
    </dgm:pt>
    <dgm:pt modelId="{6B08BA3B-B949-D043-A2F4-8118CBE22F01}" type="pres">
      <dgm:prSet presAssocID="{595479B0-7BEC-4005-BDD3-2438B34301A2}" presName="tx1" presStyleLbl="revTx" presStyleIdx="1" presStyleCnt="2"/>
      <dgm:spPr/>
    </dgm:pt>
    <dgm:pt modelId="{9A32AD37-3BCA-8640-B626-149CF2D5B128}" type="pres">
      <dgm:prSet presAssocID="{595479B0-7BEC-4005-BDD3-2438B34301A2}" presName="vert1" presStyleCnt="0"/>
      <dgm:spPr/>
    </dgm:pt>
  </dgm:ptLst>
  <dgm:cxnLst>
    <dgm:cxn modelId="{13CC0002-F50C-4212-8B51-3778CCB0482F}" srcId="{8BA43CB4-07A4-4576-9BC8-DA36EA24F155}" destId="{595479B0-7BEC-4005-BDD3-2438B34301A2}" srcOrd="1" destOrd="0" parTransId="{3CBC8424-B671-4911-A4BF-35931C9C0EAD}" sibTransId="{13DF1A56-3F72-4575-B9A6-9F7DA993E47A}"/>
    <dgm:cxn modelId="{2328730C-2E40-BE45-8885-C3B8D17D8EC7}" type="presOf" srcId="{8BA43CB4-07A4-4576-9BC8-DA36EA24F155}" destId="{4A5FFEF7-18B2-7E41-BC18-87053CB67CBD}" srcOrd="0" destOrd="0" presId="urn:microsoft.com/office/officeart/2008/layout/LinedList"/>
    <dgm:cxn modelId="{9EE34B50-ECCC-4812-A5F2-6CF631CBC38D}" srcId="{8BA43CB4-07A4-4576-9BC8-DA36EA24F155}" destId="{A40B5C49-1DAC-40DF-8513-70C900FDAE0E}" srcOrd="0" destOrd="0" parTransId="{E7944E33-BB64-4380-A48D-AA16CABADB92}" sibTransId="{243907F6-1632-41E7-9457-047B091F5CCF}"/>
    <dgm:cxn modelId="{24902F53-8C6D-D345-B061-437681076849}" type="presOf" srcId="{595479B0-7BEC-4005-BDD3-2438B34301A2}" destId="{6B08BA3B-B949-D043-A2F4-8118CBE22F01}" srcOrd="0" destOrd="0" presId="urn:microsoft.com/office/officeart/2008/layout/LinedList"/>
    <dgm:cxn modelId="{222E22A4-4F05-7E45-9A9A-5CCAE4AB7589}" type="presOf" srcId="{A40B5C49-1DAC-40DF-8513-70C900FDAE0E}" destId="{0A792C4A-F24C-714E-AA60-11BCA6D8F179}" srcOrd="0" destOrd="0" presId="urn:microsoft.com/office/officeart/2008/layout/LinedList"/>
    <dgm:cxn modelId="{24ECC2A4-1BAD-D74D-A730-98DD035EE815}" type="presParOf" srcId="{4A5FFEF7-18B2-7E41-BC18-87053CB67CBD}" destId="{5F5B425A-EBA3-8942-8AB9-F628E8E6C040}" srcOrd="0" destOrd="0" presId="urn:microsoft.com/office/officeart/2008/layout/LinedList"/>
    <dgm:cxn modelId="{0E510AFF-4B43-7E48-8B4D-6AE3006CBCFF}" type="presParOf" srcId="{4A5FFEF7-18B2-7E41-BC18-87053CB67CBD}" destId="{DCC9A9CA-64D3-804A-9DD2-E864E4FE78DC}" srcOrd="1" destOrd="0" presId="urn:microsoft.com/office/officeart/2008/layout/LinedList"/>
    <dgm:cxn modelId="{2D11DB08-543B-694F-998C-113864ED744E}" type="presParOf" srcId="{DCC9A9CA-64D3-804A-9DD2-E864E4FE78DC}" destId="{0A792C4A-F24C-714E-AA60-11BCA6D8F179}" srcOrd="0" destOrd="0" presId="urn:microsoft.com/office/officeart/2008/layout/LinedList"/>
    <dgm:cxn modelId="{5A0D97D1-2B03-C340-8005-88061B5E7A13}" type="presParOf" srcId="{DCC9A9CA-64D3-804A-9DD2-E864E4FE78DC}" destId="{647C51C0-F930-C344-90BD-D4129CF41251}" srcOrd="1" destOrd="0" presId="urn:microsoft.com/office/officeart/2008/layout/LinedList"/>
    <dgm:cxn modelId="{8DCEBBB6-C8F2-B842-A915-13BA447699B3}" type="presParOf" srcId="{4A5FFEF7-18B2-7E41-BC18-87053CB67CBD}" destId="{4E34BD5F-9947-C945-B5D5-292458B34360}" srcOrd="2" destOrd="0" presId="urn:microsoft.com/office/officeart/2008/layout/LinedList"/>
    <dgm:cxn modelId="{AA39C45E-FAD3-5B49-9B88-32AA9ACEC34E}" type="presParOf" srcId="{4A5FFEF7-18B2-7E41-BC18-87053CB67CBD}" destId="{7598DBB6-2264-5244-8E7B-D8699CD5040B}" srcOrd="3" destOrd="0" presId="urn:microsoft.com/office/officeart/2008/layout/LinedList"/>
    <dgm:cxn modelId="{75DE4077-D546-4446-89DA-1E90F8C7F46B}" type="presParOf" srcId="{7598DBB6-2264-5244-8E7B-D8699CD5040B}" destId="{6B08BA3B-B949-D043-A2F4-8118CBE22F01}" srcOrd="0" destOrd="0" presId="urn:microsoft.com/office/officeart/2008/layout/LinedList"/>
    <dgm:cxn modelId="{F4E293F7-5901-FC41-AFFB-AF7A347E05A2}" type="presParOf" srcId="{7598DBB6-2264-5244-8E7B-D8699CD5040B}" destId="{9A32AD37-3BCA-8640-B626-149CF2D5B12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A0FD6D-31B2-4233-8563-90962856D567}"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774135DB-1971-47F6-8140-908BE3DA9A69}">
      <dgm:prSet/>
      <dgm:spPr/>
      <dgm:t>
        <a:bodyPr/>
        <a:lstStyle/>
        <a:p>
          <a:r>
            <a:rPr lang="it-IT"/>
            <a:t>L’86% dei frontalieri italiani in uscita da queste regioni era diretto verso il solo cantone Ticino.</a:t>
          </a:r>
          <a:endParaRPr lang="en-US"/>
        </a:p>
      </dgm:t>
    </dgm:pt>
    <dgm:pt modelId="{AD1D7695-D94E-4BF6-A83C-BB002BC67982}" type="parTrans" cxnId="{200CD593-95B7-40FA-835D-087D2B8A548E}">
      <dgm:prSet/>
      <dgm:spPr/>
      <dgm:t>
        <a:bodyPr/>
        <a:lstStyle/>
        <a:p>
          <a:endParaRPr lang="en-US"/>
        </a:p>
      </dgm:t>
    </dgm:pt>
    <dgm:pt modelId="{77E2E534-259E-4F07-B03B-87A811B07A7C}" type="sibTrans" cxnId="{200CD593-95B7-40FA-835D-087D2B8A548E}">
      <dgm:prSet phldrT="01" phldr="0"/>
      <dgm:spPr/>
      <dgm:t>
        <a:bodyPr/>
        <a:lstStyle/>
        <a:p>
          <a:r>
            <a:rPr lang="en-US"/>
            <a:t>01</a:t>
          </a:r>
        </a:p>
      </dgm:t>
    </dgm:pt>
    <dgm:pt modelId="{B3888480-A83A-444E-878A-6C3A671643C9}">
      <dgm:prSet/>
      <dgm:spPr/>
      <dgm:t>
        <a:bodyPr/>
        <a:lstStyle/>
        <a:p>
          <a:r>
            <a:rPr lang="it-IT"/>
            <a:t>Il 99,7% dei frontalieri in Ticino è residente in Italia, lo 0,3 in altri paesi.</a:t>
          </a:r>
          <a:endParaRPr lang="en-US"/>
        </a:p>
      </dgm:t>
    </dgm:pt>
    <dgm:pt modelId="{CD45E366-A90A-4A92-AB13-A42E25E5A6CE}" type="parTrans" cxnId="{9E9FD516-11F9-40E1-9A04-010EDFA77388}">
      <dgm:prSet/>
      <dgm:spPr/>
      <dgm:t>
        <a:bodyPr/>
        <a:lstStyle/>
        <a:p>
          <a:endParaRPr lang="en-US"/>
        </a:p>
      </dgm:t>
    </dgm:pt>
    <dgm:pt modelId="{91E37813-6BB5-44EC-B1A4-E2D9B7FBCFEB}" type="sibTrans" cxnId="{9E9FD516-11F9-40E1-9A04-010EDFA77388}">
      <dgm:prSet phldrT="02" phldr="0"/>
      <dgm:spPr/>
      <dgm:t>
        <a:bodyPr/>
        <a:lstStyle/>
        <a:p>
          <a:r>
            <a:rPr lang="en-US"/>
            <a:t>02</a:t>
          </a:r>
        </a:p>
      </dgm:t>
    </dgm:pt>
    <dgm:pt modelId="{C89CD9F3-BD59-4944-87C5-5F2730B46D6D}" type="pres">
      <dgm:prSet presAssocID="{05A0FD6D-31B2-4233-8563-90962856D567}" presName="Name0" presStyleCnt="0">
        <dgm:presLayoutVars>
          <dgm:animLvl val="lvl"/>
          <dgm:resizeHandles val="exact"/>
        </dgm:presLayoutVars>
      </dgm:prSet>
      <dgm:spPr/>
    </dgm:pt>
    <dgm:pt modelId="{CF0BA8AE-61AD-0648-978E-C2817F64BC6E}" type="pres">
      <dgm:prSet presAssocID="{774135DB-1971-47F6-8140-908BE3DA9A69}" presName="compositeNode" presStyleCnt="0">
        <dgm:presLayoutVars>
          <dgm:bulletEnabled val="1"/>
        </dgm:presLayoutVars>
      </dgm:prSet>
      <dgm:spPr/>
    </dgm:pt>
    <dgm:pt modelId="{28B0EC97-C0B2-DF4D-972D-71BEF198F512}" type="pres">
      <dgm:prSet presAssocID="{774135DB-1971-47F6-8140-908BE3DA9A69}" presName="bgRect" presStyleLbl="alignNode1" presStyleIdx="0" presStyleCnt="2"/>
      <dgm:spPr/>
    </dgm:pt>
    <dgm:pt modelId="{1BFEF8F8-4A7D-1A48-9C3A-233248138726}" type="pres">
      <dgm:prSet presAssocID="{77E2E534-259E-4F07-B03B-87A811B07A7C}" presName="sibTransNodeRect" presStyleLbl="alignNode1" presStyleIdx="0" presStyleCnt="2">
        <dgm:presLayoutVars>
          <dgm:chMax val="0"/>
          <dgm:bulletEnabled val="1"/>
        </dgm:presLayoutVars>
      </dgm:prSet>
      <dgm:spPr/>
    </dgm:pt>
    <dgm:pt modelId="{76B12796-9C5D-CD41-8A6F-4970ABC92748}" type="pres">
      <dgm:prSet presAssocID="{774135DB-1971-47F6-8140-908BE3DA9A69}" presName="nodeRect" presStyleLbl="alignNode1" presStyleIdx="0" presStyleCnt="2">
        <dgm:presLayoutVars>
          <dgm:bulletEnabled val="1"/>
        </dgm:presLayoutVars>
      </dgm:prSet>
      <dgm:spPr/>
    </dgm:pt>
    <dgm:pt modelId="{C6F40BD2-AD37-AC47-AA42-000F71EFFDE0}" type="pres">
      <dgm:prSet presAssocID="{77E2E534-259E-4F07-B03B-87A811B07A7C}" presName="sibTrans" presStyleCnt="0"/>
      <dgm:spPr/>
    </dgm:pt>
    <dgm:pt modelId="{757D4AD0-45FE-044B-B480-FCD1246D5261}" type="pres">
      <dgm:prSet presAssocID="{B3888480-A83A-444E-878A-6C3A671643C9}" presName="compositeNode" presStyleCnt="0">
        <dgm:presLayoutVars>
          <dgm:bulletEnabled val="1"/>
        </dgm:presLayoutVars>
      </dgm:prSet>
      <dgm:spPr/>
    </dgm:pt>
    <dgm:pt modelId="{FFD2C5CF-E528-9749-B704-0B0862940586}" type="pres">
      <dgm:prSet presAssocID="{B3888480-A83A-444E-878A-6C3A671643C9}" presName="bgRect" presStyleLbl="alignNode1" presStyleIdx="1" presStyleCnt="2"/>
      <dgm:spPr/>
    </dgm:pt>
    <dgm:pt modelId="{D9C71C26-C69B-C84B-9718-D84EE2328BB2}" type="pres">
      <dgm:prSet presAssocID="{91E37813-6BB5-44EC-B1A4-E2D9B7FBCFEB}" presName="sibTransNodeRect" presStyleLbl="alignNode1" presStyleIdx="1" presStyleCnt="2">
        <dgm:presLayoutVars>
          <dgm:chMax val="0"/>
          <dgm:bulletEnabled val="1"/>
        </dgm:presLayoutVars>
      </dgm:prSet>
      <dgm:spPr/>
    </dgm:pt>
    <dgm:pt modelId="{B91A5DE6-AB1E-524B-A5CB-A5BD1C6F2CFF}" type="pres">
      <dgm:prSet presAssocID="{B3888480-A83A-444E-878A-6C3A671643C9}" presName="nodeRect" presStyleLbl="alignNode1" presStyleIdx="1" presStyleCnt="2">
        <dgm:presLayoutVars>
          <dgm:bulletEnabled val="1"/>
        </dgm:presLayoutVars>
      </dgm:prSet>
      <dgm:spPr/>
    </dgm:pt>
  </dgm:ptLst>
  <dgm:cxnLst>
    <dgm:cxn modelId="{9E9FD516-11F9-40E1-9A04-010EDFA77388}" srcId="{05A0FD6D-31B2-4233-8563-90962856D567}" destId="{B3888480-A83A-444E-878A-6C3A671643C9}" srcOrd="1" destOrd="0" parTransId="{CD45E366-A90A-4A92-AB13-A42E25E5A6CE}" sibTransId="{91E37813-6BB5-44EC-B1A4-E2D9B7FBCFEB}"/>
    <dgm:cxn modelId="{8997F81A-3089-BA4C-AB18-CB15E6BAA91E}" type="presOf" srcId="{774135DB-1971-47F6-8140-908BE3DA9A69}" destId="{28B0EC97-C0B2-DF4D-972D-71BEF198F512}" srcOrd="0" destOrd="0" presId="urn:microsoft.com/office/officeart/2016/7/layout/LinearBlockProcessNumbered"/>
    <dgm:cxn modelId="{DB391B4D-3811-F841-B2B9-4EE0E4668310}" type="presOf" srcId="{774135DB-1971-47F6-8140-908BE3DA9A69}" destId="{76B12796-9C5D-CD41-8A6F-4970ABC92748}" srcOrd="1" destOrd="0" presId="urn:microsoft.com/office/officeart/2016/7/layout/LinearBlockProcessNumbered"/>
    <dgm:cxn modelId="{87D04F5C-51BC-D145-BC9B-52513E235268}" type="presOf" srcId="{B3888480-A83A-444E-878A-6C3A671643C9}" destId="{FFD2C5CF-E528-9749-B704-0B0862940586}" srcOrd="0" destOrd="0" presId="urn:microsoft.com/office/officeart/2016/7/layout/LinearBlockProcessNumbered"/>
    <dgm:cxn modelId="{200CD593-95B7-40FA-835D-087D2B8A548E}" srcId="{05A0FD6D-31B2-4233-8563-90962856D567}" destId="{774135DB-1971-47F6-8140-908BE3DA9A69}" srcOrd="0" destOrd="0" parTransId="{AD1D7695-D94E-4BF6-A83C-BB002BC67982}" sibTransId="{77E2E534-259E-4F07-B03B-87A811B07A7C}"/>
    <dgm:cxn modelId="{F468E295-007D-F24C-8EF5-36168A47BCA9}" type="presOf" srcId="{91E37813-6BB5-44EC-B1A4-E2D9B7FBCFEB}" destId="{D9C71C26-C69B-C84B-9718-D84EE2328BB2}" srcOrd="0" destOrd="0" presId="urn:microsoft.com/office/officeart/2016/7/layout/LinearBlockProcessNumbered"/>
    <dgm:cxn modelId="{ECEC349E-AAF8-A14B-8304-80748A800A7F}" type="presOf" srcId="{B3888480-A83A-444E-878A-6C3A671643C9}" destId="{B91A5DE6-AB1E-524B-A5CB-A5BD1C6F2CFF}" srcOrd="1" destOrd="0" presId="urn:microsoft.com/office/officeart/2016/7/layout/LinearBlockProcessNumbered"/>
    <dgm:cxn modelId="{09FB3DB9-160A-4040-AB63-1C7189DA2AC1}" type="presOf" srcId="{05A0FD6D-31B2-4233-8563-90962856D567}" destId="{C89CD9F3-BD59-4944-87C5-5F2730B46D6D}" srcOrd="0" destOrd="0" presId="urn:microsoft.com/office/officeart/2016/7/layout/LinearBlockProcessNumbered"/>
    <dgm:cxn modelId="{E6E1B9D4-8553-634C-88C5-FD9C48D30649}" type="presOf" srcId="{77E2E534-259E-4F07-B03B-87A811B07A7C}" destId="{1BFEF8F8-4A7D-1A48-9C3A-233248138726}" srcOrd="0" destOrd="0" presId="urn:microsoft.com/office/officeart/2016/7/layout/LinearBlockProcessNumbered"/>
    <dgm:cxn modelId="{E51D1AA8-6178-E941-BB84-40DCF828606B}" type="presParOf" srcId="{C89CD9F3-BD59-4944-87C5-5F2730B46D6D}" destId="{CF0BA8AE-61AD-0648-978E-C2817F64BC6E}" srcOrd="0" destOrd="0" presId="urn:microsoft.com/office/officeart/2016/7/layout/LinearBlockProcessNumbered"/>
    <dgm:cxn modelId="{DEA1A383-4C7A-BD4B-8CBB-B8BCFA75A20F}" type="presParOf" srcId="{CF0BA8AE-61AD-0648-978E-C2817F64BC6E}" destId="{28B0EC97-C0B2-DF4D-972D-71BEF198F512}" srcOrd="0" destOrd="0" presId="urn:microsoft.com/office/officeart/2016/7/layout/LinearBlockProcessNumbered"/>
    <dgm:cxn modelId="{DD850B5C-42D5-B049-98C6-09C53B752982}" type="presParOf" srcId="{CF0BA8AE-61AD-0648-978E-C2817F64BC6E}" destId="{1BFEF8F8-4A7D-1A48-9C3A-233248138726}" srcOrd="1" destOrd="0" presId="urn:microsoft.com/office/officeart/2016/7/layout/LinearBlockProcessNumbered"/>
    <dgm:cxn modelId="{AA5C719E-060B-B141-94EB-C0E8ACCA1423}" type="presParOf" srcId="{CF0BA8AE-61AD-0648-978E-C2817F64BC6E}" destId="{76B12796-9C5D-CD41-8A6F-4970ABC92748}" srcOrd="2" destOrd="0" presId="urn:microsoft.com/office/officeart/2016/7/layout/LinearBlockProcessNumbered"/>
    <dgm:cxn modelId="{D0176C06-2524-C049-BC5E-44F196ED793B}" type="presParOf" srcId="{C89CD9F3-BD59-4944-87C5-5F2730B46D6D}" destId="{C6F40BD2-AD37-AC47-AA42-000F71EFFDE0}" srcOrd="1" destOrd="0" presId="urn:microsoft.com/office/officeart/2016/7/layout/LinearBlockProcessNumbered"/>
    <dgm:cxn modelId="{8128B9D2-ACC8-1F4A-BD30-CCF98DDED73D}" type="presParOf" srcId="{C89CD9F3-BD59-4944-87C5-5F2730B46D6D}" destId="{757D4AD0-45FE-044B-B480-FCD1246D5261}" srcOrd="2" destOrd="0" presId="urn:microsoft.com/office/officeart/2016/7/layout/LinearBlockProcessNumbered"/>
    <dgm:cxn modelId="{CD51CE84-E5AD-304A-B18F-D4126507E52A}" type="presParOf" srcId="{757D4AD0-45FE-044B-B480-FCD1246D5261}" destId="{FFD2C5CF-E528-9749-B704-0B0862940586}" srcOrd="0" destOrd="0" presId="urn:microsoft.com/office/officeart/2016/7/layout/LinearBlockProcessNumbered"/>
    <dgm:cxn modelId="{9B01DCE2-56C3-BA43-BEA4-BC00B185CDE1}" type="presParOf" srcId="{757D4AD0-45FE-044B-B480-FCD1246D5261}" destId="{D9C71C26-C69B-C84B-9718-D84EE2328BB2}" srcOrd="1" destOrd="0" presId="urn:microsoft.com/office/officeart/2016/7/layout/LinearBlockProcessNumbered"/>
    <dgm:cxn modelId="{D0A457A3-A2C6-5E44-9243-770A78315C76}" type="presParOf" srcId="{757D4AD0-45FE-044B-B480-FCD1246D5261}" destId="{B91A5DE6-AB1E-524B-A5CB-A5BD1C6F2CFF}"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5032B7-889A-6249-A39B-BF3F7E263F18}">
      <dsp:nvSpPr>
        <dsp:cNvPr id="0" name=""/>
        <dsp:cNvSpPr/>
      </dsp:nvSpPr>
      <dsp:spPr>
        <a:xfrm>
          <a:off x="1283" y="673807"/>
          <a:ext cx="5006206" cy="300372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it-IT" sz="2200" kern="1200" dirty="0"/>
            <a:t>Queste rappresentazioni hanno inciso sul senso comune dei cittadini, hanno alimentano immaginari, hanno contribuito a generare o rafforzare stereotipi con i quali, in un modo o nell’altro, tutti devono fare i conti.</a:t>
          </a:r>
          <a:endParaRPr lang="en-US" sz="2200" kern="1200" dirty="0"/>
        </a:p>
      </dsp:txBody>
      <dsp:txXfrm>
        <a:off x="1283" y="673807"/>
        <a:ext cx="5006206" cy="3003723"/>
      </dsp:txXfrm>
    </dsp:sp>
    <dsp:sp modelId="{02439233-51B0-9149-8071-F4A919910C03}">
      <dsp:nvSpPr>
        <dsp:cNvPr id="0" name=""/>
        <dsp:cNvSpPr/>
      </dsp:nvSpPr>
      <dsp:spPr>
        <a:xfrm>
          <a:off x="5508110" y="673807"/>
          <a:ext cx="5006206" cy="3003723"/>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it-IT" sz="2200" kern="1200" dirty="0"/>
            <a:t>Iniziare ad affrontare un tema di questo genere da una prospettiva scientifica richiede uno sforzo importante, ovvero quello di provare ad assumere un approccio «laico» al tema, allentando per quanto possibile la propria visione e rendendosi disponibili ad apprendere qualcosa che non confermerà necessariamente le proprie convinzioni.</a:t>
          </a:r>
          <a:endParaRPr lang="en-US" sz="2200" kern="1200" dirty="0"/>
        </a:p>
      </dsp:txBody>
      <dsp:txXfrm>
        <a:off x="5508110" y="673807"/>
        <a:ext cx="5006206" cy="3003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B425A-EBA3-8942-8AB9-F628E8E6C040}">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792C4A-F24C-714E-AA60-11BCA6D8F179}">
      <dsp:nvSpPr>
        <dsp:cNvPr id="0" name=""/>
        <dsp:cNvSpPr/>
      </dsp:nvSpPr>
      <dsp:spPr>
        <a:xfrm>
          <a:off x="0" y="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it-IT" sz="3100" kern="1200"/>
            <a:t>A cavallo tra Ottocento e Novecento, si sviluppano processi che favoriscono </a:t>
          </a:r>
          <a:r>
            <a:rPr lang="it-IT" sz="3100" b="1" kern="1200"/>
            <a:t>definizioni delle frontiere e delle normative relative al superamento delle frontiere stesse</a:t>
          </a:r>
          <a:r>
            <a:rPr lang="it-IT" sz="3100" kern="1200"/>
            <a:t>.</a:t>
          </a:r>
          <a:endParaRPr lang="en-US" sz="3100" kern="1200"/>
        </a:p>
      </dsp:txBody>
      <dsp:txXfrm>
        <a:off x="0" y="0"/>
        <a:ext cx="6900512" cy="2768070"/>
      </dsp:txXfrm>
    </dsp:sp>
    <dsp:sp modelId="{4E34BD5F-9947-C945-B5D5-292458B34360}">
      <dsp:nvSpPr>
        <dsp:cNvPr id="0" name=""/>
        <dsp:cNvSpPr/>
      </dsp:nvSpPr>
      <dsp:spPr>
        <a:xfrm>
          <a:off x="0" y="2768070"/>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08BA3B-B949-D043-A2F4-8118CBE22F01}">
      <dsp:nvSpPr>
        <dsp:cNvPr id="0" name=""/>
        <dsp:cNvSpPr/>
      </dsp:nvSpPr>
      <dsp:spPr>
        <a:xfrm>
          <a:off x="0" y="276807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it-IT" sz="3100" kern="1200"/>
            <a:t>In questo quadro ebbero un ruolo centrale la Svizzera e il Lussemburgo, che diventarono i due paesi con la presenza di frontalieri più consistente.</a:t>
          </a:r>
          <a:endParaRPr lang="en-US" sz="3100" kern="1200"/>
        </a:p>
      </dsp:txBody>
      <dsp:txXfrm>
        <a:off x="0" y="2768070"/>
        <a:ext cx="6900512" cy="27680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0EC97-C0B2-DF4D-972D-71BEF198F512}">
      <dsp:nvSpPr>
        <dsp:cNvPr id="0" name=""/>
        <dsp:cNvSpPr/>
      </dsp:nvSpPr>
      <dsp:spPr>
        <a:xfrm>
          <a:off x="3414" y="0"/>
          <a:ext cx="5250480" cy="4192805"/>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631" tIns="0" rIns="518631" bIns="330200" numCol="1" spcCol="1270" anchor="t" anchorCtr="0">
          <a:noAutofit/>
        </a:bodyPr>
        <a:lstStyle/>
        <a:p>
          <a:pPr marL="0" lvl="0" indent="0" algn="l" defTabSz="1155700">
            <a:lnSpc>
              <a:spcPct val="90000"/>
            </a:lnSpc>
            <a:spcBef>
              <a:spcPct val="0"/>
            </a:spcBef>
            <a:spcAft>
              <a:spcPct val="35000"/>
            </a:spcAft>
            <a:buNone/>
          </a:pPr>
          <a:r>
            <a:rPr lang="it-IT" sz="2600" kern="1200"/>
            <a:t>L’86% dei frontalieri italiani in uscita da queste regioni era diretto verso il solo cantone Ticino.</a:t>
          </a:r>
          <a:endParaRPr lang="en-US" sz="2600" kern="1200"/>
        </a:p>
      </dsp:txBody>
      <dsp:txXfrm>
        <a:off x="3414" y="1677121"/>
        <a:ext cx="5250480" cy="2515683"/>
      </dsp:txXfrm>
    </dsp:sp>
    <dsp:sp modelId="{1BFEF8F8-4A7D-1A48-9C3A-233248138726}">
      <dsp:nvSpPr>
        <dsp:cNvPr id="0" name=""/>
        <dsp:cNvSpPr/>
      </dsp:nvSpPr>
      <dsp:spPr>
        <a:xfrm>
          <a:off x="3414" y="0"/>
          <a:ext cx="5250480" cy="167712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18631" tIns="165100" rIns="518631"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3414" y="0"/>
        <a:ext cx="5250480" cy="1677122"/>
      </dsp:txXfrm>
    </dsp:sp>
    <dsp:sp modelId="{FFD2C5CF-E528-9749-B704-0B0862940586}">
      <dsp:nvSpPr>
        <dsp:cNvPr id="0" name=""/>
        <dsp:cNvSpPr/>
      </dsp:nvSpPr>
      <dsp:spPr>
        <a:xfrm>
          <a:off x="5673933" y="0"/>
          <a:ext cx="5250480" cy="4192805"/>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631" tIns="0" rIns="518631" bIns="330200" numCol="1" spcCol="1270" anchor="t" anchorCtr="0">
          <a:noAutofit/>
        </a:bodyPr>
        <a:lstStyle/>
        <a:p>
          <a:pPr marL="0" lvl="0" indent="0" algn="l" defTabSz="1155700">
            <a:lnSpc>
              <a:spcPct val="90000"/>
            </a:lnSpc>
            <a:spcBef>
              <a:spcPct val="0"/>
            </a:spcBef>
            <a:spcAft>
              <a:spcPct val="35000"/>
            </a:spcAft>
            <a:buNone/>
          </a:pPr>
          <a:r>
            <a:rPr lang="it-IT" sz="2600" kern="1200"/>
            <a:t>Il 99,7% dei frontalieri in Ticino è residente in Italia, lo 0,3 in altri paesi.</a:t>
          </a:r>
          <a:endParaRPr lang="en-US" sz="2600" kern="1200"/>
        </a:p>
      </dsp:txBody>
      <dsp:txXfrm>
        <a:off x="5673933" y="1677121"/>
        <a:ext cx="5250480" cy="2515683"/>
      </dsp:txXfrm>
    </dsp:sp>
    <dsp:sp modelId="{D9C71C26-C69B-C84B-9718-D84EE2328BB2}">
      <dsp:nvSpPr>
        <dsp:cNvPr id="0" name=""/>
        <dsp:cNvSpPr/>
      </dsp:nvSpPr>
      <dsp:spPr>
        <a:xfrm>
          <a:off x="5673933" y="0"/>
          <a:ext cx="5250480" cy="167712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18631" tIns="165100" rIns="518631"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5673933" y="0"/>
        <a:ext cx="5250480" cy="167712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gi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F76234-F905-7FD7-9B21-0A3A047CD7B4}"/>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9361AFC8-5ED1-DE8E-BF72-3B64212799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6EC7619A-1E6E-0B1B-593F-0A89B1824A88}"/>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5" name="Segnaposto piè di pagina 4">
            <a:extLst>
              <a:ext uri="{FF2B5EF4-FFF2-40B4-BE49-F238E27FC236}">
                <a16:creationId xmlns:a16="http://schemas.microsoft.com/office/drawing/2014/main" id="{9E8881D0-B835-BDC9-B2BC-522F38C4CE1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5A7518F-26DF-986E-63E2-22ED7A06DA82}"/>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1978124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00ABB3-2BE9-E0B3-033A-FE74ABA5150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054C4F4-2F5B-D616-319D-E60DF72FFA6E}"/>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F778F6C-EDFD-5C20-268A-3FAAF1076363}"/>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5" name="Segnaposto piè di pagina 4">
            <a:extLst>
              <a:ext uri="{FF2B5EF4-FFF2-40B4-BE49-F238E27FC236}">
                <a16:creationId xmlns:a16="http://schemas.microsoft.com/office/drawing/2014/main" id="{4BD8C54C-74CB-0610-CA29-1DE6E3C35C5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B2E41DB-4454-DA08-EDC6-3660578F3C98}"/>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3088787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DE03C5-FDF4-7F30-ED1B-2F446FCFB43B}"/>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0CC3E134-791D-1731-657C-076EDF0DD4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FB3E862-950C-75BF-ECCF-A82B3D5B7BFC}"/>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5" name="Segnaposto piè di pagina 4">
            <a:extLst>
              <a:ext uri="{FF2B5EF4-FFF2-40B4-BE49-F238E27FC236}">
                <a16:creationId xmlns:a16="http://schemas.microsoft.com/office/drawing/2014/main" id="{ECA2CEF4-BC85-CB70-4C70-85147697BBC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8428CF7-DDDB-972B-D9C6-45B3575796C4}"/>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800771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4E2530-A079-94E3-D7AF-1D00AB32803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057E591-E24D-ED0E-CF7D-574B345488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7C661E3F-01AF-38D0-9F62-48BC6F5CF8D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2FEEA05-402C-83C6-4F82-8613AED35270}"/>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6" name="Segnaposto piè di pagina 5">
            <a:extLst>
              <a:ext uri="{FF2B5EF4-FFF2-40B4-BE49-F238E27FC236}">
                <a16:creationId xmlns:a16="http://schemas.microsoft.com/office/drawing/2014/main" id="{F0798B2B-D522-E7DF-2DB5-336B449376B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971680A-3903-0919-B249-B7CD35B93BC6}"/>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2421064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76E9C6-6D07-35A1-7C64-39E13070C7D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64A6DAF-4832-1AAF-8E9D-03D72ED262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19A5EEF1-E712-0182-5D5D-C38AA1FF49B4}"/>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C67B6E1B-E9AB-4590-1F8C-8E42C4B5BA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20AB6EDF-40A1-68C6-41F2-C0807319FB5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617254-02AE-34D5-89EF-4EE23399088E}"/>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8" name="Segnaposto piè di pagina 7">
            <a:extLst>
              <a:ext uri="{FF2B5EF4-FFF2-40B4-BE49-F238E27FC236}">
                <a16:creationId xmlns:a16="http://schemas.microsoft.com/office/drawing/2014/main" id="{E53C223A-37DD-E026-00A8-1E89C1D07B66}"/>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34F13652-7B60-0A74-F326-CE4F795848D7}"/>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79634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B98349-3B0B-42BB-044C-22F7572AB8BB}"/>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BFA4333-C7B6-BCBC-9050-98D4C290DB6D}"/>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4" name="Segnaposto piè di pagina 3">
            <a:extLst>
              <a:ext uri="{FF2B5EF4-FFF2-40B4-BE49-F238E27FC236}">
                <a16:creationId xmlns:a16="http://schemas.microsoft.com/office/drawing/2014/main" id="{E34E1638-64B8-D51B-B68D-511A895D5528}"/>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F1E1B280-F20E-45CA-090F-6F7DF81AF480}"/>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2017572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6C276520-1D53-A454-B33B-58AE71846D54}"/>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3" name="Segnaposto piè di pagina 2">
            <a:extLst>
              <a:ext uri="{FF2B5EF4-FFF2-40B4-BE49-F238E27FC236}">
                <a16:creationId xmlns:a16="http://schemas.microsoft.com/office/drawing/2014/main" id="{215C63AA-28AE-D133-FF8A-2BEEBD58324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E3D86863-275A-7876-3500-A0D72D62FED8}"/>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264287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0EB336-7C45-D619-62BE-067CA71431C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4186C30-404F-B40D-AA60-71B06E5A5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B94B933-2A8C-7A2E-7477-7351EE053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ECF100D-312C-38D5-9C57-188408314B02}"/>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6" name="Segnaposto piè di pagina 5">
            <a:extLst>
              <a:ext uri="{FF2B5EF4-FFF2-40B4-BE49-F238E27FC236}">
                <a16:creationId xmlns:a16="http://schemas.microsoft.com/office/drawing/2014/main" id="{90EBAD15-8345-2B47-648C-AFBC98020F5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02DA9A2-407D-4DF6-9ECC-BCABC1B62E7E}"/>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1684429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0EA61B-D545-EA80-2E97-ADE181681CB1}"/>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5335544-8C4F-360E-B90D-BB80C7CAD1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36F63E6-1A61-F560-F217-6169C06C5B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5BDAA4D-4EF6-0317-9B0E-6F3B99A3C5FA}"/>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6" name="Segnaposto piè di pagina 5">
            <a:extLst>
              <a:ext uri="{FF2B5EF4-FFF2-40B4-BE49-F238E27FC236}">
                <a16:creationId xmlns:a16="http://schemas.microsoft.com/office/drawing/2014/main" id="{580DC119-A8CA-7448-B134-72F17D8FCAE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23819B9-D887-FD0E-49CD-FFEE2D12567A}"/>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264177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D2BCD3-8386-653F-9894-FA01E3A03BF1}"/>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DE7400A-46C4-EBCE-3F4F-16075F4A3CE3}"/>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402941F-18CC-E903-9946-3CC308358372}"/>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5" name="Segnaposto piè di pagina 4">
            <a:extLst>
              <a:ext uri="{FF2B5EF4-FFF2-40B4-BE49-F238E27FC236}">
                <a16:creationId xmlns:a16="http://schemas.microsoft.com/office/drawing/2014/main" id="{7B61919B-73C9-7C65-795C-5BADFBAC0F6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A811DE2-4FB9-8770-1AAA-23000E134C03}"/>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3540215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9D2DABE-6B60-6521-7E73-BDEBF58E80B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193F229-C248-C088-C3CA-D1870AB4A801}"/>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E3A495-EC78-705A-DCA1-D977363CA1BA}"/>
              </a:ext>
            </a:extLst>
          </p:cNvPr>
          <p:cNvSpPr>
            <a:spLocks noGrp="1"/>
          </p:cNvSpPr>
          <p:nvPr>
            <p:ph type="dt" sz="half" idx="10"/>
          </p:nvPr>
        </p:nvSpPr>
        <p:spPr/>
        <p:txBody>
          <a:bodyPr/>
          <a:lstStyle/>
          <a:p>
            <a:fld id="{09B95626-9720-2D4A-89EA-F3CF5168FBCA}" type="datetimeFigureOut">
              <a:rPr lang="it-IT" smtClean="0"/>
              <a:t>17/04/26</a:t>
            </a:fld>
            <a:endParaRPr lang="it-IT"/>
          </a:p>
        </p:txBody>
      </p:sp>
      <p:sp>
        <p:nvSpPr>
          <p:cNvPr id="5" name="Segnaposto piè di pagina 4">
            <a:extLst>
              <a:ext uri="{FF2B5EF4-FFF2-40B4-BE49-F238E27FC236}">
                <a16:creationId xmlns:a16="http://schemas.microsoft.com/office/drawing/2014/main" id="{98A9716C-1785-C82E-94E0-6A5EB3D82DA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FF88A26-FE3E-E007-60A8-291435635011}"/>
              </a:ext>
            </a:extLst>
          </p:cNvPr>
          <p:cNvSpPr>
            <a:spLocks noGrp="1"/>
          </p:cNvSpPr>
          <p:nvPr>
            <p:ph type="sldNum" sz="quarter" idx="12"/>
          </p:nvPr>
        </p:nvSpPr>
        <p:spPr/>
        <p:txBody>
          <a:bodyPr/>
          <a:lstStyle/>
          <a:p>
            <a:fld id="{E729F35A-B98C-5D4D-A98B-F53F6DB5D8A3}" type="slidenum">
              <a:rPr lang="it-IT" smtClean="0"/>
              <a:t>‹N›</a:t>
            </a:fld>
            <a:endParaRPr lang="it-IT"/>
          </a:p>
        </p:txBody>
      </p:sp>
    </p:spTree>
    <p:extLst>
      <p:ext uri="{BB962C8B-B14F-4D97-AF65-F5344CB8AC3E}">
        <p14:creationId xmlns:p14="http://schemas.microsoft.com/office/powerpoint/2010/main" val="1544383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8499203-02F6-A6ED-81D1-D8E1A88FF4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4AC6C5-F44F-47B7-BAC1-49199F5A91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0EC7058-43A0-C249-3B44-6DDAF0ADC2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B95626-9720-2D4A-89EA-F3CF5168FBCA}" type="datetimeFigureOut">
              <a:rPr lang="it-IT" smtClean="0"/>
              <a:t>17/04/26</a:t>
            </a:fld>
            <a:endParaRPr lang="it-IT"/>
          </a:p>
        </p:txBody>
      </p:sp>
      <p:sp>
        <p:nvSpPr>
          <p:cNvPr id="5" name="Segnaposto piè di pagina 4">
            <a:extLst>
              <a:ext uri="{FF2B5EF4-FFF2-40B4-BE49-F238E27FC236}">
                <a16:creationId xmlns:a16="http://schemas.microsoft.com/office/drawing/2014/main" id="{BB086DB6-A897-1D76-6643-40FB05CC0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495334F-4AE4-D387-1ADC-2056608427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29F35A-B98C-5D4D-A98B-F53F6DB5D8A3}" type="slidenum">
              <a:rPr lang="it-IT" smtClean="0"/>
              <a:t>‹N›</a:t>
            </a:fld>
            <a:endParaRPr lang="it-IT"/>
          </a:p>
        </p:txBody>
      </p:sp>
    </p:spTree>
    <p:extLst>
      <p:ext uri="{BB962C8B-B14F-4D97-AF65-F5344CB8AC3E}">
        <p14:creationId xmlns:p14="http://schemas.microsoft.com/office/powerpoint/2010/main" val="4147136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journals.openedition.org/eps/7301"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hyperlink" Target="https://infoscience.epfl.ch/record/228487/files/Dubois_Cross-border%20life%20in%20Europe%20Daily%20Mobility%20in%20the%20Trinational%20Metropolis%20of%20Basel.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6D4317A-2CDD-84C2-8778-7A4EA9EC88B6}"/>
              </a:ext>
            </a:extLst>
          </p:cNvPr>
          <p:cNvSpPr>
            <a:spLocks noGrp="1"/>
          </p:cNvSpPr>
          <p:nvPr>
            <p:ph type="ctrTitle"/>
          </p:nvPr>
        </p:nvSpPr>
        <p:spPr>
          <a:xfrm>
            <a:off x="838200" y="1122362"/>
            <a:ext cx="6281928" cy="4135437"/>
          </a:xfrm>
        </p:spPr>
        <p:txBody>
          <a:bodyPr>
            <a:normAutofit/>
          </a:bodyPr>
          <a:lstStyle/>
          <a:p>
            <a:pPr algn="l"/>
            <a:r>
              <a:rPr lang="it-IT" sz="6600" dirty="0"/>
              <a:t>Il lavoro alla frontiera</a:t>
            </a:r>
          </a:p>
        </p:txBody>
      </p:sp>
      <p:sp>
        <p:nvSpPr>
          <p:cNvPr id="53" name="Rectangle 52">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1C98FA9D-4C31-E4C3-56D9-BADDA4E30F63}"/>
              </a:ext>
            </a:extLst>
          </p:cNvPr>
          <p:cNvSpPr>
            <a:spLocks noGrp="1"/>
          </p:cNvSpPr>
          <p:nvPr>
            <p:ph type="subTitle" idx="1"/>
          </p:nvPr>
        </p:nvSpPr>
        <p:spPr>
          <a:xfrm>
            <a:off x="7928114" y="1232452"/>
            <a:ext cx="3200400" cy="3850919"/>
          </a:xfrm>
        </p:spPr>
        <p:txBody>
          <a:bodyPr anchor="b">
            <a:normAutofit/>
          </a:bodyPr>
          <a:lstStyle/>
          <a:p>
            <a:pPr algn="l"/>
            <a:r>
              <a:rPr lang="it-IT">
                <a:solidFill>
                  <a:srgbClr val="FFFFFF"/>
                </a:solidFill>
              </a:rPr>
              <a:t>Prof. Paolo Barcella</a:t>
            </a:r>
          </a:p>
          <a:p>
            <a:pPr algn="l"/>
            <a:r>
              <a:rPr lang="it-IT">
                <a:solidFill>
                  <a:srgbClr val="FFFFFF"/>
                </a:solidFill>
              </a:rPr>
              <a:t>Università degli studi di Bergamo</a:t>
            </a:r>
          </a:p>
          <a:p>
            <a:pPr algn="l"/>
            <a:r>
              <a:rPr lang="it-IT">
                <a:solidFill>
                  <a:srgbClr val="FFFFFF"/>
                </a:solidFill>
              </a:rPr>
              <a:t>20 aprile 2026</a:t>
            </a:r>
          </a:p>
        </p:txBody>
      </p:sp>
      <p:sp>
        <p:nvSpPr>
          <p:cNvPr id="55"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7420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D29DDEC-8A15-78AC-3004-28C26E34FC44}"/>
              </a:ext>
            </a:extLst>
          </p:cNvPr>
          <p:cNvSpPr>
            <a:spLocks noGrp="1"/>
          </p:cNvSpPr>
          <p:nvPr>
            <p:ph type="title"/>
          </p:nvPr>
        </p:nvSpPr>
        <p:spPr>
          <a:xfrm>
            <a:off x="686834" y="591344"/>
            <a:ext cx="3200400" cy="5585619"/>
          </a:xfrm>
        </p:spPr>
        <p:txBody>
          <a:bodyPr>
            <a:normAutofit/>
          </a:bodyPr>
          <a:lstStyle/>
          <a:p>
            <a:r>
              <a:rPr lang="it-IT">
                <a:solidFill>
                  <a:srgbClr val="FFFFFF"/>
                </a:solidFill>
              </a:rPr>
              <a:t>Il lavoro alla frontiera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E5C01AF0-4750-5147-5655-ABCB23EFF2D7}"/>
              </a:ext>
            </a:extLst>
          </p:cNvPr>
          <p:cNvSpPr>
            <a:spLocks noGrp="1"/>
          </p:cNvSpPr>
          <p:nvPr>
            <p:ph idx="1"/>
          </p:nvPr>
        </p:nvSpPr>
        <p:spPr>
          <a:xfrm>
            <a:off x="4447308" y="591344"/>
            <a:ext cx="6906491" cy="5585619"/>
          </a:xfrm>
        </p:spPr>
        <p:txBody>
          <a:bodyPr anchor="ctr">
            <a:normAutofit/>
          </a:bodyPr>
          <a:lstStyle/>
          <a:p>
            <a:pPr marL="0" indent="0">
              <a:buNone/>
            </a:pPr>
            <a:endParaRPr lang="it-IT" dirty="0"/>
          </a:p>
          <a:p>
            <a:pPr marL="0" indent="0" algn="just">
              <a:buNone/>
            </a:pPr>
            <a:r>
              <a:rPr lang="it-IT" dirty="0"/>
              <a:t>Trattare il tema del frontalierato nel Canton Ticino è particolarmente complicato, perché si tratta di uno dei temi più divisivi che attraversano il dibattito politico cantonale. </a:t>
            </a:r>
          </a:p>
          <a:p>
            <a:pPr marL="0" indent="0">
              <a:buNone/>
            </a:pPr>
            <a:endParaRPr lang="it-IT" dirty="0"/>
          </a:p>
          <a:p>
            <a:pPr marL="0" indent="0" algn="just">
              <a:buNone/>
            </a:pPr>
            <a:r>
              <a:rPr lang="it-IT" dirty="0"/>
              <a:t>Diverse campagne politiche e iniziative referendarie hanno messo i frontalieri al centro dell’attenzione, trattandoli come un fattore di degrado o di impoverimento.</a:t>
            </a:r>
          </a:p>
        </p:txBody>
      </p:sp>
    </p:spTree>
    <p:extLst>
      <p:ext uri="{BB962C8B-B14F-4D97-AF65-F5344CB8AC3E}">
        <p14:creationId xmlns:p14="http://schemas.microsoft.com/office/powerpoint/2010/main" val="141543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0E5DC19-C916-EDBD-D0C5-924EF506D347}"/>
              </a:ext>
            </a:extLst>
          </p:cNvPr>
          <p:cNvSpPr>
            <a:spLocks noGrp="1"/>
          </p:cNvSpPr>
          <p:nvPr>
            <p:ph type="title"/>
          </p:nvPr>
        </p:nvSpPr>
        <p:spPr>
          <a:xfrm>
            <a:off x="630936" y="639520"/>
            <a:ext cx="3429000" cy="1719072"/>
          </a:xfrm>
        </p:spPr>
        <p:txBody>
          <a:bodyPr anchor="b">
            <a:normAutofit fontScale="90000"/>
          </a:bodyPr>
          <a:lstStyle/>
          <a:p>
            <a:r>
              <a:rPr lang="it-IT" sz="5400" dirty="0"/>
              <a:t>Il lavoro alla frontiera</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82DE7E50-5867-495D-3BC2-3C7D89A88F86}"/>
              </a:ext>
            </a:extLst>
          </p:cNvPr>
          <p:cNvSpPr>
            <a:spLocks noGrp="1"/>
          </p:cNvSpPr>
          <p:nvPr>
            <p:ph idx="1"/>
          </p:nvPr>
        </p:nvSpPr>
        <p:spPr>
          <a:xfrm>
            <a:off x="630936" y="2807208"/>
            <a:ext cx="3429000" cy="3410712"/>
          </a:xfrm>
        </p:spPr>
        <p:txBody>
          <a:bodyPr anchor="t">
            <a:normAutofit/>
          </a:bodyPr>
          <a:lstStyle/>
          <a:p>
            <a:pPr marL="0" indent="0" algn="just">
              <a:buNone/>
            </a:pPr>
            <a:r>
              <a:rPr lang="en-US" sz="2200" dirty="0" err="1"/>
              <a:t>Alcune</a:t>
            </a:r>
            <a:r>
              <a:rPr lang="en-US" sz="2200" dirty="0"/>
              <a:t> </a:t>
            </a:r>
            <a:r>
              <a:rPr lang="en-US" sz="2200" dirty="0" err="1"/>
              <a:t>campagne</a:t>
            </a:r>
            <a:r>
              <a:rPr lang="en-US" sz="2200" dirty="0"/>
              <a:t>, </a:t>
            </a:r>
            <a:r>
              <a:rPr lang="en-US" sz="2200" dirty="0" err="1"/>
              <a:t>grazie</a:t>
            </a:r>
            <a:r>
              <a:rPr lang="en-US" sz="2200" dirty="0"/>
              <a:t> alla forza delle </a:t>
            </a:r>
            <a:r>
              <a:rPr lang="en-US" sz="2200" dirty="0" err="1"/>
              <a:t>immagini</a:t>
            </a:r>
            <a:r>
              <a:rPr lang="en-US" sz="2200" dirty="0"/>
              <a:t> e </a:t>
            </a:r>
            <a:r>
              <a:rPr lang="en-US" sz="2200" dirty="0" err="1"/>
              <a:t>dei</a:t>
            </a:r>
            <a:r>
              <a:rPr lang="en-US" sz="2200" dirty="0"/>
              <a:t> </a:t>
            </a:r>
            <a:r>
              <a:rPr lang="en-US" sz="2200" dirty="0" err="1"/>
              <a:t>simboli</a:t>
            </a:r>
            <a:r>
              <a:rPr lang="en-US" sz="2200" dirty="0"/>
              <a:t> </a:t>
            </a:r>
            <a:r>
              <a:rPr lang="en-US" sz="2200" dirty="0" err="1"/>
              <a:t>adoperati</a:t>
            </a:r>
            <a:r>
              <a:rPr lang="en-US" sz="2200" dirty="0"/>
              <a:t>, </a:t>
            </a:r>
            <a:r>
              <a:rPr lang="en-US" sz="2200" dirty="0" err="1"/>
              <a:t>hanno</a:t>
            </a:r>
            <a:r>
              <a:rPr lang="en-US" sz="2200" dirty="0"/>
              <a:t> </a:t>
            </a:r>
            <a:r>
              <a:rPr lang="en-US" sz="2200" dirty="0" err="1"/>
              <a:t>avuto</a:t>
            </a:r>
            <a:r>
              <a:rPr lang="en-US" sz="2200" dirty="0"/>
              <a:t> </a:t>
            </a:r>
            <a:r>
              <a:rPr lang="en-US" sz="2200" dirty="0" err="1"/>
              <a:t>visibilità</a:t>
            </a:r>
            <a:r>
              <a:rPr lang="en-US" sz="2200" dirty="0"/>
              <a:t> </a:t>
            </a:r>
            <a:r>
              <a:rPr lang="en-US" sz="2200" dirty="0" err="1"/>
              <a:t>internazionale</a:t>
            </a:r>
            <a:r>
              <a:rPr lang="en-US" sz="2200" dirty="0"/>
              <a:t> e </a:t>
            </a:r>
            <a:r>
              <a:rPr lang="en-US" sz="2200" dirty="0" err="1"/>
              <a:t>sono</a:t>
            </a:r>
            <a:r>
              <a:rPr lang="en-US" sz="2200" dirty="0"/>
              <a:t> state </a:t>
            </a:r>
            <a:r>
              <a:rPr lang="en-US" sz="2200" dirty="0" err="1"/>
              <a:t>raccontate</a:t>
            </a:r>
            <a:r>
              <a:rPr lang="en-US" sz="2200" dirty="0"/>
              <a:t> </a:t>
            </a:r>
            <a:r>
              <a:rPr lang="en-US" sz="2200" dirty="0" err="1"/>
              <a:t>dai</a:t>
            </a:r>
            <a:r>
              <a:rPr lang="en-US" sz="2200" dirty="0"/>
              <a:t> media di </a:t>
            </a:r>
            <a:r>
              <a:rPr lang="en-US" sz="2200" dirty="0" err="1"/>
              <a:t>tutta</a:t>
            </a:r>
            <a:r>
              <a:rPr lang="en-US" sz="2200" dirty="0"/>
              <a:t> Europa.</a:t>
            </a:r>
          </a:p>
        </p:txBody>
      </p:sp>
      <p:pic>
        <p:nvPicPr>
          <p:cNvPr id="5" name="Segnaposto contenuto 4">
            <a:extLst>
              <a:ext uri="{FF2B5EF4-FFF2-40B4-BE49-F238E27FC236}">
                <a16:creationId xmlns:a16="http://schemas.microsoft.com/office/drawing/2014/main" id="{D46230A5-2780-7C5E-6BA4-546C555B65EC}"/>
              </a:ext>
            </a:extLst>
          </p:cNvPr>
          <p:cNvPicPr>
            <a:picLocks noChangeAspect="1"/>
          </p:cNvPicPr>
          <p:nvPr/>
        </p:nvPicPr>
        <p:blipFill>
          <a:blip r:embed="rId2"/>
          <a:stretch>
            <a:fillRect/>
          </a:stretch>
        </p:blipFill>
        <p:spPr>
          <a:xfrm>
            <a:off x="5414849" y="640080"/>
            <a:ext cx="5382614" cy="5577840"/>
          </a:xfrm>
          <a:prstGeom prst="rect">
            <a:avLst/>
          </a:prstGeom>
        </p:spPr>
      </p:pic>
    </p:spTree>
    <p:extLst>
      <p:ext uri="{BB962C8B-B14F-4D97-AF65-F5344CB8AC3E}">
        <p14:creationId xmlns:p14="http://schemas.microsoft.com/office/powerpoint/2010/main" val="98032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5BBE9B1-8260-FD10-1FDD-9CEB643D6A29}"/>
              </a:ext>
            </a:extLst>
          </p:cNvPr>
          <p:cNvSpPr>
            <a:spLocks noGrp="1"/>
          </p:cNvSpPr>
          <p:nvPr>
            <p:ph type="title"/>
          </p:nvPr>
        </p:nvSpPr>
        <p:spPr>
          <a:xfrm>
            <a:off x="630936" y="639520"/>
            <a:ext cx="3429000" cy="1719072"/>
          </a:xfrm>
        </p:spPr>
        <p:txBody>
          <a:bodyPr anchor="b">
            <a:normAutofit fontScale="90000"/>
          </a:bodyPr>
          <a:lstStyle/>
          <a:p>
            <a:r>
              <a:rPr lang="it-IT" sz="5400" dirty="0"/>
              <a:t>Il lavoro alla frontiera</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egnaposto contenuto 4">
            <a:extLst>
              <a:ext uri="{FF2B5EF4-FFF2-40B4-BE49-F238E27FC236}">
                <a16:creationId xmlns:a16="http://schemas.microsoft.com/office/drawing/2014/main" id="{E13B3F0B-B16B-A8D1-AB29-71587AA55206}"/>
              </a:ext>
            </a:extLst>
          </p:cNvPr>
          <p:cNvPicPr>
            <a:picLocks noChangeAspect="1"/>
          </p:cNvPicPr>
          <p:nvPr/>
        </p:nvPicPr>
        <p:blipFill>
          <a:blip r:embed="rId2"/>
          <a:stretch>
            <a:fillRect/>
          </a:stretch>
        </p:blipFill>
        <p:spPr>
          <a:xfrm>
            <a:off x="4654296" y="1193920"/>
            <a:ext cx="6903720" cy="4470159"/>
          </a:xfrm>
          <a:prstGeom prst="rect">
            <a:avLst/>
          </a:prstGeom>
        </p:spPr>
      </p:pic>
    </p:spTree>
    <p:extLst>
      <p:ext uri="{BB962C8B-B14F-4D97-AF65-F5344CB8AC3E}">
        <p14:creationId xmlns:p14="http://schemas.microsoft.com/office/powerpoint/2010/main" val="2312117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34A545-EA26-ED53-BA3E-410CF8CEB0F9}"/>
              </a:ext>
            </a:extLst>
          </p:cNvPr>
          <p:cNvPicPr>
            <a:picLocks noChangeAspect="1"/>
          </p:cNvPicPr>
          <p:nvPr/>
        </p:nvPicPr>
        <p:blipFill>
          <a:blip r:embed="rId2">
            <a:duotone>
              <a:schemeClr val="bg2">
                <a:shade val="45000"/>
                <a:satMod val="135000"/>
              </a:schemeClr>
              <a:prstClr val="white"/>
            </a:duotone>
          </a:blip>
          <a:srcRect t="8607" b="7124"/>
          <a:stretch>
            <a:fillRect/>
          </a:stretch>
        </p:blipFill>
        <p:spPr>
          <a:xfrm>
            <a:off x="20" y="10"/>
            <a:ext cx="12191980" cy="6857990"/>
          </a:xfrm>
          <a:prstGeom prst="rect">
            <a:avLst/>
          </a:prstGeom>
        </p:spPr>
      </p:pic>
      <p:sp>
        <p:nvSpPr>
          <p:cNvPr id="17" name="Rectangle 1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3430BFE-531E-F7FC-530F-25EC9A5F8DC6}"/>
              </a:ext>
            </a:extLst>
          </p:cNvPr>
          <p:cNvSpPr>
            <a:spLocks noGrp="1"/>
          </p:cNvSpPr>
          <p:nvPr>
            <p:ph type="title"/>
          </p:nvPr>
        </p:nvSpPr>
        <p:spPr>
          <a:xfrm>
            <a:off x="838200" y="365125"/>
            <a:ext cx="10515600" cy="1325563"/>
          </a:xfrm>
        </p:spPr>
        <p:txBody>
          <a:bodyPr>
            <a:normAutofit/>
          </a:bodyPr>
          <a:lstStyle/>
          <a:p>
            <a:r>
              <a:rPr lang="it-IT"/>
              <a:t>Il lavoro alla frontiera</a:t>
            </a:r>
          </a:p>
        </p:txBody>
      </p:sp>
      <p:graphicFrame>
        <p:nvGraphicFramePr>
          <p:cNvPr id="5" name="Segnaposto contenuto 2">
            <a:extLst>
              <a:ext uri="{FF2B5EF4-FFF2-40B4-BE49-F238E27FC236}">
                <a16:creationId xmlns:a16="http://schemas.microsoft.com/office/drawing/2014/main" id="{751DBBCB-2CBB-9A04-3E92-67052AE3B889}"/>
              </a:ext>
            </a:extLst>
          </p:cNvPr>
          <p:cNvGraphicFramePr>
            <a:graphicFrameLocks noGrp="1"/>
          </p:cNvGraphicFramePr>
          <p:nvPr>
            <p:ph idx="1"/>
            <p:extLst>
              <p:ext uri="{D42A27DB-BD31-4B8C-83A1-F6EECF244321}">
                <p14:modId xmlns:p14="http://schemas.microsoft.com/office/powerpoint/2010/main" val="40548703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80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09ED91E-4F4F-DF38-2862-1A3F48507BD0}"/>
              </a:ext>
            </a:extLst>
          </p:cNvPr>
          <p:cNvSpPr>
            <a:spLocks noGrp="1"/>
          </p:cNvSpPr>
          <p:nvPr>
            <p:ph type="title"/>
          </p:nvPr>
        </p:nvSpPr>
        <p:spPr>
          <a:xfrm>
            <a:off x="686834" y="591344"/>
            <a:ext cx="3200400" cy="5585619"/>
          </a:xfrm>
        </p:spPr>
        <p:txBody>
          <a:bodyPr>
            <a:normAutofit/>
          </a:bodyPr>
          <a:lstStyle/>
          <a:p>
            <a:r>
              <a:rPr lang="it-IT">
                <a:solidFill>
                  <a:srgbClr val="FFFFFF"/>
                </a:solidFill>
              </a:rPr>
              <a:t>Il lavoro alla frontiera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71A7A613-A768-A56C-5968-C76D8CDFA977}"/>
              </a:ext>
            </a:extLst>
          </p:cNvPr>
          <p:cNvSpPr>
            <a:spLocks noGrp="1"/>
          </p:cNvSpPr>
          <p:nvPr>
            <p:ph idx="1"/>
          </p:nvPr>
        </p:nvSpPr>
        <p:spPr>
          <a:xfrm>
            <a:off x="4447308" y="591344"/>
            <a:ext cx="6906491" cy="5585619"/>
          </a:xfrm>
        </p:spPr>
        <p:txBody>
          <a:bodyPr anchor="ctr">
            <a:normAutofit/>
          </a:bodyPr>
          <a:lstStyle/>
          <a:p>
            <a:pPr marL="0" indent="0">
              <a:buNone/>
            </a:pPr>
            <a:endParaRPr lang="it-IT" dirty="0"/>
          </a:p>
          <a:p>
            <a:pPr marL="0" indent="0">
              <a:buNone/>
            </a:pPr>
            <a:r>
              <a:rPr lang="it-IT" dirty="0"/>
              <a:t>Quali sono i numeri del frontalierato nella Svizzera odierna?</a:t>
            </a:r>
          </a:p>
        </p:txBody>
      </p:sp>
    </p:spTree>
    <p:extLst>
      <p:ext uri="{BB962C8B-B14F-4D97-AF65-F5344CB8AC3E}">
        <p14:creationId xmlns:p14="http://schemas.microsoft.com/office/powerpoint/2010/main" val="2271973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lowchart: Document 17">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1495B74-2AFF-D329-1972-98C240232CB0}"/>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Il lavoro alla frontiera</a:t>
            </a:r>
          </a:p>
        </p:txBody>
      </p:sp>
      <p:pic>
        <p:nvPicPr>
          <p:cNvPr id="6" name="Segnaposto contenuto 5">
            <a:extLst>
              <a:ext uri="{FF2B5EF4-FFF2-40B4-BE49-F238E27FC236}">
                <a16:creationId xmlns:a16="http://schemas.microsoft.com/office/drawing/2014/main" id="{BC3FB280-7A76-FDB3-0C0F-34BCC7DD90FD}"/>
              </a:ext>
            </a:extLst>
          </p:cNvPr>
          <p:cNvPicPr>
            <a:picLocks noGrp="1" noChangeAspect="1"/>
          </p:cNvPicPr>
          <p:nvPr>
            <p:ph idx="1"/>
          </p:nvPr>
        </p:nvPicPr>
        <p:blipFill>
          <a:blip r:embed="rId2"/>
          <a:stretch>
            <a:fillRect/>
          </a:stretch>
        </p:blipFill>
        <p:spPr>
          <a:xfrm>
            <a:off x="4211427" y="640080"/>
            <a:ext cx="7340549" cy="5578816"/>
          </a:xfrm>
          <a:prstGeom prst="rect">
            <a:avLst/>
          </a:prstGeom>
        </p:spPr>
      </p:pic>
    </p:spTree>
    <p:extLst>
      <p:ext uri="{BB962C8B-B14F-4D97-AF65-F5344CB8AC3E}">
        <p14:creationId xmlns:p14="http://schemas.microsoft.com/office/powerpoint/2010/main" val="213638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02D1EF0-869A-DBC8-DE56-C59CB6427CE8}"/>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Il </a:t>
            </a:r>
            <a:r>
              <a:rPr lang="en-US" sz="3200" kern="1200" dirty="0" err="1">
                <a:solidFill>
                  <a:srgbClr val="FFFFFF"/>
                </a:solidFill>
                <a:latin typeface="+mj-lt"/>
                <a:ea typeface="+mj-ea"/>
                <a:cs typeface="+mj-cs"/>
              </a:rPr>
              <a:t>lavoro</a:t>
            </a:r>
            <a:r>
              <a:rPr lang="en-US" sz="3200" kern="1200" dirty="0">
                <a:solidFill>
                  <a:srgbClr val="FFFFFF"/>
                </a:solidFill>
                <a:latin typeface="+mj-lt"/>
                <a:ea typeface="+mj-ea"/>
                <a:cs typeface="+mj-cs"/>
              </a:rPr>
              <a:t> alla </a:t>
            </a:r>
            <a:r>
              <a:rPr lang="en-US" sz="3200" kern="1200" dirty="0" err="1">
                <a:solidFill>
                  <a:srgbClr val="FFFFFF"/>
                </a:solidFill>
                <a:latin typeface="+mj-lt"/>
                <a:ea typeface="+mj-ea"/>
                <a:cs typeface="+mj-cs"/>
              </a:rPr>
              <a:t>frontiera</a:t>
            </a:r>
            <a:endParaRPr lang="en-US" sz="3200" kern="1200" dirty="0">
              <a:solidFill>
                <a:srgbClr val="FFFFFF"/>
              </a:solidFill>
              <a:latin typeface="+mj-lt"/>
              <a:ea typeface="+mj-ea"/>
              <a:cs typeface="+mj-cs"/>
            </a:endParaRPr>
          </a:p>
        </p:txBody>
      </p:sp>
      <p:pic>
        <p:nvPicPr>
          <p:cNvPr id="5" name="Segnaposto contenuto 4">
            <a:extLst>
              <a:ext uri="{FF2B5EF4-FFF2-40B4-BE49-F238E27FC236}">
                <a16:creationId xmlns:a16="http://schemas.microsoft.com/office/drawing/2014/main" id="{CDC866D3-ED1A-98E1-8463-326FACEF6680}"/>
              </a:ext>
            </a:extLst>
          </p:cNvPr>
          <p:cNvPicPr>
            <a:picLocks noGrp="1" noChangeAspect="1"/>
          </p:cNvPicPr>
          <p:nvPr>
            <p:ph idx="1"/>
          </p:nvPr>
        </p:nvPicPr>
        <p:blipFill>
          <a:blip r:embed="rId2"/>
          <a:stretch>
            <a:fillRect/>
          </a:stretch>
        </p:blipFill>
        <p:spPr>
          <a:xfrm>
            <a:off x="4207933" y="1537498"/>
            <a:ext cx="7347537" cy="3783980"/>
          </a:xfrm>
          <a:prstGeom prst="rect">
            <a:avLst/>
          </a:prstGeom>
        </p:spPr>
      </p:pic>
    </p:spTree>
    <p:extLst>
      <p:ext uri="{BB962C8B-B14F-4D97-AF65-F5344CB8AC3E}">
        <p14:creationId xmlns:p14="http://schemas.microsoft.com/office/powerpoint/2010/main" val="3301990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2DC59B4-380D-1C09-0104-E0382305364A}"/>
              </a:ext>
            </a:extLst>
          </p:cNvPr>
          <p:cNvSpPr>
            <a:spLocks noGrp="1"/>
          </p:cNvSpPr>
          <p:nvPr>
            <p:ph type="title"/>
          </p:nvPr>
        </p:nvSpPr>
        <p:spPr>
          <a:xfrm>
            <a:off x="1171074" y="1396686"/>
            <a:ext cx="3240506" cy="4064628"/>
          </a:xfrm>
        </p:spPr>
        <p:txBody>
          <a:bodyPr>
            <a:normAutofit/>
          </a:bodyPr>
          <a:lstStyle/>
          <a:p>
            <a:r>
              <a:rPr lang="it-IT" dirty="0">
                <a:solidFill>
                  <a:srgbClr val="FFFFFF"/>
                </a:solidFill>
              </a:rPr>
              <a:t>Il lavoro di frontiera</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5C066090-5D8B-1B7D-C5DC-FDFAABD958C8}"/>
              </a:ext>
            </a:extLst>
          </p:cNvPr>
          <p:cNvSpPr>
            <a:spLocks noGrp="1"/>
          </p:cNvSpPr>
          <p:nvPr>
            <p:ph idx="1"/>
          </p:nvPr>
        </p:nvSpPr>
        <p:spPr>
          <a:xfrm>
            <a:off x="5370153" y="1526033"/>
            <a:ext cx="5536397" cy="3935281"/>
          </a:xfrm>
        </p:spPr>
        <p:txBody>
          <a:bodyPr>
            <a:normAutofit lnSpcReduction="10000"/>
          </a:bodyPr>
          <a:lstStyle/>
          <a:p>
            <a:pPr marL="0" indent="0">
              <a:buNone/>
            </a:pPr>
            <a:endParaRPr lang="it-IT" dirty="0"/>
          </a:p>
          <a:p>
            <a:pPr marL="0" indent="0" algn="just">
              <a:buNone/>
            </a:pPr>
            <a:r>
              <a:rPr lang="it-IT" dirty="0"/>
              <a:t>Sono tanti o pochi?</a:t>
            </a:r>
          </a:p>
          <a:p>
            <a:pPr marL="0" indent="0" algn="just">
              <a:buNone/>
            </a:pPr>
            <a:endParaRPr lang="it-IT" dirty="0"/>
          </a:p>
          <a:p>
            <a:pPr marL="0" indent="0" algn="just">
              <a:buNone/>
            </a:pPr>
            <a:r>
              <a:rPr lang="it-IT" dirty="0"/>
              <a:t>Quali sono i parametri e i criteri che ci consentono di affermarlo?</a:t>
            </a:r>
          </a:p>
          <a:p>
            <a:pPr marL="0" indent="0" algn="just">
              <a:buNone/>
            </a:pPr>
            <a:endParaRPr lang="it-IT" dirty="0"/>
          </a:p>
          <a:p>
            <a:pPr marL="0" indent="0" algn="just">
              <a:buNone/>
            </a:pPr>
            <a:r>
              <a:rPr lang="it-IT" dirty="0"/>
              <a:t>Suggerisco alcune letture che possono aiutare a cercare quei parametri e quei criteri.</a:t>
            </a:r>
          </a:p>
        </p:txBody>
      </p:sp>
    </p:spTree>
    <p:extLst>
      <p:ext uri="{BB962C8B-B14F-4D97-AF65-F5344CB8AC3E}">
        <p14:creationId xmlns:p14="http://schemas.microsoft.com/office/powerpoint/2010/main" val="3996478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D74B6DF-5333-0F5D-5FCC-BBAA5557E2A4}"/>
              </a:ext>
            </a:extLst>
          </p:cNvPr>
          <p:cNvSpPr>
            <a:spLocks noGrp="1"/>
          </p:cNvSpPr>
          <p:nvPr>
            <p:ph type="title"/>
          </p:nvPr>
        </p:nvSpPr>
        <p:spPr>
          <a:xfrm>
            <a:off x="686834" y="591344"/>
            <a:ext cx="3200400" cy="5585619"/>
          </a:xfrm>
        </p:spPr>
        <p:txBody>
          <a:bodyPr>
            <a:normAutofit/>
          </a:bodyPr>
          <a:lstStyle/>
          <a:p>
            <a:r>
              <a:rPr lang="it-IT">
                <a:solidFill>
                  <a:srgbClr val="FFFFFF"/>
                </a:solidFill>
              </a:rPr>
              <a:t>Qualche riferimento bibliografico</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Segnaposto contenuto 2">
            <a:extLst>
              <a:ext uri="{FF2B5EF4-FFF2-40B4-BE49-F238E27FC236}">
                <a16:creationId xmlns:a16="http://schemas.microsoft.com/office/drawing/2014/main" id="{328DC903-5DA5-B060-4B5F-879EB0FD4041}"/>
              </a:ext>
            </a:extLst>
          </p:cNvPr>
          <p:cNvSpPr>
            <a:spLocks noGrp="1"/>
          </p:cNvSpPr>
          <p:nvPr>
            <p:ph idx="1"/>
          </p:nvPr>
        </p:nvSpPr>
        <p:spPr>
          <a:xfrm>
            <a:off x="4447308" y="591344"/>
            <a:ext cx="6906491" cy="5585619"/>
          </a:xfrm>
        </p:spPr>
        <p:txBody>
          <a:bodyPr anchor="ctr">
            <a:normAutofit/>
          </a:bodyPr>
          <a:lstStyle/>
          <a:p>
            <a:pPr marL="0" indent="0">
              <a:buNone/>
            </a:pPr>
            <a:r>
              <a:rPr lang="it-IT" sz="1300"/>
              <a:t>- Oscar Mazzoleni, Andrea Pillotti, a cura di, </a:t>
            </a:r>
            <a:r>
              <a:rPr lang="it-IT" sz="1300" i="1"/>
              <a:t>La cooperazione transfrontaliere: problemi e attualità</a:t>
            </a:r>
            <a:r>
              <a:rPr lang="it-IT" sz="1300"/>
              <a:t>, </a:t>
            </a:r>
            <a:r>
              <a:rPr lang="it-IT" sz="1300" err="1"/>
              <a:t>Dadò</a:t>
            </a:r>
            <a:r>
              <a:rPr lang="it-IT" sz="1300"/>
              <a:t>, Locarno, 2024.</a:t>
            </a:r>
          </a:p>
          <a:p>
            <a:pPr marL="0" indent="0">
              <a:buNone/>
            </a:pPr>
            <a:r>
              <a:rPr lang="it-IT" sz="1300"/>
              <a:t>- Marc Gigase, a cura di, </a:t>
            </a:r>
            <a:r>
              <a:rPr lang="it-IT" sz="1300" i="1" err="1"/>
              <a:t>Les</a:t>
            </a:r>
            <a:r>
              <a:rPr lang="it-IT" sz="1300" i="1"/>
              <a:t> </a:t>
            </a:r>
            <a:r>
              <a:rPr lang="it-IT" sz="1300" i="1" err="1"/>
              <a:t>saisonniers-ères</a:t>
            </a:r>
            <a:r>
              <a:rPr lang="it-IT" sz="1300" i="1"/>
              <a:t> en Suisse: </a:t>
            </a:r>
            <a:r>
              <a:rPr lang="it-IT" sz="1300" i="1" err="1"/>
              <a:t>travail</a:t>
            </a:r>
            <a:r>
              <a:rPr lang="it-IT" sz="1300" i="1"/>
              <a:t>, </a:t>
            </a:r>
            <a:r>
              <a:rPr lang="it-IT" sz="1300" i="1" err="1"/>
              <a:t>migration</a:t>
            </a:r>
            <a:r>
              <a:rPr lang="it-IT" sz="1300" i="1"/>
              <a:t>, </a:t>
            </a:r>
            <a:r>
              <a:rPr lang="it-IT" sz="1300" i="1" err="1"/>
              <a:t>xénophobie</a:t>
            </a:r>
            <a:r>
              <a:rPr lang="it-IT" sz="1300" i="1"/>
              <a:t> et </a:t>
            </a:r>
            <a:r>
              <a:rPr lang="it-IT" sz="1300" i="1" err="1"/>
              <a:t>solidarité</a:t>
            </a:r>
            <a:r>
              <a:rPr lang="it-IT" sz="1300" i="1"/>
              <a:t>: dossier </a:t>
            </a:r>
            <a:r>
              <a:rPr lang="it-IT" sz="1300" i="1" err="1"/>
              <a:t>thématique</a:t>
            </a:r>
            <a:r>
              <a:rPr lang="it-IT" sz="1300"/>
              <a:t>, in «Traverse», 3, 2022, pp. 7-147.</a:t>
            </a:r>
          </a:p>
          <a:p>
            <a:pPr marL="0" indent="0">
              <a:buNone/>
            </a:pPr>
            <a:r>
              <a:rPr lang="it-IT" sz="1300"/>
              <a:t>- Sylvain Weber, Giovanni Ferro Luzzi e José Ramirez, </a:t>
            </a:r>
            <a:r>
              <a:rPr lang="it-IT" sz="1300" i="1"/>
              <a:t>Do cross-</a:t>
            </a:r>
            <a:r>
              <a:rPr lang="it-IT" sz="1300" i="1" err="1"/>
              <a:t>border</a:t>
            </a:r>
            <a:r>
              <a:rPr lang="it-IT" sz="1300" i="1"/>
              <a:t> workers cause </a:t>
            </a:r>
            <a:r>
              <a:rPr lang="it-IT" sz="1300" i="1" err="1"/>
              <a:t>unemployment</a:t>
            </a:r>
            <a:r>
              <a:rPr lang="it-IT" sz="1300" i="1"/>
              <a:t> in the </a:t>
            </a:r>
            <a:r>
              <a:rPr lang="it-IT" sz="1300" i="1" err="1"/>
              <a:t>host</a:t>
            </a:r>
            <a:r>
              <a:rPr lang="it-IT" sz="1300" i="1"/>
              <a:t> country? The case of </a:t>
            </a:r>
            <a:r>
              <a:rPr lang="it-IT" sz="1300" i="1" err="1"/>
              <a:t>Switzerland</a:t>
            </a:r>
            <a:r>
              <a:rPr lang="it-IT" sz="1300"/>
              <a:t>, “Espace </a:t>
            </a:r>
            <a:r>
              <a:rPr lang="it-IT" sz="1300" err="1"/>
              <a:t>populations</a:t>
            </a:r>
            <a:r>
              <a:rPr lang="it-IT" sz="1300"/>
              <a:t> </a:t>
            </a:r>
            <a:r>
              <a:rPr lang="it-IT" sz="1300" err="1"/>
              <a:t>sociétés</a:t>
            </a:r>
            <a:r>
              <a:rPr lang="it-IT" sz="1300"/>
              <a:t>”, 3 (2017), </a:t>
            </a:r>
            <a:r>
              <a:rPr lang="it-IT" sz="1300">
                <a:hlinkClick r:id="rId3"/>
              </a:rPr>
              <a:t>https://journals.openedition.org/eps/7301</a:t>
            </a:r>
            <a:r>
              <a:rPr lang="it-IT" sz="1300"/>
              <a:t> .</a:t>
            </a:r>
          </a:p>
          <a:p>
            <a:pPr marL="0" indent="0">
              <a:buNone/>
            </a:pPr>
            <a:r>
              <a:rPr lang="it-IT" sz="1300"/>
              <a:t>- Yann Dubois, </a:t>
            </a:r>
            <a:r>
              <a:rPr lang="it-IT" sz="1300" i="1"/>
              <a:t>Cross-Border Life in Europe. Daily </a:t>
            </a:r>
            <a:r>
              <a:rPr lang="it-IT" sz="1300" i="1" err="1"/>
              <a:t>Mobility</a:t>
            </a:r>
            <a:r>
              <a:rPr lang="it-IT" sz="1300" i="1"/>
              <a:t> in the Trinational Metropolis of Basel</a:t>
            </a:r>
            <a:r>
              <a:rPr lang="it-IT" sz="1300"/>
              <a:t>, “</a:t>
            </a:r>
            <a:r>
              <a:rPr lang="it-IT" sz="1300" err="1"/>
              <a:t>Cuadernos</a:t>
            </a:r>
            <a:r>
              <a:rPr lang="it-IT" sz="1300"/>
              <a:t> </a:t>
            </a:r>
            <a:r>
              <a:rPr lang="it-IT" sz="1300" err="1"/>
              <a:t>Europeos</a:t>
            </a:r>
            <a:r>
              <a:rPr lang="it-IT" sz="1300"/>
              <a:t> de Deusto”, 56, 2017, p. 133-160, </a:t>
            </a:r>
            <a:r>
              <a:rPr lang="it-IT" sz="1300">
                <a:hlinkClick r:id="rId4"/>
              </a:rPr>
              <a:t>https://infoscience.epfl.ch/record/228487/files/Dubois_Cross-border%20life%20in%20Europe%20Daily%20Mobility%20in%20the%20Trinational%20Metropolis%20of%20Basel.pdf</a:t>
            </a:r>
            <a:r>
              <a:rPr lang="it-IT" sz="1300"/>
              <a:t> .</a:t>
            </a:r>
          </a:p>
          <a:p>
            <a:pPr marL="0" indent="0">
              <a:buNone/>
            </a:pPr>
            <a:r>
              <a:rPr lang="it-IT" sz="1300"/>
              <a:t>- Paolo Barcella e Michele Colucci, a cura di, </a:t>
            </a:r>
            <a:r>
              <a:rPr lang="it-IT" sz="1300" i="1"/>
              <a:t>Frontalieri</a:t>
            </a:r>
            <a:r>
              <a:rPr lang="it-IT" sz="1300"/>
              <a:t>, “Archivio storico dell’emigrazione italiana”, 12 (2016).</a:t>
            </a:r>
          </a:p>
          <a:p>
            <a:pPr marL="0" indent="0">
              <a:buNone/>
            </a:pPr>
            <a:r>
              <a:rPr lang="it-IT" sz="1300"/>
              <a:t>- Francesco Garufo, </a:t>
            </a:r>
            <a:r>
              <a:rPr lang="it-IT" sz="1300" i="1"/>
              <a:t>L’</a:t>
            </a:r>
            <a:r>
              <a:rPr lang="it-IT" sz="1300" i="1" err="1"/>
              <a:t>emploi</a:t>
            </a:r>
            <a:r>
              <a:rPr lang="it-IT" sz="1300" i="1"/>
              <a:t> </a:t>
            </a:r>
            <a:r>
              <a:rPr lang="it-IT" sz="1300" i="1" err="1"/>
              <a:t>du</a:t>
            </a:r>
            <a:r>
              <a:rPr lang="it-IT" sz="1300" i="1"/>
              <a:t> </a:t>
            </a:r>
            <a:r>
              <a:rPr lang="it-IT" sz="1300" i="1" err="1"/>
              <a:t>temps</a:t>
            </a:r>
            <a:r>
              <a:rPr lang="it-IT" sz="1300" i="1"/>
              <a:t>. </a:t>
            </a:r>
            <a:r>
              <a:rPr lang="it-IT" sz="1300" i="1" err="1"/>
              <a:t>L’industrie</a:t>
            </a:r>
            <a:r>
              <a:rPr lang="it-IT" sz="1300" i="1"/>
              <a:t> </a:t>
            </a:r>
            <a:r>
              <a:rPr lang="it-IT" sz="1300" i="1" err="1"/>
              <a:t>horologère</a:t>
            </a:r>
            <a:r>
              <a:rPr lang="it-IT" sz="1300" i="1"/>
              <a:t> </a:t>
            </a:r>
            <a:r>
              <a:rPr lang="it-IT" sz="1300" i="1" err="1"/>
              <a:t>suisse</a:t>
            </a:r>
            <a:r>
              <a:rPr lang="it-IT" sz="1300" i="1"/>
              <a:t> et l’</a:t>
            </a:r>
            <a:r>
              <a:rPr lang="it-IT" sz="1300" i="1" err="1"/>
              <a:t>immigration</a:t>
            </a:r>
            <a:r>
              <a:rPr lang="it-IT" sz="1300" i="1"/>
              <a:t> (1930-80)</a:t>
            </a:r>
            <a:r>
              <a:rPr lang="it-IT" sz="1300"/>
              <a:t>, Lausanne, </a:t>
            </a:r>
            <a:r>
              <a:rPr lang="it-IT" sz="1300" err="1"/>
              <a:t>Antipodes</a:t>
            </a:r>
            <a:r>
              <a:rPr lang="it-IT" sz="1300"/>
              <a:t>, 2015</a:t>
            </a:r>
          </a:p>
          <a:p>
            <a:pPr marL="0" indent="0">
              <a:buNone/>
            </a:pPr>
            <a:r>
              <a:rPr lang="it-IT" sz="1300"/>
              <a:t>- Philippe Hamman, </a:t>
            </a:r>
            <a:r>
              <a:rPr lang="it-IT" sz="1300" i="1"/>
              <a:t>Cross-</a:t>
            </a:r>
            <a:r>
              <a:rPr lang="it-IT" sz="1300" i="1" err="1"/>
              <a:t>border</a:t>
            </a:r>
            <a:r>
              <a:rPr lang="it-IT" sz="1300" i="1"/>
              <a:t> workers</a:t>
            </a:r>
            <a:r>
              <a:rPr lang="it-IT" sz="1300"/>
              <a:t>, in Élisabeth Lambert-Abdelgawad e Hélene Michel, Dictionary of </a:t>
            </a:r>
            <a:r>
              <a:rPr lang="it-IT" sz="1300" err="1"/>
              <a:t>European</a:t>
            </a:r>
            <a:r>
              <a:rPr lang="it-IT" sz="1300"/>
              <a:t> Actors, </a:t>
            </a:r>
            <a:r>
              <a:rPr lang="it-IT" sz="1300" err="1"/>
              <a:t>Brussels</a:t>
            </a:r>
            <a:r>
              <a:rPr lang="it-IT" sz="1300"/>
              <a:t>, </a:t>
            </a:r>
            <a:r>
              <a:rPr lang="it-IT" sz="1300" err="1"/>
              <a:t>Larcier</a:t>
            </a:r>
            <a:r>
              <a:rPr lang="it-IT" sz="1300"/>
              <a:t>, 2015.</a:t>
            </a:r>
          </a:p>
          <a:p>
            <a:pPr marL="0" indent="0">
              <a:buNone/>
            </a:pPr>
            <a:r>
              <a:rPr lang="it-IT" sz="1300"/>
              <a:t>- Francesco Garufo, </a:t>
            </a:r>
            <a:r>
              <a:rPr lang="it-IT" sz="1300" i="1"/>
              <a:t>Travail </a:t>
            </a:r>
            <a:r>
              <a:rPr lang="it-IT" sz="1300" i="1" err="1"/>
              <a:t>frontalier</a:t>
            </a:r>
            <a:r>
              <a:rPr lang="it-IT" sz="1300" i="1"/>
              <a:t> et </a:t>
            </a:r>
            <a:r>
              <a:rPr lang="it-IT" sz="1300" i="1" err="1"/>
              <a:t>segmentation</a:t>
            </a:r>
            <a:r>
              <a:rPr lang="it-IT" sz="1300" i="1"/>
              <a:t> </a:t>
            </a:r>
            <a:r>
              <a:rPr lang="it-IT" sz="1300" i="1" err="1"/>
              <a:t>du</a:t>
            </a:r>
            <a:r>
              <a:rPr lang="it-IT" sz="1300" i="1"/>
              <a:t> </a:t>
            </a:r>
            <a:r>
              <a:rPr lang="it-IT" sz="1300" i="1" err="1"/>
              <a:t>marché</a:t>
            </a:r>
            <a:r>
              <a:rPr lang="it-IT" sz="1300" i="1"/>
              <a:t> de l’</a:t>
            </a:r>
            <a:r>
              <a:rPr lang="it-IT" sz="1300" i="1" err="1"/>
              <a:t>emploi</a:t>
            </a:r>
            <a:r>
              <a:rPr lang="it-IT" sz="1300" i="1"/>
              <a:t> </a:t>
            </a:r>
            <a:r>
              <a:rPr lang="it-IT" sz="1300" i="1" err="1"/>
              <a:t>horologer</a:t>
            </a:r>
            <a:r>
              <a:rPr lang="it-IT" sz="1300" i="1"/>
              <a:t>: le </a:t>
            </a:r>
            <a:r>
              <a:rPr lang="it-IT" sz="1300" i="1" err="1"/>
              <a:t>cas</a:t>
            </a:r>
            <a:r>
              <a:rPr lang="it-IT" sz="1300" i="1"/>
              <a:t> de Tissot SA (1960-1980)</a:t>
            </a:r>
            <a:r>
              <a:rPr lang="it-IT" sz="1300"/>
              <a:t>, “</a:t>
            </a:r>
            <a:r>
              <a:rPr lang="it-IT" sz="1300" err="1"/>
              <a:t>Géo-Regards</a:t>
            </a:r>
            <a:r>
              <a:rPr lang="it-IT" sz="1300"/>
              <a:t>”, 2 (2009), p. 23-37</a:t>
            </a:r>
          </a:p>
          <a:p>
            <a:pPr marL="0" indent="0">
              <a:buNone/>
            </a:pPr>
            <a:r>
              <a:rPr lang="it-IT" sz="1300"/>
              <a:t>- Philippe Hamman, </a:t>
            </a:r>
            <a:r>
              <a:rPr lang="it-IT" sz="1300" i="1" err="1"/>
              <a:t>Représenter</a:t>
            </a:r>
            <a:r>
              <a:rPr lang="it-IT" sz="1300" i="1"/>
              <a:t> </a:t>
            </a:r>
            <a:r>
              <a:rPr lang="it-IT" sz="1300" i="1" err="1"/>
              <a:t>les</a:t>
            </a:r>
            <a:r>
              <a:rPr lang="it-IT" sz="1300" i="1"/>
              <a:t> </a:t>
            </a:r>
            <a:r>
              <a:rPr lang="it-IT" sz="1300" i="1" err="1"/>
              <a:t>travailleurs</a:t>
            </a:r>
            <a:r>
              <a:rPr lang="it-IT" sz="1300" i="1"/>
              <a:t> </a:t>
            </a:r>
            <a:r>
              <a:rPr lang="it-IT" sz="1300" i="1" err="1"/>
              <a:t>transfrontaliers</a:t>
            </a:r>
            <a:r>
              <a:rPr lang="it-IT" sz="1300" i="1"/>
              <a:t>. </a:t>
            </a:r>
            <a:r>
              <a:rPr lang="it-IT" sz="1300" i="1" err="1"/>
              <a:t>Enjeux</a:t>
            </a:r>
            <a:r>
              <a:rPr lang="it-IT" sz="1300" i="1"/>
              <a:t> de </a:t>
            </a:r>
            <a:r>
              <a:rPr lang="it-IT" sz="1300" i="1" err="1"/>
              <a:t>formation</a:t>
            </a:r>
            <a:r>
              <a:rPr lang="it-IT" sz="1300" i="1"/>
              <a:t> et </a:t>
            </a:r>
            <a:r>
              <a:rPr lang="it-IT" sz="1300" i="1" err="1"/>
              <a:t>transformation</a:t>
            </a:r>
            <a:r>
              <a:rPr lang="it-IT" sz="1300" i="1"/>
              <a:t> de l’action </a:t>
            </a:r>
            <a:r>
              <a:rPr lang="it-IT" sz="1300" i="1" err="1"/>
              <a:t>collective</a:t>
            </a:r>
            <a:r>
              <a:rPr lang="it-IT" sz="1300" i="1"/>
              <a:t> en Europe</a:t>
            </a:r>
            <a:r>
              <a:rPr lang="it-IT" sz="1300"/>
              <a:t>, “Cahiers </a:t>
            </a:r>
            <a:r>
              <a:rPr lang="it-IT" sz="1300" err="1"/>
              <a:t>du</a:t>
            </a:r>
            <a:r>
              <a:rPr lang="it-IT" sz="1300"/>
              <a:t> CRESS”, 10 (2009), p. 99-138.</a:t>
            </a:r>
          </a:p>
          <a:p>
            <a:pPr marL="0" indent="0">
              <a:buNone/>
            </a:pPr>
            <a:endParaRPr lang="it-IT" sz="1300"/>
          </a:p>
          <a:p>
            <a:endParaRPr lang="it-IT" sz="1300"/>
          </a:p>
          <a:p>
            <a:pPr marL="0" indent="0">
              <a:buNone/>
            </a:pPr>
            <a:endParaRPr lang="it-IT" sz="1300"/>
          </a:p>
        </p:txBody>
      </p:sp>
    </p:spTree>
    <p:extLst>
      <p:ext uri="{BB962C8B-B14F-4D97-AF65-F5344CB8AC3E}">
        <p14:creationId xmlns:p14="http://schemas.microsoft.com/office/powerpoint/2010/main" val="1788764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575222F-041D-9F26-F2D8-D9443A93EDD8}"/>
              </a:ext>
            </a:extLst>
          </p:cNvPr>
          <p:cNvSpPr>
            <a:spLocks noGrp="1"/>
          </p:cNvSpPr>
          <p:nvPr>
            <p:ph type="title"/>
          </p:nvPr>
        </p:nvSpPr>
        <p:spPr>
          <a:xfrm>
            <a:off x="838200" y="365125"/>
            <a:ext cx="10515600" cy="1325563"/>
          </a:xfrm>
        </p:spPr>
        <p:txBody>
          <a:bodyPr>
            <a:normAutofit/>
          </a:bodyPr>
          <a:lstStyle/>
          <a:p>
            <a:r>
              <a:rPr lang="it-IT" sz="5400"/>
              <a:t>Il lavoro alla frontiera</a:t>
            </a:r>
          </a:p>
        </p:txBody>
      </p:sp>
      <p:sp>
        <p:nvSpPr>
          <p:cNvPr id="2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9D78E906-CA69-D151-D1F5-AEBD462F6FBE}"/>
              </a:ext>
            </a:extLst>
          </p:cNvPr>
          <p:cNvSpPr>
            <a:spLocks noGrp="1"/>
          </p:cNvSpPr>
          <p:nvPr>
            <p:ph idx="1"/>
          </p:nvPr>
        </p:nvSpPr>
        <p:spPr>
          <a:xfrm>
            <a:off x="838200" y="1929384"/>
            <a:ext cx="10515600" cy="4251960"/>
          </a:xfrm>
        </p:spPr>
        <p:txBody>
          <a:bodyPr>
            <a:normAutofit/>
          </a:bodyPr>
          <a:lstStyle/>
          <a:p>
            <a:pPr marL="0" indent="0">
              <a:buNone/>
            </a:pPr>
            <a:endParaRPr lang="it-IT" sz="2200" dirty="0"/>
          </a:p>
          <a:p>
            <a:pPr marL="0" indent="0">
              <a:buNone/>
            </a:pPr>
            <a:endParaRPr lang="it-IT" sz="2200" dirty="0"/>
          </a:p>
          <a:p>
            <a:pPr marL="0" indent="0">
              <a:buNone/>
            </a:pPr>
            <a:r>
              <a:rPr lang="it-IT" sz="2200" dirty="0"/>
              <a:t>Allo scopo di analizzare il fenomeno, occorre anzitutto definirne i caratteri con chiarezza, rispondendo a una prima semplice domanda: cosa è il frontalierato?</a:t>
            </a:r>
          </a:p>
          <a:p>
            <a:pPr marL="0" indent="0">
              <a:buNone/>
            </a:pPr>
            <a:endParaRPr lang="it-IT" sz="2200" dirty="0"/>
          </a:p>
          <a:p>
            <a:pPr marL="0" indent="0">
              <a:buNone/>
            </a:pPr>
            <a:r>
              <a:rPr lang="it-IT" sz="2200" dirty="0"/>
              <a:t>Il frontalierato è una forma di </a:t>
            </a:r>
            <a:r>
              <a:rPr lang="it-IT" sz="2200" b="1" dirty="0"/>
              <a:t>mobilità da lavoro internazionale</a:t>
            </a:r>
            <a:r>
              <a:rPr lang="it-IT" sz="2200" dirty="0"/>
              <a:t>, che ha alcuni dei caratteri propri della migrazione, ma che non va confusa con la migrazione.</a:t>
            </a:r>
          </a:p>
          <a:p>
            <a:pPr marL="0" indent="0">
              <a:buNone/>
            </a:pPr>
            <a:endParaRPr lang="it-IT" sz="2200" dirty="0"/>
          </a:p>
        </p:txBody>
      </p:sp>
    </p:spTree>
    <p:extLst>
      <p:ext uri="{BB962C8B-B14F-4D97-AF65-F5344CB8AC3E}">
        <p14:creationId xmlns:p14="http://schemas.microsoft.com/office/powerpoint/2010/main" val="299939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9063F4-8F30-CB50-DA5A-C937D61E033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ABA12A5-99A0-C5CA-DF0F-98FE4417E4D7}"/>
              </a:ext>
            </a:extLst>
          </p:cNvPr>
          <p:cNvSpPr>
            <a:spLocks noGrp="1"/>
          </p:cNvSpPr>
          <p:nvPr>
            <p:ph type="title"/>
          </p:nvPr>
        </p:nvSpPr>
        <p:spPr>
          <a:xfrm>
            <a:off x="838200" y="365125"/>
            <a:ext cx="10515600" cy="1325563"/>
          </a:xfrm>
        </p:spPr>
        <p:txBody>
          <a:bodyPr>
            <a:normAutofit/>
          </a:bodyPr>
          <a:lstStyle/>
          <a:p>
            <a:r>
              <a:rPr lang="it-IT" sz="5400"/>
              <a:t>Il lavoro alla frontiera</a:t>
            </a:r>
          </a:p>
        </p:txBody>
      </p:sp>
      <p:sp>
        <p:nvSpPr>
          <p:cNvPr id="2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3267FD8-4B06-2060-196B-AE34AD6CF930}"/>
              </a:ext>
            </a:extLst>
          </p:cNvPr>
          <p:cNvSpPr>
            <a:spLocks noGrp="1"/>
          </p:cNvSpPr>
          <p:nvPr>
            <p:ph idx="1"/>
          </p:nvPr>
        </p:nvSpPr>
        <p:spPr>
          <a:xfrm>
            <a:off x="838200" y="1929384"/>
            <a:ext cx="10515600" cy="4251960"/>
          </a:xfrm>
        </p:spPr>
        <p:txBody>
          <a:bodyPr>
            <a:normAutofit/>
          </a:bodyPr>
          <a:lstStyle/>
          <a:p>
            <a:pPr marL="0" indent="0">
              <a:buNone/>
            </a:pPr>
            <a:r>
              <a:rPr lang="it-IT" sz="2200" dirty="0"/>
              <a:t>Ancora, è una forma di pendolarismo internazionale di breve raggio, ovvero:</a:t>
            </a:r>
          </a:p>
          <a:p>
            <a:pPr marL="0" indent="0">
              <a:buNone/>
            </a:pPr>
            <a:endParaRPr lang="it-IT" sz="2200" dirty="0"/>
          </a:p>
          <a:p>
            <a:pPr marL="0" indent="0">
              <a:buNone/>
            </a:pPr>
            <a:r>
              <a:rPr lang="it-IT" sz="2200" b="1" dirty="0"/>
              <a:t>Pendolarismo</a:t>
            </a:r>
            <a:r>
              <a:rPr lang="it-IT" sz="2200" dirty="0"/>
              <a:t>: movimento regolare, caratterizzato da andirivieni continui, nel le quale partenze e i ritorni avvengono con una periodicità riconoscibile e prevista (che </a:t>
            </a:r>
            <a:r>
              <a:rPr lang="it-IT" sz="2200" dirty="0" err="1"/>
              <a:t>puoò</a:t>
            </a:r>
            <a:r>
              <a:rPr lang="it-IT" sz="2200" dirty="0"/>
              <a:t> essere quotidiana, settimanale, mensile).</a:t>
            </a:r>
          </a:p>
          <a:p>
            <a:pPr marL="0" indent="0">
              <a:buNone/>
            </a:pPr>
            <a:endParaRPr lang="it-IT" sz="2200" dirty="0"/>
          </a:p>
          <a:p>
            <a:pPr marL="0" indent="0">
              <a:buNone/>
            </a:pPr>
            <a:r>
              <a:rPr lang="it-IT" sz="2200" dirty="0"/>
              <a:t>…</a:t>
            </a:r>
            <a:r>
              <a:rPr lang="it-IT" sz="2200" b="1" dirty="0"/>
              <a:t>internazionale</a:t>
            </a:r>
            <a:r>
              <a:rPr lang="it-IT" sz="2200" dirty="0"/>
              <a:t>: un pendolarismo che porta all’attraversamento regolarmente un confine.</a:t>
            </a:r>
          </a:p>
          <a:p>
            <a:pPr marL="0" indent="0">
              <a:buNone/>
            </a:pPr>
            <a:endParaRPr lang="it-IT" sz="2200" dirty="0"/>
          </a:p>
          <a:p>
            <a:pPr marL="0" indent="0">
              <a:buNone/>
            </a:pPr>
            <a:r>
              <a:rPr lang="it-IT" sz="2200" dirty="0"/>
              <a:t>…</a:t>
            </a:r>
            <a:r>
              <a:rPr lang="it-IT" sz="2200" b="1" dirty="0"/>
              <a:t>di breve raggio</a:t>
            </a:r>
            <a:r>
              <a:rPr lang="it-IT" sz="2200" dirty="0"/>
              <a:t>: sviluppato su </a:t>
            </a:r>
            <a:r>
              <a:rPr lang="it-IT" sz="2200" b="1" dirty="0"/>
              <a:t>brevi distanze </a:t>
            </a:r>
            <a:r>
              <a:rPr lang="it-IT" sz="2200" dirty="0"/>
              <a:t>(o su distanze sostenibili dato un certo sviluppo tecnologico e, in particolare, dei mezzi di trasporto).</a:t>
            </a:r>
          </a:p>
          <a:p>
            <a:pPr marL="0" indent="0">
              <a:buNone/>
            </a:pPr>
            <a:endParaRPr lang="it-IT" sz="2200" dirty="0"/>
          </a:p>
        </p:txBody>
      </p:sp>
    </p:spTree>
    <p:extLst>
      <p:ext uri="{BB962C8B-B14F-4D97-AF65-F5344CB8AC3E}">
        <p14:creationId xmlns:p14="http://schemas.microsoft.com/office/powerpoint/2010/main" val="4155003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C99BA9-789F-7EE2-B240-A5F15FD5ED25}"/>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15384FF-D0EE-97B7-01DC-75B6F273AFCD}"/>
              </a:ext>
            </a:extLst>
          </p:cNvPr>
          <p:cNvSpPr>
            <a:spLocks noGrp="1"/>
          </p:cNvSpPr>
          <p:nvPr>
            <p:ph type="title"/>
          </p:nvPr>
        </p:nvSpPr>
        <p:spPr>
          <a:xfrm>
            <a:off x="1171074" y="1396686"/>
            <a:ext cx="3240506" cy="4064628"/>
          </a:xfrm>
        </p:spPr>
        <p:txBody>
          <a:bodyPr>
            <a:normAutofit/>
          </a:bodyPr>
          <a:lstStyle/>
          <a:p>
            <a:r>
              <a:rPr lang="it-IT" dirty="0">
                <a:solidFill>
                  <a:srgbClr val="FFFFFF"/>
                </a:solidFill>
              </a:rPr>
              <a:t>Il lavoro alla frontiera</a:t>
            </a:r>
          </a:p>
        </p:txBody>
      </p:sp>
      <p:sp>
        <p:nvSpPr>
          <p:cNvPr id="50" name="Arc 4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2" name="Oval 5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D32421AD-1006-7588-E89C-4294DEFA167B}"/>
              </a:ext>
            </a:extLst>
          </p:cNvPr>
          <p:cNvSpPr>
            <a:spLocks noGrp="1"/>
          </p:cNvSpPr>
          <p:nvPr>
            <p:ph idx="1"/>
          </p:nvPr>
        </p:nvSpPr>
        <p:spPr>
          <a:xfrm>
            <a:off x="5370153" y="1526033"/>
            <a:ext cx="5536397" cy="3935281"/>
          </a:xfrm>
        </p:spPr>
        <p:txBody>
          <a:bodyPr>
            <a:normAutofit/>
          </a:bodyPr>
          <a:lstStyle/>
          <a:p>
            <a:pPr marL="0" indent="0">
              <a:buNone/>
            </a:pPr>
            <a:endParaRPr lang="it-IT" sz="2600" dirty="0"/>
          </a:p>
          <a:p>
            <a:pPr marL="0" indent="0" algn="just">
              <a:buNone/>
            </a:pPr>
            <a:r>
              <a:rPr lang="it-IT" sz="2600" dirty="0"/>
              <a:t>In prospettiva storica e globale, il frontalierato è un </a:t>
            </a:r>
            <a:r>
              <a:rPr lang="it-IT" sz="2600" b="1" dirty="0"/>
              <a:t>fenomeno esistito - ed esistente - ovunque ci siano frontiere</a:t>
            </a:r>
            <a:r>
              <a:rPr lang="it-IT" sz="2600" dirty="0"/>
              <a:t> che dividano </a:t>
            </a:r>
            <a:r>
              <a:rPr lang="it-IT" sz="2600" b="1" dirty="0"/>
              <a:t>regioni con un certo tasso di «osmosi»</a:t>
            </a:r>
            <a:r>
              <a:rPr lang="it-IT" sz="2600" dirty="0"/>
              <a:t> economica, sociale, culturale, politica, ovvero di circolazione di persone, prodotti, idee.</a:t>
            </a:r>
          </a:p>
          <a:p>
            <a:pPr marL="0" indent="0">
              <a:buNone/>
            </a:pPr>
            <a:endParaRPr lang="it-IT" sz="2600" dirty="0"/>
          </a:p>
        </p:txBody>
      </p:sp>
    </p:spTree>
    <p:extLst>
      <p:ext uri="{BB962C8B-B14F-4D97-AF65-F5344CB8AC3E}">
        <p14:creationId xmlns:p14="http://schemas.microsoft.com/office/powerpoint/2010/main" val="1410218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FF46FB-0B65-E333-38EE-F71CB5B2C989}"/>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9A908E1-D944-77E9-475D-9E111900A2D2}"/>
              </a:ext>
            </a:extLst>
          </p:cNvPr>
          <p:cNvSpPr>
            <a:spLocks noGrp="1"/>
          </p:cNvSpPr>
          <p:nvPr>
            <p:ph type="title"/>
          </p:nvPr>
        </p:nvSpPr>
        <p:spPr>
          <a:xfrm>
            <a:off x="1171074" y="1396686"/>
            <a:ext cx="3240506" cy="4064628"/>
          </a:xfrm>
        </p:spPr>
        <p:txBody>
          <a:bodyPr>
            <a:normAutofit/>
          </a:bodyPr>
          <a:lstStyle/>
          <a:p>
            <a:r>
              <a:rPr lang="it-IT">
                <a:solidFill>
                  <a:srgbClr val="FFFFFF"/>
                </a:solidFill>
              </a:rPr>
              <a:t>Il lavoro alla frontiera</a:t>
            </a:r>
          </a:p>
        </p:txBody>
      </p:sp>
      <p:sp>
        <p:nvSpPr>
          <p:cNvPr id="31" name="Arc 30">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8E25FFD5-4774-3FBA-430C-D9A569B06FEC}"/>
              </a:ext>
            </a:extLst>
          </p:cNvPr>
          <p:cNvSpPr>
            <a:spLocks noGrp="1"/>
          </p:cNvSpPr>
          <p:nvPr>
            <p:ph idx="1"/>
          </p:nvPr>
        </p:nvSpPr>
        <p:spPr>
          <a:xfrm>
            <a:off x="5370153" y="1526033"/>
            <a:ext cx="5536397" cy="3935281"/>
          </a:xfrm>
        </p:spPr>
        <p:txBody>
          <a:bodyPr>
            <a:normAutofit/>
          </a:bodyPr>
          <a:lstStyle/>
          <a:p>
            <a:pPr marL="0" indent="0">
              <a:buNone/>
            </a:pPr>
            <a:endParaRPr lang="it-IT" dirty="0"/>
          </a:p>
          <a:p>
            <a:pPr marL="0" indent="0" algn="just">
              <a:buNone/>
            </a:pPr>
            <a:r>
              <a:rPr lang="it-IT" dirty="0"/>
              <a:t>L’osmosi di cui si parla è certo presente lungo tutte le frontiere europee. Di conseguenza, il numero di frontalieri è analogo in prossimità di ogni frontiera europea?</a:t>
            </a:r>
          </a:p>
          <a:p>
            <a:pPr marL="0" indent="0">
              <a:buNone/>
            </a:pPr>
            <a:endParaRPr lang="it-IT" dirty="0"/>
          </a:p>
        </p:txBody>
      </p:sp>
    </p:spTree>
    <p:extLst>
      <p:ext uri="{BB962C8B-B14F-4D97-AF65-F5344CB8AC3E}">
        <p14:creationId xmlns:p14="http://schemas.microsoft.com/office/powerpoint/2010/main" val="18052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62E19F-3E31-C847-0180-B28A39250A93}"/>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C496401-94AF-7A0B-F0DC-14FC241BAA45}"/>
              </a:ext>
            </a:extLst>
          </p:cNvPr>
          <p:cNvSpPr>
            <a:spLocks noGrp="1"/>
          </p:cNvSpPr>
          <p:nvPr>
            <p:ph type="title"/>
          </p:nvPr>
        </p:nvSpPr>
        <p:spPr>
          <a:xfrm>
            <a:off x="1389278" y="1233241"/>
            <a:ext cx="3240506" cy="4064628"/>
          </a:xfrm>
        </p:spPr>
        <p:txBody>
          <a:bodyPr>
            <a:normAutofit/>
          </a:bodyPr>
          <a:lstStyle/>
          <a:p>
            <a:r>
              <a:rPr lang="it-IT">
                <a:solidFill>
                  <a:srgbClr val="FFFFFF"/>
                </a:solidFill>
              </a:rPr>
              <a:t>Il lavoro alla frontiera</a:t>
            </a:r>
          </a:p>
        </p:txBody>
      </p:sp>
      <p:sp>
        <p:nvSpPr>
          <p:cNvPr id="44" name="Freeform: Shape 43">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egnaposto contenuto 2">
            <a:extLst>
              <a:ext uri="{FF2B5EF4-FFF2-40B4-BE49-F238E27FC236}">
                <a16:creationId xmlns:a16="http://schemas.microsoft.com/office/drawing/2014/main" id="{A62C9140-F755-57D2-8A7C-7C8D66571D2B}"/>
              </a:ext>
            </a:extLst>
          </p:cNvPr>
          <p:cNvSpPr>
            <a:spLocks noGrp="1"/>
          </p:cNvSpPr>
          <p:nvPr>
            <p:ph idx="1"/>
          </p:nvPr>
        </p:nvSpPr>
        <p:spPr>
          <a:xfrm>
            <a:off x="6096000" y="820880"/>
            <a:ext cx="5257799" cy="4889350"/>
          </a:xfrm>
        </p:spPr>
        <p:txBody>
          <a:bodyPr anchor="t">
            <a:normAutofit/>
          </a:bodyPr>
          <a:lstStyle/>
          <a:p>
            <a:pPr marL="0" indent="0">
              <a:buNone/>
            </a:pPr>
            <a:endParaRPr lang="it-IT" dirty="0"/>
          </a:p>
          <a:p>
            <a:pPr marL="0" indent="0">
              <a:buNone/>
            </a:pPr>
            <a:endParaRPr lang="it-IT" dirty="0"/>
          </a:p>
          <a:p>
            <a:pPr marL="0" indent="0" algn="just">
              <a:buNone/>
            </a:pPr>
            <a:r>
              <a:rPr lang="it-IT" dirty="0"/>
              <a:t>Quali sono le variabili che determinano la maggiore o minore intensità dei flussi di frontalieri attorno a una frontiera?</a:t>
            </a:r>
          </a:p>
          <a:p>
            <a:endParaRPr lang="it-IT" dirty="0"/>
          </a:p>
        </p:txBody>
      </p:sp>
      <p:sp>
        <p:nvSpPr>
          <p:cNvPr id="50" name="Freeform: Shape 49">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91843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952EA6-EA10-8B62-29A1-FDCB80672524}"/>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F73F2D6-E839-73D9-64C1-0AFA2EC203F2}"/>
              </a:ext>
            </a:extLst>
          </p:cNvPr>
          <p:cNvSpPr>
            <a:spLocks noGrp="1"/>
          </p:cNvSpPr>
          <p:nvPr>
            <p:ph type="title"/>
          </p:nvPr>
        </p:nvSpPr>
        <p:spPr>
          <a:xfrm>
            <a:off x="1389278" y="1233241"/>
            <a:ext cx="3240506" cy="4064628"/>
          </a:xfrm>
        </p:spPr>
        <p:txBody>
          <a:bodyPr>
            <a:normAutofit/>
          </a:bodyPr>
          <a:lstStyle/>
          <a:p>
            <a:r>
              <a:rPr lang="it-IT">
                <a:solidFill>
                  <a:srgbClr val="FFFFFF"/>
                </a:solidFill>
              </a:rPr>
              <a:t>Il lavoro alla frontiera</a:t>
            </a:r>
          </a:p>
        </p:txBody>
      </p:sp>
      <p:sp>
        <p:nvSpPr>
          <p:cNvPr id="31" name="Freeform: Shape 3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egnaposto contenuto 2">
            <a:extLst>
              <a:ext uri="{FF2B5EF4-FFF2-40B4-BE49-F238E27FC236}">
                <a16:creationId xmlns:a16="http://schemas.microsoft.com/office/drawing/2014/main" id="{DBFD12EB-1A07-22B9-77F5-25E9CCF428D8}"/>
              </a:ext>
            </a:extLst>
          </p:cNvPr>
          <p:cNvSpPr>
            <a:spLocks noGrp="1"/>
          </p:cNvSpPr>
          <p:nvPr>
            <p:ph idx="1"/>
          </p:nvPr>
        </p:nvSpPr>
        <p:spPr>
          <a:xfrm>
            <a:off x="6096000" y="820880"/>
            <a:ext cx="5257799" cy="4889350"/>
          </a:xfrm>
        </p:spPr>
        <p:txBody>
          <a:bodyPr anchor="t">
            <a:normAutofit/>
          </a:bodyPr>
          <a:lstStyle/>
          <a:p>
            <a:pPr marL="0" indent="0" algn="just">
              <a:buNone/>
            </a:pPr>
            <a:r>
              <a:rPr lang="it-IT" sz="2200" dirty="0"/>
              <a:t>Le variabili sono numerose. Occorre tenere conto della </a:t>
            </a:r>
            <a:r>
              <a:rPr lang="it-IT" sz="2200" b="1" dirty="0"/>
              <a:t>tipologia e dei caratteri delle economie ragionali </a:t>
            </a:r>
            <a:r>
              <a:rPr lang="it-IT" sz="2200" dirty="0"/>
              <a:t>attraversate da una data frontiera, ossia:</a:t>
            </a:r>
          </a:p>
          <a:p>
            <a:pPr algn="just">
              <a:buFontTx/>
              <a:buChar char="-"/>
            </a:pPr>
            <a:r>
              <a:rPr lang="it-IT" sz="2200" dirty="0"/>
              <a:t>modi e intensità della </a:t>
            </a:r>
            <a:r>
              <a:rPr lang="it-IT" sz="2200" b="1" dirty="0"/>
              <a:t>circolazione di capitali, merci e materie prime in una regione attraversata da una frontiera</a:t>
            </a:r>
            <a:r>
              <a:rPr lang="it-IT" sz="2200" dirty="0"/>
              <a:t>;</a:t>
            </a:r>
          </a:p>
          <a:p>
            <a:pPr algn="just">
              <a:buFontTx/>
              <a:buChar char="-"/>
            </a:pPr>
            <a:r>
              <a:rPr lang="it-IT" sz="2200" b="1" dirty="0"/>
              <a:t>equilibri o squilibri demografici </a:t>
            </a:r>
            <a:r>
              <a:rPr lang="it-IT" sz="2200" dirty="0"/>
              <a:t>tra regioni confinanti; </a:t>
            </a:r>
          </a:p>
          <a:p>
            <a:pPr algn="just">
              <a:buFontTx/>
              <a:buChar char="-"/>
            </a:pPr>
            <a:r>
              <a:rPr lang="it-IT" sz="2200" dirty="0"/>
              <a:t>volumi di manodopera richiesti e </a:t>
            </a:r>
            <a:r>
              <a:rPr lang="it-IT" sz="2200" b="1" dirty="0"/>
              <a:t>livelli di occupazione/disoccupazione </a:t>
            </a:r>
            <a:r>
              <a:rPr lang="it-IT" sz="2200" dirty="0"/>
              <a:t>in regioni confinanti; </a:t>
            </a:r>
          </a:p>
          <a:p>
            <a:pPr algn="just">
              <a:buFontTx/>
              <a:buChar char="-"/>
            </a:pPr>
            <a:r>
              <a:rPr lang="it-IT" sz="2200" b="1" dirty="0"/>
              <a:t>differenze salariali </a:t>
            </a:r>
            <a:r>
              <a:rPr lang="it-IT" sz="2200" dirty="0"/>
              <a:t>tra regioni confinanti.</a:t>
            </a:r>
          </a:p>
          <a:p>
            <a:pPr marL="0" indent="0">
              <a:buNone/>
            </a:pPr>
            <a:endParaRPr lang="it-IT" sz="2200" dirty="0"/>
          </a:p>
        </p:txBody>
      </p:sp>
      <p:sp>
        <p:nvSpPr>
          <p:cNvPr id="37" name="Freeform: Shape 3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72968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742436-66CE-8AED-F3DF-23BA261F04F3}"/>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9CC6E02-0870-9EFC-ED5D-A49E4A59BFF1}"/>
              </a:ext>
            </a:extLst>
          </p:cNvPr>
          <p:cNvSpPr>
            <a:spLocks noGrp="1"/>
          </p:cNvSpPr>
          <p:nvPr>
            <p:ph type="title"/>
          </p:nvPr>
        </p:nvSpPr>
        <p:spPr>
          <a:xfrm>
            <a:off x="838200" y="365125"/>
            <a:ext cx="10515600" cy="1325563"/>
          </a:xfrm>
        </p:spPr>
        <p:txBody>
          <a:bodyPr>
            <a:normAutofit/>
          </a:bodyPr>
          <a:lstStyle/>
          <a:p>
            <a:pPr algn="ctr"/>
            <a:r>
              <a:rPr lang="it-IT" sz="5400" dirty="0"/>
              <a:t>Il lavoro alla frontiera</a:t>
            </a:r>
          </a:p>
        </p:txBody>
      </p:sp>
      <p:sp>
        <p:nvSpPr>
          <p:cNvPr id="2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B962405-E6CC-3C56-B9F6-812D31C54DDC}"/>
              </a:ext>
            </a:extLst>
          </p:cNvPr>
          <p:cNvSpPr>
            <a:spLocks noGrp="1"/>
          </p:cNvSpPr>
          <p:nvPr>
            <p:ph idx="1"/>
          </p:nvPr>
        </p:nvSpPr>
        <p:spPr>
          <a:xfrm>
            <a:off x="838200" y="1929384"/>
            <a:ext cx="10515600" cy="4251960"/>
          </a:xfrm>
        </p:spPr>
        <p:txBody>
          <a:bodyPr>
            <a:normAutofit/>
          </a:bodyPr>
          <a:lstStyle/>
          <a:p>
            <a:pPr marL="0" indent="0" algn="just">
              <a:buNone/>
            </a:pPr>
            <a:endParaRPr lang="it-IT" sz="2200" dirty="0"/>
          </a:p>
          <a:p>
            <a:pPr marL="0" indent="0" algn="just">
              <a:buNone/>
            </a:pPr>
            <a:endParaRPr lang="it-IT" sz="2200" dirty="0"/>
          </a:p>
          <a:p>
            <a:pPr marL="0" indent="0" algn="just">
              <a:buNone/>
            </a:pPr>
            <a:r>
              <a:rPr lang="it-IT" sz="2200" dirty="0"/>
              <a:t>Se ci atteniamo </a:t>
            </a:r>
            <a:r>
              <a:rPr lang="it-IT" sz="2200" b="1" dirty="0"/>
              <a:t>alla definizione che vi ho fornito </a:t>
            </a:r>
            <a:r>
              <a:rPr lang="it-IT" sz="2200" dirty="0"/>
              <a:t>(cioè «pendolarismo internazionale di breve raggio»), </a:t>
            </a:r>
            <a:r>
              <a:rPr lang="it-IT" sz="2200" b="1" dirty="0"/>
              <a:t>il frontalierato non è un prodotto </a:t>
            </a:r>
            <a:r>
              <a:rPr lang="it-IT" sz="2200" dirty="0"/>
              <a:t>dell’età contemporanea. </a:t>
            </a:r>
          </a:p>
          <a:p>
            <a:pPr marL="0" indent="0" algn="just">
              <a:buNone/>
            </a:pPr>
            <a:endParaRPr lang="it-IT" sz="2200" dirty="0"/>
          </a:p>
          <a:p>
            <a:pPr marL="0" indent="0" algn="just">
              <a:buNone/>
            </a:pPr>
            <a:r>
              <a:rPr lang="it-IT" sz="2200" b="1" dirty="0"/>
              <a:t>Invece è un fenomeno della contemporaneità, se lo intendiamo nei termini a cui la parola rimanda nel dibattito politico odierno</a:t>
            </a:r>
            <a:r>
              <a:rPr lang="it-IT" sz="2200" dirty="0"/>
              <a:t>, nel quale appaiono questioni come quelle relativa ai </a:t>
            </a:r>
            <a:r>
              <a:rPr lang="it-IT" sz="2200" b="1" dirty="0"/>
              <a:t>limiti di residenza </a:t>
            </a:r>
            <a:r>
              <a:rPr lang="it-IT" sz="2200" dirty="0"/>
              <a:t>entro una certa </a:t>
            </a:r>
            <a:r>
              <a:rPr lang="it-IT" sz="2200" b="1" dirty="0"/>
              <a:t>distanza dalla frontiera </a:t>
            </a:r>
            <a:r>
              <a:rPr lang="it-IT" sz="2200" dirty="0"/>
              <a:t>del paese di impiego, oppure alla </a:t>
            </a:r>
            <a:r>
              <a:rPr lang="it-IT" sz="2200" b="1" dirty="0"/>
              <a:t>periodicità prevista dei rientri</a:t>
            </a:r>
            <a:r>
              <a:rPr lang="it-IT" sz="2200" dirty="0"/>
              <a:t>, o a determinati </a:t>
            </a:r>
            <a:r>
              <a:rPr lang="it-IT" sz="2200" b="1" dirty="0"/>
              <a:t>trattamenti fiscali</a:t>
            </a:r>
            <a:r>
              <a:rPr lang="it-IT" sz="2200" dirty="0"/>
              <a:t>.</a:t>
            </a:r>
          </a:p>
          <a:p>
            <a:pPr marL="0" indent="0" algn="just">
              <a:buNone/>
            </a:pPr>
            <a:endParaRPr lang="it-IT" sz="2200" dirty="0"/>
          </a:p>
          <a:p>
            <a:pPr marL="0" indent="0">
              <a:buNone/>
            </a:pPr>
            <a:endParaRPr lang="it-IT" sz="2200" dirty="0"/>
          </a:p>
        </p:txBody>
      </p:sp>
    </p:spTree>
    <p:extLst>
      <p:ext uri="{BB962C8B-B14F-4D97-AF65-F5344CB8AC3E}">
        <p14:creationId xmlns:p14="http://schemas.microsoft.com/office/powerpoint/2010/main" val="4040841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BA97369-C30E-9C5F-8336-71BB1A7A5D10}"/>
              </a:ext>
            </a:extLst>
          </p:cNvPr>
          <p:cNvSpPr>
            <a:spLocks noGrp="1"/>
          </p:cNvSpPr>
          <p:nvPr>
            <p:ph type="title"/>
          </p:nvPr>
        </p:nvSpPr>
        <p:spPr>
          <a:xfrm>
            <a:off x="635000" y="640823"/>
            <a:ext cx="3418659" cy="5583148"/>
          </a:xfrm>
        </p:spPr>
        <p:txBody>
          <a:bodyPr anchor="ctr">
            <a:normAutofit/>
          </a:bodyPr>
          <a:lstStyle/>
          <a:p>
            <a:r>
              <a:rPr lang="it-IT" sz="5400"/>
              <a:t>Il lavoro alla frontiera</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Segnaposto contenuto 2">
            <a:extLst>
              <a:ext uri="{FF2B5EF4-FFF2-40B4-BE49-F238E27FC236}">
                <a16:creationId xmlns:a16="http://schemas.microsoft.com/office/drawing/2014/main" id="{4D47807F-E735-9BD2-08B5-A754CB2842A4}"/>
              </a:ext>
            </a:extLst>
          </p:cNvPr>
          <p:cNvGraphicFramePr>
            <a:graphicFrameLocks noGrp="1"/>
          </p:cNvGraphicFramePr>
          <p:nvPr>
            <p:ph idx="1"/>
            <p:extLst>
              <p:ext uri="{D42A27DB-BD31-4B8C-83A1-F6EECF244321}">
                <p14:modId xmlns:p14="http://schemas.microsoft.com/office/powerpoint/2010/main" val="270716572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5349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EBDA7A-9295-8079-A7AC-56655A7757C4}"/>
            </a:ext>
          </a:extLst>
        </p:cNvPr>
        <p:cNvGrpSpPr/>
        <p:nvPr/>
      </p:nvGrpSpPr>
      <p:grpSpPr>
        <a:xfrm>
          <a:off x="0" y="0"/>
          <a:ext cx="0" cy="0"/>
          <a:chOff x="0" y="0"/>
          <a:chExt cx="0" cy="0"/>
        </a:xfrm>
      </p:grpSpPr>
      <p:sp useBgFill="1">
        <p:nvSpPr>
          <p:cNvPr id="35"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0C16A60-9558-899E-F511-93E2BC8DF713}"/>
              </a:ext>
            </a:extLst>
          </p:cNvPr>
          <p:cNvSpPr>
            <a:spLocks noGrp="1"/>
          </p:cNvSpPr>
          <p:nvPr>
            <p:ph type="title"/>
          </p:nvPr>
        </p:nvSpPr>
        <p:spPr>
          <a:xfrm>
            <a:off x="686834" y="1153572"/>
            <a:ext cx="3200400" cy="4461163"/>
          </a:xfrm>
        </p:spPr>
        <p:txBody>
          <a:bodyPr>
            <a:normAutofit/>
          </a:bodyPr>
          <a:lstStyle/>
          <a:p>
            <a:r>
              <a:rPr lang="it-IT">
                <a:solidFill>
                  <a:srgbClr val="FFFFFF"/>
                </a:solidFill>
              </a:rPr>
              <a:t>Il lavoro alla frontiera</a:t>
            </a:r>
          </a:p>
        </p:txBody>
      </p:sp>
      <p:sp>
        <p:nvSpPr>
          <p:cNvPr id="37"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06CEDE9B-C598-809D-382B-20780E4094F5}"/>
              </a:ext>
            </a:extLst>
          </p:cNvPr>
          <p:cNvSpPr>
            <a:spLocks noGrp="1"/>
          </p:cNvSpPr>
          <p:nvPr>
            <p:ph idx="1"/>
          </p:nvPr>
        </p:nvSpPr>
        <p:spPr>
          <a:xfrm>
            <a:off x="4447308" y="591344"/>
            <a:ext cx="6906491" cy="5585619"/>
          </a:xfrm>
        </p:spPr>
        <p:txBody>
          <a:bodyPr anchor="ctr">
            <a:normAutofit/>
          </a:bodyPr>
          <a:lstStyle/>
          <a:p>
            <a:pPr marL="0" indent="0">
              <a:buNone/>
            </a:pPr>
            <a:r>
              <a:rPr lang="it-IT" sz="2400" dirty="0"/>
              <a:t>Tra Ottocento e Novecento, in particolare, la Svizzera conobbe uno </a:t>
            </a:r>
            <a:r>
              <a:rPr lang="it-IT" sz="2400" b="1" dirty="0"/>
              <a:t>sviluppo</a:t>
            </a:r>
            <a:r>
              <a:rPr lang="it-IT" sz="2400" dirty="0"/>
              <a:t> importante </a:t>
            </a:r>
            <a:r>
              <a:rPr lang="it-IT" sz="2400" b="1" dirty="0"/>
              <a:t>dell’industria e del trasporto su rotaia</a:t>
            </a:r>
            <a:r>
              <a:rPr lang="it-IT" sz="2400" dirty="0"/>
              <a:t>, insieme a uno sviluppo del </a:t>
            </a:r>
            <a:r>
              <a:rPr lang="it-IT" sz="2400" b="1" dirty="0"/>
              <a:t>turismo</a:t>
            </a:r>
            <a:r>
              <a:rPr lang="it-IT" sz="2400" dirty="0"/>
              <a:t> di montagna.</a:t>
            </a:r>
          </a:p>
          <a:p>
            <a:pPr marL="0" indent="0">
              <a:buNone/>
            </a:pPr>
            <a:endParaRPr lang="it-IT" sz="2400" dirty="0"/>
          </a:p>
          <a:p>
            <a:pPr marL="0" indent="0">
              <a:buNone/>
            </a:pPr>
            <a:r>
              <a:rPr lang="it-IT" sz="2400" dirty="0"/>
              <a:t>Quindi si creano le condizioni per una domanda di lavoro crescente tanto nelle fabbriche, quanto nei cantieri, quanto nelle località turistiche. A cui si aggiunge la presenza di più efficaci mezzi di trasporto per spostare i lavoratori…</a:t>
            </a:r>
          </a:p>
          <a:p>
            <a:pPr marL="0" indent="0">
              <a:buNone/>
            </a:pPr>
            <a:endParaRPr lang="it-IT" sz="2400" dirty="0"/>
          </a:p>
        </p:txBody>
      </p:sp>
    </p:spTree>
    <p:extLst>
      <p:ext uri="{BB962C8B-B14F-4D97-AF65-F5344CB8AC3E}">
        <p14:creationId xmlns:p14="http://schemas.microsoft.com/office/powerpoint/2010/main" val="3670478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A039271-6543-0BA4-EB09-FD2BBC2CD8EC}"/>
              </a:ext>
            </a:extLst>
          </p:cNvPr>
          <p:cNvSpPr>
            <a:spLocks noGrp="1"/>
          </p:cNvSpPr>
          <p:nvPr>
            <p:ph type="title"/>
          </p:nvPr>
        </p:nvSpPr>
        <p:spPr>
          <a:xfrm>
            <a:off x="686834" y="1153572"/>
            <a:ext cx="3200400" cy="4461163"/>
          </a:xfrm>
        </p:spPr>
        <p:txBody>
          <a:bodyPr>
            <a:normAutofit/>
          </a:bodyPr>
          <a:lstStyle/>
          <a:p>
            <a:r>
              <a:rPr lang="it-IT">
                <a:solidFill>
                  <a:srgbClr val="FFFFFF"/>
                </a:solidFill>
              </a:rPr>
              <a:t>Il lavoro alla frontiera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C6D7239A-9C43-D7E7-8250-295B7E5419DA}"/>
              </a:ext>
            </a:extLst>
          </p:cNvPr>
          <p:cNvSpPr>
            <a:spLocks noGrp="1"/>
          </p:cNvSpPr>
          <p:nvPr>
            <p:ph idx="1"/>
          </p:nvPr>
        </p:nvSpPr>
        <p:spPr>
          <a:xfrm>
            <a:off x="4447308" y="591344"/>
            <a:ext cx="6906491" cy="5585619"/>
          </a:xfrm>
        </p:spPr>
        <p:txBody>
          <a:bodyPr anchor="ctr">
            <a:normAutofit/>
          </a:bodyPr>
          <a:lstStyle/>
          <a:p>
            <a:pPr marL="0" indent="0">
              <a:buNone/>
            </a:pPr>
            <a:r>
              <a:rPr lang="it-IT" dirty="0"/>
              <a:t>Si conobbe anche una conseguente intensificazione della </a:t>
            </a:r>
            <a:r>
              <a:rPr lang="it-IT" b="1" dirty="0"/>
              <a:t>concorrenza aziendale </a:t>
            </a:r>
            <a:r>
              <a:rPr lang="it-IT" dirty="0"/>
              <a:t>interna al paese. </a:t>
            </a:r>
          </a:p>
          <a:p>
            <a:pPr marL="0" indent="0">
              <a:buNone/>
            </a:pPr>
            <a:endParaRPr lang="it-IT" dirty="0"/>
          </a:p>
          <a:p>
            <a:pPr marL="0" indent="0">
              <a:buNone/>
            </a:pPr>
            <a:r>
              <a:rPr lang="it-IT" dirty="0"/>
              <a:t>La concorrenza imponeva alle imprese che andavano in sofferenza di trovare canali per </a:t>
            </a:r>
            <a:r>
              <a:rPr lang="it-IT" b="1" dirty="0"/>
              <a:t>aumentare i profitti, eventualmente tagliando sui costi</a:t>
            </a:r>
            <a:r>
              <a:rPr lang="it-IT" dirty="0"/>
              <a:t>.</a:t>
            </a:r>
          </a:p>
          <a:p>
            <a:pPr marL="0" indent="0">
              <a:buNone/>
            </a:pPr>
            <a:endParaRPr lang="it-IT" dirty="0"/>
          </a:p>
        </p:txBody>
      </p:sp>
    </p:spTree>
    <p:extLst>
      <p:ext uri="{BB962C8B-B14F-4D97-AF65-F5344CB8AC3E}">
        <p14:creationId xmlns:p14="http://schemas.microsoft.com/office/powerpoint/2010/main" val="764515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C2C50D2-EE20-F271-9BFA-A4DAB18F7A9C}"/>
              </a:ext>
            </a:extLst>
          </p:cNvPr>
          <p:cNvSpPr>
            <a:spLocks noGrp="1"/>
          </p:cNvSpPr>
          <p:nvPr>
            <p:ph type="title"/>
          </p:nvPr>
        </p:nvSpPr>
        <p:spPr>
          <a:xfrm>
            <a:off x="686834" y="1153572"/>
            <a:ext cx="3200400" cy="4461163"/>
          </a:xfrm>
        </p:spPr>
        <p:txBody>
          <a:bodyPr>
            <a:normAutofit/>
          </a:bodyPr>
          <a:lstStyle/>
          <a:p>
            <a:r>
              <a:rPr lang="it-IT" dirty="0">
                <a:solidFill>
                  <a:srgbClr val="FFFFFF"/>
                </a:solidFill>
              </a:rPr>
              <a:t>Il lavoro alla frontiera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B7426C7D-7FA3-ED28-764B-77ADA030BBEB}"/>
              </a:ext>
            </a:extLst>
          </p:cNvPr>
          <p:cNvSpPr>
            <a:spLocks noGrp="1"/>
          </p:cNvSpPr>
          <p:nvPr>
            <p:ph idx="1"/>
          </p:nvPr>
        </p:nvSpPr>
        <p:spPr>
          <a:xfrm>
            <a:off x="4447308" y="591344"/>
            <a:ext cx="6906491" cy="5585619"/>
          </a:xfrm>
        </p:spPr>
        <p:txBody>
          <a:bodyPr anchor="ctr">
            <a:normAutofit/>
          </a:bodyPr>
          <a:lstStyle/>
          <a:p>
            <a:pPr marL="0" indent="0">
              <a:buNone/>
            </a:pPr>
            <a:r>
              <a:rPr lang="it-IT" dirty="0"/>
              <a:t>Infine, si conobbe uno </a:t>
            </a:r>
            <a:r>
              <a:rPr lang="it-IT" b="1" dirty="0"/>
              <a:t>sviluppo del diritto del lavoro e della prima normativa federale che regolava il lavoro di fabbrica </a:t>
            </a:r>
            <a:r>
              <a:rPr lang="it-IT" dirty="0"/>
              <a:t>(1864 San Gallo, 1877 a livello federale).</a:t>
            </a:r>
          </a:p>
          <a:p>
            <a:endParaRPr lang="it-IT" dirty="0"/>
          </a:p>
        </p:txBody>
      </p:sp>
    </p:spTree>
    <p:extLst>
      <p:ext uri="{BB962C8B-B14F-4D97-AF65-F5344CB8AC3E}">
        <p14:creationId xmlns:p14="http://schemas.microsoft.com/office/powerpoint/2010/main" val="2168791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C68568-76C4-D845-B6B3-98A3A6147123}"/>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911831A-950E-3FB5-37B5-7795826C3FBD}"/>
              </a:ext>
            </a:extLst>
          </p:cNvPr>
          <p:cNvSpPr>
            <a:spLocks noGrp="1"/>
          </p:cNvSpPr>
          <p:nvPr>
            <p:ph type="title"/>
          </p:nvPr>
        </p:nvSpPr>
        <p:spPr>
          <a:xfrm>
            <a:off x="1171074" y="1396686"/>
            <a:ext cx="3240506" cy="4064628"/>
          </a:xfrm>
        </p:spPr>
        <p:txBody>
          <a:bodyPr>
            <a:normAutofit/>
          </a:bodyPr>
          <a:lstStyle/>
          <a:p>
            <a:r>
              <a:rPr lang="it-IT">
                <a:solidFill>
                  <a:srgbClr val="FFFFFF"/>
                </a:solidFill>
              </a:rPr>
              <a:t>Il lavoro alla frontiera</a:t>
            </a:r>
          </a:p>
        </p:txBody>
      </p:sp>
      <p:sp>
        <p:nvSpPr>
          <p:cNvPr id="31" name="Arc 30">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840F259A-B773-CFB1-D4BB-436060AD4926}"/>
              </a:ext>
            </a:extLst>
          </p:cNvPr>
          <p:cNvSpPr>
            <a:spLocks noGrp="1"/>
          </p:cNvSpPr>
          <p:nvPr>
            <p:ph idx="1"/>
          </p:nvPr>
        </p:nvSpPr>
        <p:spPr>
          <a:xfrm>
            <a:off x="5370153" y="1526033"/>
            <a:ext cx="5536397" cy="3935281"/>
          </a:xfrm>
        </p:spPr>
        <p:txBody>
          <a:bodyPr>
            <a:normAutofit/>
          </a:bodyPr>
          <a:lstStyle/>
          <a:p>
            <a:endParaRPr lang="it-IT"/>
          </a:p>
          <a:p>
            <a:pPr marL="0" indent="0">
              <a:buNone/>
            </a:pPr>
            <a:endParaRPr lang="it-IT"/>
          </a:p>
          <a:p>
            <a:pPr marL="0" indent="0">
              <a:buNone/>
            </a:pPr>
            <a:r>
              <a:rPr lang="it-IT"/>
              <a:t>La storia ticinese è da questo punto di vista particolarmente interessante…</a:t>
            </a:r>
          </a:p>
        </p:txBody>
      </p:sp>
    </p:spTree>
    <p:extLst>
      <p:ext uri="{BB962C8B-B14F-4D97-AF65-F5344CB8AC3E}">
        <p14:creationId xmlns:p14="http://schemas.microsoft.com/office/powerpoint/2010/main" val="1560385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0BBC8D-AA2C-5702-CCCC-A425570A87B9}"/>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A15ED78-2FE4-3ED2-D854-54E31557565C}"/>
              </a:ext>
            </a:extLst>
          </p:cNvPr>
          <p:cNvSpPr>
            <a:spLocks noGrp="1"/>
          </p:cNvSpPr>
          <p:nvPr>
            <p:ph type="title"/>
          </p:nvPr>
        </p:nvSpPr>
        <p:spPr>
          <a:xfrm>
            <a:off x="1389278" y="1233241"/>
            <a:ext cx="3240506" cy="4064628"/>
          </a:xfrm>
        </p:spPr>
        <p:txBody>
          <a:bodyPr>
            <a:normAutofit/>
          </a:bodyPr>
          <a:lstStyle/>
          <a:p>
            <a:r>
              <a:rPr lang="it-IT">
                <a:solidFill>
                  <a:srgbClr val="FFFFFF"/>
                </a:solidFill>
              </a:rPr>
              <a:t>Il lavoro alla frontiera</a:t>
            </a:r>
          </a:p>
        </p:txBody>
      </p:sp>
      <p:sp>
        <p:nvSpPr>
          <p:cNvPr id="31" name="Freeform: Shape 3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egnaposto contenuto 2">
            <a:extLst>
              <a:ext uri="{FF2B5EF4-FFF2-40B4-BE49-F238E27FC236}">
                <a16:creationId xmlns:a16="http://schemas.microsoft.com/office/drawing/2014/main" id="{8C9B9578-32AC-0A72-AA65-1683E2D4C254}"/>
              </a:ext>
            </a:extLst>
          </p:cNvPr>
          <p:cNvSpPr>
            <a:spLocks noGrp="1"/>
          </p:cNvSpPr>
          <p:nvPr>
            <p:ph idx="1"/>
          </p:nvPr>
        </p:nvSpPr>
        <p:spPr>
          <a:xfrm>
            <a:off x="6096000" y="820880"/>
            <a:ext cx="5257799" cy="4889350"/>
          </a:xfrm>
        </p:spPr>
        <p:txBody>
          <a:bodyPr anchor="t">
            <a:normAutofit/>
          </a:bodyPr>
          <a:lstStyle/>
          <a:p>
            <a:pPr marL="0" indent="0">
              <a:buNone/>
            </a:pPr>
            <a:r>
              <a:rPr lang="it-IT" sz="2400" dirty="0"/>
              <a:t>Il Cantone Ticino era nella prima metà del Novecento </a:t>
            </a:r>
            <a:r>
              <a:rPr lang="it-IT" sz="2400" b="1" dirty="0"/>
              <a:t>regione largamente rurale</a:t>
            </a:r>
            <a:r>
              <a:rPr lang="it-IT" sz="2400" dirty="0"/>
              <a:t>. </a:t>
            </a:r>
            <a:endParaRPr lang="it-IT" sz="2400"/>
          </a:p>
          <a:p>
            <a:pPr marL="0" indent="0">
              <a:buNone/>
            </a:pPr>
            <a:endParaRPr lang="it-IT" sz="2400"/>
          </a:p>
          <a:p>
            <a:pPr marL="0" indent="0">
              <a:buNone/>
            </a:pPr>
            <a:r>
              <a:rPr lang="it-IT" sz="2400" dirty="0"/>
              <a:t>Per reggere la </a:t>
            </a:r>
            <a:r>
              <a:rPr lang="it-IT" sz="2400" b="1" dirty="0"/>
              <a:t>concorrenza interna</a:t>
            </a:r>
            <a:r>
              <a:rPr lang="it-IT" sz="2400" dirty="0"/>
              <a:t>, molte imprese – a partire dal comparto tessile – della Svizzera interna presero a trasferire </a:t>
            </a:r>
            <a:r>
              <a:rPr lang="it-IT" sz="2400" b="1" dirty="0"/>
              <a:t>unità produttive lungo i confini ticinesi</a:t>
            </a:r>
            <a:r>
              <a:rPr lang="it-IT" sz="2400" dirty="0"/>
              <a:t>, dove impiegavano percentuali minoritarie di ticinesi nelle mansioni di livello medio alto e frontalieri italiani come manovalanza.</a:t>
            </a:r>
            <a:endParaRPr lang="it-IT" sz="2400"/>
          </a:p>
        </p:txBody>
      </p:sp>
      <p:sp>
        <p:nvSpPr>
          <p:cNvPr id="37" name="Freeform: Shape 3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595964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8D4452-C9C6-CB21-CBB7-D299CC7489C2}"/>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1BF2E24-AFC9-2216-03BE-7B8CA9EE78FD}"/>
              </a:ext>
            </a:extLst>
          </p:cNvPr>
          <p:cNvSpPr>
            <a:spLocks noGrp="1"/>
          </p:cNvSpPr>
          <p:nvPr>
            <p:ph type="title"/>
          </p:nvPr>
        </p:nvSpPr>
        <p:spPr>
          <a:xfrm>
            <a:off x="956826" y="1112969"/>
            <a:ext cx="3937298" cy="4166010"/>
          </a:xfrm>
        </p:spPr>
        <p:txBody>
          <a:bodyPr>
            <a:normAutofit/>
          </a:bodyPr>
          <a:lstStyle/>
          <a:p>
            <a:r>
              <a:rPr lang="it-IT">
                <a:solidFill>
                  <a:srgbClr val="FFFFFF"/>
                </a:solidFill>
              </a:rPr>
              <a:t>Il lavoro alla frontiera</a:t>
            </a:r>
          </a:p>
        </p:txBody>
      </p:sp>
      <p:sp>
        <p:nvSpPr>
          <p:cNvPr id="31" name="Freeform: Shape 3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egnaposto contenuto 2">
            <a:extLst>
              <a:ext uri="{FF2B5EF4-FFF2-40B4-BE49-F238E27FC236}">
                <a16:creationId xmlns:a16="http://schemas.microsoft.com/office/drawing/2014/main" id="{B8F910B0-5130-4B46-CB17-1138DB7DC0EB}"/>
              </a:ext>
            </a:extLst>
          </p:cNvPr>
          <p:cNvSpPr>
            <a:spLocks noGrp="1"/>
          </p:cNvSpPr>
          <p:nvPr>
            <p:ph idx="1"/>
          </p:nvPr>
        </p:nvSpPr>
        <p:spPr>
          <a:xfrm>
            <a:off x="6096000" y="820880"/>
            <a:ext cx="5257799" cy="4889350"/>
          </a:xfrm>
        </p:spPr>
        <p:txBody>
          <a:bodyPr anchor="t">
            <a:normAutofit/>
          </a:bodyPr>
          <a:lstStyle/>
          <a:p>
            <a:pPr marL="0" indent="0">
              <a:buNone/>
            </a:pPr>
            <a:endParaRPr lang="it-IT" sz="2600"/>
          </a:p>
          <a:p>
            <a:pPr marL="0" indent="0">
              <a:buNone/>
            </a:pPr>
            <a:endParaRPr lang="it-IT" sz="2600"/>
          </a:p>
          <a:p>
            <a:pPr marL="0" indent="0">
              <a:buNone/>
            </a:pPr>
            <a:r>
              <a:rPr lang="it-IT" sz="2600" b="1"/>
              <a:t>Fino alla metà degli anni Settanta </a:t>
            </a:r>
            <a:r>
              <a:rPr lang="it-IT" sz="2600"/>
              <a:t>del Novecento la classe dirigente elvetica, il mondo imprenditoriale, larga parte della popolazione </a:t>
            </a:r>
            <a:r>
              <a:rPr lang="it-IT" sz="2600" b="1"/>
              <a:t>preferiva l’impiego di manodopera frontaliera</a:t>
            </a:r>
            <a:r>
              <a:rPr lang="it-IT" sz="2600"/>
              <a:t> </a:t>
            </a:r>
            <a:r>
              <a:rPr lang="it-IT" sz="2600" b="1"/>
              <a:t>rispetto</a:t>
            </a:r>
            <a:r>
              <a:rPr lang="it-IT" sz="2600"/>
              <a:t> all’utilizzo di </a:t>
            </a:r>
            <a:r>
              <a:rPr lang="it-IT" sz="2600" b="1"/>
              <a:t>manodopera</a:t>
            </a:r>
            <a:r>
              <a:rPr lang="it-IT" sz="2600"/>
              <a:t> straniera </a:t>
            </a:r>
            <a:r>
              <a:rPr lang="it-IT" sz="2600" b="1"/>
              <a:t>migrante</a:t>
            </a:r>
            <a:r>
              <a:rPr lang="it-IT" sz="2600"/>
              <a:t>. Perché? </a:t>
            </a:r>
          </a:p>
        </p:txBody>
      </p:sp>
      <p:sp>
        <p:nvSpPr>
          <p:cNvPr id="37" name="Freeform: Shape 3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41112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2F005-0789-0772-2F13-B9915ACEA0EF}"/>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E239189-CC4E-4418-B16C-B5F8DAA9A169}"/>
              </a:ext>
            </a:extLst>
          </p:cNvPr>
          <p:cNvSpPr>
            <a:spLocks noGrp="1"/>
          </p:cNvSpPr>
          <p:nvPr>
            <p:ph type="title"/>
          </p:nvPr>
        </p:nvSpPr>
        <p:spPr>
          <a:xfrm>
            <a:off x="1171074" y="1396686"/>
            <a:ext cx="3240506" cy="4064628"/>
          </a:xfrm>
        </p:spPr>
        <p:txBody>
          <a:bodyPr>
            <a:normAutofit/>
          </a:bodyPr>
          <a:lstStyle/>
          <a:p>
            <a:r>
              <a:rPr lang="it-IT">
                <a:solidFill>
                  <a:srgbClr val="FFFFFF"/>
                </a:solidFill>
              </a:rPr>
              <a:t>Il lavoro alla frontiera</a:t>
            </a:r>
          </a:p>
        </p:txBody>
      </p:sp>
      <p:sp>
        <p:nvSpPr>
          <p:cNvPr id="31" name="Arc 30">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7BFB33DC-F8B1-6EE7-4032-720A6E6DB629}"/>
              </a:ext>
            </a:extLst>
          </p:cNvPr>
          <p:cNvSpPr>
            <a:spLocks noGrp="1"/>
          </p:cNvSpPr>
          <p:nvPr>
            <p:ph idx="1"/>
          </p:nvPr>
        </p:nvSpPr>
        <p:spPr>
          <a:xfrm>
            <a:off x="5370153" y="1526033"/>
            <a:ext cx="5536397" cy="3935281"/>
          </a:xfrm>
        </p:spPr>
        <p:txBody>
          <a:bodyPr>
            <a:normAutofit fontScale="92500" lnSpcReduction="10000"/>
          </a:bodyPr>
          <a:lstStyle/>
          <a:p>
            <a:pPr marL="0" indent="0">
              <a:buNone/>
            </a:pPr>
            <a:endParaRPr lang="it-IT" dirty="0"/>
          </a:p>
          <a:p>
            <a:pPr marL="0" indent="0">
              <a:buNone/>
            </a:pPr>
            <a:r>
              <a:rPr lang="it-IT" dirty="0"/>
              <a:t>Tutto questo si inseriva nel </a:t>
            </a:r>
            <a:r>
              <a:rPr lang="it-IT" b="1" dirty="0"/>
              <a:t>quadro di una politica migratoria svizzera</a:t>
            </a:r>
            <a:r>
              <a:rPr lang="it-IT" dirty="0"/>
              <a:t>, definita dalla Legge federale del 1931, che concepiva i </a:t>
            </a:r>
            <a:r>
              <a:rPr lang="it-IT" b="1" dirty="0"/>
              <a:t>migranti come </a:t>
            </a:r>
            <a:r>
              <a:rPr lang="it-IT" b="1" dirty="0" err="1"/>
              <a:t>Gastarbeiter</a:t>
            </a:r>
            <a:r>
              <a:rPr lang="it-IT" b="1" dirty="0"/>
              <a:t>, lavoratori ospiti</a:t>
            </a:r>
            <a:r>
              <a:rPr lang="it-IT" dirty="0"/>
              <a:t>. </a:t>
            </a:r>
          </a:p>
          <a:p>
            <a:pPr marL="0" indent="0">
              <a:buNone/>
            </a:pPr>
            <a:endParaRPr lang="it-IT" dirty="0"/>
          </a:p>
          <a:p>
            <a:pPr marL="0" indent="0">
              <a:buNone/>
            </a:pPr>
            <a:r>
              <a:rPr lang="it-IT" dirty="0"/>
              <a:t>I </a:t>
            </a:r>
            <a:r>
              <a:rPr lang="it-IT" b="1" dirty="0"/>
              <a:t>frontalieri</a:t>
            </a:r>
            <a:r>
              <a:rPr lang="it-IT" dirty="0"/>
              <a:t> erano una sorta di </a:t>
            </a:r>
            <a:r>
              <a:rPr lang="it-IT" b="1" dirty="0"/>
              <a:t>radicalizzazione di questa condizione </a:t>
            </a:r>
            <a:r>
              <a:rPr lang="it-IT" dirty="0"/>
              <a:t>di lavoratore ospite.</a:t>
            </a:r>
          </a:p>
          <a:p>
            <a:pPr marL="0" indent="0">
              <a:buNone/>
            </a:pPr>
            <a:endParaRPr lang="it-IT" dirty="0"/>
          </a:p>
          <a:p>
            <a:pPr marL="0" indent="0">
              <a:buNone/>
            </a:pPr>
            <a:endParaRPr lang="it-IT" dirty="0"/>
          </a:p>
        </p:txBody>
      </p:sp>
    </p:spTree>
    <p:extLst>
      <p:ext uri="{BB962C8B-B14F-4D97-AF65-F5344CB8AC3E}">
        <p14:creationId xmlns:p14="http://schemas.microsoft.com/office/powerpoint/2010/main" val="229140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4063B6-74B1-001A-CEB4-5813FB2C0C65}"/>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CD7E695-18B8-876B-D1ED-048446BA551C}"/>
              </a:ext>
            </a:extLst>
          </p:cNvPr>
          <p:cNvSpPr>
            <a:spLocks noGrp="1"/>
          </p:cNvSpPr>
          <p:nvPr>
            <p:ph type="title"/>
          </p:nvPr>
        </p:nvSpPr>
        <p:spPr>
          <a:xfrm>
            <a:off x="686834" y="1153572"/>
            <a:ext cx="3200400" cy="4461163"/>
          </a:xfrm>
        </p:spPr>
        <p:txBody>
          <a:bodyPr>
            <a:normAutofit/>
          </a:bodyPr>
          <a:lstStyle/>
          <a:p>
            <a:r>
              <a:rPr lang="it-IT">
                <a:solidFill>
                  <a:srgbClr val="FFFFFF"/>
                </a:solidFill>
              </a:rPr>
              <a:t>Il lavoro alla frontiera</a:t>
            </a:r>
          </a:p>
        </p:txBody>
      </p:sp>
      <p:sp>
        <p:nvSpPr>
          <p:cNvPr id="50" name="Arc 4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35462AB2-2E8A-BB28-D34C-568F3C557E19}"/>
              </a:ext>
            </a:extLst>
          </p:cNvPr>
          <p:cNvSpPr>
            <a:spLocks noGrp="1"/>
          </p:cNvSpPr>
          <p:nvPr>
            <p:ph idx="1"/>
          </p:nvPr>
        </p:nvSpPr>
        <p:spPr>
          <a:xfrm>
            <a:off x="4447308" y="591344"/>
            <a:ext cx="6906491" cy="5585619"/>
          </a:xfrm>
        </p:spPr>
        <p:txBody>
          <a:bodyPr anchor="ctr">
            <a:normAutofit/>
          </a:bodyPr>
          <a:lstStyle/>
          <a:p>
            <a:pPr marL="0" indent="0">
              <a:buNone/>
            </a:pPr>
            <a:endParaRPr lang="it-IT" sz="2000" dirty="0"/>
          </a:p>
          <a:p>
            <a:pPr marL="0" indent="0">
              <a:buNone/>
            </a:pPr>
            <a:r>
              <a:rPr lang="it-IT" sz="2000" dirty="0"/>
              <a:t>La Legge federale del 1931 definì infatti i frontalieri insieme alle altre tipologie di permessi per immigrati. Per farlo, dovette introdurre gli elementi necessari alla loro identificazione e regolazione e diventò in tal senso un modello di riferimento per l’Europa. Cosa occorreva definire?</a:t>
            </a:r>
          </a:p>
          <a:p>
            <a:pPr marL="0" indent="0">
              <a:buNone/>
            </a:pPr>
            <a:endParaRPr lang="it-IT" sz="2000" dirty="0"/>
          </a:p>
          <a:p>
            <a:pPr>
              <a:buFontTx/>
              <a:buChar char="-"/>
            </a:pPr>
            <a:r>
              <a:rPr lang="it-IT" sz="2000" dirty="0"/>
              <a:t>Forme e modi della </a:t>
            </a:r>
            <a:r>
              <a:rPr lang="it-IT" sz="2000" b="1" dirty="0"/>
              <a:t>suddivisione tra tempo di vita e tempo di lavoro.</a:t>
            </a:r>
          </a:p>
          <a:p>
            <a:pPr>
              <a:buFontTx/>
              <a:buChar char="-"/>
            </a:pPr>
            <a:r>
              <a:rPr lang="it-IT" sz="2000" b="1" dirty="0"/>
              <a:t>Distanza </a:t>
            </a:r>
            <a:r>
              <a:rPr lang="it-IT" sz="2000" dirty="0"/>
              <a:t>della residenza dalla frontiera che consentisse di richiedere un permesso G (10 o 20 km: come lo si stabilì?).</a:t>
            </a:r>
          </a:p>
          <a:p>
            <a:pPr>
              <a:buFontTx/>
              <a:buChar char="-"/>
            </a:pPr>
            <a:r>
              <a:rPr lang="it-IT" sz="2000" b="1" dirty="0"/>
              <a:t>Tipologia di pendolarità consentita</a:t>
            </a:r>
            <a:r>
              <a:rPr lang="it-IT" sz="2000" dirty="0"/>
              <a:t> (quotidiana? settimanale?) con obblighi connessi.</a:t>
            </a:r>
          </a:p>
          <a:p>
            <a:pPr>
              <a:buFontTx/>
              <a:buChar char="-"/>
            </a:pPr>
            <a:r>
              <a:rPr lang="it-IT" sz="2000" b="1" dirty="0"/>
              <a:t>Questione fiscale.</a:t>
            </a:r>
            <a:r>
              <a:rPr lang="it-IT" sz="2000" dirty="0"/>
              <a:t> Imposte sui salari nelle imprese svizzere vs necessità dei comuni dei paesi di residenza.</a:t>
            </a:r>
          </a:p>
        </p:txBody>
      </p:sp>
    </p:spTree>
    <p:extLst>
      <p:ext uri="{BB962C8B-B14F-4D97-AF65-F5344CB8AC3E}">
        <p14:creationId xmlns:p14="http://schemas.microsoft.com/office/powerpoint/2010/main" val="3833078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01B3AB-B85E-737D-5EB4-BFB766D3CEB1}"/>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335C2C7-716F-FC3A-F36B-DBDF20E2F865}"/>
              </a:ext>
            </a:extLst>
          </p:cNvPr>
          <p:cNvSpPr>
            <a:spLocks noGrp="1"/>
          </p:cNvSpPr>
          <p:nvPr>
            <p:ph type="title"/>
          </p:nvPr>
        </p:nvSpPr>
        <p:spPr>
          <a:xfrm>
            <a:off x="1171074" y="1396686"/>
            <a:ext cx="3240506" cy="4064628"/>
          </a:xfrm>
        </p:spPr>
        <p:txBody>
          <a:bodyPr>
            <a:normAutofit/>
          </a:bodyPr>
          <a:lstStyle/>
          <a:p>
            <a:r>
              <a:rPr lang="it-IT">
                <a:solidFill>
                  <a:srgbClr val="FFFFFF"/>
                </a:solidFill>
              </a:rPr>
              <a:t>Il lavoro alla frontiera</a:t>
            </a:r>
          </a:p>
        </p:txBody>
      </p:sp>
      <p:sp>
        <p:nvSpPr>
          <p:cNvPr id="31" name="Arc 30">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BDB39FBC-20C5-CDE0-E39F-A0F68DDB1891}"/>
              </a:ext>
            </a:extLst>
          </p:cNvPr>
          <p:cNvSpPr>
            <a:spLocks noGrp="1"/>
          </p:cNvSpPr>
          <p:nvPr>
            <p:ph idx="1"/>
          </p:nvPr>
        </p:nvSpPr>
        <p:spPr>
          <a:xfrm>
            <a:off x="5370153" y="1526033"/>
            <a:ext cx="5536397" cy="3935281"/>
          </a:xfrm>
        </p:spPr>
        <p:txBody>
          <a:bodyPr>
            <a:normAutofit/>
          </a:bodyPr>
          <a:lstStyle/>
          <a:p>
            <a:pPr marL="0" indent="0">
              <a:buNone/>
            </a:pPr>
            <a:r>
              <a:rPr lang="it-IT" sz="2400" dirty="0"/>
              <a:t>Nel corso del Novecento il frontalierato ha vissuto trasformazioni che seguivano il mutamento di:</a:t>
            </a:r>
            <a:endParaRPr lang="it-IT" sz="2400"/>
          </a:p>
          <a:p>
            <a:pPr marL="0" indent="0">
              <a:buNone/>
            </a:pPr>
            <a:endParaRPr lang="it-IT" sz="2400"/>
          </a:p>
          <a:p>
            <a:pPr marL="0" indent="0">
              <a:buNone/>
            </a:pPr>
            <a:r>
              <a:rPr lang="it-IT" sz="2400" dirty="0"/>
              <a:t>- Mezzi di </a:t>
            </a:r>
            <a:r>
              <a:rPr lang="it-IT" sz="2400" b="1" dirty="0"/>
              <a:t>trasporto;</a:t>
            </a:r>
            <a:endParaRPr lang="it-IT" sz="2400" b="1"/>
          </a:p>
          <a:p>
            <a:pPr marL="0" indent="0">
              <a:buNone/>
            </a:pPr>
            <a:r>
              <a:rPr lang="it-IT" sz="2400" dirty="0"/>
              <a:t>- Mezzi di </a:t>
            </a:r>
            <a:r>
              <a:rPr lang="it-IT" sz="2400" b="1" dirty="0"/>
              <a:t>comunicazione;</a:t>
            </a:r>
            <a:endParaRPr lang="it-IT" sz="2400" b="1"/>
          </a:p>
          <a:p>
            <a:pPr marL="0" indent="0">
              <a:buNone/>
            </a:pPr>
            <a:r>
              <a:rPr lang="it-IT" sz="2400" b="1" dirty="0"/>
              <a:t>- Normative</a:t>
            </a:r>
            <a:r>
              <a:rPr lang="it-IT" sz="2400" dirty="0"/>
              <a:t> internazionali (fino agli accordi bilaterali del 1999 entrati in vigore nel 2002).</a:t>
            </a:r>
            <a:endParaRPr lang="it-IT" sz="2400"/>
          </a:p>
          <a:p>
            <a:endParaRPr lang="it-IT" sz="2400"/>
          </a:p>
        </p:txBody>
      </p:sp>
    </p:spTree>
    <p:extLst>
      <p:ext uri="{BB962C8B-B14F-4D97-AF65-F5344CB8AC3E}">
        <p14:creationId xmlns:p14="http://schemas.microsoft.com/office/powerpoint/2010/main" val="3934665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551B2FF-8360-6699-762F-26D140A56398}"/>
              </a:ext>
            </a:extLst>
          </p:cNvPr>
          <p:cNvSpPr>
            <a:spLocks noGrp="1"/>
          </p:cNvSpPr>
          <p:nvPr>
            <p:ph type="title"/>
          </p:nvPr>
        </p:nvSpPr>
        <p:spPr>
          <a:xfrm>
            <a:off x="1171074" y="1396686"/>
            <a:ext cx="3240506" cy="4064628"/>
          </a:xfrm>
        </p:spPr>
        <p:txBody>
          <a:bodyPr>
            <a:normAutofit/>
          </a:bodyPr>
          <a:lstStyle/>
          <a:p>
            <a:r>
              <a:rPr lang="it-IT">
                <a:solidFill>
                  <a:srgbClr val="FFFFFF"/>
                </a:solidFill>
              </a:rPr>
              <a:t>Il lavoro alla frontiera</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386E3EF5-1305-A11E-07CA-E3DE51101AED}"/>
              </a:ext>
            </a:extLst>
          </p:cNvPr>
          <p:cNvSpPr>
            <a:spLocks noGrp="1"/>
          </p:cNvSpPr>
          <p:nvPr>
            <p:ph idx="1"/>
          </p:nvPr>
        </p:nvSpPr>
        <p:spPr>
          <a:xfrm>
            <a:off x="5370153" y="1526033"/>
            <a:ext cx="5536397" cy="3935281"/>
          </a:xfrm>
        </p:spPr>
        <p:txBody>
          <a:bodyPr>
            <a:normAutofit/>
          </a:bodyPr>
          <a:lstStyle/>
          <a:p>
            <a:pPr marL="0" indent="0">
              <a:buNone/>
            </a:pPr>
            <a:endParaRPr lang="it-IT" dirty="0"/>
          </a:p>
          <a:p>
            <a:pPr marL="0" indent="0">
              <a:buNone/>
            </a:pPr>
            <a:endParaRPr lang="it-IT" dirty="0"/>
          </a:p>
          <a:p>
            <a:pPr marL="0" indent="0" algn="just">
              <a:buNone/>
            </a:pPr>
            <a:r>
              <a:rPr lang="it-IT" dirty="0"/>
              <a:t>Vediamo alcuni dati che chiariscono come il frontalierato sia un fenomeno dalla portata anzitutto regionale. </a:t>
            </a:r>
          </a:p>
        </p:txBody>
      </p:sp>
    </p:spTree>
    <p:extLst>
      <p:ext uri="{BB962C8B-B14F-4D97-AF65-F5344CB8AC3E}">
        <p14:creationId xmlns:p14="http://schemas.microsoft.com/office/powerpoint/2010/main" val="492217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17351A-9E42-7844-EEB1-4481F7359CDF}"/>
            </a:ext>
          </a:extLst>
        </p:cNvPr>
        <p:cNvGrpSpPr/>
        <p:nvPr/>
      </p:nvGrpSpPr>
      <p:grpSpPr>
        <a:xfrm>
          <a:off x="0" y="0"/>
          <a:ext cx="0" cy="0"/>
          <a:chOff x="0" y="0"/>
          <a:chExt cx="0" cy="0"/>
        </a:xfrm>
      </p:grpSpPr>
      <p:sp useBgFill="1">
        <p:nvSpPr>
          <p:cNvPr id="2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440BE6A-17EF-7B62-B70A-DDC7ECBA4940}"/>
              </a:ext>
            </a:extLst>
          </p:cNvPr>
          <p:cNvSpPr>
            <a:spLocks noGrp="1"/>
          </p:cNvSpPr>
          <p:nvPr>
            <p:ph type="title"/>
          </p:nvPr>
        </p:nvSpPr>
        <p:spPr>
          <a:xfrm>
            <a:off x="761995" y="307447"/>
            <a:ext cx="10693884" cy="1109932"/>
          </a:xfrm>
        </p:spPr>
        <p:txBody>
          <a:bodyPr vert="horz" lIns="91440" tIns="45720" rIns="91440" bIns="45720" rtlCol="0" anchor="ctr">
            <a:normAutofit/>
          </a:bodyPr>
          <a:lstStyle/>
          <a:p>
            <a:r>
              <a:rPr lang="en-US" sz="4000" kern="1200">
                <a:solidFill>
                  <a:schemeClr val="tx1"/>
                </a:solidFill>
                <a:latin typeface="+mj-lt"/>
                <a:ea typeface="+mj-ea"/>
                <a:cs typeface="+mj-cs"/>
              </a:rPr>
              <a:t>Il lavoro alla frontiera</a:t>
            </a:r>
          </a:p>
        </p:txBody>
      </p:sp>
      <p:sp>
        <p:nvSpPr>
          <p:cNvPr id="5" name="CasellaDiTesto 4">
            <a:extLst>
              <a:ext uri="{FF2B5EF4-FFF2-40B4-BE49-F238E27FC236}">
                <a16:creationId xmlns:a16="http://schemas.microsoft.com/office/drawing/2014/main" id="{E8DDE5A6-3BCC-6D1A-BCB9-0878BBD716CA}"/>
              </a:ext>
            </a:extLst>
          </p:cNvPr>
          <p:cNvSpPr txBox="1"/>
          <p:nvPr/>
        </p:nvSpPr>
        <p:spPr>
          <a:xfrm>
            <a:off x="7190509" y="2357888"/>
            <a:ext cx="4265370" cy="390263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t>La Francia conta 3 frontalieri ogni 1000 abitanti.</a:t>
            </a:r>
          </a:p>
          <a:p>
            <a:pPr indent="-228600">
              <a:lnSpc>
                <a:spcPct val="90000"/>
              </a:lnSpc>
              <a:spcAft>
                <a:spcPts val="600"/>
              </a:spcAft>
              <a:buFont typeface="Arial" panose="020B0604020202020204" pitchFamily="34" charset="0"/>
              <a:buChar char="•"/>
            </a:pPr>
            <a:r>
              <a:rPr lang="en-US" sz="1700"/>
              <a:t>L’Italia conta 2 frontalieri ogni 1000 abitanti.</a:t>
            </a:r>
          </a:p>
          <a:p>
            <a:pPr indent="-228600">
              <a:lnSpc>
                <a:spcPct val="90000"/>
              </a:lnSpc>
              <a:spcAft>
                <a:spcPts val="600"/>
              </a:spcAft>
              <a:buFont typeface="Arial" panose="020B0604020202020204" pitchFamily="34" charset="0"/>
              <a:buChar char="•"/>
            </a:pPr>
            <a:r>
              <a:rPr lang="en-US" sz="1700"/>
              <a:t>La Germania e l’Austria 1 ogni 1000 abitanti.</a:t>
            </a:r>
          </a:p>
          <a:p>
            <a:pPr indent="-228600">
              <a:lnSpc>
                <a:spcPct val="90000"/>
              </a:lnSpc>
              <a:spcAft>
                <a:spcPts val="600"/>
              </a:spcAft>
              <a:buFont typeface="Arial" panose="020B0604020202020204" pitchFamily="34" charset="0"/>
              <a:buChar char="•"/>
            </a:pPr>
            <a:r>
              <a:rPr lang="en-US" sz="1700"/>
              <a:t>Il Liechtenstein 17 ogni 1000 abitanti.</a:t>
            </a:r>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r>
              <a:rPr lang="en-US" sz="1700"/>
              <a:t>Fonte: Spazio indagine Varese. Osservazioni sul terziario, 2023. Base UST - Statistica dei frontalieri - © UST, giugno 2023</a:t>
            </a:r>
          </a:p>
        </p:txBody>
      </p:sp>
      <p:graphicFrame>
        <p:nvGraphicFramePr>
          <p:cNvPr id="4" name="Segnaposto contenuto 3">
            <a:extLst>
              <a:ext uri="{FF2B5EF4-FFF2-40B4-BE49-F238E27FC236}">
                <a16:creationId xmlns:a16="http://schemas.microsoft.com/office/drawing/2014/main" id="{5D8DF6B5-A353-3E3C-BAA0-02D84D4E3A4E}"/>
              </a:ext>
            </a:extLst>
          </p:cNvPr>
          <p:cNvGraphicFramePr>
            <a:graphicFrameLocks noGrp="1"/>
          </p:cNvGraphicFramePr>
          <p:nvPr>
            <p:ph idx="1"/>
            <p:extLst>
              <p:ext uri="{D42A27DB-BD31-4B8C-83A1-F6EECF244321}">
                <p14:modId xmlns:p14="http://schemas.microsoft.com/office/powerpoint/2010/main" val="2034382638"/>
              </p:ext>
            </p:extLst>
          </p:nvPr>
        </p:nvGraphicFramePr>
        <p:xfrm>
          <a:off x="736122" y="2672471"/>
          <a:ext cx="5804956" cy="3146333"/>
        </p:xfrm>
        <a:graphic>
          <a:graphicData uri="http://schemas.openxmlformats.org/drawingml/2006/table">
            <a:tbl>
              <a:tblPr firstRow="1" bandRow="1">
                <a:tableStyleId>{5C22544A-7EE6-4342-B048-85BDC9FD1C3A}</a:tableStyleId>
              </a:tblPr>
              <a:tblGrid>
                <a:gridCol w="1764146">
                  <a:extLst>
                    <a:ext uri="{9D8B030D-6E8A-4147-A177-3AD203B41FA5}">
                      <a16:colId xmlns:a16="http://schemas.microsoft.com/office/drawing/2014/main" val="2655657046"/>
                    </a:ext>
                  </a:extLst>
                </a:gridCol>
                <a:gridCol w="2371076">
                  <a:extLst>
                    <a:ext uri="{9D8B030D-6E8A-4147-A177-3AD203B41FA5}">
                      <a16:colId xmlns:a16="http://schemas.microsoft.com/office/drawing/2014/main" val="208620064"/>
                    </a:ext>
                  </a:extLst>
                </a:gridCol>
                <a:gridCol w="1669734">
                  <a:extLst>
                    <a:ext uri="{9D8B030D-6E8A-4147-A177-3AD203B41FA5}">
                      <a16:colId xmlns:a16="http://schemas.microsoft.com/office/drawing/2014/main" val="3313650649"/>
                    </a:ext>
                  </a:extLst>
                </a:gridCol>
              </a:tblGrid>
              <a:tr h="1009933">
                <a:tc>
                  <a:txBody>
                    <a:bodyPr/>
                    <a:lstStyle/>
                    <a:p>
                      <a:r>
                        <a:rPr lang="it-IT" sz="1900"/>
                        <a:t>Stato</a:t>
                      </a:r>
                    </a:p>
                  </a:txBody>
                  <a:tcPr marL="97109" marR="97109" marT="48554" marB="48554"/>
                </a:tc>
                <a:tc>
                  <a:txBody>
                    <a:bodyPr/>
                    <a:lstStyle/>
                    <a:p>
                      <a:r>
                        <a:rPr lang="it-IT" sz="1900"/>
                        <a:t>Frontalieri in uscita verso CH al 31 dicembre 2022</a:t>
                      </a:r>
                    </a:p>
                  </a:txBody>
                  <a:tcPr marL="97109" marR="97109" marT="48554" marB="48554"/>
                </a:tc>
                <a:tc>
                  <a:txBody>
                    <a:bodyPr/>
                    <a:lstStyle/>
                    <a:p>
                      <a:r>
                        <a:rPr lang="it-IT" sz="1900"/>
                        <a:t>Popolazione complessiva</a:t>
                      </a:r>
                    </a:p>
                  </a:txBody>
                  <a:tcPr marL="97109" marR="97109" marT="48554" marB="48554"/>
                </a:tc>
                <a:extLst>
                  <a:ext uri="{0D108BD9-81ED-4DB2-BD59-A6C34878D82A}">
                    <a16:rowId xmlns:a16="http://schemas.microsoft.com/office/drawing/2014/main" val="963425284"/>
                  </a:ext>
                </a:extLst>
              </a:tr>
              <a:tr h="427280">
                <a:tc>
                  <a:txBody>
                    <a:bodyPr/>
                    <a:lstStyle/>
                    <a:p>
                      <a:r>
                        <a:rPr lang="it-IT" sz="1900"/>
                        <a:t>Francia</a:t>
                      </a:r>
                    </a:p>
                  </a:txBody>
                  <a:tcPr marL="97109" marR="97109" marT="48554" marB="48554"/>
                </a:tc>
                <a:tc>
                  <a:txBody>
                    <a:bodyPr/>
                    <a:lstStyle/>
                    <a:p>
                      <a:r>
                        <a:rPr lang="it-IT" sz="1900"/>
                        <a:t>214.399</a:t>
                      </a:r>
                    </a:p>
                  </a:txBody>
                  <a:tcPr marL="97109" marR="97109" marT="48554" marB="48554"/>
                </a:tc>
                <a:tc>
                  <a:txBody>
                    <a:bodyPr/>
                    <a:lstStyle/>
                    <a:p>
                      <a:r>
                        <a:rPr lang="it-IT" sz="1900"/>
                        <a:t>65.554.051</a:t>
                      </a:r>
                    </a:p>
                  </a:txBody>
                  <a:tcPr marL="97109" marR="97109" marT="48554" marB="48554"/>
                </a:tc>
                <a:extLst>
                  <a:ext uri="{0D108BD9-81ED-4DB2-BD59-A6C34878D82A}">
                    <a16:rowId xmlns:a16="http://schemas.microsoft.com/office/drawing/2014/main" val="464244950"/>
                  </a:ext>
                </a:extLst>
              </a:tr>
              <a:tr h="427280">
                <a:tc>
                  <a:txBody>
                    <a:bodyPr/>
                    <a:lstStyle/>
                    <a:p>
                      <a:r>
                        <a:rPr lang="it-IT" sz="1900"/>
                        <a:t>Italia</a:t>
                      </a:r>
                    </a:p>
                  </a:txBody>
                  <a:tcPr marL="97109" marR="97109" marT="48554" marB="48554"/>
                </a:tc>
                <a:tc>
                  <a:txBody>
                    <a:bodyPr/>
                    <a:lstStyle/>
                    <a:p>
                      <a:r>
                        <a:rPr lang="it-IT" sz="1900"/>
                        <a:t>90.090</a:t>
                      </a:r>
                    </a:p>
                  </a:txBody>
                  <a:tcPr marL="97109" marR="97109" marT="48554" marB="48554"/>
                </a:tc>
                <a:tc>
                  <a:txBody>
                    <a:bodyPr/>
                    <a:lstStyle/>
                    <a:p>
                      <a:r>
                        <a:rPr lang="it-IT" sz="1900"/>
                        <a:t>58.850.717</a:t>
                      </a:r>
                    </a:p>
                  </a:txBody>
                  <a:tcPr marL="97109" marR="97109" marT="48554" marB="48554"/>
                </a:tc>
                <a:extLst>
                  <a:ext uri="{0D108BD9-81ED-4DB2-BD59-A6C34878D82A}">
                    <a16:rowId xmlns:a16="http://schemas.microsoft.com/office/drawing/2014/main" val="2462207818"/>
                  </a:ext>
                </a:extLst>
              </a:tr>
              <a:tr h="427280">
                <a:tc>
                  <a:txBody>
                    <a:bodyPr/>
                    <a:lstStyle/>
                    <a:p>
                      <a:r>
                        <a:rPr lang="it-IT" sz="1900"/>
                        <a:t>Germania</a:t>
                      </a:r>
                    </a:p>
                  </a:txBody>
                  <a:tcPr marL="97109" marR="97109" marT="48554" marB="48554"/>
                </a:tc>
                <a:tc>
                  <a:txBody>
                    <a:bodyPr/>
                    <a:lstStyle/>
                    <a:p>
                      <a:r>
                        <a:rPr lang="it-IT" sz="1900"/>
                        <a:t>64.703</a:t>
                      </a:r>
                    </a:p>
                  </a:txBody>
                  <a:tcPr marL="97109" marR="97109" marT="48554" marB="48554"/>
                </a:tc>
                <a:tc>
                  <a:txBody>
                    <a:bodyPr/>
                    <a:lstStyle/>
                    <a:p>
                      <a:r>
                        <a:rPr lang="it-IT" sz="1900"/>
                        <a:t>84.404.137</a:t>
                      </a:r>
                    </a:p>
                  </a:txBody>
                  <a:tcPr marL="97109" marR="97109" marT="48554" marB="48554"/>
                </a:tc>
                <a:extLst>
                  <a:ext uri="{0D108BD9-81ED-4DB2-BD59-A6C34878D82A}">
                    <a16:rowId xmlns:a16="http://schemas.microsoft.com/office/drawing/2014/main" val="166039415"/>
                  </a:ext>
                </a:extLst>
              </a:tr>
              <a:tr h="427280">
                <a:tc>
                  <a:txBody>
                    <a:bodyPr/>
                    <a:lstStyle/>
                    <a:p>
                      <a:r>
                        <a:rPr lang="it-IT" sz="1900"/>
                        <a:t>Austria </a:t>
                      </a:r>
                    </a:p>
                  </a:txBody>
                  <a:tcPr marL="97109" marR="97109" marT="48554" marB="48554"/>
                </a:tc>
                <a:tc>
                  <a:txBody>
                    <a:bodyPr/>
                    <a:lstStyle/>
                    <a:p>
                      <a:r>
                        <a:rPr lang="it-IT" sz="1900"/>
                        <a:t>8.694</a:t>
                      </a:r>
                    </a:p>
                  </a:txBody>
                  <a:tcPr marL="97109" marR="97109" marT="48554" marB="48554"/>
                </a:tc>
                <a:tc>
                  <a:txBody>
                    <a:bodyPr/>
                    <a:lstStyle/>
                    <a:p>
                      <a:r>
                        <a:rPr lang="it-IT" sz="1900"/>
                        <a:t>9.027.999</a:t>
                      </a:r>
                    </a:p>
                  </a:txBody>
                  <a:tcPr marL="97109" marR="97109" marT="48554" marB="48554"/>
                </a:tc>
                <a:extLst>
                  <a:ext uri="{0D108BD9-81ED-4DB2-BD59-A6C34878D82A}">
                    <a16:rowId xmlns:a16="http://schemas.microsoft.com/office/drawing/2014/main" val="1000872885"/>
                  </a:ext>
                </a:extLst>
              </a:tr>
              <a:tr h="427280">
                <a:tc>
                  <a:txBody>
                    <a:bodyPr/>
                    <a:lstStyle/>
                    <a:p>
                      <a:r>
                        <a:rPr lang="it-IT" sz="1900"/>
                        <a:t>Liechtenstein</a:t>
                      </a:r>
                    </a:p>
                  </a:txBody>
                  <a:tcPr marL="97109" marR="97109" marT="48554" marB="48554"/>
                </a:tc>
                <a:tc>
                  <a:txBody>
                    <a:bodyPr/>
                    <a:lstStyle/>
                    <a:p>
                      <a:r>
                        <a:rPr lang="it-IT" sz="1900"/>
                        <a:t>653</a:t>
                      </a:r>
                    </a:p>
                  </a:txBody>
                  <a:tcPr marL="97109" marR="97109" marT="48554" marB="48554"/>
                </a:tc>
                <a:tc>
                  <a:txBody>
                    <a:bodyPr/>
                    <a:lstStyle/>
                    <a:p>
                      <a:r>
                        <a:rPr lang="it-IT" sz="1900"/>
                        <a:t>37.500</a:t>
                      </a:r>
                    </a:p>
                  </a:txBody>
                  <a:tcPr marL="97109" marR="97109" marT="48554" marB="48554"/>
                </a:tc>
                <a:extLst>
                  <a:ext uri="{0D108BD9-81ED-4DB2-BD59-A6C34878D82A}">
                    <a16:rowId xmlns:a16="http://schemas.microsoft.com/office/drawing/2014/main" val="1369597406"/>
                  </a:ext>
                </a:extLst>
              </a:tr>
            </a:tbl>
          </a:graphicData>
        </a:graphic>
      </p:graphicFrame>
    </p:spTree>
    <p:extLst>
      <p:ext uri="{BB962C8B-B14F-4D97-AF65-F5344CB8AC3E}">
        <p14:creationId xmlns:p14="http://schemas.microsoft.com/office/powerpoint/2010/main" val="2056192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98E9EC-1D14-BBE8-369F-4C1140AFF890}"/>
            </a:ext>
          </a:extLst>
        </p:cNvPr>
        <p:cNvGrpSpPr/>
        <p:nvPr/>
      </p:nvGrpSpPr>
      <p:grpSpPr>
        <a:xfrm>
          <a:off x="0" y="0"/>
          <a:ext cx="0" cy="0"/>
          <a:chOff x="0" y="0"/>
          <a:chExt cx="0" cy="0"/>
        </a:xfrm>
      </p:grpSpPr>
      <p:sp useBgFill="1">
        <p:nvSpPr>
          <p:cNvPr id="2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53C3306-D660-27C0-A8FF-79047584A5F3}"/>
              </a:ext>
            </a:extLst>
          </p:cNvPr>
          <p:cNvSpPr>
            <a:spLocks noGrp="1"/>
          </p:cNvSpPr>
          <p:nvPr>
            <p:ph type="title"/>
          </p:nvPr>
        </p:nvSpPr>
        <p:spPr>
          <a:xfrm>
            <a:off x="761995" y="307447"/>
            <a:ext cx="10693884" cy="1109932"/>
          </a:xfrm>
        </p:spPr>
        <p:txBody>
          <a:bodyPr vert="horz" lIns="91440" tIns="45720" rIns="91440" bIns="45720" rtlCol="0" anchor="ctr">
            <a:normAutofit/>
          </a:bodyPr>
          <a:lstStyle/>
          <a:p>
            <a:r>
              <a:rPr lang="en-US" sz="4000" kern="1200">
                <a:solidFill>
                  <a:schemeClr val="tx1"/>
                </a:solidFill>
                <a:latin typeface="+mj-lt"/>
                <a:ea typeface="+mj-ea"/>
                <a:cs typeface="+mj-cs"/>
              </a:rPr>
              <a:t>Il lavoro alla frontiera</a:t>
            </a:r>
          </a:p>
        </p:txBody>
      </p:sp>
      <p:sp>
        <p:nvSpPr>
          <p:cNvPr id="5" name="CasellaDiTesto 4">
            <a:extLst>
              <a:ext uri="{FF2B5EF4-FFF2-40B4-BE49-F238E27FC236}">
                <a16:creationId xmlns:a16="http://schemas.microsoft.com/office/drawing/2014/main" id="{518340E2-D4FF-3756-723B-AD9F67A5C3CC}"/>
              </a:ext>
            </a:extLst>
          </p:cNvPr>
          <p:cNvSpPr txBox="1"/>
          <p:nvPr/>
        </p:nvSpPr>
        <p:spPr>
          <a:xfrm>
            <a:off x="7190509" y="2357888"/>
            <a:ext cx="4265370" cy="390263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Lombardia: 7 frontalieri ogni 1000 abitanti.</a:t>
            </a:r>
          </a:p>
          <a:p>
            <a:pPr indent="-228600">
              <a:lnSpc>
                <a:spcPct val="90000"/>
              </a:lnSpc>
              <a:spcAft>
                <a:spcPts val="600"/>
              </a:spcAft>
              <a:buFont typeface="Arial" panose="020B0604020202020204" pitchFamily="34" charset="0"/>
              <a:buChar char="•"/>
            </a:pPr>
            <a:r>
              <a:rPr lang="en-US" sz="2000"/>
              <a:t>Piemonte: 2 frontalieri ogni 1000 abitanti.</a:t>
            </a:r>
          </a:p>
          <a:p>
            <a:pPr indent="-228600">
              <a:lnSpc>
                <a:spcPct val="90000"/>
              </a:lnSpc>
              <a:spcAft>
                <a:spcPts val="600"/>
              </a:spcAft>
              <a:buFont typeface="Arial" panose="020B0604020202020204" pitchFamily="34" charset="0"/>
              <a:buChar char="•"/>
            </a:pPr>
            <a:r>
              <a:rPr lang="en-US" sz="2000"/>
              <a:t>Trentino e Valle d’Aosta: 1 frontaliero ogni 1000 abitanti.</a:t>
            </a:r>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r>
              <a:rPr lang="en-US" sz="2000"/>
              <a:t>Fonte: Spazio indagine Varese. Osservazioni sul terziario, 2023. Base UST - Statistica dei frontalieri - © UST, giugno 2023</a:t>
            </a:r>
          </a:p>
        </p:txBody>
      </p:sp>
      <p:graphicFrame>
        <p:nvGraphicFramePr>
          <p:cNvPr id="4" name="Segnaposto contenuto 3">
            <a:extLst>
              <a:ext uri="{FF2B5EF4-FFF2-40B4-BE49-F238E27FC236}">
                <a16:creationId xmlns:a16="http://schemas.microsoft.com/office/drawing/2014/main" id="{56852973-15D2-FCEA-55DC-5DA54A3A7576}"/>
              </a:ext>
            </a:extLst>
          </p:cNvPr>
          <p:cNvGraphicFramePr>
            <a:graphicFrameLocks noGrp="1"/>
          </p:cNvGraphicFramePr>
          <p:nvPr>
            <p:ph idx="1"/>
            <p:extLst>
              <p:ext uri="{D42A27DB-BD31-4B8C-83A1-F6EECF244321}">
                <p14:modId xmlns:p14="http://schemas.microsoft.com/office/powerpoint/2010/main" val="4258997152"/>
              </p:ext>
            </p:extLst>
          </p:nvPr>
        </p:nvGraphicFramePr>
        <p:xfrm>
          <a:off x="736122" y="3028947"/>
          <a:ext cx="5804957" cy="2433380"/>
        </p:xfrm>
        <a:graphic>
          <a:graphicData uri="http://schemas.openxmlformats.org/drawingml/2006/table">
            <a:tbl>
              <a:tblPr firstRow="1" bandRow="1">
                <a:tableStyleId>{5C22544A-7EE6-4342-B048-85BDC9FD1C3A}</a:tableStyleId>
              </a:tblPr>
              <a:tblGrid>
                <a:gridCol w="2079186">
                  <a:extLst>
                    <a:ext uri="{9D8B030D-6E8A-4147-A177-3AD203B41FA5}">
                      <a16:colId xmlns:a16="http://schemas.microsoft.com/office/drawing/2014/main" val="325209139"/>
                    </a:ext>
                  </a:extLst>
                </a:gridCol>
                <a:gridCol w="2052148">
                  <a:extLst>
                    <a:ext uri="{9D8B030D-6E8A-4147-A177-3AD203B41FA5}">
                      <a16:colId xmlns:a16="http://schemas.microsoft.com/office/drawing/2014/main" val="2327875266"/>
                    </a:ext>
                  </a:extLst>
                </a:gridCol>
                <a:gridCol w="1673623">
                  <a:extLst>
                    <a:ext uri="{9D8B030D-6E8A-4147-A177-3AD203B41FA5}">
                      <a16:colId xmlns:a16="http://schemas.microsoft.com/office/drawing/2014/main" val="2341791093"/>
                    </a:ext>
                  </a:extLst>
                </a:gridCol>
              </a:tblGrid>
              <a:tr h="720280">
                <a:tc>
                  <a:txBody>
                    <a:bodyPr/>
                    <a:lstStyle/>
                    <a:p>
                      <a:r>
                        <a:rPr lang="it-IT" sz="1900"/>
                        <a:t>Regione italiana</a:t>
                      </a:r>
                    </a:p>
                  </a:txBody>
                  <a:tcPr marL="97335" marR="97335" marT="48668" marB="48668"/>
                </a:tc>
                <a:tc>
                  <a:txBody>
                    <a:bodyPr/>
                    <a:lstStyle/>
                    <a:p>
                      <a:r>
                        <a:rPr lang="it-IT" sz="1900"/>
                        <a:t>Frontalieri in uscita verso CH</a:t>
                      </a:r>
                    </a:p>
                  </a:txBody>
                  <a:tcPr marL="97335" marR="97335" marT="48668" marB="48668"/>
                </a:tc>
                <a:tc>
                  <a:txBody>
                    <a:bodyPr/>
                    <a:lstStyle/>
                    <a:p>
                      <a:r>
                        <a:rPr lang="it-IT" sz="1900"/>
                        <a:t>Popolazione complessiva</a:t>
                      </a:r>
                    </a:p>
                  </a:txBody>
                  <a:tcPr marL="97335" marR="97335" marT="48668" marB="48668"/>
                </a:tc>
                <a:extLst>
                  <a:ext uri="{0D108BD9-81ED-4DB2-BD59-A6C34878D82A}">
                    <a16:rowId xmlns:a16="http://schemas.microsoft.com/office/drawing/2014/main" val="3109851620"/>
                  </a:ext>
                </a:extLst>
              </a:tr>
              <a:tr h="428275">
                <a:tc>
                  <a:txBody>
                    <a:bodyPr/>
                    <a:lstStyle/>
                    <a:p>
                      <a:r>
                        <a:rPr lang="it-IT" sz="1900"/>
                        <a:t>Lombardia</a:t>
                      </a:r>
                    </a:p>
                  </a:txBody>
                  <a:tcPr marL="97335" marR="97335" marT="48668" marB="48668"/>
                </a:tc>
                <a:tc>
                  <a:txBody>
                    <a:bodyPr/>
                    <a:lstStyle/>
                    <a:p>
                      <a:r>
                        <a:rPr lang="it-IT" sz="1900"/>
                        <a:t>68.164</a:t>
                      </a:r>
                    </a:p>
                  </a:txBody>
                  <a:tcPr marL="97335" marR="97335" marT="48668" marB="48668"/>
                </a:tc>
                <a:tc>
                  <a:txBody>
                    <a:bodyPr/>
                    <a:lstStyle/>
                    <a:p>
                      <a:r>
                        <a:rPr lang="it-IT" sz="1900"/>
                        <a:t>9.950.742</a:t>
                      </a:r>
                    </a:p>
                  </a:txBody>
                  <a:tcPr marL="97335" marR="97335" marT="48668" marB="48668"/>
                </a:tc>
                <a:extLst>
                  <a:ext uri="{0D108BD9-81ED-4DB2-BD59-A6C34878D82A}">
                    <a16:rowId xmlns:a16="http://schemas.microsoft.com/office/drawing/2014/main" val="881648830"/>
                  </a:ext>
                </a:extLst>
              </a:tr>
              <a:tr h="428275">
                <a:tc>
                  <a:txBody>
                    <a:bodyPr/>
                    <a:lstStyle/>
                    <a:p>
                      <a:r>
                        <a:rPr lang="it-IT" sz="1900"/>
                        <a:t>Piemonte</a:t>
                      </a:r>
                    </a:p>
                  </a:txBody>
                  <a:tcPr marL="97335" marR="97335" marT="48668" marB="48668"/>
                </a:tc>
                <a:tc>
                  <a:txBody>
                    <a:bodyPr/>
                    <a:lstStyle/>
                    <a:p>
                      <a:r>
                        <a:rPr lang="it-IT" sz="1900"/>
                        <a:t>8.058</a:t>
                      </a:r>
                    </a:p>
                  </a:txBody>
                  <a:tcPr marL="97335" marR="97335" marT="48668" marB="48668"/>
                </a:tc>
                <a:tc>
                  <a:txBody>
                    <a:bodyPr/>
                    <a:lstStyle/>
                    <a:p>
                      <a:r>
                        <a:rPr lang="it-IT" sz="1900"/>
                        <a:t>4.240.736</a:t>
                      </a:r>
                    </a:p>
                  </a:txBody>
                  <a:tcPr marL="97335" marR="97335" marT="48668" marB="48668"/>
                </a:tc>
                <a:extLst>
                  <a:ext uri="{0D108BD9-81ED-4DB2-BD59-A6C34878D82A}">
                    <a16:rowId xmlns:a16="http://schemas.microsoft.com/office/drawing/2014/main" val="3507203734"/>
                  </a:ext>
                </a:extLst>
              </a:tr>
              <a:tr h="428275">
                <a:tc>
                  <a:txBody>
                    <a:bodyPr/>
                    <a:lstStyle/>
                    <a:p>
                      <a:r>
                        <a:rPr lang="it-IT" sz="1900"/>
                        <a:t>Trentino</a:t>
                      </a:r>
                    </a:p>
                  </a:txBody>
                  <a:tcPr marL="97335" marR="97335" marT="48668" marB="48668"/>
                </a:tc>
                <a:tc>
                  <a:txBody>
                    <a:bodyPr/>
                    <a:lstStyle/>
                    <a:p>
                      <a:r>
                        <a:rPr lang="it-IT" sz="1900"/>
                        <a:t>1.225</a:t>
                      </a:r>
                    </a:p>
                  </a:txBody>
                  <a:tcPr marL="97335" marR="97335" marT="48668" marB="48668"/>
                </a:tc>
                <a:tc>
                  <a:txBody>
                    <a:bodyPr/>
                    <a:lstStyle/>
                    <a:p>
                      <a:r>
                        <a:rPr lang="it-IT" sz="1900"/>
                        <a:t>1.075.317</a:t>
                      </a:r>
                    </a:p>
                  </a:txBody>
                  <a:tcPr marL="97335" marR="97335" marT="48668" marB="48668"/>
                </a:tc>
                <a:extLst>
                  <a:ext uri="{0D108BD9-81ED-4DB2-BD59-A6C34878D82A}">
                    <a16:rowId xmlns:a16="http://schemas.microsoft.com/office/drawing/2014/main" val="1101343281"/>
                  </a:ext>
                </a:extLst>
              </a:tr>
              <a:tr h="428275">
                <a:tc>
                  <a:txBody>
                    <a:bodyPr/>
                    <a:lstStyle/>
                    <a:p>
                      <a:r>
                        <a:rPr lang="it-IT" sz="1900"/>
                        <a:t>Valle d’Aosta</a:t>
                      </a:r>
                    </a:p>
                  </a:txBody>
                  <a:tcPr marL="97335" marR="97335" marT="48668" marB="48668"/>
                </a:tc>
                <a:tc>
                  <a:txBody>
                    <a:bodyPr/>
                    <a:lstStyle/>
                    <a:p>
                      <a:r>
                        <a:rPr lang="it-IT" sz="1900"/>
                        <a:t>122</a:t>
                      </a:r>
                    </a:p>
                  </a:txBody>
                  <a:tcPr marL="97335" marR="97335" marT="48668" marB="48668"/>
                </a:tc>
                <a:tc>
                  <a:txBody>
                    <a:bodyPr/>
                    <a:lstStyle/>
                    <a:p>
                      <a:r>
                        <a:rPr lang="it-IT" sz="1900"/>
                        <a:t>122.955</a:t>
                      </a:r>
                    </a:p>
                  </a:txBody>
                  <a:tcPr marL="97335" marR="97335" marT="48668" marB="48668"/>
                </a:tc>
                <a:extLst>
                  <a:ext uri="{0D108BD9-81ED-4DB2-BD59-A6C34878D82A}">
                    <a16:rowId xmlns:a16="http://schemas.microsoft.com/office/drawing/2014/main" val="1581455863"/>
                  </a:ext>
                </a:extLst>
              </a:tr>
            </a:tbl>
          </a:graphicData>
        </a:graphic>
      </p:graphicFrame>
    </p:spTree>
    <p:extLst>
      <p:ext uri="{BB962C8B-B14F-4D97-AF65-F5344CB8AC3E}">
        <p14:creationId xmlns:p14="http://schemas.microsoft.com/office/powerpoint/2010/main" val="1577041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6317B7-F0F3-EEFC-1675-F3A8E6E04F2A}"/>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81E068D2-AEEF-66D0-F9E4-7A1A2EF711B6}"/>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Il lavoro alla frontiera</a:t>
            </a:r>
          </a:p>
        </p:txBody>
      </p:sp>
      <p:graphicFrame>
        <p:nvGraphicFramePr>
          <p:cNvPr id="24" name="Segnaposto contenuto 2">
            <a:extLst>
              <a:ext uri="{FF2B5EF4-FFF2-40B4-BE49-F238E27FC236}">
                <a16:creationId xmlns:a16="http://schemas.microsoft.com/office/drawing/2014/main" id="{CDEE013C-DFDB-B21F-6352-27BC0D666FA7}"/>
              </a:ext>
            </a:extLst>
          </p:cNvPr>
          <p:cNvGraphicFramePr>
            <a:graphicFrameLocks noGrp="1"/>
          </p:cNvGraphicFramePr>
          <p:nvPr>
            <p:ph idx="1"/>
            <p:extLst>
              <p:ext uri="{D42A27DB-BD31-4B8C-83A1-F6EECF244321}">
                <p14:modId xmlns:p14="http://schemas.microsoft.com/office/powerpoint/2010/main" val="305622204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0241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DCEB6A-F519-2D25-A36C-F898901A9B74}"/>
            </a:ext>
          </a:extLst>
        </p:cNvPr>
        <p:cNvGrpSpPr/>
        <p:nvPr/>
      </p:nvGrpSpPr>
      <p:grpSpPr>
        <a:xfrm>
          <a:off x="0" y="0"/>
          <a:ext cx="0" cy="0"/>
          <a:chOff x="0" y="0"/>
          <a:chExt cx="0" cy="0"/>
        </a:xfrm>
      </p:grpSpPr>
      <p:sp useBgFill="1">
        <p:nvSpPr>
          <p:cNvPr id="2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3E21AE7-9F7A-9E13-FA53-09F895259BE3}"/>
              </a:ext>
            </a:extLst>
          </p:cNvPr>
          <p:cNvSpPr>
            <a:spLocks noGrp="1"/>
          </p:cNvSpPr>
          <p:nvPr>
            <p:ph type="title"/>
          </p:nvPr>
        </p:nvSpPr>
        <p:spPr>
          <a:xfrm>
            <a:off x="761995" y="307447"/>
            <a:ext cx="10693884" cy="1109932"/>
          </a:xfrm>
        </p:spPr>
        <p:txBody>
          <a:bodyPr vert="horz" lIns="91440" tIns="45720" rIns="91440" bIns="45720" rtlCol="0" anchor="ctr">
            <a:normAutofit/>
          </a:bodyPr>
          <a:lstStyle/>
          <a:p>
            <a:r>
              <a:rPr lang="en-US" sz="4000" kern="1200">
                <a:solidFill>
                  <a:schemeClr val="tx1"/>
                </a:solidFill>
                <a:latin typeface="+mj-lt"/>
                <a:ea typeface="+mj-ea"/>
                <a:cs typeface="+mj-cs"/>
              </a:rPr>
              <a:t>Il lavoro alla frontiera</a:t>
            </a:r>
          </a:p>
        </p:txBody>
      </p:sp>
      <p:sp>
        <p:nvSpPr>
          <p:cNvPr id="7" name="CasellaDiTesto 6">
            <a:extLst>
              <a:ext uri="{FF2B5EF4-FFF2-40B4-BE49-F238E27FC236}">
                <a16:creationId xmlns:a16="http://schemas.microsoft.com/office/drawing/2014/main" id="{1257EEBD-7982-F741-74C6-FC8AF67DD52C}"/>
              </a:ext>
            </a:extLst>
          </p:cNvPr>
          <p:cNvSpPr txBox="1"/>
          <p:nvPr/>
        </p:nvSpPr>
        <p:spPr>
          <a:xfrm>
            <a:off x="7190509" y="2357888"/>
            <a:ext cx="4265370" cy="390263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Fonte: Spazio indagine Varese. Osservazioni sul terziario, 2023. Base UST - Statistica dei frontalieri - © UST, giugno 2023</a:t>
            </a:r>
          </a:p>
        </p:txBody>
      </p:sp>
      <p:graphicFrame>
        <p:nvGraphicFramePr>
          <p:cNvPr id="5" name="Segnaposto contenuto 4">
            <a:extLst>
              <a:ext uri="{FF2B5EF4-FFF2-40B4-BE49-F238E27FC236}">
                <a16:creationId xmlns:a16="http://schemas.microsoft.com/office/drawing/2014/main" id="{92DA918F-CB61-FE14-E4BC-9F3CB5DC2681}"/>
              </a:ext>
            </a:extLst>
          </p:cNvPr>
          <p:cNvGraphicFramePr>
            <a:graphicFrameLocks noGrp="1"/>
          </p:cNvGraphicFramePr>
          <p:nvPr>
            <p:ph idx="1"/>
            <p:extLst>
              <p:ext uri="{D42A27DB-BD31-4B8C-83A1-F6EECF244321}">
                <p14:modId xmlns:p14="http://schemas.microsoft.com/office/powerpoint/2010/main" val="309736952"/>
              </p:ext>
            </p:extLst>
          </p:nvPr>
        </p:nvGraphicFramePr>
        <p:xfrm>
          <a:off x="736122" y="2683180"/>
          <a:ext cx="5804957" cy="3124913"/>
        </p:xfrm>
        <a:graphic>
          <a:graphicData uri="http://schemas.openxmlformats.org/drawingml/2006/table">
            <a:tbl>
              <a:tblPr firstRow="1" bandRow="1">
                <a:tableStyleId>{5C22544A-7EE6-4342-B048-85BDC9FD1C3A}</a:tableStyleId>
              </a:tblPr>
              <a:tblGrid>
                <a:gridCol w="1554436">
                  <a:extLst>
                    <a:ext uri="{9D8B030D-6E8A-4147-A177-3AD203B41FA5}">
                      <a16:colId xmlns:a16="http://schemas.microsoft.com/office/drawing/2014/main" val="1528912449"/>
                    </a:ext>
                  </a:extLst>
                </a:gridCol>
                <a:gridCol w="1271382">
                  <a:extLst>
                    <a:ext uri="{9D8B030D-6E8A-4147-A177-3AD203B41FA5}">
                      <a16:colId xmlns:a16="http://schemas.microsoft.com/office/drawing/2014/main" val="3881462466"/>
                    </a:ext>
                  </a:extLst>
                </a:gridCol>
                <a:gridCol w="1460085">
                  <a:extLst>
                    <a:ext uri="{9D8B030D-6E8A-4147-A177-3AD203B41FA5}">
                      <a16:colId xmlns:a16="http://schemas.microsoft.com/office/drawing/2014/main" val="2663586300"/>
                    </a:ext>
                  </a:extLst>
                </a:gridCol>
                <a:gridCol w="1519054">
                  <a:extLst>
                    <a:ext uri="{9D8B030D-6E8A-4147-A177-3AD203B41FA5}">
                      <a16:colId xmlns:a16="http://schemas.microsoft.com/office/drawing/2014/main" val="4117331725"/>
                    </a:ext>
                  </a:extLst>
                </a:gridCol>
              </a:tblGrid>
              <a:tr h="628379">
                <a:tc>
                  <a:txBody>
                    <a:bodyPr/>
                    <a:lstStyle/>
                    <a:p>
                      <a:r>
                        <a:rPr lang="it-IT" sz="1700"/>
                        <a:t>Provincia</a:t>
                      </a:r>
                    </a:p>
                  </a:txBody>
                  <a:tcPr marL="84916" marR="84916" marT="42458" marB="42458"/>
                </a:tc>
                <a:tc>
                  <a:txBody>
                    <a:bodyPr/>
                    <a:lstStyle/>
                    <a:p>
                      <a:r>
                        <a:rPr lang="it-IT" sz="1700"/>
                        <a:t>Numero di frontalieri</a:t>
                      </a:r>
                    </a:p>
                  </a:txBody>
                  <a:tcPr marL="84916" marR="84916" marT="42458" marB="42458"/>
                </a:tc>
                <a:tc>
                  <a:txBody>
                    <a:bodyPr/>
                    <a:lstStyle/>
                    <a:p>
                      <a:r>
                        <a:rPr lang="it-IT" sz="1700"/>
                        <a:t>Popolazione provincia</a:t>
                      </a:r>
                    </a:p>
                  </a:txBody>
                  <a:tcPr marL="84916" marR="84916" marT="42458" marB="42458"/>
                </a:tc>
                <a:tc>
                  <a:txBody>
                    <a:bodyPr/>
                    <a:lstStyle/>
                    <a:p>
                      <a:r>
                        <a:rPr lang="it-IT" sz="1700"/>
                        <a:t>Frontalieri su 100 ab</a:t>
                      </a:r>
                    </a:p>
                  </a:txBody>
                  <a:tcPr marL="84916" marR="84916" marT="42458" marB="42458"/>
                </a:tc>
                <a:extLst>
                  <a:ext uri="{0D108BD9-81ED-4DB2-BD59-A6C34878D82A}">
                    <a16:rowId xmlns:a16="http://schemas.microsoft.com/office/drawing/2014/main" val="1944222290"/>
                  </a:ext>
                </a:extLst>
              </a:tr>
              <a:tr h="373631">
                <a:tc>
                  <a:txBody>
                    <a:bodyPr/>
                    <a:lstStyle/>
                    <a:p>
                      <a:r>
                        <a:rPr lang="it-IT" sz="1700"/>
                        <a:t>Como</a:t>
                      </a:r>
                    </a:p>
                  </a:txBody>
                  <a:tcPr marL="84916" marR="84916" marT="42458" marB="42458"/>
                </a:tc>
                <a:tc>
                  <a:txBody>
                    <a:bodyPr/>
                    <a:lstStyle/>
                    <a:p>
                      <a:r>
                        <a:rPr lang="it-IT" sz="1700"/>
                        <a:t>29.488</a:t>
                      </a:r>
                    </a:p>
                  </a:txBody>
                  <a:tcPr marL="84916" marR="84916" marT="42458" marB="42458"/>
                </a:tc>
                <a:tc>
                  <a:txBody>
                    <a:bodyPr/>
                    <a:lstStyle/>
                    <a:p>
                      <a:r>
                        <a:rPr lang="it-IT" sz="1700"/>
                        <a:t>598.000</a:t>
                      </a:r>
                    </a:p>
                  </a:txBody>
                  <a:tcPr marL="84916" marR="84916" marT="42458" marB="42458"/>
                </a:tc>
                <a:tc>
                  <a:txBody>
                    <a:bodyPr/>
                    <a:lstStyle/>
                    <a:p>
                      <a:r>
                        <a:rPr lang="it-IT" sz="1700"/>
                        <a:t>4,9%</a:t>
                      </a:r>
                    </a:p>
                  </a:txBody>
                  <a:tcPr marL="84916" marR="84916" marT="42458" marB="42458"/>
                </a:tc>
                <a:extLst>
                  <a:ext uri="{0D108BD9-81ED-4DB2-BD59-A6C34878D82A}">
                    <a16:rowId xmlns:a16="http://schemas.microsoft.com/office/drawing/2014/main" val="2696851603"/>
                  </a:ext>
                </a:extLst>
              </a:tr>
              <a:tr h="373631">
                <a:tc>
                  <a:txBody>
                    <a:bodyPr/>
                    <a:lstStyle/>
                    <a:p>
                      <a:r>
                        <a:rPr lang="it-IT" sz="1700"/>
                        <a:t>Varese</a:t>
                      </a:r>
                    </a:p>
                  </a:txBody>
                  <a:tcPr marL="84916" marR="84916" marT="42458" marB="42458"/>
                </a:tc>
                <a:tc>
                  <a:txBody>
                    <a:bodyPr/>
                    <a:lstStyle/>
                    <a:p>
                      <a:r>
                        <a:rPr lang="it-IT" sz="1700"/>
                        <a:t>29.146</a:t>
                      </a:r>
                    </a:p>
                  </a:txBody>
                  <a:tcPr marL="84916" marR="84916" marT="42458" marB="42458"/>
                </a:tc>
                <a:tc>
                  <a:txBody>
                    <a:bodyPr/>
                    <a:lstStyle/>
                    <a:p>
                      <a:r>
                        <a:rPr lang="it-IT" sz="1700"/>
                        <a:t>880.000</a:t>
                      </a:r>
                    </a:p>
                  </a:txBody>
                  <a:tcPr marL="84916" marR="84916" marT="42458" marB="42458"/>
                </a:tc>
                <a:tc>
                  <a:txBody>
                    <a:bodyPr/>
                    <a:lstStyle/>
                    <a:p>
                      <a:r>
                        <a:rPr lang="it-IT" sz="1700"/>
                        <a:t>3,3%</a:t>
                      </a:r>
                    </a:p>
                  </a:txBody>
                  <a:tcPr marL="84916" marR="84916" marT="42458" marB="42458"/>
                </a:tc>
                <a:extLst>
                  <a:ext uri="{0D108BD9-81ED-4DB2-BD59-A6C34878D82A}">
                    <a16:rowId xmlns:a16="http://schemas.microsoft.com/office/drawing/2014/main" val="3760042338"/>
                  </a:ext>
                </a:extLst>
              </a:tr>
              <a:tr h="628379">
                <a:tc>
                  <a:txBody>
                    <a:bodyPr/>
                    <a:lstStyle/>
                    <a:p>
                      <a:r>
                        <a:rPr lang="it-IT" sz="1700"/>
                        <a:t>Verbanio Cusio Ossola</a:t>
                      </a:r>
                    </a:p>
                  </a:txBody>
                  <a:tcPr marL="84916" marR="84916" marT="42458" marB="42458"/>
                </a:tc>
                <a:tc>
                  <a:txBody>
                    <a:bodyPr/>
                    <a:lstStyle/>
                    <a:p>
                      <a:r>
                        <a:rPr lang="it-IT" sz="1700"/>
                        <a:t>7.255</a:t>
                      </a:r>
                    </a:p>
                  </a:txBody>
                  <a:tcPr marL="84916" marR="84916" marT="42458" marB="42458"/>
                </a:tc>
                <a:tc>
                  <a:txBody>
                    <a:bodyPr/>
                    <a:lstStyle/>
                    <a:p>
                      <a:r>
                        <a:rPr lang="it-IT" sz="1700"/>
                        <a:t>155.000</a:t>
                      </a:r>
                    </a:p>
                  </a:txBody>
                  <a:tcPr marL="84916" marR="84916" marT="42458" marB="42458"/>
                </a:tc>
                <a:tc>
                  <a:txBody>
                    <a:bodyPr/>
                    <a:lstStyle/>
                    <a:p>
                      <a:r>
                        <a:rPr lang="it-IT" sz="1700"/>
                        <a:t>4,6%</a:t>
                      </a:r>
                    </a:p>
                  </a:txBody>
                  <a:tcPr marL="84916" marR="84916" marT="42458" marB="42458"/>
                </a:tc>
                <a:extLst>
                  <a:ext uri="{0D108BD9-81ED-4DB2-BD59-A6C34878D82A}">
                    <a16:rowId xmlns:a16="http://schemas.microsoft.com/office/drawing/2014/main" val="3426425306"/>
                  </a:ext>
                </a:extLst>
              </a:tr>
              <a:tr h="373631">
                <a:tc>
                  <a:txBody>
                    <a:bodyPr/>
                    <a:lstStyle/>
                    <a:p>
                      <a:r>
                        <a:rPr lang="it-IT" sz="1700"/>
                        <a:t>Sondrio</a:t>
                      </a:r>
                    </a:p>
                  </a:txBody>
                  <a:tcPr marL="84916" marR="84916" marT="42458" marB="42458"/>
                </a:tc>
                <a:tc>
                  <a:txBody>
                    <a:bodyPr/>
                    <a:lstStyle/>
                    <a:p>
                      <a:r>
                        <a:rPr lang="it-IT" sz="1700"/>
                        <a:t>4.841</a:t>
                      </a:r>
                    </a:p>
                  </a:txBody>
                  <a:tcPr marL="84916" marR="84916" marT="42458" marB="42458"/>
                </a:tc>
                <a:tc>
                  <a:txBody>
                    <a:bodyPr/>
                    <a:lstStyle/>
                    <a:p>
                      <a:r>
                        <a:rPr lang="it-IT" sz="1700"/>
                        <a:t>180.000</a:t>
                      </a:r>
                    </a:p>
                  </a:txBody>
                  <a:tcPr marL="84916" marR="84916" marT="42458" marB="42458"/>
                </a:tc>
                <a:tc>
                  <a:txBody>
                    <a:bodyPr/>
                    <a:lstStyle/>
                    <a:p>
                      <a:r>
                        <a:rPr lang="it-IT" sz="1700"/>
                        <a:t>2,6%</a:t>
                      </a:r>
                    </a:p>
                  </a:txBody>
                  <a:tcPr marL="84916" marR="84916" marT="42458" marB="42458"/>
                </a:tc>
                <a:extLst>
                  <a:ext uri="{0D108BD9-81ED-4DB2-BD59-A6C34878D82A}">
                    <a16:rowId xmlns:a16="http://schemas.microsoft.com/office/drawing/2014/main" val="259447370"/>
                  </a:ext>
                </a:extLst>
              </a:tr>
              <a:tr h="373631">
                <a:tc>
                  <a:txBody>
                    <a:bodyPr/>
                    <a:lstStyle/>
                    <a:p>
                      <a:r>
                        <a:rPr lang="it-IT" sz="1700"/>
                        <a:t>Milano</a:t>
                      </a:r>
                    </a:p>
                  </a:txBody>
                  <a:tcPr marL="84916" marR="84916" marT="42458" marB="42458"/>
                </a:tc>
                <a:tc>
                  <a:txBody>
                    <a:bodyPr/>
                    <a:lstStyle/>
                    <a:p>
                      <a:r>
                        <a:rPr lang="it-IT" sz="1700"/>
                        <a:t>2.188</a:t>
                      </a:r>
                    </a:p>
                  </a:txBody>
                  <a:tcPr marL="84916" marR="84916" marT="42458" marB="42458"/>
                </a:tc>
                <a:tc>
                  <a:txBody>
                    <a:bodyPr/>
                    <a:lstStyle/>
                    <a:p>
                      <a:r>
                        <a:rPr lang="it-IT" sz="1700"/>
                        <a:t>3.248.000</a:t>
                      </a:r>
                    </a:p>
                  </a:txBody>
                  <a:tcPr marL="84916" marR="84916" marT="42458" marB="42458"/>
                </a:tc>
                <a:tc>
                  <a:txBody>
                    <a:bodyPr/>
                    <a:lstStyle/>
                    <a:p>
                      <a:r>
                        <a:rPr lang="it-IT" sz="1700"/>
                        <a:t>0,06%</a:t>
                      </a:r>
                    </a:p>
                  </a:txBody>
                  <a:tcPr marL="84916" marR="84916" marT="42458" marB="42458"/>
                </a:tc>
                <a:extLst>
                  <a:ext uri="{0D108BD9-81ED-4DB2-BD59-A6C34878D82A}">
                    <a16:rowId xmlns:a16="http://schemas.microsoft.com/office/drawing/2014/main" val="2420090907"/>
                  </a:ext>
                </a:extLst>
              </a:tr>
              <a:tr h="373631">
                <a:tc>
                  <a:txBody>
                    <a:bodyPr/>
                    <a:lstStyle/>
                    <a:p>
                      <a:r>
                        <a:rPr lang="it-IT" sz="1700"/>
                        <a:t>Bolzano</a:t>
                      </a:r>
                    </a:p>
                  </a:txBody>
                  <a:tcPr marL="84916" marR="84916" marT="42458" marB="42458"/>
                </a:tc>
                <a:tc>
                  <a:txBody>
                    <a:bodyPr/>
                    <a:lstStyle/>
                    <a:p>
                      <a:r>
                        <a:rPr lang="it-IT" sz="1700"/>
                        <a:t>1.177</a:t>
                      </a:r>
                    </a:p>
                  </a:txBody>
                  <a:tcPr marL="84916" marR="84916" marT="42458" marB="42458"/>
                </a:tc>
                <a:tc>
                  <a:txBody>
                    <a:bodyPr/>
                    <a:lstStyle/>
                    <a:p>
                      <a:r>
                        <a:rPr lang="it-IT" sz="1700"/>
                        <a:t>534.000</a:t>
                      </a:r>
                    </a:p>
                  </a:txBody>
                  <a:tcPr marL="84916" marR="84916" marT="42458" marB="42458"/>
                </a:tc>
                <a:tc>
                  <a:txBody>
                    <a:bodyPr/>
                    <a:lstStyle/>
                    <a:p>
                      <a:r>
                        <a:rPr lang="it-IT" sz="1700"/>
                        <a:t>0,22%</a:t>
                      </a:r>
                    </a:p>
                  </a:txBody>
                  <a:tcPr marL="84916" marR="84916" marT="42458" marB="42458"/>
                </a:tc>
                <a:extLst>
                  <a:ext uri="{0D108BD9-81ED-4DB2-BD59-A6C34878D82A}">
                    <a16:rowId xmlns:a16="http://schemas.microsoft.com/office/drawing/2014/main" val="4044331642"/>
                  </a:ext>
                </a:extLst>
              </a:tr>
            </a:tbl>
          </a:graphicData>
        </a:graphic>
      </p:graphicFrame>
    </p:spTree>
    <p:extLst>
      <p:ext uri="{BB962C8B-B14F-4D97-AF65-F5344CB8AC3E}">
        <p14:creationId xmlns:p14="http://schemas.microsoft.com/office/powerpoint/2010/main" val="1606605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394979-5615-6598-87CB-A7CF05D97A47}"/>
            </a:ext>
          </a:extLst>
        </p:cNvPr>
        <p:cNvGrpSpPr/>
        <p:nvPr/>
      </p:nvGrpSpPr>
      <p:grpSpPr>
        <a:xfrm>
          <a:off x="0" y="0"/>
          <a:ext cx="0" cy="0"/>
          <a:chOff x="0" y="0"/>
          <a:chExt cx="0" cy="0"/>
        </a:xfrm>
      </p:grpSpPr>
      <p:sp useBgFill="1">
        <p:nvSpPr>
          <p:cNvPr id="2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DA2330E-2B78-3E87-CB80-88D6CCF76321}"/>
              </a:ext>
            </a:extLst>
          </p:cNvPr>
          <p:cNvSpPr>
            <a:spLocks noGrp="1"/>
          </p:cNvSpPr>
          <p:nvPr>
            <p:ph type="title"/>
          </p:nvPr>
        </p:nvSpPr>
        <p:spPr>
          <a:xfrm>
            <a:off x="761995" y="307447"/>
            <a:ext cx="10693884" cy="1109932"/>
          </a:xfrm>
        </p:spPr>
        <p:txBody>
          <a:bodyPr vert="horz" lIns="91440" tIns="45720" rIns="91440" bIns="45720" rtlCol="0" anchor="ctr">
            <a:normAutofit/>
          </a:bodyPr>
          <a:lstStyle/>
          <a:p>
            <a:r>
              <a:rPr lang="en-US" sz="4000" kern="1200">
                <a:solidFill>
                  <a:schemeClr val="tx1"/>
                </a:solidFill>
                <a:latin typeface="+mj-lt"/>
                <a:ea typeface="+mj-ea"/>
                <a:cs typeface="+mj-cs"/>
              </a:rPr>
              <a:t>Il lavoro alla frontiera</a:t>
            </a:r>
          </a:p>
        </p:txBody>
      </p:sp>
      <p:sp>
        <p:nvSpPr>
          <p:cNvPr id="5" name="CasellaDiTesto 4">
            <a:extLst>
              <a:ext uri="{FF2B5EF4-FFF2-40B4-BE49-F238E27FC236}">
                <a16:creationId xmlns:a16="http://schemas.microsoft.com/office/drawing/2014/main" id="{BEAEBC67-2FF5-D080-2974-E28166D3C350}"/>
              </a:ext>
            </a:extLst>
          </p:cNvPr>
          <p:cNvSpPr txBox="1"/>
          <p:nvPr/>
        </p:nvSpPr>
        <p:spPr>
          <a:xfrm>
            <a:off x="7190509" y="2357888"/>
            <a:ext cx="4265370" cy="390263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Fonte: Spazio indagine Varese. Osservazioni sul terziario, 2023. Base UST - Statistica dei frontalieri - © UST, giugno 2023</a:t>
            </a:r>
          </a:p>
          <a:p>
            <a:pPr indent="-228600">
              <a:lnSpc>
                <a:spcPct val="90000"/>
              </a:lnSpc>
              <a:spcAft>
                <a:spcPts val="600"/>
              </a:spcAft>
              <a:buFont typeface="Arial" panose="020B0604020202020204" pitchFamily="34" charset="0"/>
              <a:buChar char="•"/>
            </a:pPr>
            <a:endParaRPr lang="en-US" sz="2000"/>
          </a:p>
        </p:txBody>
      </p:sp>
      <p:graphicFrame>
        <p:nvGraphicFramePr>
          <p:cNvPr id="4" name="Segnaposto contenuto 3">
            <a:extLst>
              <a:ext uri="{FF2B5EF4-FFF2-40B4-BE49-F238E27FC236}">
                <a16:creationId xmlns:a16="http://schemas.microsoft.com/office/drawing/2014/main" id="{E8908CB5-B69E-54AE-8785-0970ECE5B0DB}"/>
              </a:ext>
            </a:extLst>
          </p:cNvPr>
          <p:cNvGraphicFramePr>
            <a:graphicFrameLocks noGrp="1"/>
          </p:cNvGraphicFramePr>
          <p:nvPr>
            <p:ph idx="1"/>
            <p:extLst>
              <p:ext uri="{D42A27DB-BD31-4B8C-83A1-F6EECF244321}">
                <p14:modId xmlns:p14="http://schemas.microsoft.com/office/powerpoint/2010/main" val="1512722217"/>
              </p:ext>
            </p:extLst>
          </p:nvPr>
        </p:nvGraphicFramePr>
        <p:xfrm>
          <a:off x="736122" y="2538174"/>
          <a:ext cx="5804957" cy="3414924"/>
        </p:xfrm>
        <a:graphic>
          <a:graphicData uri="http://schemas.openxmlformats.org/drawingml/2006/table">
            <a:tbl>
              <a:tblPr firstRow="1" bandRow="1">
                <a:tableStyleId>{5C22544A-7EE6-4342-B048-85BDC9FD1C3A}</a:tableStyleId>
              </a:tblPr>
              <a:tblGrid>
                <a:gridCol w="1853359">
                  <a:extLst>
                    <a:ext uri="{9D8B030D-6E8A-4147-A177-3AD203B41FA5}">
                      <a16:colId xmlns:a16="http://schemas.microsoft.com/office/drawing/2014/main" val="3781216514"/>
                    </a:ext>
                  </a:extLst>
                </a:gridCol>
                <a:gridCol w="1892024">
                  <a:extLst>
                    <a:ext uri="{9D8B030D-6E8A-4147-A177-3AD203B41FA5}">
                      <a16:colId xmlns:a16="http://schemas.microsoft.com/office/drawing/2014/main" val="1310297225"/>
                    </a:ext>
                  </a:extLst>
                </a:gridCol>
                <a:gridCol w="2059574">
                  <a:extLst>
                    <a:ext uri="{9D8B030D-6E8A-4147-A177-3AD203B41FA5}">
                      <a16:colId xmlns:a16="http://schemas.microsoft.com/office/drawing/2014/main" val="2609493275"/>
                    </a:ext>
                  </a:extLst>
                </a:gridCol>
              </a:tblGrid>
              <a:tr h="686697">
                <a:tc>
                  <a:txBody>
                    <a:bodyPr/>
                    <a:lstStyle/>
                    <a:p>
                      <a:r>
                        <a:rPr lang="it-IT" sz="1800"/>
                        <a:t>Provincia</a:t>
                      </a:r>
                    </a:p>
                  </a:txBody>
                  <a:tcPr marL="92797" marR="92797" marT="46398" marB="46398"/>
                </a:tc>
                <a:tc>
                  <a:txBody>
                    <a:bodyPr/>
                    <a:lstStyle/>
                    <a:p>
                      <a:r>
                        <a:rPr lang="it-IT" sz="1800"/>
                        <a:t>Aumento % dal 2012 al 2022</a:t>
                      </a:r>
                    </a:p>
                  </a:txBody>
                  <a:tcPr marL="92797" marR="92797" marT="46398" marB="46398"/>
                </a:tc>
                <a:tc>
                  <a:txBody>
                    <a:bodyPr/>
                    <a:lstStyle/>
                    <a:p>
                      <a:r>
                        <a:rPr lang="it-IT" sz="1800"/>
                        <a:t>Variazione % dal 2021 al 2022</a:t>
                      </a:r>
                    </a:p>
                  </a:txBody>
                  <a:tcPr marL="92797" marR="92797" marT="46398" marB="46398"/>
                </a:tc>
                <a:extLst>
                  <a:ext uri="{0D108BD9-81ED-4DB2-BD59-A6C34878D82A}">
                    <a16:rowId xmlns:a16="http://schemas.microsoft.com/office/drawing/2014/main" val="1350766027"/>
                  </a:ext>
                </a:extLst>
              </a:tr>
              <a:tr h="408306">
                <a:tc>
                  <a:txBody>
                    <a:bodyPr/>
                    <a:lstStyle/>
                    <a:p>
                      <a:r>
                        <a:rPr lang="it-IT" sz="1800"/>
                        <a:t>Sondrio</a:t>
                      </a:r>
                    </a:p>
                  </a:txBody>
                  <a:tcPr marL="92797" marR="92797" marT="46398" marB="46398"/>
                </a:tc>
                <a:tc>
                  <a:txBody>
                    <a:bodyPr/>
                    <a:lstStyle/>
                    <a:p>
                      <a:r>
                        <a:rPr lang="it-IT" sz="1800"/>
                        <a:t>90,7%</a:t>
                      </a:r>
                    </a:p>
                  </a:txBody>
                  <a:tcPr marL="92797" marR="92797" marT="46398" marB="46398"/>
                </a:tc>
                <a:tc>
                  <a:txBody>
                    <a:bodyPr/>
                    <a:lstStyle/>
                    <a:p>
                      <a:r>
                        <a:rPr lang="it-IT" sz="1800"/>
                        <a:t>7,6%</a:t>
                      </a:r>
                    </a:p>
                  </a:txBody>
                  <a:tcPr marL="92797" marR="92797" marT="46398" marB="46398"/>
                </a:tc>
                <a:extLst>
                  <a:ext uri="{0D108BD9-81ED-4DB2-BD59-A6C34878D82A}">
                    <a16:rowId xmlns:a16="http://schemas.microsoft.com/office/drawing/2014/main" val="4281631747"/>
                  </a:ext>
                </a:extLst>
              </a:tr>
              <a:tr h="408306">
                <a:tc>
                  <a:txBody>
                    <a:bodyPr/>
                    <a:lstStyle/>
                    <a:p>
                      <a:r>
                        <a:rPr lang="it-IT" sz="1800"/>
                        <a:t>Bolzano</a:t>
                      </a:r>
                    </a:p>
                  </a:txBody>
                  <a:tcPr marL="92797" marR="92797" marT="46398" marB="46398"/>
                </a:tc>
                <a:tc>
                  <a:txBody>
                    <a:bodyPr/>
                    <a:lstStyle/>
                    <a:p>
                      <a:r>
                        <a:rPr lang="it-IT" sz="1800"/>
                        <a:t>80,8%</a:t>
                      </a:r>
                    </a:p>
                  </a:txBody>
                  <a:tcPr marL="92797" marR="92797" marT="46398" marB="46398"/>
                </a:tc>
                <a:tc>
                  <a:txBody>
                    <a:bodyPr/>
                    <a:lstStyle/>
                    <a:p>
                      <a:r>
                        <a:rPr lang="it-IT" sz="1800"/>
                        <a:t>4,6%</a:t>
                      </a:r>
                    </a:p>
                  </a:txBody>
                  <a:tcPr marL="92797" marR="92797" marT="46398" marB="46398"/>
                </a:tc>
                <a:extLst>
                  <a:ext uri="{0D108BD9-81ED-4DB2-BD59-A6C34878D82A}">
                    <a16:rowId xmlns:a16="http://schemas.microsoft.com/office/drawing/2014/main" val="1494862375"/>
                  </a:ext>
                </a:extLst>
              </a:tr>
              <a:tr h="408306">
                <a:tc>
                  <a:txBody>
                    <a:bodyPr/>
                    <a:lstStyle/>
                    <a:p>
                      <a:r>
                        <a:rPr lang="it-IT" sz="1800"/>
                        <a:t>Milano</a:t>
                      </a:r>
                    </a:p>
                  </a:txBody>
                  <a:tcPr marL="92797" marR="92797" marT="46398" marB="46398"/>
                </a:tc>
                <a:tc>
                  <a:txBody>
                    <a:bodyPr/>
                    <a:lstStyle/>
                    <a:p>
                      <a:r>
                        <a:rPr lang="it-IT" sz="1800"/>
                        <a:t>60,3%</a:t>
                      </a:r>
                    </a:p>
                  </a:txBody>
                  <a:tcPr marL="92797" marR="92797" marT="46398" marB="46398"/>
                </a:tc>
                <a:tc>
                  <a:txBody>
                    <a:bodyPr/>
                    <a:lstStyle/>
                    <a:p>
                      <a:r>
                        <a:rPr lang="it-IT" sz="1800"/>
                        <a:t>-2,1%</a:t>
                      </a:r>
                    </a:p>
                  </a:txBody>
                  <a:tcPr marL="92797" marR="92797" marT="46398" marB="46398"/>
                </a:tc>
                <a:extLst>
                  <a:ext uri="{0D108BD9-81ED-4DB2-BD59-A6C34878D82A}">
                    <a16:rowId xmlns:a16="http://schemas.microsoft.com/office/drawing/2014/main" val="1554691114"/>
                  </a:ext>
                </a:extLst>
              </a:tr>
              <a:tr h="686697">
                <a:tc>
                  <a:txBody>
                    <a:bodyPr/>
                    <a:lstStyle/>
                    <a:p>
                      <a:r>
                        <a:rPr lang="it-IT" sz="1800"/>
                        <a:t>Verbano Cusio Ossola</a:t>
                      </a:r>
                    </a:p>
                  </a:txBody>
                  <a:tcPr marL="92797" marR="92797" marT="46398" marB="46398"/>
                </a:tc>
                <a:tc>
                  <a:txBody>
                    <a:bodyPr/>
                    <a:lstStyle/>
                    <a:p>
                      <a:r>
                        <a:rPr lang="it-IT" sz="1800"/>
                        <a:t>48,5%</a:t>
                      </a:r>
                    </a:p>
                  </a:txBody>
                  <a:tcPr marL="92797" marR="92797" marT="46398" marB="46398"/>
                </a:tc>
                <a:tc>
                  <a:txBody>
                    <a:bodyPr/>
                    <a:lstStyle/>
                    <a:p>
                      <a:r>
                        <a:rPr lang="it-IT" sz="1800"/>
                        <a:t>8,8%</a:t>
                      </a:r>
                    </a:p>
                  </a:txBody>
                  <a:tcPr marL="92797" marR="92797" marT="46398" marB="46398"/>
                </a:tc>
                <a:extLst>
                  <a:ext uri="{0D108BD9-81ED-4DB2-BD59-A6C34878D82A}">
                    <a16:rowId xmlns:a16="http://schemas.microsoft.com/office/drawing/2014/main" val="3530671660"/>
                  </a:ext>
                </a:extLst>
              </a:tr>
              <a:tr h="408306">
                <a:tc>
                  <a:txBody>
                    <a:bodyPr/>
                    <a:lstStyle/>
                    <a:p>
                      <a:r>
                        <a:rPr lang="it-IT" sz="1800"/>
                        <a:t>Como</a:t>
                      </a:r>
                    </a:p>
                  </a:txBody>
                  <a:tcPr marL="92797" marR="92797" marT="46398" marB="46398"/>
                </a:tc>
                <a:tc>
                  <a:txBody>
                    <a:bodyPr/>
                    <a:lstStyle/>
                    <a:p>
                      <a:r>
                        <a:rPr lang="it-IT" sz="1800"/>
                        <a:t>47,3%</a:t>
                      </a:r>
                    </a:p>
                  </a:txBody>
                  <a:tcPr marL="92797" marR="92797" marT="46398" marB="46398"/>
                </a:tc>
                <a:tc>
                  <a:txBody>
                    <a:bodyPr/>
                    <a:lstStyle/>
                    <a:p>
                      <a:r>
                        <a:rPr lang="it-IT" sz="1800"/>
                        <a:t>5,4%</a:t>
                      </a:r>
                    </a:p>
                  </a:txBody>
                  <a:tcPr marL="92797" marR="92797" marT="46398" marB="46398"/>
                </a:tc>
                <a:extLst>
                  <a:ext uri="{0D108BD9-81ED-4DB2-BD59-A6C34878D82A}">
                    <a16:rowId xmlns:a16="http://schemas.microsoft.com/office/drawing/2014/main" val="2974816737"/>
                  </a:ext>
                </a:extLst>
              </a:tr>
              <a:tr h="408306">
                <a:tc>
                  <a:txBody>
                    <a:bodyPr/>
                    <a:lstStyle/>
                    <a:p>
                      <a:r>
                        <a:rPr lang="it-IT" sz="1800"/>
                        <a:t>Varese</a:t>
                      </a:r>
                    </a:p>
                  </a:txBody>
                  <a:tcPr marL="92797" marR="92797" marT="46398" marB="46398"/>
                </a:tc>
                <a:tc>
                  <a:txBody>
                    <a:bodyPr/>
                    <a:lstStyle/>
                    <a:p>
                      <a:r>
                        <a:rPr lang="it-IT" sz="1800"/>
                        <a:t>30,8%</a:t>
                      </a:r>
                    </a:p>
                  </a:txBody>
                  <a:tcPr marL="92797" marR="92797" marT="46398" marB="46398"/>
                </a:tc>
                <a:tc>
                  <a:txBody>
                    <a:bodyPr/>
                    <a:lstStyle/>
                    <a:p>
                      <a:r>
                        <a:rPr lang="it-IT" sz="1800"/>
                        <a:t>4,7%</a:t>
                      </a:r>
                    </a:p>
                  </a:txBody>
                  <a:tcPr marL="92797" marR="92797" marT="46398" marB="46398"/>
                </a:tc>
                <a:extLst>
                  <a:ext uri="{0D108BD9-81ED-4DB2-BD59-A6C34878D82A}">
                    <a16:rowId xmlns:a16="http://schemas.microsoft.com/office/drawing/2014/main" val="3295076593"/>
                  </a:ext>
                </a:extLst>
              </a:tr>
            </a:tbl>
          </a:graphicData>
        </a:graphic>
      </p:graphicFrame>
    </p:spTree>
    <p:extLst>
      <p:ext uri="{BB962C8B-B14F-4D97-AF65-F5344CB8AC3E}">
        <p14:creationId xmlns:p14="http://schemas.microsoft.com/office/powerpoint/2010/main" val="1543513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9DDD1F-0082-46FF-5CF2-231DAF2B27ED}"/>
            </a:ext>
          </a:extLst>
        </p:cNvPr>
        <p:cNvGrpSpPr/>
        <p:nvPr/>
      </p:nvGrpSpPr>
      <p:grpSpPr>
        <a:xfrm>
          <a:off x="0" y="0"/>
          <a:ext cx="0" cy="0"/>
          <a:chOff x="0" y="0"/>
          <a:chExt cx="0" cy="0"/>
        </a:xfrm>
      </p:grpSpPr>
      <p:pic>
        <p:nvPicPr>
          <p:cNvPr id="5" name="Segnaposto contenuto 4" descr="Immagine che contiene testo, linea, schermata, diagramma&#10;&#10;Il contenuto generato dall'IA potrebbe non essere corretto.">
            <a:extLst>
              <a:ext uri="{FF2B5EF4-FFF2-40B4-BE49-F238E27FC236}">
                <a16:creationId xmlns:a16="http://schemas.microsoft.com/office/drawing/2014/main" id="{61F37671-8360-0A02-1E56-C92C3CC00B41}"/>
              </a:ext>
            </a:extLst>
          </p:cNvPr>
          <p:cNvPicPr>
            <a:picLocks noGrp="1" noChangeAspect="1"/>
          </p:cNvPicPr>
          <p:nvPr>
            <p:ph idx="1"/>
          </p:nvPr>
        </p:nvPicPr>
        <p:blipFill>
          <a:blip r:embed="rId2"/>
          <a:srcRect l="11879" r="8466" b="-1"/>
          <a:stretch>
            <a:fillRect/>
          </a:stretch>
        </p:blipFill>
        <p:spPr>
          <a:xfrm>
            <a:off x="5101771" y="10"/>
            <a:ext cx="7094361" cy="6857989"/>
          </a:xfrm>
          <a:prstGeom prst="rect">
            <a:avLst/>
          </a:prstGeom>
        </p:spPr>
      </p:pic>
      <p:sp>
        <p:nvSpPr>
          <p:cNvPr id="46" name="Rectangle 45">
            <a:extLst>
              <a:ext uri="{FF2B5EF4-FFF2-40B4-BE49-F238E27FC236}">
                <a16:creationId xmlns:a16="http://schemas.microsoft.com/office/drawing/2014/main" id="{A34066D6-1B59-4642-A86D-39464CEE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527208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c 47">
            <a:extLst>
              <a:ext uri="{FF2B5EF4-FFF2-40B4-BE49-F238E27FC236}">
                <a16:creationId xmlns:a16="http://schemas.microsoft.com/office/drawing/2014/main" id="{18E928D9-3091-4385-B979-265D55AD0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03011">
            <a:off x="1718653" y="70086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7F9ED528-F218-1DE5-425A-10A7D5317ACA}"/>
              </a:ext>
            </a:extLst>
          </p:cNvPr>
          <p:cNvSpPr>
            <a:spLocks noGrp="1"/>
          </p:cNvSpPr>
          <p:nvPr>
            <p:ph type="title"/>
          </p:nvPr>
        </p:nvSpPr>
        <p:spPr>
          <a:xfrm>
            <a:off x="643467" y="795509"/>
            <a:ext cx="4092525" cy="2798604"/>
          </a:xfrm>
        </p:spPr>
        <p:txBody>
          <a:bodyPr vert="horz" lIns="91440" tIns="45720" rIns="91440" bIns="45720" rtlCol="0" anchor="b">
            <a:normAutofit/>
          </a:bodyPr>
          <a:lstStyle/>
          <a:p>
            <a:pPr algn="ctr"/>
            <a:r>
              <a:rPr lang="en-US" sz="6000">
                <a:solidFill>
                  <a:srgbClr val="FFFFFF"/>
                </a:solidFill>
              </a:rPr>
              <a:t>Il lavoro alla frontiera</a:t>
            </a:r>
          </a:p>
        </p:txBody>
      </p:sp>
      <p:sp>
        <p:nvSpPr>
          <p:cNvPr id="50" name="Oval 49">
            <a:extLst>
              <a:ext uri="{FF2B5EF4-FFF2-40B4-BE49-F238E27FC236}">
                <a16:creationId xmlns:a16="http://schemas.microsoft.com/office/drawing/2014/main" id="{7D602432-D774-4CF5-94E8-7D52D0105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1186" y="4626633"/>
            <a:ext cx="491961" cy="49196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CBF9EBB4-5078-47B2-AAA0-DF4A88D81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27932" y="5011563"/>
            <a:ext cx="731558" cy="731558"/>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9981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6A097D-FD3B-0ABC-AB18-E7F4E25ACBD2}"/>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E586C02-3ABF-FCF8-674A-2EEBA3B5369A}"/>
              </a:ext>
            </a:extLst>
          </p:cNvPr>
          <p:cNvSpPr>
            <a:spLocks noGrp="1"/>
          </p:cNvSpPr>
          <p:nvPr>
            <p:ph type="title"/>
          </p:nvPr>
        </p:nvSpPr>
        <p:spPr>
          <a:xfrm>
            <a:off x="1171074" y="1396686"/>
            <a:ext cx="3240506" cy="4064628"/>
          </a:xfrm>
        </p:spPr>
        <p:txBody>
          <a:bodyPr>
            <a:normAutofit/>
          </a:bodyPr>
          <a:lstStyle/>
          <a:p>
            <a:r>
              <a:rPr lang="it-IT">
                <a:solidFill>
                  <a:srgbClr val="FFFFFF"/>
                </a:solidFill>
              </a:rPr>
              <a:t>Il lavoro alla frontiera</a:t>
            </a:r>
          </a:p>
        </p:txBody>
      </p:sp>
      <p:sp>
        <p:nvSpPr>
          <p:cNvPr id="31" name="Arc 30">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245DB69C-9D9E-EE15-B13A-149C7A458B6B}"/>
              </a:ext>
            </a:extLst>
          </p:cNvPr>
          <p:cNvSpPr>
            <a:spLocks noGrp="1"/>
          </p:cNvSpPr>
          <p:nvPr>
            <p:ph idx="1"/>
          </p:nvPr>
        </p:nvSpPr>
        <p:spPr>
          <a:xfrm>
            <a:off x="5370153" y="1526033"/>
            <a:ext cx="5536397" cy="3935281"/>
          </a:xfrm>
        </p:spPr>
        <p:txBody>
          <a:bodyPr>
            <a:normAutofit/>
          </a:bodyPr>
          <a:lstStyle/>
          <a:p>
            <a:pPr marL="0" indent="0">
              <a:buNone/>
            </a:pPr>
            <a:endParaRPr lang="it-IT" sz="2200" b="1"/>
          </a:p>
          <a:p>
            <a:pPr marL="0" indent="0">
              <a:buNone/>
            </a:pPr>
            <a:endParaRPr lang="it-IT" sz="2200" b="1"/>
          </a:p>
          <a:p>
            <a:pPr marL="0" indent="0">
              <a:buNone/>
            </a:pPr>
            <a:r>
              <a:rPr lang="it-IT" sz="2200" b="1"/>
              <a:t>I frontalieri sono aumentati dal 2002</a:t>
            </a:r>
            <a:r>
              <a:rPr lang="it-IT" sz="2200"/>
              <a:t>. Le ragioni sono molteplici e non riducibili ai soli accordi bilaterali.</a:t>
            </a:r>
          </a:p>
          <a:p>
            <a:pPr marL="0" indent="0">
              <a:buNone/>
            </a:pPr>
            <a:endParaRPr lang="it-IT" sz="2200"/>
          </a:p>
          <a:p>
            <a:pPr marL="0" indent="0">
              <a:buNone/>
            </a:pPr>
            <a:r>
              <a:rPr lang="it-IT" sz="2200" b="1"/>
              <a:t>Tra i fattori: crisi economica del 2007/08 </a:t>
            </a:r>
            <a:r>
              <a:rPr lang="it-IT" sz="2200"/>
              <a:t>che fu una crisi da mondo industriale che, in Italia, favorì mobilità da lavoro soprattutto da </a:t>
            </a:r>
            <a:r>
              <a:rPr lang="it-IT" sz="2200" b="1"/>
              <a:t>regioni industrializzate</a:t>
            </a:r>
            <a:r>
              <a:rPr lang="it-IT" sz="2200"/>
              <a:t>, ossia Lombardia e Veneto.</a:t>
            </a:r>
          </a:p>
          <a:p>
            <a:endParaRPr lang="it-IT" sz="2200"/>
          </a:p>
        </p:txBody>
      </p:sp>
    </p:spTree>
    <p:extLst>
      <p:ext uri="{BB962C8B-B14F-4D97-AF65-F5344CB8AC3E}">
        <p14:creationId xmlns:p14="http://schemas.microsoft.com/office/powerpoint/2010/main" val="4216893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CE31C8-DA8D-85B6-3613-6BA6A0220A3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8DF2FE4-FA90-DDBC-5A21-18F654E7976E}"/>
              </a:ext>
            </a:extLst>
          </p:cNvPr>
          <p:cNvSpPr>
            <a:spLocks noGrp="1"/>
          </p:cNvSpPr>
          <p:nvPr>
            <p:ph type="title"/>
          </p:nvPr>
        </p:nvSpPr>
        <p:spPr>
          <a:xfrm>
            <a:off x="686834" y="1153572"/>
            <a:ext cx="3200400" cy="4461163"/>
          </a:xfrm>
        </p:spPr>
        <p:txBody>
          <a:bodyPr>
            <a:normAutofit/>
          </a:bodyPr>
          <a:lstStyle/>
          <a:p>
            <a:r>
              <a:rPr lang="it-IT">
                <a:solidFill>
                  <a:srgbClr val="FFFFFF"/>
                </a:solidFill>
              </a:rPr>
              <a:t>Il lavoro alla frontiera</a:t>
            </a: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AD808C53-8B40-92A4-DB40-03B925FE0DDB}"/>
              </a:ext>
            </a:extLst>
          </p:cNvPr>
          <p:cNvSpPr>
            <a:spLocks noGrp="1"/>
          </p:cNvSpPr>
          <p:nvPr>
            <p:ph idx="1"/>
          </p:nvPr>
        </p:nvSpPr>
        <p:spPr>
          <a:xfrm>
            <a:off x="4447308" y="591344"/>
            <a:ext cx="6906491" cy="5585619"/>
          </a:xfrm>
        </p:spPr>
        <p:txBody>
          <a:bodyPr anchor="ctr">
            <a:normAutofit/>
          </a:bodyPr>
          <a:lstStyle/>
          <a:p>
            <a:pPr marL="0" indent="0">
              <a:buNone/>
            </a:pPr>
            <a:endParaRPr lang="it-IT" b="1"/>
          </a:p>
          <a:p>
            <a:pPr marL="0" indent="0">
              <a:buNone/>
            </a:pPr>
            <a:r>
              <a:rPr lang="it-IT" b="1"/>
              <a:t>Sviluppo tecnologico</a:t>
            </a:r>
            <a:r>
              <a:rPr lang="it-IT"/>
              <a:t>, </a:t>
            </a:r>
            <a:r>
              <a:rPr lang="it-IT" b="1"/>
              <a:t>deregolamentazione</a:t>
            </a:r>
            <a:r>
              <a:rPr lang="it-IT"/>
              <a:t> del </a:t>
            </a:r>
            <a:r>
              <a:rPr lang="it-IT" b="1"/>
              <a:t>mercato del lavoro</a:t>
            </a:r>
            <a:r>
              <a:rPr lang="it-IT"/>
              <a:t>, introduzione di </a:t>
            </a:r>
            <a:r>
              <a:rPr lang="it-IT" b="1"/>
              <a:t>nuove tipologie di pendolari </a:t>
            </a:r>
            <a:r>
              <a:rPr lang="it-IT"/>
              <a:t>internazionali (nuovi frontalieri e notificati, ossia i pendolari precari), reclutati direttamente via Web dalle agenzie di lavoro interinale (non necessariamente nelle regioni di frontiera).</a:t>
            </a:r>
          </a:p>
          <a:p>
            <a:pPr marL="0" indent="0">
              <a:buNone/>
            </a:pPr>
            <a:endParaRPr lang="it-IT"/>
          </a:p>
          <a:p>
            <a:pPr marL="0" indent="0">
              <a:buNone/>
            </a:pPr>
            <a:r>
              <a:rPr lang="it-IT"/>
              <a:t>Potenziamento dei </a:t>
            </a:r>
            <a:r>
              <a:rPr lang="it-IT" b="1"/>
              <a:t>sistemi di trasporto e riduzione dei loro costi</a:t>
            </a:r>
            <a:r>
              <a:rPr lang="it-IT"/>
              <a:t>.</a:t>
            </a:r>
          </a:p>
        </p:txBody>
      </p:sp>
    </p:spTree>
    <p:extLst>
      <p:ext uri="{BB962C8B-B14F-4D97-AF65-F5344CB8AC3E}">
        <p14:creationId xmlns:p14="http://schemas.microsoft.com/office/powerpoint/2010/main" val="167049901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4559</TotalTime>
  <Words>2029</Words>
  <Application>Microsoft Macintosh PowerPoint</Application>
  <PresentationFormat>Widescreen</PresentationFormat>
  <Paragraphs>240</Paragraphs>
  <Slides>36</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36</vt:i4>
      </vt:variant>
    </vt:vector>
  </HeadingPairs>
  <TitlesOfParts>
    <vt:vector size="41" baseType="lpstr">
      <vt:lpstr>Aptos</vt:lpstr>
      <vt:lpstr>Aptos Display</vt:lpstr>
      <vt:lpstr>Arial</vt:lpstr>
      <vt:lpstr>Calibri</vt:lpstr>
      <vt:lpstr>Tema di Office</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di frontiera</vt:lpstr>
      <vt:lpstr>Qualche riferimento bibliografico</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lpstr>Il lavoro alla frontiera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Paolo Barcella</dc:creator>
  <cp:lastModifiedBy>Paolo Barcella</cp:lastModifiedBy>
  <cp:revision>4</cp:revision>
  <dcterms:created xsi:type="dcterms:W3CDTF">2025-03-27T13:48:44Z</dcterms:created>
  <dcterms:modified xsi:type="dcterms:W3CDTF">2026-04-19T18:07:10Z</dcterms:modified>
</cp:coreProperties>
</file>